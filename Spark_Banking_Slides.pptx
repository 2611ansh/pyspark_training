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488" r:id="rId145"/>
    <p:sldId id="399" r:id="rId146"/>
    <p:sldId id="400" r:id="rId147"/>
    <p:sldId id="401" r:id="rId148"/>
    <p:sldId id="402" r:id="rId149"/>
    <p:sldId id="403" r:id="rId150"/>
    <p:sldId id="404" r:id="rId151"/>
    <p:sldId id="405" r:id="rId152"/>
    <p:sldId id="406" r:id="rId153"/>
    <p:sldId id="407" r:id="rId154"/>
    <p:sldId id="408" r:id="rId155"/>
    <p:sldId id="409" r:id="rId156"/>
    <p:sldId id="410" r:id="rId157"/>
    <p:sldId id="411" r:id="rId158"/>
    <p:sldId id="412" r:id="rId159"/>
    <p:sldId id="413" r:id="rId160"/>
    <p:sldId id="414" r:id="rId161"/>
    <p:sldId id="415" r:id="rId162"/>
    <p:sldId id="416" r:id="rId163"/>
    <p:sldId id="417" r:id="rId164"/>
    <p:sldId id="418" r:id="rId165"/>
    <p:sldId id="419" r:id="rId166"/>
    <p:sldId id="420" r:id="rId167"/>
    <p:sldId id="421" r:id="rId168"/>
    <p:sldId id="422" r:id="rId169"/>
    <p:sldId id="423" r:id="rId170"/>
    <p:sldId id="424" r:id="rId171"/>
    <p:sldId id="425" r:id="rId172"/>
    <p:sldId id="426" r:id="rId173"/>
    <p:sldId id="427" r:id="rId174"/>
    <p:sldId id="428" r:id="rId175"/>
    <p:sldId id="429" r:id="rId176"/>
    <p:sldId id="430" r:id="rId177"/>
    <p:sldId id="431" r:id="rId178"/>
    <p:sldId id="432" r:id="rId179"/>
    <p:sldId id="433" r:id="rId180"/>
    <p:sldId id="434" r:id="rId181"/>
    <p:sldId id="435" r:id="rId182"/>
    <p:sldId id="436" r:id="rId183"/>
    <p:sldId id="437" r:id="rId184"/>
    <p:sldId id="438" r:id="rId185"/>
    <p:sldId id="439" r:id="rId186"/>
    <p:sldId id="440" r:id="rId187"/>
    <p:sldId id="441" r:id="rId188"/>
    <p:sldId id="442" r:id="rId189"/>
    <p:sldId id="443" r:id="rId190"/>
    <p:sldId id="444" r:id="rId191"/>
    <p:sldId id="445" r:id="rId192"/>
    <p:sldId id="446" r:id="rId193"/>
    <p:sldId id="447" r:id="rId194"/>
    <p:sldId id="448" r:id="rId195"/>
    <p:sldId id="449" r:id="rId196"/>
    <p:sldId id="450" r:id="rId197"/>
    <p:sldId id="451" r:id="rId198"/>
    <p:sldId id="452" r:id="rId199"/>
    <p:sldId id="453" r:id="rId200"/>
    <p:sldId id="454" r:id="rId201"/>
    <p:sldId id="455" r:id="rId202"/>
    <p:sldId id="456" r:id="rId203"/>
    <p:sldId id="457" r:id="rId204"/>
    <p:sldId id="458" r:id="rId205"/>
    <p:sldId id="459" r:id="rId206"/>
    <p:sldId id="460" r:id="rId207"/>
    <p:sldId id="461" r:id="rId208"/>
    <p:sldId id="462" r:id="rId209"/>
    <p:sldId id="463" r:id="rId210"/>
    <p:sldId id="464" r:id="rId211"/>
    <p:sldId id="465" r:id="rId212"/>
    <p:sldId id="466" r:id="rId213"/>
    <p:sldId id="467" r:id="rId214"/>
    <p:sldId id="468" r:id="rId215"/>
    <p:sldId id="469" r:id="rId216"/>
    <p:sldId id="470" r:id="rId217"/>
    <p:sldId id="471" r:id="rId218"/>
    <p:sldId id="472" r:id="rId219"/>
    <p:sldId id="473" r:id="rId220"/>
    <p:sldId id="474" r:id="rId221"/>
    <p:sldId id="475" r:id="rId222"/>
    <p:sldId id="476" r:id="rId223"/>
    <p:sldId id="477" r:id="rId224"/>
    <p:sldId id="478" r:id="rId225"/>
    <p:sldId id="479" r:id="rId226"/>
    <p:sldId id="480" r:id="rId227"/>
    <p:sldId id="481" r:id="rId228"/>
    <p:sldId id="482" r:id="rId229"/>
    <p:sldId id="483" r:id="rId230"/>
    <p:sldId id="484" r:id="rId231"/>
    <p:sldId id="485" r:id="rId232"/>
    <p:sldId id="486" r:id="rId233"/>
    <p:sldId id="487" r:id="rId2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0" d="100"/>
          <a:sy n="70" d="100"/>
        </p:scale>
        <p:origin x="512" y="5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slide" Target="slides/slide22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37" Type="http://schemas.openxmlformats.org/officeDocument/2006/relationships/theme" Target="theme/theme1.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8" Type="http://schemas.openxmlformats.org/officeDocument/2006/relationships/tableStyles" Target="tableStyles.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slide" Target="slides/slide229.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220" Type="http://schemas.openxmlformats.org/officeDocument/2006/relationships/slide" Target="slides/slide219.xml"/><Relationship Id="rId225" Type="http://schemas.openxmlformats.org/officeDocument/2006/relationships/slide" Target="slides/slide224.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36" Type="http://schemas.openxmlformats.org/officeDocument/2006/relationships/viewProps" Target="viewProps.xml"/><Relationship Id="rId26" Type="http://schemas.openxmlformats.org/officeDocument/2006/relationships/slide" Target="slides/slide25.xml"/><Relationship Id="rId231" Type="http://schemas.openxmlformats.org/officeDocument/2006/relationships/slide" Target="slides/slide230.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presProps" Target="presProps.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291072"/>
            <a:ext cx="12191695" cy="566928"/>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5840" y="2148840"/>
            <a:ext cx="10058400" cy="1645920"/>
          </a:xfrm>
          <a:prstGeom prst="rect">
            <a:avLst/>
          </a:prstGeom>
          <a:noFill/>
        </p:spPr>
        <p:txBody>
          <a:bodyPr wrap="square" lIns="0" tIns="0" rIns="0" bIns="0">
            <a:spAutoFit/>
          </a:bodyPr>
          <a:lstStyle/>
          <a:p>
            <a:pPr>
              <a:lnSpc>
                <a:spcPct val="100000"/>
              </a:lnSpc>
            </a:pPr>
            <a:r>
              <a:rPr sz="4600" b="1" i="0">
                <a:solidFill>
                  <a:srgbClr val="FFFFFF"/>
                </a:solidFill>
                <a:latin typeface="Segoe UI Semibold"/>
              </a:rPr>
              <a:t>Apache Spark for Banking IT</a:t>
            </a:r>
          </a:p>
        </p:txBody>
      </p:sp>
      <p:sp>
        <p:nvSpPr>
          <p:cNvPr id="5" name="TextBox 4"/>
          <p:cNvSpPr txBox="1"/>
          <p:nvPr/>
        </p:nvSpPr>
        <p:spPr>
          <a:xfrm>
            <a:off x="1005840" y="3767328"/>
            <a:ext cx="9509760" cy="640080"/>
          </a:xfrm>
          <a:prstGeom prst="rect">
            <a:avLst/>
          </a:prstGeom>
          <a:noFill/>
        </p:spPr>
        <p:txBody>
          <a:bodyPr wrap="square" lIns="0" tIns="0" rIns="0" bIns="0">
            <a:spAutoFit/>
          </a:bodyPr>
          <a:lstStyle/>
          <a:p>
            <a:r>
              <a:rPr sz="2000" b="0" i="0">
                <a:solidFill>
                  <a:srgbClr val="BDD3E8"/>
                </a:solidFill>
                <a:latin typeface="Segoe UI"/>
              </a:rPr>
              <a:t>Open source Spark 3.5, hands-on, 3 days</a:t>
            </a:r>
          </a:p>
        </p:txBody>
      </p:sp>
      <p:sp>
        <p:nvSpPr>
          <p:cNvPr id="6" name="TextBox 5"/>
          <p:cNvSpPr txBox="1"/>
          <p:nvPr/>
        </p:nvSpPr>
        <p:spPr>
          <a:xfrm>
            <a:off x="1005840" y="4572000"/>
            <a:ext cx="9509760" cy="548640"/>
          </a:xfrm>
          <a:prstGeom prst="rect">
            <a:avLst/>
          </a:prstGeom>
          <a:noFill/>
        </p:spPr>
        <p:txBody>
          <a:bodyPr wrap="square" lIns="0" tIns="0" rIns="0" bIns="0">
            <a:spAutoFit/>
          </a:bodyPr>
          <a:lstStyle/>
          <a:p>
            <a:r>
              <a:rPr sz="1400" b="0" i="0">
                <a:solidFill>
                  <a:srgbClr val="9CBAD6"/>
                </a:solidFill>
                <a:latin typeface="Segoe UI"/>
              </a:rPr>
              <a:t>Windows WSL2  ·  Spark 3.5.0  ·  Java 17  ·  no Databricks, no Fabric</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5840" y="1737360"/>
            <a:ext cx="10058400" cy="457200"/>
          </a:xfrm>
          <a:prstGeom prst="rect">
            <a:avLst/>
          </a:prstGeom>
          <a:noFill/>
        </p:spPr>
        <p:txBody>
          <a:bodyPr wrap="square" lIns="0" tIns="0" rIns="0" bIns="0">
            <a:spAutoFit/>
          </a:bodyPr>
          <a:lstStyle/>
          <a:p>
            <a:r>
              <a:rPr sz="1500" b="1" i="0">
                <a:solidFill>
                  <a:srgbClr val="E88A2B"/>
                </a:solidFill>
                <a:latin typeface="Segoe UI Semibold"/>
              </a:rPr>
              <a:t>DAY 1</a:t>
            </a:r>
          </a:p>
        </p:txBody>
      </p:sp>
      <p:sp>
        <p:nvSpPr>
          <p:cNvPr id="5" name="TextBox 4"/>
          <p:cNvSpPr txBox="1"/>
          <p:nvPr/>
        </p:nvSpPr>
        <p:spPr>
          <a:xfrm>
            <a:off x="1005840" y="2194560"/>
            <a:ext cx="10058400" cy="914400"/>
          </a:xfrm>
          <a:prstGeom prst="rect">
            <a:avLst/>
          </a:prstGeom>
          <a:noFill/>
        </p:spPr>
        <p:txBody>
          <a:bodyPr wrap="square" lIns="0" tIns="0" rIns="0" bIns="0">
            <a:spAutoFit/>
          </a:bodyPr>
          <a:lstStyle/>
          <a:p>
            <a:r>
              <a:rPr sz="4000" b="1" i="0">
                <a:solidFill>
                  <a:srgbClr val="1F4E79"/>
                </a:solidFill>
                <a:latin typeface="Segoe UI Semibold"/>
              </a:rPr>
              <a:t>Foundations and the lakehouse</a:t>
            </a:r>
          </a:p>
        </p:txBody>
      </p:sp>
      <p:sp>
        <p:nvSpPr>
          <p:cNvPr id="6" name="TextBox 5"/>
          <p:cNvSpPr txBox="1"/>
          <p:nvPr/>
        </p:nvSpPr>
        <p:spPr>
          <a:xfrm>
            <a:off x="1005840" y="3429000"/>
            <a:ext cx="9692640" cy="2194560"/>
          </a:xfrm>
          <a:prstGeom prst="rect">
            <a:avLst/>
          </a:prstGeom>
          <a:noFill/>
        </p:spPr>
        <p:txBody>
          <a:bodyPr wrap="square" lIns="0" tIns="0" rIns="0" bIns="0">
            <a:spAutoFit/>
          </a:bodyPr>
          <a:lstStyle/>
          <a:p>
            <a:pPr>
              <a:spcAft>
                <a:spcPts val="1000"/>
              </a:spcAft>
            </a:pPr>
            <a:r>
              <a:rPr sz="1700" b="1" i="0">
                <a:solidFill>
                  <a:srgbClr val="E88A2B"/>
                </a:solidFill>
                <a:latin typeface="Segoe UI Semibold"/>
              </a:rPr>
              <a:t>01   </a:t>
            </a:r>
            <a:r>
              <a:rPr sz="1700" b="0" i="0">
                <a:solidFill>
                  <a:srgbClr val="242C38"/>
                </a:solidFill>
                <a:latin typeface="Segoe UI"/>
              </a:rPr>
              <a:t>Python essentials for Spark</a:t>
            </a:r>
            <a:r>
              <a:rPr sz="1400" b="0" i="1">
                <a:solidFill>
                  <a:srgbClr val="9AA5B1"/>
                </a:solidFill>
                <a:latin typeface="Segoe UI"/>
              </a:rPr>
              <a:t>   The Python underneath every DataFrame call, nothing Spark-</a:t>
            </a:r>
          </a:p>
          <a:p>
            <a:pPr>
              <a:spcAft>
                <a:spcPts val="1000"/>
              </a:spcAft>
            </a:pPr>
            <a:r>
              <a:rPr sz="1700" b="1" i="0">
                <a:solidFill>
                  <a:srgbClr val="E88A2B"/>
                </a:solidFill>
                <a:latin typeface="Segoe UI Semibold"/>
              </a:rPr>
              <a:t>02   </a:t>
            </a:r>
            <a:r>
              <a:rPr sz="1700" b="0" i="0">
                <a:solidFill>
                  <a:srgbClr val="242C38"/>
                </a:solidFill>
                <a:latin typeface="Segoe UI"/>
              </a:rPr>
              <a:t>Spark architecture</a:t>
            </a:r>
            <a:r>
              <a:rPr sz="1400" b="0" i="1">
                <a:solidFill>
                  <a:srgbClr val="9AA5B1"/>
                </a:solidFill>
                <a:latin typeface="Segoe UI"/>
              </a:rPr>
              <a:t>   How the engine actually runs your code, and why that decid</a:t>
            </a:r>
          </a:p>
          <a:p>
            <a:pPr>
              <a:spcAft>
                <a:spcPts val="1000"/>
              </a:spcAft>
            </a:pPr>
            <a:r>
              <a:rPr sz="1700" b="1" i="0">
                <a:solidFill>
                  <a:srgbClr val="E88A2B"/>
                </a:solidFill>
                <a:latin typeface="Segoe UI Semibold"/>
              </a:rPr>
              <a:t>03   </a:t>
            </a:r>
            <a:r>
              <a:rPr sz="1700" b="0" i="0">
                <a:solidFill>
                  <a:srgbClr val="242C38"/>
                </a:solidFill>
                <a:latin typeface="Segoe UI"/>
              </a:rPr>
              <a:t>DataFrames</a:t>
            </a:r>
            <a:r>
              <a:rPr sz="1400" b="0" i="1">
                <a:solidFill>
                  <a:srgbClr val="9AA5B1"/>
                </a:solidFill>
                <a:latin typeface="Segoe UI"/>
              </a:rPr>
              <a:t>   Read a dirty feed, clean it, join it safely, write it as P</a:t>
            </a:r>
          </a:p>
          <a:p>
            <a:pPr>
              <a:spcAft>
                <a:spcPts val="1000"/>
              </a:spcAft>
            </a:pPr>
            <a:r>
              <a:rPr sz="1700" b="1" i="0">
                <a:solidFill>
                  <a:srgbClr val="E88A2B"/>
                </a:solidFill>
                <a:latin typeface="Segoe UI Semibold"/>
              </a:rPr>
              <a:t>04   </a:t>
            </a:r>
            <a:r>
              <a:rPr sz="1700" b="0" i="0">
                <a:solidFill>
                  <a:srgbClr val="242C38"/>
                </a:solidFill>
                <a:latin typeface="Segoe UI"/>
              </a:rPr>
              <a:t>Lakehouse: bronze, silver, gold</a:t>
            </a:r>
            <a:r>
              <a:rPr sz="1400" b="0" i="1">
                <a:solidFill>
                  <a:srgbClr val="9AA5B1"/>
                </a:solidFill>
                <a:latin typeface="Segoe UI"/>
              </a:rPr>
              <a:t>   A three-layer warehouse that quarantines bad rows and prov</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858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51560" y="2057400"/>
            <a:ext cx="9692640" cy="457200"/>
          </a:xfrm>
          <a:prstGeom prst="rect">
            <a:avLst/>
          </a:prstGeom>
          <a:noFill/>
        </p:spPr>
        <p:txBody>
          <a:bodyPr wrap="square" lIns="0" tIns="0" rIns="0" bIns="0">
            <a:spAutoFit/>
          </a:bodyPr>
          <a:lstStyle/>
          <a:p>
            <a:r>
              <a:rPr sz="1300" b="1" i="0">
                <a:solidFill>
                  <a:srgbClr val="2E74B5"/>
                </a:solidFill>
                <a:latin typeface="Segoe UI Semibold"/>
              </a:rPr>
              <a:t>MODULE 01</a:t>
            </a:r>
          </a:p>
        </p:txBody>
      </p:sp>
      <p:sp>
        <p:nvSpPr>
          <p:cNvPr id="5" name="TextBox 4"/>
          <p:cNvSpPr txBox="1"/>
          <p:nvPr/>
        </p:nvSpPr>
        <p:spPr>
          <a:xfrm>
            <a:off x="1051560" y="2578608"/>
            <a:ext cx="9692640" cy="1371600"/>
          </a:xfrm>
          <a:prstGeom prst="rect">
            <a:avLst/>
          </a:prstGeom>
          <a:noFill/>
        </p:spPr>
        <p:txBody>
          <a:bodyPr wrap="square" lIns="0" tIns="0" rIns="0" bIns="0">
            <a:spAutoFit/>
          </a:bodyPr>
          <a:lstStyle/>
          <a:p>
            <a:pPr>
              <a:lnSpc>
                <a:spcPct val="95000"/>
              </a:lnSpc>
            </a:pPr>
            <a:r>
              <a:rPr sz="4200" b="1" i="0">
                <a:solidFill>
                  <a:srgbClr val="1F4E79"/>
                </a:solidFill>
                <a:latin typeface="Segoe UI Semibold"/>
              </a:rPr>
              <a:t>Python essentials for Spark</a:t>
            </a:r>
          </a:p>
        </p:txBody>
      </p:sp>
      <p:sp>
        <p:nvSpPr>
          <p:cNvPr id="6" name="TextBox 5"/>
          <p:cNvSpPr txBox="1"/>
          <p:nvPr/>
        </p:nvSpPr>
        <p:spPr>
          <a:xfrm>
            <a:off x="1051560" y="3950208"/>
            <a:ext cx="8778240" cy="822960"/>
          </a:xfrm>
          <a:prstGeom prst="rect">
            <a:avLst/>
          </a:prstGeom>
          <a:noFill/>
        </p:spPr>
        <p:txBody>
          <a:bodyPr wrap="square" lIns="0" tIns="0" rIns="0" bIns="0">
            <a:spAutoFit/>
          </a:bodyPr>
          <a:lstStyle/>
          <a:p>
            <a:pPr>
              <a:lnSpc>
                <a:spcPct val="115000"/>
              </a:lnSpc>
            </a:pPr>
            <a:r>
              <a:rPr sz="1700" b="0" i="0">
                <a:solidFill>
                  <a:srgbClr val="5B6775"/>
                </a:solidFill>
                <a:latin typeface="Segoe UI"/>
              </a:rPr>
              <a:t>The Python underneath every DataFrame call, nothing Spark-specific yet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58368" y="2148840"/>
            <a:ext cx="82296" cy="219456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42416" y="2084831"/>
            <a:ext cx="9777679" cy="1828800"/>
          </a:xfrm>
          <a:prstGeom prst="rect">
            <a:avLst/>
          </a:prstGeom>
          <a:noFill/>
        </p:spPr>
        <p:txBody>
          <a:bodyPr wrap="square" lIns="0" tIns="0" rIns="0" bIns="0">
            <a:spAutoFit/>
          </a:bodyPr>
          <a:lstStyle/>
          <a:p>
            <a:pPr>
              <a:lnSpc>
                <a:spcPct val="112000"/>
              </a:lnSpc>
            </a:pPr>
            <a:r>
              <a:rPr sz="3000" b="1" i="0">
                <a:solidFill>
                  <a:srgbClr val="1F4E79"/>
                </a:solidFill>
                <a:latin typeface="Segoe UI Semibold"/>
              </a:rPr>
              <a:t>Spark code is just Python objects calling Python methods.</a:t>
            </a:r>
          </a:p>
        </p:txBody>
      </p:sp>
      <p:sp>
        <p:nvSpPr>
          <p:cNvPr id="5" name="TextBox 4"/>
          <p:cNvSpPr txBox="1"/>
          <p:nvPr/>
        </p:nvSpPr>
        <p:spPr>
          <a:xfrm>
            <a:off x="1042416" y="4041648"/>
            <a:ext cx="9411919" cy="1005840"/>
          </a:xfrm>
          <a:prstGeom prst="rect">
            <a:avLst/>
          </a:prstGeom>
          <a:noFill/>
        </p:spPr>
        <p:txBody>
          <a:bodyPr wrap="square" lIns="0" tIns="0" rIns="0" bIns="0">
            <a:spAutoFit/>
          </a:bodyPr>
          <a:lstStyle/>
          <a:p>
            <a:pPr>
              <a:lnSpc>
                <a:spcPct val="120000"/>
              </a:lnSpc>
            </a:pPr>
            <a:r>
              <a:rPr sz="1700" b="0" i="0">
                <a:solidFill>
                  <a:srgbClr val="5B6775"/>
                </a:solidFill>
                <a:latin typeface="Segoe UI"/>
              </a:rPr>
              <a:t>Every .filter(), every lambda, every class in a packaged job is ordinary Python underneath. If the Python is shaky, every later module gets harder to follow for no good reason.</a:t>
            </a:r>
          </a:p>
        </p:txBody>
      </p:sp>
      <p:sp>
        <p:nvSpPr>
          <p:cNvPr id="6" name="Rectangle 5"/>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01  ·  Python essentials for Spark</a:t>
            </a:r>
          </a:p>
        </p:txBody>
      </p:sp>
      <p:sp>
        <p:nvSpPr>
          <p:cNvPr id="8" name="TextBox 7"/>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How each module works</a:t>
            </a:r>
          </a:p>
        </p:txBody>
      </p:sp>
      <p:sp>
        <p:nvSpPr>
          <p:cNvPr id="4" name="Rectangle 3"/>
          <p:cNvSpPr/>
          <p:nvPr/>
        </p:nvSpPr>
        <p:spPr>
          <a:xfrm>
            <a:off x="658368" y="1801368"/>
            <a:ext cx="3466490" cy="2834640"/>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801368"/>
            <a:ext cx="3466490" cy="40640"/>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2020824"/>
            <a:ext cx="3137306" cy="310896"/>
          </a:xfrm>
          <a:prstGeom prst="rect">
            <a:avLst/>
          </a:prstGeom>
          <a:noFill/>
        </p:spPr>
        <p:txBody>
          <a:bodyPr wrap="square" lIns="0" tIns="0" rIns="0" bIns="0">
            <a:spAutoFit/>
          </a:bodyPr>
          <a:lstStyle/>
          <a:p>
            <a:r>
              <a:rPr sz="2000" b="1" i="0">
                <a:solidFill>
                  <a:srgbClr val="2E74B5"/>
                </a:solidFill>
                <a:latin typeface="Segoe UI Semibold"/>
              </a:rPr>
              <a:t>1</a:t>
            </a:r>
          </a:p>
        </p:txBody>
      </p:sp>
      <p:sp>
        <p:nvSpPr>
          <p:cNvPr id="7" name="TextBox 6"/>
          <p:cNvSpPr txBox="1"/>
          <p:nvPr/>
        </p:nvSpPr>
        <p:spPr>
          <a:xfrm>
            <a:off x="822960" y="2404872"/>
            <a:ext cx="3137306" cy="566928"/>
          </a:xfrm>
          <a:prstGeom prst="rect">
            <a:avLst/>
          </a:prstGeom>
          <a:noFill/>
        </p:spPr>
        <p:txBody>
          <a:bodyPr wrap="square" lIns="0" tIns="0" rIns="0" bIns="0">
            <a:spAutoFit/>
          </a:bodyPr>
          <a:lstStyle/>
          <a:p>
            <a:pPr>
              <a:lnSpc>
                <a:spcPct val="105000"/>
              </a:lnSpc>
            </a:pPr>
            <a:r>
              <a:rPr sz="1550" b="1" i="0">
                <a:solidFill>
                  <a:srgbClr val="1F4E79"/>
                </a:solidFill>
                <a:latin typeface="Segoe UI Semibold"/>
              </a:rPr>
              <a:t>Explain</a:t>
            </a:r>
          </a:p>
        </p:txBody>
      </p:sp>
      <p:sp>
        <p:nvSpPr>
          <p:cNvPr id="8" name="TextBox 7"/>
          <p:cNvSpPr txBox="1"/>
          <p:nvPr/>
        </p:nvSpPr>
        <p:spPr>
          <a:xfrm>
            <a:off x="822960" y="3044952"/>
            <a:ext cx="3137306" cy="1417320"/>
          </a:xfrm>
          <a:prstGeom prst="rect">
            <a:avLst/>
          </a:prstGeom>
          <a:noFill/>
        </p:spPr>
        <p:txBody>
          <a:bodyPr wrap="square" lIns="0" tIns="0" rIns="0" bIns="0">
            <a:spAutoFit/>
          </a:bodyPr>
          <a:lstStyle/>
          <a:p>
            <a:pPr>
              <a:lnSpc>
                <a:spcPct val="116000"/>
              </a:lnSpc>
            </a:pPr>
            <a:r>
              <a:rPr sz="1300" b="0" i="0">
                <a:solidFill>
                  <a:srgbClr val="5B6775"/>
                </a:solidFill>
                <a:latin typeface="Segoe UI"/>
              </a:rPr>
              <a:t>Trainer walks through the concept and the banking scenario behind it</a:t>
            </a:r>
          </a:p>
        </p:txBody>
      </p:sp>
      <p:sp>
        <p:nvSpPr>
          <p:cNvPr id="9" name="Rectangle 8"/>
          <p:cNvSpPr/>
          <p:nvPr/>
        </p:nvSpPr>
        <p:spPr>
          <a:xfrm>
            <a:off x="4362602" y="1801368"/>
            <a:ext cx="3466490" cy="2834640"/>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362602" y="1801368"/>
            <a:ext cx="3466490" cy="40640"/>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27194" y="2020824"/>
            <a:ext cx="3137306" cy="310896"/>
          </a:xfrm>
          <a:prstGeom prst="rect">
            <a:avLst/>
          </a:prstGeom>
          <a:noFill/>
        </p:spPr>
        <p:txBody>
          <a:bodyPr wrap="square" lIns="0" tIns="0" rIns="0" bIns="0">
            <a:spAutoFit/>
          </a:bodyPr>
          <a:lstStyle/>
          <a:p>
            <a:r>
              <a:rPr sz="2000" b="1" i="0">
                <a:solidFill>
                  <a:srgbClr val="2E74B5"/>
                </a:solidFill>
                <a:latin typeface="Segoe UI Semibold"/>
              </a:rPr>
              <a:t>2</a:t>
            </a:r>
          </a:p>
        </p:txBody>
      </p:sp>
      <p:sp>
        <p:nvSpPr>
          <p:cNvPr id="12" name="TextBox 11"/>
          <p:cNvSpPr txBox="1"/>
          <p:nvPr/>
        </p:nvSpPr>
        <p:spPr>
          <a:xfrm>
            <a:off x="4527194" y="2404872"/>
            <a:ext cx="3137306" cy="566928"/>
          </a:xfrm>
          <a:prstGeom prst="rect">
            <a:avLst/>
          </a:prstGeom>
          <a:noFill/>
        </p:spPr>
        <p:txBody>
          <a:bodyPr wrap="square" lIns="0" tIns="0" rIns="0" bIns="0">
            <a:spAutoFit/>
          </a:bodyPr>
          <a:lstStyle/>
          <a:p>
            <a:pPr>
              <a:lnSpc>
                <a:spcPct val="105000"/>
              </a:lnSpc>
            </a:pPr>
            <a:r>
              <a:rPr sz="1550" b="1" i="0">
                <a:solidFill>
                  <a:srgbClr val="1F4E79"/>
                </a:solidFill>
                <a:latin typeface="Segoe UI Semibold"/>
              </a:rPr>
              <a:t>Practice</a:t>
            </a:r>
          </a:p>
        </p:txBody>
      </p:sp>
      <p:sp>
        <p:nvSpPr>
          <p:cNvPr id="13" name="TextBox 12"/>
          <p:cNvSpPr txBox="1"/>
          <p:nvPr/>
        </p:nvSpPr>
        <p:spPr>
          <a:xfrm>
            <a:off x="4527194" y="3044952"/>
            <a:ext cx="3137306" cy="1417320"/>
          </a:xfrm>
          <a:prstGeom prst="rect">
            <a:avLst/>
          </a:prstGeom>
          <a:noFill/>
        </p:spPr>
        <p:txBody>
          <a:bodyPr wrap="square" lIns="0" tIns="0" rIns="0" bIns="0">
            <a:spAutoFit/>
          </a:bodyPr>
          <a:lstStyle/>
          <a:p>
            <a:pPr>
              <a:lnSpc>
                <a:spcPct val="116000"/>
              </a:lnSpc>
            </a:pPr>
            <a:r>
              <a:rPr sz="1300" b="0" i="0">
                <a:solidFill>
                  <a:srgbClr val="5B6775"/>
                </a:solidFill>
                <a:latin typeface="Segoe UI"/>
              </a:rPr>
              <a:t>You work the notebook yourself, command by command, cell by cell</a:t>
            </a:r>
          </a:p>
        </p:txBody>
      </p:sp>
      <p:sp>
        <p:nvSpPr>
          <p:cNvPr id="14" name="Rectangle 13"/>
          <p:cNvSpPr/>
          <p:nvPr/>
        </p:nvSpPr>
        <p:spPr>
          <a:xfrm>
            <a:off x="8066836" y="1801368"/>
            <a:ext cx="3466490" cy="2834640"/>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066836" y="1801368"/>
            <a:ext cx="3466490" cy="40640"/>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31428" y="2020824"/>
            <a:ext cx="3137306" cy="310896"/>
          </a:xfrm>
          <a:prstGeom prst="rect">
            <a:avLst/>
          </a:prstGeom>
          <a:noFill/>
        </p:spPr>
        <p:txBody>
          <a:bodyPr wrap="square" lIns="0" tIns="0" rIns="0" bIns="0">
            <a:spAutoFit/>
          </a:bodyPr>
          <a:lstStyle/>
          <a:p>
            <a:r>
              <a:rPr sz="2000" b="1" i="0">
                <a:solidFill>
                  <a:srgbClr val="2E74B5"/>
                </a:solidFill>
                <a:latin typeface="Segoe UI Semibold"/>
              </a:rPr>
              <a:t>3</a:t>
            </a:r>
          </a:p>
        </p:txBody>
      </p:sp>
      <p:sp>
        <p:nvSpPr>
          <p:cNvPr id="17" name="TextBox 16"/>
          <p:cNvSpPr txBox="1"/>
          <p:nvPr/>
        </p:nvSpPr>
        <p:spPr>
          <a:xfrm>
            <a:off x="8231428" y="2404872"/>
            <a:ext cx="3137306" cy="566928"/>
          </a:xfrm>
          <a:prstGeom prst="rect">
            <a:avLst/>
          </a:prstGeom>
          <a:noFill/>
        </p:spPr>
        <p:txBody>
          <a:bodyPr wrap="square" lIns="0" tIns="0" rIns="0" bIns="0">
            <a:spAutoFit/>
          </a:bodyPr>
          <a:lstStyle/>
          <a:p>
            <a:pPr>
              <a:lnSpc>
                <a:spcPct val="105000"/>
              </a:lnSpc>
            </a:pPr>
            <a:r>
              <a:rPr sz="1550" b="1" i="0">
                <a:solidFill>
                  <a:srgbClr val="1F4E79"/>
                </a:solidFill>
                <a:latin typeface="Segoe UI Semibold"/>
              </a:rPr>
              <a:t>Lab</a:t>
            </a:r>
          </a:p>
        </p:txBody>
      </p:sp>
      <p:sp>
        <p:nvSpPr>
          <p:cNvPr id="18" name="TextBox 17"/>
          <p:cNvSpPr txBox="1"/>
          <p:nvPr/>
        </p:nvSpPr>
        <p:spPr>
          <a:xfrm>
            <a:off x="8231428" y="3044952"/>
            <a:ext cx="3137306" cy="1417320"/>
          </a:xfrm>
          <a:prstGeom prst="rect">
            <a:avLst/>
          </a:prstGeom>
          <a:noFill/>
        </p:spPr>
        <p:txBody>
          <a:bodyPr wrap="square" lIns="0" tIns="0" rIns="0" bIns="0">
            <a:spAutoFit/>
          </a:bodyPr>
          <a:lstStyle/>
          <a:p>
            <a:pPr>
              <a:lnSpc>
                <a:spcPct val="116000"/>
              </a:lnSpc>
            </a:pPr>
            <a:r>
              <a:rPr sz="1300" b="0" i="0">
                <a:solidFill>
                  <a:srgbClr val="5B6775"/>
                </a:solidFill>
                <a:latin typeface="Segoe UI"/>
              </a:rPr>
              <a:t>You run the .py lab file, the same flow end to end</a:t>
            </a:r>
          </a:p>
        </p:txBody>
      </p:sp>
      <p:sp>
        <p:nvSpPr>
          <p:cNvPr id="19" name="TextBox 18"/>
          <p:cNvSpPr txBox="1"/>
          <p:nvPr/>
        </p:nvSpPr>
        <p:spPr>
          <a:xfrm>
            <a:off x="658368" y="4910328"/>
            <a:ext cx="10874959" cy="457200"/>
          </a:xfrm>
          <a:prstGeom prst="rect">
            <a:avLst/>
          </a:prstGeom>
          <a:noFill/>
        </p:spPr>
        <p:txBody>
          <a:bodyPr wrap="square" lIns="0" tIns="0" rIns="0" bIns="0">
            <a:spAutoFit/>
          </a:bodyPr>
          <a:lstStyle/>
          <a:p>
            <a:r>
              <a:rPr sz="1350" b="0" i="1">
                <a:solidFill>
                  <a:srgbClr val="5B6775"/>
                </a:solidFill>
                <a:latin typeface="Segoe UI"/>
              </a:rPr>
              <a:t>Notebooks: 01, 03, 05 to 12, 16. Script-only on purpose: 02, 04, 13 to 15, 17, 18.</a:t>
            </a:r>
          </a:p>
        </p:txBody>
      </p:sp>
      <p:sp>
        <p:nvSpPr>
          <p:cNvPr id="20" name="Rectangle 19"/>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01  ·  Python essentials for Spark</a:t>
            </a:r>
          </a:p>
        </p:txBody>
      </p:sp>
      <p:sp>
        <p:nvSpPr>
          <p:cNvPr id="22" name="TextBox 21"/>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2</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237744"/>
          </a:xfrm>
          <a:prstGeom prst="rect">
            <a:avLst/>
          </a:prstGeom>
          <a:noFill/>
        </p:spPr>
        <p:txBody>
          <a:bodyPr wrap="square" lIns="0" tIns="0" rIns="0" bIns="0">
            <a:spAutoFit/>
          </a:bodyPr>
          <a:lstStyle/>
          <a:p>
            <a:r>
              <a:rPr sz="1000" b="1" i="0">
                <a:solidFill>
                  <a:srgbClr val="2E74B5"/>
                </a:solidFill>
                <a:latin typeface="Segoe UI Semibold"/>
              </a:rPr>
              <a:t>THE BUILDING BLOCKS</a:t>
            </a:r>
          </a:p>
        </p:txBody>
      </p:sp>
      <p:sp>
        <p:nvSpPr>
          <p:cNvPr id="4" name="TextBox 3"/>
          <p:cNvSpPr txBox="1"/>
          <p:nvPr/>
        </p:nvSpPr>
        <p:spPr>
          <a:xfrm>
            <a:off x="658368" y="768096"/>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List, dict, tuple: three collections, one choice each</a:t>
            </a:r>
          </a:p>
        </p:txBody>
      </p:sp>
      <p:graphicFrame>
        <p:nvGraphicFramePr>
          <p:cNvPr id="5" name="Table 4"/>
          <p:cNvGraphicFramePr>
            <a:graphicFrameLocks noGrp="1"/>
          </p:cNvGraphicFramePr>
          <p:nvPr/>
        </p:nvGraphicFramePr>
        <p:xfrm>
          <a:off x="658368" y="1481328"/>
          <a:ext cx="10874957" cy="1828800"/>
        </p:xfrm>
        <a:graphic>
          <a:graphicData uri="http://schemas.openxmlformats.org/drawingml/2006/table">
            <a:tbl>
              <a:tblPr firstRow="1" bandRow="1">
                <a:tableStyleId>{5C22544A-7EE6-4342-B048-85BDC9FD1C3A}</a:tableStyleId>
              </a:tblPr>
              <a:tblGrid>
                <a:gridCol w="1739993">
                  <a:extLst>
                    <a:ext uri="{9D8B030D-6E8A-4147-A177-3AD203B41FA5}">
                      <a16:colId xmlns:a16="http://schemas.microsoft.com/office/drawing/2014/main" val="20000"/>
                    </a:ext>
                  </a:extLst>
                </a:gridCol>
                <a:gridCol w="3479986">
                  <a:extLst>
                    <a:ext uri="{9D8B030D-6E8A-4147-A177-3AD203B41FA5}">
                      <a16:colId xmlns:a16="http://schemas.microsoft.com/office/drawing/2014/main" val="20001"/>
                    </a:ext>
                  </a:extLst>
                </a:gridCol>
                <a:gridCol w="1957492">
                  <a:extLst>
                    <a:ext uri="{9D8B030D-6E8A-4147-A177-3AD203B41FA5}">
                      <a16:colId xmlns:a16="http://schemas.microsoft.com/office/drawing/2014/main" val="20002"/>
                    </a:ext>
                  </a:extLst>
                </a:gridCol>
                <a:gridCol w="3697486">
                  <a:extLst>
                    <a:ext uri="{9D8B030D-6E8A-4147-A177-3AD203B41FA5}">
                      <a16:colId xmlns:a16="http://schemas.microsoft.com/office/drawing/2014/main" val="20003"/>
                    </a:ext>
                  </a:extLst>
                </a:gridCol>
              </a:tblGrid>
              <a:tr h="402336">
                <a:tc>
                  <a:txBody>
                    <a:bodyPr/>
                    <a:lstStyle/>
                    <a:p>
                      <a:r>
                        <a:rPr sz="1450" b="1" i="0">
                          <a:solidFill>
                            <a:srgbClr val="FFFFFF"/>
                          </a:solidFill>
                          <a:latin typeface="Segoe UI Semibold"/>
                        </a:rPr>
                        <a:t>Type</a:t>
                      </a:r>
                    </a:p>
                  </a:txBody>
                  <a:tcPr anchor="ctr">
                    <a:solidFill>
                      <a:srgbClr val="1F4E79"/>
                    </a:solidFill>
                  </a:tcPr>
                </a:tc>
                <a:tc>
                  <a:txBody>
                    <a:bodyPr/>
                    <a:lstStyle/>
                    <a:p>
                      <a:r>
                        <a:rPr sz="1450" b="1" i="0">
                          <a:solidFill>
                            <a:srgbClr val="FFFFFF"/>
                          </a:solidFill>
                          <a:latin typeface="Segoe UI Semibold"/>
                        </a:rPr>
                        <a:t>Written as</a:t>
                      </a:r>
                    </a:p>
                  </a:txBody>
                  <a:tcPr anchor="ctr">
                    <a:solidFill>
                      <a:srgbClr val="1F4E79"/>
                    </a:solidFill>
                  </a:tcPr>
                </a:tc>
                <a:tc>
                  <a:txBody>
                    <a:bodyPr/>
                    <a:lstStyle/>
                    <a:p>
                      <a:r>
                        <a:rPr sz="1450" b="1" i="0">
                          <a:solidFill>
                            <a:srgbClr val="FFFFFF"/>
                          </a:solidFill>
                          <a:latin typeface="Segoe UI Semibold"/>
                        </a:rPr>
                        <a:t>Changeable</a:t>
                      </a:r>
                    </a:p>
                  </a:txBody>
                  <a:tcPr anchor="ctr">
                    <a:solidFill>
                      <a:srgbClr val="1F4E79"/>
                    </a:solidFill>
                  </a:tcPr>
                </a:tc>
                <a:tc>
                  <a:txBody>
                    <a:bodyPr/>
                    <a:lstStyle/>
                    <a:p>
                      <a:r>
                        <a:rPr sz="1450" b="1" i="0">
                          <a:solidFill>
                            <a:srgbClr val="FFFFFF"/>
                          </a:solidFill>
                          <a:latin typeface="Segoe UI Semibold"/>
                        </a:rPr>
                        <a:t>Typical use</a:t>
                      </a:r>
                    </a:p>
                  </a:txBody>
                  <a:tcPr anchor="ctr">
                    <a:solidFill>
                      <a:srgbClr val="1F4E79"/>
                    </a:solidFill>
                  </a:tcPr>
                </a:tc>
                <a:extLst>
                  <a:ext uri="{0D108BD9-81ED-4DB2-BD59-A6C34878D82A}">
                    <a16:rowId xmlns:a16="http://schemas.microsoft.com/office/drawing/2014/main" val="10000"/>
                  </a:ext>
                </a:extLst>
              </a:tr>
              <a:tr h="475488">
                <a:tc>
                  <a:txBody>
                    <a:bodyPr/>
                    <a:lstStyle/>
                    <a:p>
                      <a:pPr>
                        <a:lnSpc>
                          <a:spcPct val="106000"/>
                        </a:lnSpc>
                      </a:pPr>
                      <a:r>
                        <a:rPr sz="1400" b="1" i="0">
                          <a:solidFill>
                            <a:srgbClr val="242C38"/>
                          </a:solidFill>
                          <a:latin typeface="Segoe UI"/>
                        </a:rPr>
                        <a:t>list</a:t>
                      </a:r>
                    </a:p>
                  </a:txBody>
                  <a:tcPr marT="36576" marB="36576" anchor="ctr">
                    <a:solidFill>
                      <a:srgbClr val="EEF3F8"/>
                    </a:solidFill>
                  </a:tcPr>
                </a:tc>
                <a:tc>
                  <a:txBody>
                    <a:bodyPr/>
                    <a:lstStyle/>
                    <a:p>
                      <a:pPr>
                        <a:lnSpc>
                          <a:spcPct val="106000"/>
                        </a:lnSpc>
                      </a:pPr>
                      <a:r>
                        <a:rPr sz="1350" b="0" i="0">
                          <a:solidFill>
                            <a:srgbClr val="2E74B5"/>
                          </a:solidFill>
                          <a:latin typeface="Consolas"/>
                        </a:rPr>
                        <a:t>[1200.0, -50.0, 999.5]</a:t>
                      </a:r>
                    </a:p>
                  </a:txBody>
                  <a:tcPr marT="36576" marB="36576" anchor="ctr">
                    <a:solidFill>
                      <a:srgbClr val="EEF3F8"/>
                    </a:solidFill>
                  </a:tcPr>
                </a:tc>
                <a:tc>
                  <a:txBody>
                    <a:bodyPr/>
                    <a:lstStyle/>
                    <a:p>
                      <a:pPr>
                        <a:lnSpc>
                          <a:spcPct val="106000"/>
                        </a:lnSpc>
                      </a:pPr>
                      <a:r>
                        <a:rPr sz="1400" b="0" i="0">
                          <a:solidFill>
                            <a:srgbClr val="242C38"/>
                          </a:solidFill>
                          <a:latin typeface="Segoe UI"/>
                        </a:rPr>
                        <a:t>yes</a:t>
                      </a:r>
                    </a:p>
                  </a:txBody>
                  <a:tcPr marT="36576" marB="36576" anchor="ctr">
                    <a:solidFill>
                      <a:srgbClr val="EEF3F8"/>
                    </a:solidFill>
                  </a:tcPr>
                </a:tc>
                <a:tc>
                  <a:txBody>
                    <a:bodyPr/>
                    <a:lstStyle/>
                    <a:p>
                      <a:pPr>
                        <a:lnSpc>
                          <a:spcPct val="106000"/>
                        </a:lnSpc>
                      </a:pPr>
                      <a:r>
                        <a:rPr sz="1400" b="0" i="0">
                          <a:solidFill>
                            <a:srgbClr val="242C38"/>
                          </a:solidFill>
                          <a:latin typeface="Segoe UI"/>
                        </a:rPr>
                        <a:t>a column of values, a batch of txns</a:t>
                      </a:r>
                    </a:p>
                  </a:txBody>
                  <a:tcPr marT="36576" marB="36576" anchor="ctr">
                    <a:solidFill>
                      <a:srgbClr val="EEF3F8"/>
                    </a:solidFill>
                  </a:tcPr>
                </a:tc>
                <a:extLst>
                  <a:ext uri="{0D108BD9-81ED-4DB2-BD59-A6C34878D82A}">
                    <a16:rowId xmlns:a16="http://schemas.microsoft.com/office/drawing/2014/main" val="10001"/>
                  </a:ext>
                </a:extLst>
              </a:tr>
              <a:tr h="475488">
                <a:tc>
                  <a:txBody>
                    <a:bodyPr/>
                    <a:lstStyle/>
                    <a:p>
                      <a:pPr>
                        <a:lnSpc>
                          <a:spcPct val="106000"/>
                        </a:lnSpc>
                      </a:pPr>
                      <a:r>
                        <a:rPr sz="1400" b="1" i="0">
                          <a:solidFill>
                            <a:srgbClr val="242C38"/>
                          </a:solidFill>
                          <a:latin typeface="Segoe UI"/>
                        </a:rPr>
                        <a:t>dict</a:t>
                      </a:r>
                    </a:p>
                  </a:txBody>
                  <a:tcPr marT="36576" marB="36576" anchor="ctr">
                    <a:solidFill>
                      <a:srgbClr val="FFFFFF"/>
                    </a:solidFill>
                  </a:tcPr>
                </a:tc>
                <a:tc>
                  <a:txBody>
                    <a:bodyPr/>
                    <a:lstStyle/>
                    <a:p>
                      <a:pPr>
                        <a:lnSpc>
                          <a:spcPct val="106000"/>
                        </a:lnSpc>
                      </a:pPr>
                      <a:r>
                        <a:rPr sz="1350" b="0" i="0">
                          <a:solidFill>
                            <a:srgbClr val="2E74B5"/>
                          </a:solidFill>
                          <a:latin typeface="Consolas"/>
                        </a:rPr>
                        <a:t>{"account_id": "ACC9000001"}</a:t>
                      </a:r>
                    </a:p>
                  </a:txBody>
                  <a:tcPr marT="36576" marB="36576" anchor="ctr">
                    <a:solidFill>
                      <a:srgbClr val="FFFFFF"/>
                    </a:solidFill>
                  </a:tcPr>
                </a:tc>
                <a:tc>
                  <a:txBody>
                    <a:bodyPr/>
                    <a:lstStyle/>
                    <a:p>
                      <a:pPr>
                        <a:lnSpc>
                          <a:spcPct val="106000"/>
                        </a:lnSpc>
                      </a:pPr>
                      <a:r>
                        <a:rPr sz="1400" b="0" i="0">
                          <a:solidFill>
                            <a:srgbClr val="242C38"/>
                          </a:solidFill>
                          <a:latin typeface="Segoe UI"/>
                        </a:rPr>
                        <a:t>yes</a:t>
                      </a:r>
                    </a:p>
                  </a:txBody>
                  <a:tcPr marT="36576" marB="36576" anchor="ctr">
                    <a:solidFill>
                      <a:srgbClr val="FFFFFF"/>
                    </a:solidFill>
                  </a:tcPr>
                </a:tc>
                <a:tc>
                  <a:txBody>
                    <a:bodyPr/>
                    <a:lstStyle/>
                    <a:p>
                      <a:pPr>
                        <a:lnSpc>
                          <a:spcPct val="106000"/>
                        </a:lnSpc>
                      </a:pPr>
                      <a:r>
                        <a:rPr sz="1400" b="0" i="0">
                          <a:solidFill>
                            <a:srgbClr val="242C38"/>
                          </a:solidFill>
                          <a:latin typeface="Segoe UI"/>
                        </a:rPr>
                        <a:t>one row, addressed by field name</a:t>
                      </a:r>
                    </a:p>
                  </a:txBody>
                  <a:tcPr marT="36576" marB="36576" anchor="ctr">
                    <a:solidFill>
                      <a:srgbClr val="FFFFFF"/>
                    </a:solidFill>
                  </a:tcPr>
                </a:tc>
                <a:extLst>
                  <a:ext uri="{0D108BD9-81ED-4DB2-BD59-A6C34878D82A}">
                    <a16:rowId xmlns:a16="http://schemas.microsoft.com/office/drawing/2014/main" val="10002"/>
                  </a:ext>
                </a:extLst>
              </a:tr>
              <a:tr h="475488">
                <a:tc>
                  <a:txBody>
                    <a:bodyPr/>
                    <a:lstStyle/>
                    <a:p>
                      <a:pPr>
                        <a:lnSpc>
                          <a:spcPct val="106000"/>
                        </a:lnSpc>
                      </a:pPr>
                      <a:r>
                        <a:rPr sz="1400" b="1" i="0">
                          <a:solidFill>
                            <a:srgbClr val="242C38"/>
                          </a:solidFill>
                          <a:latin typeface="Segoe UI"/>
                        </a:rPr>
                        <a:t>tuple</a:t>
                      </a:r>
                    </a:p>
                  </a:txBody>
                  <a:tcPr marT="36576" marB="36576" anchor="ctr">
                    <a:solidFill>
                      <a:srgbClr val="EEF3F8"/>
                    </a:solidFill>
                  </a:tcPr>
                </a:tc>
                <a:tc>
                  <a:txBody>
                    <a:bodyPr/>
                    <a:lstStyle/>
                    <a:p>
                      <a:pPr>
                        <a:lnSpc>
                          <a:spcPct val="106000"/>
                        </a:lnSpc>
                      </a:pPr>
                      <a:r>
                        <a:rPr sz="1350" b="0" i="0">
                          <a:solidFill>
                            <a:srgbClr val="2E74B5"/>
                          </a:solidFill>
                          <a:latin typeface="Consolas"/>
                        </a:rPr>
                        <a:t>("Mumbai", "Maharashtra")</a:t>
                      </a:r>
                    </a:p>
                  </a:txBody>
                  <a:tcPr marT="36576" marB="36576" anchor="ctr">
                    <a:solidFill>
                      <a:srgbClr val="EEF3F8"/>
                    </a:solidFill>
                  </a:tcPr>
                </a:tc>
                <a:tc>
                  <a:txBody>
                    <a:bodyPr/>
                    <a:lstStyle/>
                    <a:p>
                      <a:pPr>
                        <a:lnSpc>
                          <a:spcPct val="106000"/>
                        </a:lnSpc>
                      </a:pPr>
                      <a:r>
                        <a:rPr sz="1400" b="0" i="0">
                          <a:solidFill>
                            <a:srgbClr val="242C38"/>
                          </a:solidFill>
                          <a:latin typeface="Segoe UI"/>
                        </a:rPr>
                        <a:t>no</a:t>
                      </a:r>
                    </a:p>
                  </a:txBody>
                  <a:tcPr marT="36576" marB="36576" anchor="ctr">
                    <a:solidFill>
                      <a:srgbClr val="EEF3F8"/>
                    </a:solidFill>
                  </a:tcPr>
                </a:tc>
                <a:tc>
                  <a:txBody>
                    <a:bodyPr/>
                    <a:lstStyle/>
                    <a:p>
                      <a:pPr>
                        <a:lnSpc>
                          <a:spcPct val="106000"/>
                        </a:lnSpc>
                      </a:pPr>
                      <a:r>
                        <a:rPr sz="1400" b="0" i="0">
                          <a:solidFill>
                            <a:srgbClr val="242C38"/>
                          </a:solidFill>
                          <a:latin typeface="Segoe UI"/>
                        </a:rPr>
                        <a:t>a fixed pair that should never change</a:t>
                      </a:r>
                    </a:p>
                  </a:txBody>
                  <a:tcPr marT="36576" marB="36576" anchor="ctr">
                    <a:solidFill>
                      <a:srgbClr val="EEF3F8"/>
                    </a:solidFill>
                  </a:tcPr>
                </a:tc>
                <a:extLst>
                  <a:ext uri="{0D108BD9-81ED-4DB2-BD59-A6C34878D82A}">
                    <a16:rowId xmlns:a16="http://schemas.microsoft.com/office/drawing/2014/main" val="10003"/>
                  </a:ext>
                </a:extLst>
              </a:tr>
            </a:tbl>
          </a:graphicData>
        </a:graphic>
      </p:graphicFrame>
      <p:sp>
        <p:nvSpPr>
          <p:cNvPr id="6" name="TextBox 5"/>
          <p:cNvSpPr txBox="1"/>
          <p:nvPr/>
        </p:nvSpPr>
        <p:spPr>
          <a:xfrm>
            <a:off x="658368" y="5724144"/>
            <a:ext cx="10874959" cy="502920"/>
          </a:xfrm>
          <a:prstGeom prst="rect">
            <a:avLst/>
          </a:prstGeom>
          <a:noFill/>
        </p:spPr>
        <p:txBody>
          <a:bodyPr wrap="square" lIns="0" tIns="0" rIns="0" bIns="0">
            <a:spAutoFit/>
          </a:bodyPr>
          <a:lstStyle/>
          <a:p>
            <a:r>
              <a:rPr sz="1300" b="0" i="1">
                <a:solidFill>
                  <a:srgbClr val="5B6775"/>
                </a:solidFill>
                <a:latin typeface="Segoe UI"/>
              </a:rPr>
              <a:t>A dict is a bit like a one-row lookup. A tuple is a list that cannot change.</a:t>
            </a:r>
          </a:p>
        </p:txBody>
      </p:sp>
      <p:sp>
        <p:nvSpPr>
          <p:cNvPr id="7" name="Rectangle 6"/>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01  ·  Python essentials for Spark</a:t>
            </a:r>
          </a:p>
        </p:txBody>
      </p:sp>
      <p:sp>
        <p:nvSpPr>
          <p:cNvPr id="9" name="TextBox 8"/>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3</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List comprehension replaces build-then-append</a:t>
            </a:r>
          </a:p>
        </p:txBody>
      </p:sp>
      <p:sp>
        <p:nvSpPr>
          <p:cNvPr id="4" name="Rectangle 3"/>
          <p:cNvSpPr/>
          <p:nvPr/>
        </p:nvSpPr>
        <p:spPr>
          <a:xfrm>
            <a:off x="658368" y="1481328"/>
            <a:ext cx="10874959" cy="2447544"/>
          </a:xfrm>
          <a:prstGeom prst="rect">
            <a:avLst/>
          </a:prstGeom>
          <a:solidFill>
            <a:srgbClr val="F5F7F9"/>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81328"/>
            <a:ext cx="43180" cy="2447544"/>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77824" y="1645920"/>
            <a:ext cx="10509199" cy="2173224"/>
          </a:xfrm>
          <a:prstGeom prst="rect">
            <a:avLst/>
          </a:prstGeom>
          <a:noFill/>
        </p:spPr>
        <p:txBody>
          <a:bodyPr wrap="square" lIns="0" tIns="0" rIns="0" bIns="0">
            <a:spAutoFit/>
          </a:bodyPr>
          <a:lstStyle/>
          <a:p>
            <a:pPr>
              <a:lnSpc>
                <a:spcPct val="116000"/>
              </a:lnSpc>
              <a:spcAft>
                <a:spcPts val="0"/>
              </a:spcAft>
            </a:pPr>
            <a:r>
              <a:rPr sz="1500" b="0" i="0">
                <a:solidFill>
                  <a:srgbClr val="242C38"/>
                </a:solidFill>
                <a:latin typeface="Consolas"/>
              </a:rPr>
              <a:t>positive = []</a:t>
            </a:r>
          </a:p>
          <a:p>
            <a:pPr>
              <a:lnSpc>
                <a:spcPct val="116000"/>
              </a:lnSpc>
              <a:spcAft>
                <a:spcPts val="0"/>
              </a:spcAft>
            </a:pPr>
            <a:r>
              <a:rPr sz="1500" b="0" i="0">
                <a:solidFill>
                  <a:srgbClr val="0F5BA7"/>
                </a:solidFill>
                <a:latin typeface="Consolas"/>
              </a:rPr>
              <a:t>for</a:t>
            </a:r>
            <a:r>
              <a:rPr sz="1500" b="0" i="0">
                <a:solidFill>
                  <a:srgbClr val="242C38"/>
                </a:solidFill>
                <a:latin typeface="Consolas"/>
              </a:rPr>
              <a:t> a </a:t>
            </a:r>
            <a:r>
              <a:rPr sz="1500" b="0" i="0">
                <a:solidFill>
                  <a:srgbClr val="0F5BA7"/>
                </a:solidFill>
                <a:latin typeface="Consolas"/>
              </a:rPr>
              <a:t>in</a:t>
            </a:r>
            <a:r>
              <a:rPr sz="1500" b="0" i="0">
                <a:solidFill>
                  <a:srgbClr val="242C38"/>
                </a:solidFill>
                <a:latin typeface="Consolas"/>
              </a:rPr>
              <a:t> amounts:</a:t>
            </a:r>
          </a:p>
          <a:p>
            <a:pPr>
              <a:lnSpc>
                <a:spcPct val="116000"/>
              </a:lnSpc>
              <a:spcAft>
                <a:spcPts val="0"/>
              </a:spcAft>
            </a:pPr>
            <a:r>
              <a:rPr sz="1500" b="0" i="0">
                <a:solidFill>
                  <a:srgbClr val="242C38"/>
                </a:solidFill>
                <a:latin typeface="Consolas"/>
              </a:rPr>
              <a:t>    </a:t>
            </a:r>
            <a:r>
              <a:rPr sz="1500" b="0" i="0">
                <a:solidFill>
                  <a:srgbClr val="0F5BA7"/>
                </a:solidFill>
                <a:latin typeface="Consolas"/>
              </a:rPr>
              <a:t>if</a:t>
            </a:r>
            <a:r>
              <a:rPr sz="1500" b="0" i="0">
                <a:solidFill>
                  <a:srgbClr val="242C38"/>
                </a:solidFill>
                <a:latin typeface="Consolas"/>
              </a:rPr>
              <a:t> a &gt; </a:t>
            </a:r>
            <a:r>
              <a:rPr sz="1500" b="0" i="0">
                <a:solidFill>
                  <a:srgbClr val="098658"/>
                </a:solidFill>
                <a:latin typeface="Consolas"/>
              </a:rPr>
              <a:t>0</a:t>
            </a:r>
            <a:r>
              <a:rPr sz="1500" b="0" i="0">
                <a:solidFill>
                  <a:srgbClr val="242C38"/>
                </a:solidFill>
                <a:latin typeface="Consolas"/>
              </a:rPr>
              <a:t>:</a:t>
            </a:r>
          </a:p>
          <a:p>
            <a:pPr>
              <a:lnSpc>
                <a:spcPct val="116000"/>
              </a:lnSpc>
              <a:spcAft>
                <a:spcPts val="0"/>
              </a:spcAft>
            </a:pPr>
            <a:r>
              <a:rPr sz="1500" b="0" i="0">
                <a:solidFill>
                  <a:srgbClr val="242C38"/>
                </a:solidFill>
                <a:latin typeface="Consolas"/>
              </a:rPr>
              <a:t>        positive.append(a)</a:t>
            </a:r>
          </a:p>
          <a:p>
            <a:pPr>
              <a:lnSpc>
                <a:spcPct val="116000"/>
              </a:lnSpc>
              <a:spcAft>
                <a:spcPts val="0"/>
              </a:spcAft>
            </a:pPr>
            <a:r>
              <a:rPr sz="1500" b="0" i="0">
                <a:solidFill>
                  <a:srgbClr val="242C38"/>
                </a:solidFill>
                <a:latin typeface="Consolas"/>
              </a:rPr>
              <a:t> </a:t>
            </a:r>
          </a:p>
          <a:p>
            <a:pPr>
              <a:lnSpc>
                <a:spcPct val="116000"/>
              </a:lnSpc>
              <a:spcAft>
                <a:spcPts val="0"/>
              </a:spcAft>
            </a:pPr>
            <a:r>
              <a:rPr sz="1500" b="0" i="1">
                <a:solidFill>
                  <a:srgbClr val="6F865C"/>
                </a:solidFill>
                <a:latin typeface="Consolas"/>
              </a:rPr>
              <a:t># same result, one line</a:t>
            </a:r>
          </a:p>
          <a:p>
            <a:pPr>
              <a:lnSpc>
                <a:spcPct val="116000"/>
              </a:lnSpc>
              <a:spcAft>
                <a:spcPts val="0"/>
              </a:spcAft>
            </a:pPr>
            <a:r>
              <a:rPr sz="1500" b="0" i="0">
                <a:solidFill>
                  <a:srgbClr val="242C38"/>
                </a:solidFill>
                <a:latin typeface="Consolas"/>
              </a:rPr>
              <a:t>positive = [a </a:t>
            </a:r>
            <a:r>
              <a:rPr sz="1500" b="0" i="0">
                <a:solidFill>
                  <a:srgbClr val="0F5BA7"/>
                </a:solidFill>
                <a:latin typeface="Consolas"/>
              </a:rPr>
              <a:t>for</a:t>
            </a:r>
            <a:r>
              <a:rPr sz="1500" b="0" i="0">
                <a:solidFill>
                  <a:srgbClr val="242C38"/>
                </a:solidFill>
                <a:latin typeface="Consolas"/>
              </a:rPr>
              <a:t> a </a:t>
            </a:r>
            <a:r>
              <a:rPr sz="1500" b="0" i="0">
                <a:solidFill>
                  <a:srgbClr val="0F5BA7"/>
                </a:solidFill>
                <a:latin typeface="Consolas"/>
              </a:rPr>
              <a:t>in</a:t>
            </a:r>
            <a:r>
              <a:rPr sz="1500" b="0" i="0">
                <a:solidFill>
                  <a:srgbClr val="242C38"/>
                </a:solidFill>
                <a:latin typeface="Consolas"/>
              </a:rPr>
              <a:t> amounts </a:t>
            </a:r>
            <a:r>
              <a:rPr sz="1500" b="0" i="0">
                <a:solidFill>
                  <a:srgbClr val="0F5BA7"/>
                </a:solidFill>
                <a:latin typeface="Consolas"/>
              </a:rPr>
              <a:t>if</a:t>
            </a:r>
            <a:r>
              <a:rPr sz="1500" b="0" i="0">
                <a:solidFill>
                  <a:srgbClr val="242C38"/>
                </a:solidFill>
                <a:latin typeface="Consolas"/>
              </a:rPr>
              <a:t> a &gt; </a:t>
            </a:r>
            <a:r>
              <a:rPr sz="1500" b="0" i="0">
                <a:solidFill>
                  <a:srgbClr val="098658"/>
                </a:solidFill>
                <a:latin typeface="Consolas"/>
              </a:rPr>
              <a:t>0</a:t>
            </a:r>
            <a:r>
              <a:rPr sz="1500" b="0" i="0">
                <a:solidFill>
                  <a:srgbClr val="242C38"/>
                </a:solidFill>
                <a:latin typeface="Consolas"/>
              </a:rPr>
              <a:t>]</a:t>
            </a:r>
          </a:p>
        </p:txBody>
      </p:sp>
      <p:sp>
        <p:nvSpPr>
          <p:cNvPr id="7" name="TextBox 6"/>
          <p:cNvSpPr txBox="1"/>
          <p:nvPr/>
        </p:nvSpPr>
        <p:spPr>
          <a:xfrm>
            <a:off x="658368" y="4075176"/>
            <a:ext cx="10874959" cy="457200"/>
          </a:xfrm>
          <a:prstGeom prst="rect">
            <a:avLst/>
          </a:prstGeom>
          <a:noFill/>
        </p:spPr>
        <p:txBody>
          <a:bodyPr wrap="square" lIns="0" tIns="0" rIns="0" bIns="0">
            <a:spAutoFit/>
          </a:bodyPr>
          <a:lstStyle/>
          <a:p>
            <a:r>
              <a:rPr sz="1400" b="0" i="0">
                <a:solidFill>
                  <a:srgbClr val="5B6775"/>
                </a:solidFill>
                <a:latin typeface="Segoe UI"/>
              </a:rPr>
              <a:t>Use a comprehension when the loop body is one line. Otherwise, a plain for-loop is clearer.</a:t>
            </a:r>
          </a:p>
        </p:txBody>
      </p:sp>
      <p:sp>
        <p:nvSpPr>
          <p:cNvPr id="8" name="Rectangle 7"/>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01  ·  Python essentials for Spark</a:t>
            </a:r>
          </a:p>
        </p:txBody>
      </p:sp>
      <p:sp>
        <p:nvSpPr>
          <p:cNvPr id="10" name="TextBox 9"/>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4</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*args and **kwargs collect extra arguments</a:t>
            </a:r>
          </a:p>
        </p:txBody>
      </p:sp>
      <p:sp>
        <p:nvSpPr>
          <p:cNvPr id="4" name="Rectangle 3"/>
          <p:cNvSpPr/>
          <p:nvPr/>
        </p:nvSpPr>
        <p:spPr>
          <a:xfrm>
            <a:off x="658368" y="1481328"/>
            <a:ext cx="10874959" cy="2447544"/>
          </a:xfrm>
          <a:prstGeom prst="rect">
            <a:avLst/>
          </a:prstGeom>
          <a:solidFill>
            <a:srgbClr val="F5F7F9"/>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81328"/>
            <a:ext cx="43180" cy="2447544"/>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77824" y="1645920"/>
            <a:ext cx="10509199" cy="2173224"/>
          </a:xfrm>
          <a:prstGeom prst="rect">
            <a:avLst/>
          </a:prstGeom>
          <a:noFill/>
        </p:spPr>
        <p:txBody>
          <a:bodyPr wrap="square" lIns="0" tIns="0" rIns="0" bIns="0">
            <a:spAutoFit/>
          </a:bodyPr>
          <a:lstStyle/>
          <a:p>
            <a:pPr>
              <a:lnSpc>
                <a:spcPct val="116000"/>
              </a:lnSpc>
              <a:spcAft>
                <a:spcPts val="0"/>
              </a:spcAft>
            </a:pPr>
            <a:r>
              <a:rPr sz="1500" b="0" i="0">
                <a:solidFill>
                  <a:srgbClr val="0F5BA7"/>
                </a:solidFill>
                <a:latin typeface="Consolas"/>
              </a:rPr>
              <a:t>def</a:t>
            </a:r>
            <a:r>
              <a:rPr sz="1500" b="0" i="0">
                <a:solidFill>
                  <a:srgbClr val="242C38"/>
                </a:solidFill>
                <a:latin typeface="Consolas"/>
              </a:rPr>
              <a:t> total_of(*amounts):</a:t>
            </a:r>
          </a:p>
          <a:p>
            <a:pPr>
              <a:lnSpc>
                <a:spcPct val="116000"/>
              </a:lnSpc>
              <a:spcAft>
                <a:spcPts val="0"/>
              </a:spcAft>
            </a:pPr>
            <a:r>
              <a:rPr sz="1500" b="0" i="0">
                <a:solidFill>
                  <a:srgbClr val="242C38"/>
                </a:solidFill>
                <a:latin typeface="Consolas"/>
              </a:rPr>
              <a:t>    </a:t>
            </a:r>
            <a:r>
              <a:rPr sz="1500" b="0" i="0">
                <a:solidFill>
                  <a:srgbClr val="0F5BA7"/>
                </a:solidFill>
                <a:latin typeface="Consolas"/>
              </a:rPr>
              <a:t>return</a:t>
            </a:r>
            <a:r>
              <a:rPr sz="1500" b="0" i="0">
                <a:solidFill>
                  <a:srgbClr val="242C38"/>
                </a:solidFill>
                <a:latin typeface="Consolas"/>
              </a:rPr>
              <a:t> sum(amounts)</a:t>
            </a:r>
          </a:p>
          <a:p>
            <a:pPr>
              <a:lnSpc>
                <a:spcPct val="116000"/>
              </a:lnSpc>
              <a:spcAft>
                <a:spcPts val="0"/>
              </a:spcAft>
            </a:pPr>
            <a:r>
              <a:rPr sz="1500" b="0" i="0">
                <a:solidFill>
                  <a:srgbClr val="242C38"/>
                </a:solidFill>
                <a:latin typeface="Consolas"/>
              </a:rPr>
              <a:t> </a:t>
            </a:r>
          </a:p>
          <a:p>
            <a:pPr>
              <a:lnSpc>
                <a:spcPct val="116000"/>
              </a:lnSpc>
              <a:spcAft>
                <a:spcPts val="0"/>
              </a:spcAft>
            </a:pPr>
            <a:r>
              <a:rPr sz="1500" b="0" i="0">
                <a:solidFill>
                  <a:srgbClr val="0F5BA7"/>
                </a:solidFill>
                <a:latin typeface="Consolas"/>
              </a:rPr>
              <a:t>def</a:t>
            </a:r>
            <a:r>
              <a:rPr sz="1500" b="0" i="0">
                <a:solidFill>
                  <a:srgbClr val="242C38"/>
                </a:solidFill>
                <a:latin typeface="Consolas"/>
              </a:rPr>
              <a:t> open_account(**details):</a:t>
            </a:r>
          </a:p>
          <a:p>
            <a:pPr>
              <a:lnSpc>
                <a:spcPct val="116000"/>
              </a:lnSpc>
              <a:spcAft>
                <a:spcPts val="0"/>
              </a:spcAft>
            </a:pPr>
            <a:r>
              <a:rPr sz="1500" b="0" i="0">
                <a:solidFill>
                  <a:srgbClr val="242C38"/>
                </a:solidFill>
                <a:latin typeface="Consolas"/>
              </a:rPr>
              <a:t>    </a:t>
            </a:r>
            <a:r>
              <a:rPr sz="1500" b="0" i="0">
                <a:solidFill>
                  <a:srgbClr val="0F5BA7"/>
                </a:solidFill>
                <a:latin typeface="Consolas"/>
              </a:rPr>
              <a:t>return</a:t>
            </a:r>
            <a:r>
              <a:rPr sz="1500" b="0" i="0">
                <a:solidFill>
                  <a:srgbClr val="242C38"/>
                </a:solidFill>
                <a:latin typeface="Consolas"/>
              </a:rPr>
              <a:t> f</a:t>
            </a:r>
            <a:r>
              <a:rPr sz="1500" b="0" i="0">
                <a:solidFill>
                  <a:srgbClr val="A31515"/>
                </a:solidFill>
                <a:latin typeface="Consolas"/>
              </a:rPr>
              <a:t>"{details['account_type']} for {details['customer']}"</a:t>
            </a:r>
          </a:p>
          <a:p>
            <a:pPr>
              <a:lnSpc>
                <a:spcPct val="116000"/>
              </a:lnSpc>
              <a:spcAft>
                <a:spcPts val="0"/>
              </a:spcAft>
            </a:pPr>
            <a:r>
              <a:rPr sz="1500" b="0" i="0">
                <a:solidFill>
                  <a:srgbClr val="242C38"/>
                </a:solidFill>
                <a:latin typeface="Consolas"/>
              </a:rPr>
              <a:t> </a:t>
            </a:r>
          </a:p>
          <a:p>
            <a:pPr>
              <a:lnSpc>
                <a:spcPct val="116000"/>
              </a:lnSpc>
              <a:spcAft>
                <a:spcPts val="0"/>
              </a:spcAft>
            </a:pPr>
            <a:r>
              <a:rPr sz="1500" b="0" i="0">
                <a:solidFill>
                  <a:srgbClr val="242C38"/>
                </a:solidFill>
                <a:latin typeface="Consolas"/>
              </a:rPr>
              <a:t>total_of(</a:t>
            </a:r>
            <a:r>
              <a:rPr sz="1500" b="0" i="0">
                <a:solidFill>
                  <a:srgbClr val="098658"/>
                </a:solidFill>
                <a:latin typeface="Consolas"/>
              </a:rPr>
              <a:t>100</a:t>
            </a:r>
            <a:r>
              <a:rPr sz="1500" b="0" i="0">
                <a:solidFill>
                  <a:srgbClr val="242C38"/>
                </a:solidFill>
                <a:latin typeface="Consolas"/>
              </a:rPr>
              <a:t>, </a:t>
            </a:r>
            <a:r>
              <a:rPr sz="1500" b="0" i="0">
                <a:solidFill>
                  <a:srgbClr val="098658"/>
                </a:solidFill>
                <a:latin typeface="Consolas"/>
              </a:rPr>
              <a:t>200</a:t>
            </a:r>
            <a:r>
              <a:rPr sz="1500" b="0" i="0">
                <a:solidFill>
                  <a:srgbClr val="242C38"/>
                </a:solidFill>
                <a:latin typeface="Consolas"/>
              </a:rPr>
              <a:t>, </a:t>
            </a:r>
            <a:r>
              <a:rPr sz="1500" b="0" i="0">
                <a:solidFill>
                  <a:srgbClr val="098658"/>
                </a:solidFill>
                <a:latin typeface="Consolas"/>
              </a:rPr>
              <a:t>300</a:t>
            </a:r>
            <a:r>
              <a:rPr sz="1500" b="0" i="0">
                <a:solidFill>
                  <a:srgbClr val="242C38"/>
                </a:solidFill>
                <a:latin typeface="Consolas"/>
              </a:rPr>
              <a:t>)                    </a:t>
            </a:r>
            <a:r>
              <a:rPr sz="1500" b="0" i="1">
                <a:solidFill>
                  <a:srgbClr val="6F865C"/>
                </a:solidFill>
                <a:latin typeface="Consolas"/>
              </a:rPr>
              <a:t># 600</a:t>
            </a:r>
          </a:p>
        </p:txBody>
      </p:sp>
      <p:sp>
        <p:nvSpPr>
          <p:cNvPr id="7" name="TextBox 6"/>
          <p:cNvSpPr txBox="1"/>
          <p:nvPr/>
        </p:nvSpPr>
        <p:spPr>
          <a:xfrm>
            <a:off x="658368" y="4075176"/>
            <a:ext cx="10874959" cy="457200"/>
          </a:xfrm>
          <a:prstGeom prst="rect">
            <a:avLst/>
          </a:prstGeom>
          <a:noFill/>
        </p:spPr>
        <p:txBody>
          <a:bodyPr wrap="square" lIns="0" tIns="0" rIns="0" bIns="0">
            <a:spAutoFit/>
          </a:bodyPr>
          <a:lstStyle/>
          <a:p>
            <a:r>
              <a:rPr sz="1400" b="0" i="0">
                <a:solidFill>
                  <a:srgbClr val="5B6775"/>
                </a:solidFill>
                <a:latin typeface="Segoe UI"/>
              </a:rPr>
              <a:t>Python requires this order: normal arguments, then *args, then **kwargs.</a:t>
            </a:r>
          </a:p>
        </p:txBody>
      </p:sp>
      <p:sp>
        <p:nvSpPr>
          <p:cNvPr id="8" name="Rectangle 7"/>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01  ·  Python essentials for Spark</a:t>
            </a:r>
          </a:p>
        </p:txBody>
      </p:sp>
      <p:sp>
        <p:nvSpPr>
          <p:cNvPr id="10" name="TextBox 9"/>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5</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A class is a template, self is one instance</a:t>
            </a:r>
          </a:p>
        </p:txBody>
      </p:sp>
      <p:sp>
        <p:nvSpPr>
          <p:cNvPr id="4" name="Rectangle 3"/>
          <p:cNvSpPr/>
          <p:nvPr/>
        </p:nvSpPr>
        <p:spPr>
          <a:xfrm>
            <a:off x="658368" y="1481328"/>
            <a:ext cx="10874959" cy="2447544"/>
          </a:xfrm>
          <a:prstGeom prst="rect">
            <a:avLst/>
          </a:prstGeom>
          <a:solidFill>
            <a:srgbClr val="F5F7F9"/>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81328"/>
            <a:ext cx="43180" cy="2447544"/>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77824" y="1645920"/>
            <a:ext cx="10509199" cy="2173224"/>
          </a:xfrm>
          <a:prstGeom prst="rect">
            <a:avLst/>
          </a:prstGeom>
          <a:noFill/>
        </p:spPr>
        <p:txBody>
          <a:bodyPr wrap="square" lIns="0" tIns="0" rIns="0" bIns="0">
            <a:spAutoFit/>
          </a:bodyPr>
          <a:lstStyle/>
          <a:p>
            <a:pPr>
              <a:lnSpc>
                <a:spcPct val="116000"/>
              </a:lnSpc>
              <a:spcAft>
                <a:spcPts val="0"/>
              </a:spcAft>
            </a:pPr>
            <a:r>
              <a:rPr sz="1500" b="0" i="0">
                <a:solidFill>
                  <a:srgbClr val="0F5BA7"/>
                </a:solidFill>
                <a:latin typeface="Consolas"/>
              </a:rPr>
              <a:t>class</a:t>
            </a:r>
            <a:r>
              <a:rPr sz="1500" b="0" i="0">
                <a:solidFill>
                  <a:srgbClr val="242C38"/>
                </a:solidFill>
                <a:latin typeface="Consolas"/>
              </a:rPr>
              <a:t> Account:</a:t>
            </a:r>
          </a:p>
          <a:p>
            <a:pPr>
              <a:lnSpc>
                <a:spcPct val="116000"/>
              </a:lnSpc>
              <a:spcAft>
                <a:spcPts val="0"/>
              </a:spcAft>
            </a:pPr>
            <a:r>
              <a:rPr sz="1500" b="0" i="0">
                <a:solidFill>
                  <a:srgbClr val="242C38"/>
                </a:solidFill>
                <a:latin typeface="Consolas"/>
              </a:rPr>
              <a:t>    </a:t>
            </a:r>
            <a:r>
              <a:rPr sz="1500" b="0" i="0">
                <a:solidFill>
                  <a:srgbClr val="0F5BA7"/>
                </a:solidFill>
                <a:latin typeface="Consolas"/>
              </a:rPr>
              <a:t>def</a:t>
            </a:r>
            <a:r>
              <a:rPr sz="1500" b="0" i="0">
                <a:solidFill>
                  <a:srgbClr val="242C38"/>
                </a:solidFill>
                <a:latin typeface="Consolas"/>
              </a:rPr>
              <a:t> __init__(self, account_id, balance):</a:t>
            </a:r>
          </a:p>
          <a:p>
            <a:pPr>
              <a:lnSpc>
                <a:spcPct val="116000"/>
              </a:lnSpc>
              <a:spcAft>
                <a:spcPts val="0"/>
              </a:spcAft>
            </a:pPr>
            <a:r>
              <a:rPr sz="1500" b="0" i="0">
                <a:solidFill>
                  <a:srgbClr val="242C38"/>
                </a:solidFill>
                <a:latin typeface="Consolas"/>
              </a:rPr>
              <a:t>        self.account_id = account_id</a:t>
            </a:r>
          </a:p>
          <a:p>
            <a:pPr>
              <a:lnSpc>
                <a:spcPct val="116000"/>
              </a:lnSpc>
              <a:spcAft>
                <a:spcPts val="0"/>
              </a:spcAft>
            </a:pPr>
            <a:r>
              <a:rPr sz="1500" b="0" i="0">
                <a:solidFill>
                  <a:srgbClr val="242C38"/>
                </a:solidFill>
                <a:latin typeface="Consolas"/>
              </a:rPr>
              <a:t>        self.balance = balance</a:t>
            </a:r>
          </a:p>
          <a:p>
            <a:pPr>
              <a:lnSpc>
                <a:spcPct val="116000"/>
              </a:lnSpc>
              <a:spcAft>
                <a:spcPts val="0"/>
              </a:spcAft>
            </a:pPr>
            <a:r>
              <a:rPr sz="1500" b="0" i="0">
                <a:solidFill>
                  <a:srgbClr val="242C38"/>
                </a:solidFill>
                <a:latin typeface="Consolas"/>
              </a:rPr>
              <a:t> </a:t>
            </a:r>
          </a:p>
          <a:p>
            <a:pPr>
              <a:lnSpc>
                <a:spcPct val="116000"/>
              </a:lnSpc>
              <a:spcAft>
                <a:spcPts val="0"/>
              </a:spcAft>
            </a:pPr>
            <a:r>
              <a:rPr sz="1500" b="0" i="0">
                <a:solidFill>
                  <a:srgbClr val="242C38"/>
                </a:solidFill>
                <a:latin typeface="Consolas"/>
              </a:rPr>
              <a:t>    </a:t>
            </a:r>
            <a:r>
              <a:rPr sz="1500" b="0" i="0">
                <a:solidFill>
                  <a:srgbClr val="0F5BA7"/>
                </a:solidFill>
                <a:latin typeface="Consolas"/>
              </a:rPr>
              <a:t>def</a:t>
            </a:r>
            <a:r>
              <a:rPr sz="1500" b="0" i="0">
                <a:solidFill>
                  <a:srgbClr val="242C38"/>
                </a:solidFill>
                <a:latin typeface="Consolas"/>
              </a:rPr>
              <a:t> deposit(self, amount):</a:t>
            </a:r>
          </a:p>
          <a:p>
            <a:pPr>
              <a:lnSpc>
                <a:spcPct val="116000"/>
              </a:lnSpc>
              <a:spcAft>
                <a:spcPts val="0"/>
              </a:spcAft>
            </a:pPr>
            <a:r>
              <a:rPr sz="1500" b="0" i="0">
                <a:solidFill>
                  <a:srgbClr val="242C38"/>
                </a:solidFill>
                <a:latin typeface="Consolas"/>
              </a:rPr>
              <a:t>        self.balance += amount</a:t>
            </a:r>
          </a:p>
        </p:txBody>
      </p:sp>
      <p:sp>
        <p:nvSpPr>
          <p:cNvPr id="7" name="TextBox 6"/>
          <p:cNvSpPr txBox="1"/>
          <p:nvPr/>
        </p:nvSpPr>
        <p:spPr>
          <a:xfrm>
            <a:off x="658368" y="4075176"/>
            <a:ext cx="10874959" cy="457200"/>
          </a:xfrm>
          <a:prstGeom prst="rect">
            <a:avLst/>
          </a:prstGeom>
          <a:noFill/>
        </p:spPr>
        <p:txBody>
          <a:bodyPr wrap="square" lIns="0" tIns="0" rIns="0" bIns="0">
            <a:spAutoFit/>
          </a:bodyPr>
          <a:lstStyle/>
          <a:p>
            <a:r>
              <a:rPr sz="1400" b="0" i="0">
                <a:solidFill>
                  <a:srgbClr val="5B6775"/>
                </a:solidFill>
                <a:latin typeface="Segoe UI"/>
              </a:rPr>
              <a:t>acc = Account("ACC1001", 5000.0); acc.deposit(1500.0) leaves balance at 6500.0.</a:t>
            </a:r>
          </a:p>
        </p:txBody>
      </p:sp>
      <p:sp>
        <p:nvSpPr>
          <p:cNvPr id="8" name="Rectangle 7"/>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01  ·  Python essentials for Spark</a:t>
            </a:r>
          </a:p>
        </p:txBody>
      </p:sp>
      <p:sp>
        <p:nvSpPr>
          <p:cNvPr id="10" name="TextBox 9"/>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Instance, class and static methods</a:t>
            </a:r>
          </a:p>
        </p:txBody>
      </p:sp>
      <p:graphicFrame>
        <p:nvGraphicFramePr>
          <p:cNvPr id="4" name="Table 3"/>
          <p:cNvGraphicFramePr>
            <a:graphicFrameLocks noGrp="1"/>
          </p:cNvGraphicFramePr>
          <p:nvPr/>
        </p:nvGraphicFramePr>
        <p:xfrm>
          <a:off x="658368" y="1481328"/>
          <a:ext cx="10874957" cy="1828800"/>
        </p:xfrm>
        <a:graphic>
          <a:graphicData uri="http://schemas.openxmlformats.org/drawingml/2006/table">
            <a:tbl>
              <a:tblPr firstRow="1" bandRow="1">
                <a:tableStyleId>{5C22544A-7EE6-4342-B048-85BDC9FD1C3A}</a:tableStyleId>
              </a:tblPr>
              <a:tblGrid>
                <a:gridCol w="3883913">
                  <a:extLst>
                    <a:ext uri="{9D8B030D-6E8A-4147-A177-3AD203B41FA5}">
                      <a16:colId xmlns:a16="http://schemas.microsoft.com/office/drawing/2014/main" val="20000"/>
                    </a:ext>
                  </a:extLst>
                </a:gridCol>
                <a:gridCol w="2848203">
                  <a:extLst>
                    <a:ext uri="{9D8B030D-6E8A-4147-A177-3AD203B41FA5}">
                      <a16:colId xmlns:a16="http://schemas.microsoft.com/office/drawing/2014/main" val="20001"/>
                    </a:ext>
                  </a:extLst>
                </a:gridCol>
                <a:gridCol w="4142841">
                  <a:extLst>
                    <a:ext uri="{9D8B030D-6E8A-4147-A177-3AD203B41FA5}">
                      <a16:colId xmlns:a16="http://schemas.microsoft.com/office/drawing/2014/main" val="20002"/>
                    </a:ext>
                  </a:extLst>
                </a:gridCol>
              </a:tblGrid>
              <a:tr h="402336">
                <a:tc>
                  <a:txBody>
                    <a:bodyPr/>
                    <a:lstStyle/>
                    <a:p>
                      <a:r>
                        <a:rPr sz="1450" b="1" i="0">
                          <a:solidFill>
                            <a:srgbClr val="FFFFFF"/>
                          </a:solidFill>
                          <a:latin typeface="Segoe UI Semibold"/>
                        </a:rPr>
                        <a:t>Kind</a:t>
                      </a:r>
                    </a:p>
                  </a:txBody>
                  <a:tcPr anchor="ctr">
                    <a:solidFill>
                      <a:srgbClr val="1F4E79"/>
                    </a:solidFill>
                  </a:tcPr>
                </a:tc>
                <a:tc>
                  <a:txBody>
                    <a:bodyPr/>
                    <a:lstStyle/>
                    <a:p>
                      <a:r>
                        <a:rPr sz="1450" b="1" i="0">
                          <a:solidFill>
                            <a:srgbClr val="FFFFFF"/>
                          </a:solidFill>
                          <a:latin typeface="Segoe UI Semibold"/>
                        </a:rPr>
                        <a:t>First parameter</a:t>
                      </a:r>
                    </a:p>
                  </a:txBody>
                  <a:tcPr anchor="ctr">
                    <a:solidFill>
                      <a:srgbClr val="1F4E79"/>
                    </a:solidFill>
                  </a:tcPr>
                </a:tc>
                <a:tc>
                  <a:txBody>
                    <a:bodyPr/>
                    <a:lstStyle/>
                    <a:p>
                      <a:r>
                        <a:rPr sz="1450" b="1" i="0">
                          <a:solidFill>
                            <a:srgbClr val="FFFFFF"/>
                          </a:solidFill>
                          <a:latin typeface="Segoe UI Semibold"/>
                        </a:rPr>
                        <a:t>Needs</a:t>
                      </a:r>
                    </a:p>
                  </a:txBody>
                  <a:tcPr anchor="ctr">
                    <a:solidFill>
                      <a:srgbClr val="1F4E79"/>
                    </a:solidFill>
                  </a:tcPr>
                </a:tc>
                <a:extLst>
                  <a:ext uri="{0D108BD9-81ED-4DB2-BD59-A6C34878D82A}">
                    <a16:rowId xmlns:a16="http://schemas.microsoft.com/office/drawing/2014/main" val="10000"/>
                  </a:ext>
                </a:extLst>
              </a:tr>
              <a:tr h="475488">
                <a:tc>
                  <a:txBody>
                    <a:bodyPr/>
                    <a:lstStyle/>
                    <a:p>
                      <a:pPr>
                        <a:lnSpc>
                          <a:spcPct val="106000"/>
                        </a:lnSpc>
                      </a:pPr>
                      <a:r>
                        <a:rPr sz="1400" b="1" i="0">
                          <a:solidFill>
                            <a:srgbClr val="242C38"/>
                          </a:solidFill>
                          <a:latin typeface="Segoe UI"/>
                        </a:rPr>
                        <a:t>Instance method</a:t>
                      </a:r>
                    </a:p>
                  </a:txBody>
                  <a:tcPr marT="36576" marB="36576" anchor="ctr">
                    <a:solidFill>
                      <a:srgbClr val="EEF3F8"/>
                    </a:solidFill>
                  </a:tcPr>
                </a:tc>
                <a:tc>
                  <a:txBody>
                    <a:bodyPr/>
                    <a:lstStyle/>
                    <a:p>
                      <a:pPr>
                        <a:lnSpc>
                          <a:spcPct val="106000"/>
                        </a:lnSpc>
                      </a:pPr>
                      <a:r>
                        <a:rPr sz="1350" b="0" i="0">
                          <a:solidFill>
                            <a:srgbClr val="2E74B5"/>
                          </a:solidFill>
                          <a:latin typeface="Consolas"/>
                        </a:rPr>
                        <a:t>self</a:t>
                      </a:r>
                    </a:p>
                  </a:txBody>
                  <a:tcPr marT="36576" marB="36576" anchor="ctr">
                    <a:solidFill>
                      <a:srgbClr val="EEF3F8"/>
                    </a:solidFill>
                  </a:tcPr>
                </a:tc>
                <a:tc>
                  <a:txBody>
                    <a:bodyPr/>
                    <a:lstStyle/>
                    <a:p>
                      <a:pPr>
                        <a:lnSpc>
                          <a:spcPct val="106000"/>
                        </a:lnSpc>
                      </a:pPr>
                      <a:r>
                        <a:rPr sz="1400" b="0" i="0">
                          <a:solidFill>
                            <a:srgbClr val="242C38"/>
                          </a:solidFill>
                          <a:latin typeface="Segoe UI"/>
                        </a:rPr>
                        <a:t>one specific object's own data</a:t>
                      </a:r>
                    </a:p>
                  </a:txBody>
                  <a:tcPr marT="36576" marB="36576" anchor="ctr">
                    <a:solidFill>
                      <a:srgbClr val="EEF3F8"/>
                    </a:solidFill>
                  </a:tcPr>
                </a:tc>
                <a:extLst>
                  <a:ext uri="{0D108BD9-81ED-4DB2-BD59-A6C34878D82A}">
                    <a16:rowId xmlns:a16="http://schemas.microsoft.com/office/drawing/2014/main" val="10001"/>
                  </a:ext>
                </a:extLst>
              </a:tr>
              <a:tr h="475488">
                <a:tc>
                  <a:txBody>
                    <a:bodyPr/>
                    <a:lstStyle/>
                    <a:p>
                      <a:pPr>
                        <a:lnSpc>
                          <a:spcPct val="106000"/>
                        </a:lnSpc>
                      </a:pPr>
                      <a:r>
                        <a:rPr sz="1400" b="1" i="0">
                          <a:solidFill>
                            <a:srgbClr val="242C38"/>
                          </a:solidFill>
                          <a:latin typeface="Segoe UI"/>
                        </a:rPr>
                        <a:t>Class method (</a:t>
                      </a:r>
                      <a:r>
                        <a:rPr sz="1350" b="0" i="0">
                          <a:solidFill>
                            <a:srgbClr val="2E74B5"/>
                          </a:solidFill>
                          <a:latin typeface="Consolas"/>
                        </a:rPr>
                        <a:t>@classmethod</a:t>
                      </a:r>
                      <a:r>
                        <a:rPr sz="1400" b="1" i="0">
                          <a:solidFill>
                            <a:srgbClr val="242C38"/>
                          </a:solidFill>
                          <a:latin typeface="Segoe UI"/>
                        </a:rPr>
                        <a:t>)</a:t>
                      </a:r>
                    </a:p>
                  </a:txBody>
                  <a:tcPr marT="36576" marB="36576" anchor="ctr">
                    <a:solidFill>
                      <a:srgbClr val="FFFFFF"/>
                    </a:solidFill>
                  </a:tcPr>
                </a:tc>
                <a:tc>
                  <a:txBody>
                    <a:bodyPr/>
                    <a:lstStyle/>
                    <a:p>
                      <a:pPr>
                        <a:lnSpc>
                          <a:spcPct val="106000"/>
                        </a:lnSpc>
                      </a:pPr>
                      <a:r>
                        <a:rPr sz="1350" b="0" i="0">
                          <a:solidFill>
                            <a:srgbClr val="2E74B5"/>
                          </a:solidFill>
                          <a:latin typeface="Consolas"/>
                        </a:rPr>
                        <a:t>cls</a:t>
                      </a:r>
                    </a:p>
                  </a:txBody>
                  <a:tcPr marT="36576" marB="36576" anchor="ctr">
                    <a:solidFill>
                      <a:srgbClr val="FFFFFF"/>
                    </a:solidFill>
                  </a:tcPr>
                </a:tc>
                <a:tc>
                  <a:txBody>
                    <a:bodyPr/>
                    <a:lstStyle/>
                    <a:p>
                      <a:pPr>
                        <a:lnSpc>
                          <a:spcPct val="106000"/>
                        </a:lnSpc>
                      </a:pPr>
                      <a:r>
                        <a:rPr sz="1400" b="0" i="0">
                          <a:solidFill>
                            <a:srgbClr val="242C38"/>
                          </a:solidFill>
                          <a:latin typeface="Segoe UI"/>
                        </a:rPr>
                        <a:t>the class itself, to build differently</a:t>
                      </a:r>
                    </a:p>
                  </a:txBody>
                  <a:tcPr marT="36576" marB="36576" anchor="ctr">
                    <a:solidFill>
                      <a:srgbClr val="FFFFFF"/>
                    </a:solidFill>
                  </a:tcPr>
                </a:tc>
                <a:extLst>
                  <a:ext uri="{0D108BD9-81ED-4DB2-BD59-A6C34878D82A}">
                    <a16:rowId xmlns:a16="http://schemas.microsoft.com/office/drawing/2014/main" val="10002"/>
                  </a:ext>
                </a:extLst>
              </a:tr>
              <a:tr h="475488">
                <a:tc>
                  <a:txBody>
                    <a:bodyPr/>
                    <a:lstStyle/>
                    <a:p>
                      <a:pPr>
                        <a:lnSpc>
                          <a:spcPct val="106000"/>
                        </a:lnSpc>
                      </a:pPr>
                      <a:r>
                        <a:rPr sz="1400" b="1" i="0">
                          <a:solidFill>
                            <a:srgbClr val="242C38"/>
                          </a:solidFill>
                          <a:latin typeface="Segoe UI"/>
                        </a:rPr>
                        <a:t>Static method (</a:t>
                      </a:r>
                      <a:r>
                        <a:rPr sz="1350" b="0" i="0">
                          <a:solidFill>
                            <a:srgbClr val="2E74B5"/>
                          </a:solidFill>
                          <a:latin typeface="Consolas"/>
                        </a:rPr>
                        <a:t>@staticmethod</a:t>
                      </a:r>
                      <a:r>
                        <a:rPr sz="1400" b="1" i="0">
                          <a:solidFill>
                            <a:srgbClr val="242C38"/>
                          </a:solidFill>
                          <a:latin typeface="Segoe UI"/>
                        </a:rPr>
                        <a:t>)</a:t>
                      </a:r>
                    </a:p>
                  </a:txBody>
                  <a:tcPr marT="36576" marB="36576" anchor="ctr">
                    <a:solidFill>
                      <a:srgbClr val="EEF3F8"/>
                    </a:solidFill>
                  </a:tcPr>
                </a:tc>
                <a:tc>
                  <a:txBody>
                    <a:bodyPr/>
                    <a:lstStyle/>
                    <a:p>
                      <a:pPr>
                        <a:lnSpc>
                          <a:spcPct val="106000"/>
                        </a:lnSpc>
                      </a:pPr>
                      <a:r>
                        <a:rPr sz="1400" b="0" i="0">
                          <a:solidFill>
                            <a:srgbClr val="242C38"/>
                          </a:solidFill>
                          <a:latin typeface="Segoe UI"/>
                        </a:rPr>
                        <a:t>neither</a:t>
                      </a:r>
                    </a:p>
                  </a:txBody>
                  <a:tcPr marT="36576" marB="36576" anchor="ctr">
                    <a:solidFill>
                      <a:srgbClr val="EEF3F8"/>
                    </a:solidFill>
                  </a:tcPr>
                </a:tc>
                <a:tc>
                  <a:txBody>
                    <a:bodyPr/>
                    <a:lstStyle/>
                    <a:p>
                      <a:pPr>
                        <a:lnSpc>
                          <a:spcPct val="106000"/>
                        </a:lnSpc>
                      </a:pPr>
                      <a:r>
                        <a:rPr sz="1400" b="0" i="0">
                          <a:solidFill>
                            <a:srgbClr val="242C38"/>
                          </a:solidFill>
                          <a:latin typeface="Segoe UI"/>
                        </a:rPr>
                        <a:t>no object or class data at all</a:t>
                      </a:r>
                    </a:p>
                  </a:txBody>
                  <a:tcPr marT="36576" marB="36576" anchor="ctr">
                    <a:solidFill>
                      <a:srgbClr val="EEF3F8"/>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658368" y="5724144"/>
            <a:ext cx="10874959" cy="502920"/>
          </a:xfrm>
          <a:prstGeom prst="rect">
            <a:avLst/>
          </a:prstGeom>
          <a:noFill/>
        </p:spPr>
        <p:txBody>
          <a:bodyPr wrap="square" lIns="0" tIns="0" rIns="0" bIns="0">
            <a:spAutoFit/>
          </a:bodyPr>
          <a:lstStyle/>
          <a:p>
            <a:r>
              <a:rPr sz="1300" b="0" i="1">
                <a:solidFill>
                  <a:srgbClr val="5B6775"/>
                </a:solidFill>
                <a:latin typeface="Segoe UI"/>
              </a:rPr>
              <a:t>with_default_rate() is a classmethod. is_valid_rate() is a staticmethod.</a:t>
            </a:r>
          </a:p>
        </p:txBody>
      </p:sp>
      <p:sp>
        <p:nvSpPr>
          <p:cNvPr id="6" name="Rectangle 5"/>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01  ·  Python essentials for Spark</a:t>
            </a:r>
          </a:p>
        </p:txBody>
      </p:sp>
      <p:sp>
        <p:nvSpPr>
          <p:cNvPr id="8" name="TextBox 7"/>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7</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237744"/>
          </a:xfrm>
          <a:prstGeom prst="rect">
            <a:avLst/>
          </a:prstGeom>
          <a:noFill/>
        </p:spPr>
        <p:txBody>
          <a:bodyPr wrap="square" lIns="0" tIns="0" rIns="0" bIns="0">
            <a:spAutoFit/>
          </a:bodyPr>
          <a:lstStyle/>
          <a:p>
            <a:r>
              <a:rPr sz="1000" b="1" i="0">
                <a:solidFill>
                  <a:srgbClr val="2E74B5"/>
                </a:solidFill>
                <a:latin typeface="Segoe UI Semibold"/>
              </a:rPr>
              <a:t>THE FOUR IDEAS</a:t>
            </a:r>
          </a:p>
        </p:txBody>
      </p:sp>
      <p:sp>
        <p:nvSpPr>
          <p:cNvPr id="4" name="TextBox 3"/>
          <p:cNvSpPr txBox="1"/>
          <p:nvPr/>
        </p:nvSpPr>
        <p:spPr>
          <a:xfrm>
            <a:off x="658368" y="768096"/>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The four OOP concepts, one banking example each</a:t>
            </a:r>
          </a:p>
        </p:txBody>
      </p:sp>
      <p:sp>
        <p:nvSpPr>
          <p:cNvPr id="5" name="TextBox 4"/>
          <p:cNvSpPr txBox="1"/>
          <p:nvPr/>
        </p:nvSpPr>
        <p:spPr>
          <a:xfrm>
            <a:off x="658368" y="1481328"/>
            <a:ext cx="10874959" cy="4526280"/>
          </a:xfrm>
          <a:prstGeom prst="rect">
            <a:avLst/>
          </a:prstGeom>
          <a:noFill/>
        </p:spPr>
        <p:txBody>
          <a:bodyPr wrap="square" lIns="0" tIns="0" rIns="0" bIns="0">
            <a:spAutoFit/>
          </a:bodyPr>
          <a:lstStyle/>
          <a:p>
            <a:pPr marL="274320" indent="-274320">
              <a:lnSpc>
                <a:spcPct val="118000"/>
              </a:lnSpc>
              <a:spcAft>
                <a:spcPts val="900"/>
              </a:spcAft>
            </a:pPr>
            <a:r>
              <a:rPr sz="1650" b="1" i="0">
                <a:solidFill>
                  <a:srgbClr val="2E74B5"/>
                </a:solidFill>
                <a:latin typeface="Segoe UI"/>
              </a:rPr>
              <a:t>▪   </a:t>
            </a:r>
            <a:r>
              <a:rPr sz="1650" b="0" i="0">
                <a:solidFill>
                  <a:srgbClr val="242C38"/>
                </a:solidFill>
                <a:latin typeface="Segoe UI"/>
              </a:rPr>
              <a:t>Encapsulation</a:t>
            </a:r>
          </a:p>
          <a:p>
            <a:pPr marL="566928" lvl="1" indent="-237744">
              <a:lnSpc>
                <a:spcPct val="115000"/>
              </a:lnSpc>
              <a:spcAft>
                <a:spcPts val="500"/>
              </a:spcAft>
            </a:pPr>
            <a:r>
              <a:rPr sz="1350" b="0" i="0">
                <a:solidFill>
                  <a:srgbClr val="9AA5B1"/>
                </a:solidFill>
                <a:latin typeface="Segoe UI"/>
              </a:rPr>
              <a:t>–   </a:t>
            </a:r>
            <a:r>
              <a:rPr sz="1350" b="0" i="0">
                <a:solidFill>
                  <a:srgbClr val="5B6775"/>
                </a:solidFill>
                <a:latin typeface="Segoe UI"/>
              </a:rPr>
              <a:t>change balance only through deposit(), never set it directly</a:t>
            </a:r>
          </a:p>
          <a:p>
            <a:pPr marL="274320" indent="-274320">
              <a:lnSpc>
                <a:spcPct val="118000"/>
              </a:lnSpc>
              <a:spcAft>
                <a:spcPts val="900"/>
              </a:spcAft>
            </a:pPr>
            <a:r>
              <a:rPr sz="1650" b="1" i="0">
                <a:solidFill>
                  <a:srgbClr val="2E74B5"/>
                </a:solidFill>
                <a:latin typeface="Segoe UI"/>
              </a:rPr>
              <a:t>▪   </a:t>
            </a:r>
            <a:r>
              <a:rPr sz="1650" b="0" i="0">
                <a:solidFill>
                  <a:srgbClr val="242C38"/>
                </a:solidFill>
                <a:latin typeface="Segoe UI"/>
              </a:rPr>
              <a:t>Inheritance</a:t>
            </a:r>
          </a:p>
          <a:p>
            <a:pPr marL="566928" lvl="1" indent="-237744">
              <a:lnSpc>
                <a:spcPct val="115000"/>
              </a:lnSpc>
              <a:spcAft>
                <a:spcPts val="500"/>
              </a:spcAft>
            </a:pPr>
            <a:r>
              <a:rPr sz="1350" b="0" i="0">
                <a:solidFill>
                  <a:srgbClr val="9AA5B1"/>
                </a:solidFill>
                <a:latin typeface="Segoe UI"/>
              </a:rPr>
              <a:t>–   </a:t>
            </a:r>
            <a:r>
              <a:rPr sz="1350" b="0" i="0">
                <a:solidFill>
                  <a:srgbClr val="5B6775"/>
                </a:solidFill>
                <a:latin typeface="Segoe UI"/>
              </a:rPr>
              <a:t>SavingsAccount reuses Account's __init__ and deposit for free</a:t>
            </a:r>
          </a:p>
          <a:p>
            <a:pPr marL="274320" indent="-274320">
              <a:lnSpc>
                <a:spcPct val="118000"/>
              </a:lnSpc>
              <a:spcAft>
                <a:spcPts val="900"/>
              </a:spcAft>
            </a:pPr>
            <a:r>
              <a:rPr sz="1650" b="1" i="0">
                <a:solidFill>
                  <a:srgbClr val="2E74B5"/>
                </a:solidFill>
                <a:latin typeface="Segoe UI"/>
              </a:rPr>
              <a:t>▪   </a:t>
            </a:r>
            <a:r>
              <a:rPr sz="1650" b="0" i="0">
                <a:solidFill>
                  <a:srgbClr val="242C38"/>
                </a:solidFill>
                <a:latin typeface="Segoe UI"/>
              </a:rPr>
              <a:t>Polymorphism</a:t>
            </a:r>
          </a:p>
          <a:p>
            <a:pPr marL="566928" lvl="1" indent="-237744">
              <a:lnSpc>
                <a:spcPct val="115000"/>
              </a:lnSpc>
              <a:spcAft>
                <a:spcPts val="500"/>
              </a:spcAft>
            </a:pPr>
            <a:r>
              <a:rPr sz="1350" b="0" i="0">
                <a:solidFill>
                  <a:srgbClr val="9AA5B1"/>
                </a:solidFill>
                <a:latin typeface="Segoe UI"/>
              </a:rPr>
              <a:t>–   </a:t>
            </a:r>
            <a:r>
              <a:rPr sz="1350" b="0" i="0">
                <a:solidFill>
                  <a:srgbClr val="5B6775"/>
                </a:solidFill>
                <a:latin typeface="Segoe UI"/>
              </a:rPr>
              <a:t>same add_interest() call, correct behaviour per account type</a:t>
            </a:r>
          </a:p>
          <a:p>
            <a:pPr marL="274320" indent="-274320">
              <a:lnSpc>
                <a:spcPct val="118000"/>
              </a:lnSpc>
              <a:spcAft>
                <a:spcPts val="900"/>
              </a:spcAft>
            </a:pPr>
            <a:r>
              <a:rPr sz="1650" b="1" i="0">
                <a:solidFill>
                  <a:srgbClr val="2E74B5"/>
                </a:solidFill>
                <a:latin typeface="Segoe UI"/>
              </a:rPr>
              <a:t>▪   </a:t>
            </a:r>
            <a:r>
              <a:rPr sz="1650" b="0" i="0">
                <a:solidFill>
                  <a:srgbClr val="242C38"/>
                </a:solidFill>
                <a:latin typeface="Segoe UI"/>
              </a:rPr>
              <a:t>Abstraction</a:t>
            </a:r>
          </a:p>
          <a:p>
            <a:pPr marL="566928" lvl="1" indent="-237744">
              <a:lnSpc>
                <a:spcPct val="115000"/>
              </a:lnSpc>
              <a:spcAft>
                <a:spcPts val="500"/>
              </a:spcAft>
            </a:pPr>
            <a:r>
              <a:rPr sz="1350" b="0" i="0">
                <a:solidFill>
                  <a:srgbClr val="9AA5B1"/>
                </a:solidFill>
                <a:latin typeface="Segoe UI"/>
              </a:rPr>
              <a:t>–   </a:t>
            </a:r>
            <a:r>
              <a:rPr sz="1350" b="0" i="0">
                <a:solidFill>
                  <a:srgbClr val="5B6775"/>
                </a:solidFill>
                <a:latin typeface="Segoe UI"/>
              </a:rPr>
              <a:t>caller calls deposit(), the formula stays hidden inside it</a:t>
            </a:r>
          </a:p>
        </p:txBody>
      </p:sp>
      <p:sp>
        <p:nvSpPr>
          <p:cNvPr id="6" name="Rectangle 5"/>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01  ·  Python essentials for Spark</a:t>
            </a:r>
          </a:p>
        </p:txBody>
      </p:sp>
      <p:sp>
        <p:nvSpPr>
          <p:cNvPr id="8" name="TextBox 7"/>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8</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Modules and packages: three ways to import</a:t>
            </a:r>
          </a:p>
        </p:txBody>
      </p:sp>
      <p:graphicFrame>
        <p:nvGraphicFramePr>
          <p:cNvPr id="4" name="Table 3"/>
          <p:cNvGraphicFramePr>
            <a:graphicFrameLocks noGrp="1"/>
          </p:cNvGraphicFramePr>
          <p:nvPr/>
        </p:nvGraphicFramePr>
        <p:xfrm>
          <a:off x="658368" y="1481328"/>
          <a:ext cx="10874958" cy="1828800"/>
        </p:xfrm>
        <a:graphic>
          <a:graphicData uri="http://schemas.openxmlformats.org/drawingml/2006/table">
            <a:tbl>
              <a:tblPr firstRow="1" bandRow="1">
                <a:tableStyleId>{5C22544A-7EE6-4342-B048-85BDC9FD1C3A}</a:tableStyleId>
              </a:tblPr>
              <a:tblGrid>
                <a:gridCol w="5963687">
                  <a:extLst>
                    <a:ext uri="{9D8B030D-6E8A-4147-A177-3AD203B41FA5}">
                      <a16:colId xmlns:a16="http://schemas.microsoft.com/office/drawing/2014/main" val="20000"/>
                    </a:ext>
                  </a:extLst>
                </a:gridCol>
                <a:gridCol w="4911271">
                  <a:extLst>
                    <a:ext uri="{9D8B030D-6E8A-4147-A177-3AD203B41FA5}">
                      <a16:colId xmlns:a16="http://schemas.microsoft.com/office/drawing/2014/main" val="20001"/>
                    </a:ext>
                  </a:extLst>
                </a:gridCol>
              </a:tblGrid>
              <a:tr h="402336">
                <a:tc>
                  <a:txBody>
                    <a:bodyPr/>
                    <a:lstStyle/>
                    <a:p>
                      <a:r>
                        <a:rPr sz="1450" b="1" i="0">
                          <a:solidFill>
                            <a:srgbClr val="FFFFFF"/>
                          </a:solidFill>
                          <a:latin typeface="Segoe UI Semibold"/>
                        </a:rPr>
                        <a:t>Import style</a:t>
                      </a:r>
                    </a:p>
                  </a:txBody>
                  <a:tcPr anchor="ctr">
                    <a:solidFill>
                      <a:srgbClr val="1F4E79"/>
                    </a:solidFill>
                  </a:tcPr>
                </a:tc>
                <a:tc>
                  <a:txBody>
                    <a:bodyPr/>
                    <a:lstStyle/>
                    <a:p>
                      <a:r>
                        <a:rPr sz="1450" b="1" i="0">
                          <a:solidFill>
                            <a:srgbClr val="FFFFFF"/>
                          </a:solidFill>
                          <a:latin typeface="Segoe UI Semibold"/>
                        </a:rPr>
                        <a:t>When to use it</a:t>
                      </a:r>
                    </a:p>
                  </a:txBody>
                  <a:tcPr anchor="ctr">
                    <a:solidFill>
                      <a:srgbClr val="1F4E79"/>
                    </a:solidFill>
                  </a:tcPr>
                </a:tc>
                <a:extLst>
                  <a:ext uri="{0D108BD9-81ED-4DB2-BD59-A6C34878D82A}">
                    <a16:rowId xmlns:a16="http://schemas.microsoft.com/office/drawing/2014/main" val="10000"/>
                  </a:ext>
                </a:extLst>
              </a:tr>
              <a:tr h="475488">
                <a:tc>
                  <a:txBody>
                    <a:bodyPr/>
                    <a:lstStyle/>
                    <a:p>
                      <a:pPr>
                        <a:lnSpc>
                          <a:spcPct val="106000"/>
                        </a:lnSpc>
                      </a:pPr>
                      <a:r>
                        <a:rPr sz="1350" b="0" i="0">
                          <a:solidFill>
                            <a:srgbClr val="2E74B5"/>
                          </a:solidFill>
                          <a:latin typeface="Consolas"/>
                        </a:rPr>
                        <a:t>import bankutils</a:t>
                      </a:r>
                    </a:p>
                  </a:txBody>
                  <a:tcPr marT="36576" marB="36576" anchor="ctr">
                    <a:solidFill>
                      <a:srgbClr val="EEF3F8"/>
                    </a:solidFill>
                  </a:tcPr>
                </a:tc>
                <a:tc>
                  <a:txBody>
                    <a:bodyPr/>
                    <a:lstStyle/>
                    <a:p>
                      <a:pPr>
                        <a:lnSpc>
                          <a:spcPct val="106000"/>
                        </a:lnSpc>
                      </a:pPr>
                      <a:r>
                        <a:rPr sz="1400" b="0" i="0">
                          <a:solidFill>
                            <a:srgbClr val="242C38"/>
                          </a:solidFill>
                          <a:latin typeface="Segoe UI"/>
                        </a:rPr>
                        <a:t>fully qualified calls, </a:t>
                      </a:r>
                      <a:r>
                        <a:rPr sz="1350" b="0" i="0">
                          <a:solidFill>
                            <a:srgbClr val="2E74B5"/>
                          </a:solidFill>
                          <a:latin typeface="Consolas"/>
                        </a:rPr>
                        <a:t>bankutils.x.y()</a:t>
                      </a:r>
                    </a:p>
                  </a:txBody>
                  <a:tcPr marT="36576" marB="36576" anchor="ctr">
                    <a:solidFill>
                      <a:srgbClr val="EEF3F8"/>
                    </a:solidFill>
                  </a:tcPr>
                </a:tc>
                <a:extLst>
                  <a:ext uri="{0D108BD9-81ED-4DB2-BD59-A6C34878D82A}">
                    <a16:rowId xmlns:a16="http://schemas.microsoft.com/office/drawing/2014/main" val="10001"/>
                  </a:ext>
                </a:extLst>
              </a:tr>
              <a:tr h="475488">
                <a:tc>
                  <a:txBody>
                    <a:bodyPr/>
                    <a:lstStyle/>
                    <a:p>
                      <a:pPr>
                        <a:lnSpc>
                          <a:spcPct val="106000"/>
                        </a:lnSpc>
                      </a:pPr>
                      <a:r>
                        <a:rPr sz="1350" b="0" i="0">
                          <a:solidFill>
                            <a:srgbClr val="2E74B5"/>
                          </a:solidFill>
                          <a:latin typeface="Consolas"/>
                        </a:rPr>
                        <a:t>from bankutils import formatting</a:t>
                      </a:r>
                    </a:p>
                  </a:txBody>
                  <a:tcPr marT="36576" marB="36576" anchor="ctr">
                    <a:solidFill>
                      <a:srgbClr val="FFFFFF"/>
                    </a:solidFill>
                  </a:tcPr>
                </a:tc>
                <a:tc>
                  <a:txBody>
                    <a:bodyPr/>
                    <a:lstStyle/>
                    <a:p>
                      <a:pPr>
                        <a:lnSpc>
                          <a:spcPct val="106000"/>
                        </a:lnSpc>
                      </a:pPr>
                      <a:r>
                        <a:rPr sz="1400" b="0" i="0">
                          <a:solidFill>
                            <a:srgbClr val="242C38"/>
                          </a:solidFill>
                          <a:latin typeface="Segoe UI"/>
                        </a:rPr>
                        <a:t>call </a:t>
                      </a:r>
                      <a:r>
                        <a:rPr sz="1350" b="0" i="0">
                          <a:solidFill>
                            <a:srgbClr val="2E74B5"/>
                          </a:solidFill>
                          <a:latin typeface="Consolas"/>
                        </a:rPr>
                        <a:t>formatting.x()</a:t>
                      </a:r>
                      <a:r>
                        <a:rPr sz="1400" b="0" i="0">
                          <a:solidFill>
                            <a:srgbClr val="242C38"/>
                          </a:solidFill>
                          <a:latin typeface="Segoe UI"/>
                        </a:rPr>
                        <a:t> a few times</a:t>
                      </a:r>
                    </a:p>
                  </a:txBody>
                  <a:tcPr marT="36576" marB="36576" anchor="ctr">
                    <a:solidFill>
                      <a:srgbClr val="FFFFFF"/>
                    </a:solidFill>
                  </a:tcPr>
                </a:tc>
                <a:extLst>
                  <a:ext uri="{0D108BD9-81ED-4DB2-BD59-A6C34878D82A}">
                    <a16:rowId xmlns:a16="http://schemas.microsoft.com/office/drawing/2014/main" val="10002"/>
                  </a:ext>
                </a:extLst>
              </a:tr>
              <a:tr h="475488">
                <a:tc>
                  <a:txBody>
                    <a:bodyPr/>
                    <a:lstStyle/>
                    <a:p>
                      <a:pPr>
                        <a:lnSpc>
                          <a:spcPct val="106000"/>
                        </a:lnSpc>
                      </a:pPr>
                      <a:r>
                        <a:rPr sz="1350" b="0" i="0">
                          <a:solidFill>
                            <a:srgbClr val="2E74B5"/>
                          </a:solidFill>
                          <a:latin typeface="Consolas"/>
                        </a:rPr>
                        <a:t>from bankutils.rules import risk_band</a:t>
                      </a:r>
                    </a:p>
                  </a:txBody>
                  <a:tcPr marT="36576" marB="36576" anchor="ctr">
                    <a:solidFill>
                      <a:srgbClr val="EEF3F8"/>
                    </a:solidFill>
                  </a:tcPr>
                </a:tc>
                <a:tc>
                  <a:txBody>
                    <a:bodyPr/>
                    <a:lstStyle/>
                    <a:p>
                      <a:pPr>
                        <a:lnSpc>
                          <a:spcPct val="106000"/>
                        </a:lnSpc>
                      </a:pPr>
                      <a:r>
                        <a:rPr sz="1400" b="0" i="0">
                          <a:solidFill>
                            <a:srgbClr val="242C38"/>
                          </a:solidFill>
                          <a:latin typeface="Segoe UI"/>
                        </a:rPr>
                        <a:t>only need this one function</a:t>
                      </a:r>
                    </a:p>
                  </a:txBody>
                  <a:tcPr marT="36576" marB="36576" anchor="ctr">
                    <a:solidFill>
                      <a:srgbClr val="EEF3F8"/>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658368" y="5724144"/>
            <a:ext cx="10874959" cy="502920"/>
          </a:xfrm>
          <a:prstGeom prst="rect">
            <a:avLst/>
          </a:prstGeom>
          <a:noFill/>
        </p:spPr>
        <p:txBody>
          <a:bodyPr wrap="square" lIns="0" tIns="0" rIns="0" bIns="0">
            <a:spAutoFit/>
          </a:bodyPr>
          <a:lstStyle/>
          <a:p>
            <a:r>
              <a:rPr sz="1300" b="0" i="1">
                <a:solidFill>
                  <a:srgbClr val="5B6775"/>
                </a:solidFill>
                <a:latin typeface="Segoe UI"/>
              </a:rPr>
              <a:t>A package is just a folder with __init__.py in it, like bankutils/ in this course.</a:t>
            </a:r>
          </a:p>
        </p:txBody>
      </p:sp>
      <p:sp>
        <p:nvSpPr>
          <p:cNvPr id="6" name="Rectangle 5"/>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01  ·  Python essentials for Spark</a:t>
            </a:r>
          </a:p>
        </p:txBody>
      </p:sp>
      <p:sp>
        <p:nvSpPr>
          <p:cNvPr id="8" name="TextBox 7"/>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9</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logging over print(): level, timestamp, on or off</a:t>
            </a:r>
          </a:p>
        </p:txBody>
      </p:sp>
      <p:sp>
        <p:nvSpPr>
          <p:cNvPr id="4" name="Rectangle 3"/>
          <p:cNvSpPr/>
          <p:nvPr/>
        </p:nvSpPr>
        <p:spPr>
          <a:xfrm>
            <a:off x="658368" y="1481328"/>
            <a:ext cx="10874959" cy="2737104"/>
          </a:xfrm>
          <a:prstGeom prst="rect">
            <a:avLst/>
          </a:prstGeom>
          <a:solidFill>
            <a:srgbClr val="F5F7F9"/>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81328"/>
            <a:ext cx="43180" cy="2737104"/>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77824" y="1645920"/>
            <a:ext cx="10509199" cy="2462784"/>
          </a:xfrm>
          <a:prstGeom prst="rect">
            <a:avLst/>
          </a:prstGeom>
          <a:noFill/>
        </p:spPr>
        <p:txBody>
          <a:bodyPr wrap="square" lIns="0" tIns="0" rIns="0" bIns="0">
            <a:spAutoFit/>
          </a:bodyPr>
          <a:lstStyle/>
          <a:p>
            <a:pPr>
              <a:lnSpc>
                <a:spcPct val="116000"/>
              </a:lnSpc>
              <a:spcAft>
                <a:spcPts val="0"/>
              </a:spcAft>
            </a:pPr>
            <a:r>
              <a:rPr sz="1500" b="0" i="0">
                <a:solidFill>
                  <a:srgbClr val="0F5BA7"/>
                </a:solidFill>
                <a:latin typeface="Consolas"/>
              </a:rPr>
              <a:t>import</a:t>
            </a:r>
            <a:r>
              <a:rPr sz="1500" b="0" i="0">
                <a:solidFill>
                  <a:srgbClr val="242C38"/>
                </a:solidFill>
                <a:latin typeface="Consolas"/>
              </a:rPr>
              <a:t> logging</a:t>
            </a:r>
          </a:p>
          <a:p>
            <a:pPr>
              <a:lnSpc>
                <a:spcPct val="116000"/>
              </a:lnSpc>
              <a:spcAft>
                <a:spcPts val="0"/>
              </a:spcAft>
            </a:pPr>
            <a:r>
              <a:rPr sz="1500" b="0" i="0">
                <a:solidFill>
                  <a:srgbClr val="242C38"/>
                </a:solidFill>
                <a:latin typeface="Consolas"/>
              </a:rPr>
              <a:t> </a:t>
            </a:r>
          </a:p>
          <a:p>
            <a:pPr>
              <a:lnSpc>
                <a:spcPct val="116000"/>
              </a:lnSpc>
              <a:spcAft>
                <a:spcPts val="0"/>
              </a:spcAft>
            </a:pPr>
            <a:r>
              <a:rPr sz="1500" b="0" i="0">
                <a:solidFill>
                  <a:srgbClr val="242C38"/>
                </a:solidFill>
                <a:latin typeface="Consolas"/>
              </a:rPr>
              <a:t>logging.basicConfig(level=logging.INFO,</a:t>
            </a:r>
          </a:p>
          <a:p>
            <a:pPr>
              <a:lnSpc>
                <a:spcPct val="116000"/>
              </a:lnSpc>
              <a:spcAft>
                <a:spcPts val="0"/>
              </a:spcAft>
            </a:pPr>
            <a:r>
              <a:rPr sz="1500" b="0" i="0">
                <a:solidFill>
                  <a:srgbClr val="242C38"/>
                </a:solidFill>
                <a:latin typeface="Consolas"/>
              </a:rPr>
              <a:t>    format=</a:t>
            </a:r>
            <a:r>
              <a:rPr sz="1500" b="0" i="0">
                <a:solidFill>
                  <a:srgbClr val="A31515"/>
                </a:solidFill>
                <a:latin typeface="Consolas"/>
              </a:rPr>
              <a:t>"%(asctime)s %(levelname)s %(message)s"</a:t>
            </a:r>
            <a:r>
              <a:rPr sz="1500" b="0" i="0">
                <a:solidFill>
                  <a:srgbClr val="242C38"/>
                </a:solidFill>
                <a:latin typeface="Consolas"/>
              </a:rPr>
              <a:t>)</a:t>
            </a:r>
          </a:p>
          <a:p>
            <a:pPr>
              <a:lnSpc>
                <a:spcPct val="116000"/>
              </a:lnSpc>
              <a:spcAft>
                <a:spcPts val="0"/>
              </a:spcAft>
            </a:pPr>
            <a:r>
              <a:rPr sz="1500" b="0" i="0">
                <a:solidFill>
                  <a:srgbClr val="242C38"/>
                </a:solidFill>
                <a:latin typeface="Consolas"/>
              </a:rPr>
              <a:t>log = logging.getLogger(</a:t>
            </a:r>
            <a:r>
              <a:rPr sz="1500" b="0" i="0">
                <a:solidFill>
                  <a:srgbClr val="A31515"/>
                </a:solidFill>
                <a:latin typeface="Consolas"/>
              </a:rPr>
              <a:t>"my_job"</a:t>
            </a:r>
            <a:r>
              <a:rPr sz="1500" b="0" i="0">
                <a:solidFill>
                  <a:srgbClr val="242C38"/>
                </a:solidFill>
                <a:latin typeface="Consolas"/>
              </a:rPr>
              <a:t>)</a:t>
            </a:r>
          </a:p>
          <a:p>
            <a:pPr>
              <a:lnSpc>
                <a:spcPct val="116000"/>
              </a:lnSpc>
              <a:spcAft>
                <a:spcPts val="0"/>
              </a:spcAft>
            </a:pPr>
            <a:r>
              <a:rPr sz="1500" b="0" i="0">
                <a:solidFill>
                  <a:srgbClr val="242C38"/>
                </a:solidFill>
                <a:latin typeface="Consolas"/>
              </a:rPr>
              <a:t> </a:t>
            </a:r>
          </a:p>
          <a:p>
            <a:pPr>
              <a:lnSpc>
                <a:spcPct val="116000"/>
              </a:lnSpc>
              <a:spcAft>
                <a:spcPts val="0"/>
              </a:spcAft>
            </a:pPr>
            <a:r>
              <a:rPr sz="1500" b="0" i="0">
                <a:solidFill>
                  <a:srgbClr val="242C38"/>
                </a:solidFill>
                <a:latin typeface="Consolas"/>
              </a:rPr>
              <a:t>log.info(</a:t>
            </a:r>
            <a:r>
              <a:rPr sz="1500" b="0" i="0">
                <a:solidFill>
                  <a:srgbClr val="A31515"/>
                </a:solidFill>
                <a:latin typeface="Consolas"/>
              </a:rPr>
              <a:t>"account %s opened, balance %s"</a:t>
            </a:r>
            <a:r>
              <a:rPr sz="1500" b="0" i="0">
                <a:solidFill>
                  <a:srgbClr val="242C38"/>
                </a:solidFill>
                <a:latin typeface="Consolas"/>
              </a:rPr>
              <a:t>, </a:t>
            </a:r>
            <a:r>
              <a:rPr sz="1500" b="0" i="0">
                <a:solidFill>
                  <a:srgbClr val="A31515"/>
                </a:solidFill>
                <a:latin typeface="Consolas"/>
              </a:rPr>
              <a:t>"ACC1001"</a:t>
            </a:r>
            <a:r>
              <a:rPr sz="1500" b="0" i="0">
                <a:solidFill>
                  <a:srgbClr val="242C38"/>
                </a:solidFill>
                <a:latin typeface="Consolas"/>
              </a:rPr>
              <a:t>, </a:t>
            </a:r>
            <a:r>
              <a:rPr sz="1500" b="0" i="0">
                <a:solidFill>
                  <a:srgbClr val="098658"/>
                </a:solidFill>
                <a:latin typeface="Consolas"/>
              </a:rPr>
              <a:t>5000</a:t>
            </a:r>
            <a:r>
              <a:rPr sz="1500" b="0" i="0">
                <a:solidFill>
                  <a:srgbClr val="242C38"/>
                </a:solidFill>
                <a:latin typeface="Consolas"/>
              </a:rPr>
              <a:t>.</a:t>
            </a:r>
            <a:r>
              <a:rPr sz="1500" b="0" i="0">
                <a:solidFill>
                  <a:srgbClr val="098658"/>
                </a:solidFill>
                <a:latin typeface="Consolas"/>
              </a:rPr>
              <a:t>0</a:t>
            </a:r>
            <a:r>
              <a:rPr sz="1500" b="0" i="0">
                <a:solidFill>
                  <a:srgbClr val="242C38"/>
                </a:solidFill>
                <a:latin typeface="Consolas"/>
              </a:rPr>
              <a:t>)</a:t>
            </a:r>
          </a:p>
          <a:p>
            <a:pPr>
              <a:lnSpc>
                <a:spcPct val="116000"/>
              </a:lnSpc>
              <a:spcAft>
                <a:spcPts val="0"/>
              </a:spcAft>
            </a:pPr>
            <a:r>
              <a:rPr sz="1500" b="0" i="0">
                <a:solidFill>
                  <a:srgbClr val="242C38"/>
                </a:solidFill>
                <a:latin typeface="Consolas"/>
              </a:rPr>
              <a:t>log.warning(</a:t>
            </a:r>
            <a:r>
              <a:rPr sz="1500" b="0" i="0">
                <a:solidFill>
                  <a:srgbClr val="A31515"/>
                </a:solidFill>
                <a:latin typeface="Consolas"/>
              </a:rPr>
              <a:t>"balance below minimum for %s"</a:t>
            </a:r>
            <a:r>
              <a:rPr sz="1500" b="0" i="0">
                <a:solidFill>
                  <a:srgbClr val="242C38"/>
                </a:solidFill>
                <a:latin typeface="Consolas"/>
              </a:rPr>
              <a:t>, </a:t>
            </a:r>
            <a:r>
              <a:rPr sz="1500" b="0" i="0">
                <a:solidFill>
                  <a:srgbClr val="A31515"/>
                </a:solidFill>
                <a:latin typeface="Consolas"/>
              </a:rPr>
              <a:t>"ACC9099"</a:t>
            </a:r>
            <a:r>
              <a:rPr sz="1500" b="0" i="0">
                <a:solidFill>
                  <a:srgbClr val="242C38"/>
                </a:solidFill>
                <a:latin typeface="Consolas"/>
              </a:rPr>
              <a:t>)</a:t>
            </a:r>
          </a:p>
        </p:txBody>
      </p:sp>
      <p:sp>
        <p:nvSpPr>
          <p:cNvPr id="7" name="TextBox 6"/>
          <p:cNvSpPr txBox="1"/>
          <p:nvPr/>
        </p:nvSpPr>
        <p:spPr>
          <a:xfrm>
            <a:off x="658368" y="4364736"/>
            <a:ext cx="10874959" cy="457200"/>
          </a:xfrm>
          <a:prstGeom prst="rect">
            <a:avLst/>
          </a:prstGeom>
          <a:noFill/>
        </p:spPr>
        <p:txBody>
          <a:bodyPr wrap="square" lIns="0" tIns="0" rIns="0" bIns="0">
            <a:spAutoFit/>
          </a:bodyPr>
          <a:lstStyle/>
          <a:p>
            <a:r>
              <a:rPr sz="1400" b="0" i="0">
                <a:solidFill>
                  <a:srgbClr val="5B6775"/>
                </a:solidFill>
                <a:latin typeface="Segoe UI"/>
              </a:rPr>
              <a:t>%s placeholders defer formatting until the message is actually going to print.</a:t>
            </a:r>
          </a:p>
        </p:txBody>
      </p:sp>
      <p:sp>
        <p:nvSpPr>
          <p:cNvPr id="8" name="Rectangle 7"/>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01  ·  Python essentials for Spark</a:t>
            </a:r>
          </a:p>
        </p:txBody>
      </p:sp>
      <p:sp>
        <p:nvSpPr>
          <p:cNvPr id="10" name="TextBox 9"/>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10</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Module 01 in one screen</a:t>
            </a:r>
          </a:p>
        </p:txBody>
      </p:sp>
      <p:sp>
        <p:nvSpPr>
          <p:cNvPr id="4" name="TextBox 3"/>
          <p:cNvSpPr txBox="1"/>
          <p:nvPr/>
        </p:nvSpPr>
        <p:spPr>
          <a:xfrm>
            <a:off x="658368" y="1481328"/>
            <a:ext cx="10874959" cy="4526280"/>
          </a:xfrm>
          <a:prstGeom prst="rect">
            <a:avLst/>
          </a:prstGeom>
          <a:noFill/>
        </p:spPr>
        <p:txBody>
          <a:bodyPr wrap="square" lIns="0" tIns="0" rIns="0" bIns="0">
            <a:spAutoFit/>
          </a:bodyPr>
          <a:lstStyle/>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Spark's DataFrame API is ordinary Python underneath, nothing exotic here</a:t>
            </a:r>
          </a:p>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List comprehension is a for-loop that builds a list, one line</a:t>
            </a:r>
          </a:p>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self is the instance a method runs on, cls is the class itself</a:t>
            </a:r>
          </a:p>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Encapsulation, inheritance, polymorphism, abstraction all shape a real Account class</a:t>
            </a:r>
          </a:p>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A package is a folder with __init__.py, logging beats print() once unattended</a:t>
            </a:r>
          </a:p>
        </p:txBody>
      </p:sp>
      <p:sp>
        <p:nvSpPr>
          <p:cNvPr id="5" name="Rectangle 4"/>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01  ·  Python essentials for Spark</a:t>
            </a:r>
          </a:p>
        </p:txBody>
      </p:sp>
      <p:sp>
        <p:nvSpPr>
          <p:cNvPr id="7" name="TextBox 6"/>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11</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858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51560" y="2057400"/>
            <a:ext cx="9692640" cy="457200"/>
          </a:xfrm>
          <a:prstGeom prst="rect">
            <a:avLst/>
          </a:prstGeom>
          <a:noFill/>
        </p:spPr>
        <p:txBody>
          <a:bodyPr wrap="square" lIns="0" tIns="0" rIns="0" bIns="0">
            <a:spAutoFit/>
          </a:bodyPr>
          <a:lstStyle/>
          <a:p>
            <a:r>
              <a:rPr sz="1300" b="1" i="0">
                <a:solidFill>
                  <a:srgbClr val="2E74B5"/>
                </a:solidFill>
                <a:latin typeface="Segoe UI Semibold"/>
              </a:rPr>
              <a:t>MODULE 02</a:t>
            </a:r>
          </a:p>
        </p:txBody>
      </p:sp>
      <p:sp>
        <p:nvSpPr>
          <p:cNvPr id="5" name="TextBox 4"/>
          <p:cNvSpPr txBox="1"/>
          <p:nvPr/>
        </p:nvSpPr>
        <p:spPr>
          <a:xfrm>
            <a:off x="1051560" y="2578608"/>
            <a:ext cx="9692640" cy="1371600"/>
          </a:xfrm>
          <a:prstGeom prst="rect">
            <a:avLst/>
          </a:prstGeom>
          <a:noFill/>
        </p:spPr>
        <p:txBody>
          <a:bodyPr wrap="square" lIns="0" tIns="0" rIns="0" bIns="0">
            <a:spAutoFit/>
          </a:bodyPr>
          <a:lstStyle/>
          <a:p>
            <a:pPr>
              <a:lnSpc>
                <a:spcPct val="95000"/>
              </a:lnSpc>
            </a:pPr>
            <a:r>
              <a:rPr sz="4200" b="1" i="0">
                <a:solidFill>
                  <a:srgbClr val="1F4E79"/>
                </a:solidFill>
                <a:latin typeface="Segoe UI Semibold"/>
              </a:rPr>
              <a:t>Spark architecture</a:t>
            </a:r>
          </a:p>
        </p:txBody>
      </p:sp>
      <p:sp>
        <p:nvSpPr>
          <p:cNvPr id="6" name="TextBox 5"/>
          <p:cNvSpPr txBox="1"/>
          <p:nvPr/>
        </p:nvSpPr>
        <p:spPr>
          <a:xfrm>
            <a:off x="1051560" y="3950208"/>
            <a:ext cx="8778240" cy="822960"/>
          </a:xfrm>
          <a:prstGeom prst="rect">
            <a:avLst/>
          </a:prstGeom>
          <a:noFill/>
        </p:spPr>
        <p:txBody>
          <a:bodyPr wrap="square" lIns="0" tIns="0" rIns="0" bIns="0">
            <a:spAutoFit/>
          </a:bodyPr>
          <a:lstStyle/>
          <a:p>
            <a:pPr>
              <a:lnSpc>
                <a:spcPct val="115000"/>
              </a:lnSpc>
            </a:pPr>
            <a:r>
              <a:rPr sz="1700" b="0" i="0">
                <a:solidFill>
                  <a:srgbClr val="5B6775"/>
                </a:solidFill>
                <a:latin typeface="Segoe UI"/>
              </a:rPr>
              <a:t>How the engine actually runs your code, and why that decides your runtime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58368" y="2148840"/>
            <a:ext cx="82296" cy="219456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42416" y="2084831"/>
            <a:ext cx="9777679" cy="1828800"/>
          </a:xfrm>
          <a:prstGeom prst="rect">
            <a:avLst/>
          </a:prstGeom>
          <a:noFill/>
        </p:spPr>
        <p:txBody>
          <a:bodyPr wrap="square" lIns="0" tIns="0" rIns="0" bIns="0">
            <a:spAutoFit/>
          </a:bodyPr>
          <a:lstStyle/>
          <a:p>
            <a:pPr>
              <a:lnSpc>
                <a:spcPct val="112000"/>
              </a:lnSpc>
            </a:pPr>
            <a:r>
              <a:rPr sz="3000" b="1" i="0">
                <a:solidFill>
                  <a:srgbClr val="1F4E79"/>
                </a:solidFill>
                <a:latin typeface="Segoe UI Semibold"/>
              </a:rPr>
              <a:t>Spark is not a faster Hive. It is a different execution model.</a:t>
            </a:r>
          </a:p>
        </p:txBody>
      </p:sp>
      <p:sp>
        <p:nvSpPr>
          <p:cNvPr id="5" name="TextBox 4"/>
          <p:cNvSpPr txBox="1"/>
          <p:nvPr/>
        </p:nvSpPr>
        <p:spPr>
          <a:xfrm>
            <a:off x="1042416" y="4041648"/>
            <a:ext cx="9411919" cy="1005840"/>
          </a:xfrm>
          <a:prstGeom prst="rect">
            <a:avLst/>
          </a:prstGeom>
          <a:noFill/>
        </p:spPr>
        <p:txBody>
          <a:bodyPr wrap="square" lIns="0" tIns="0" rIns="0" bIns="0">
            <a:spAutoFit/>
          </a:bodyPr>
          <a:lstStyle/>
          <a:p>
            <a:pPr>
              <a:lnSpc>
                <a:spcPct val="120000"/>
              </a:lnSpc>
            </a:pPr>
            <a:r>
              <a:rPr sz="1700" b="0" i="0">
                <a:solidFill>
                  <a:srgbClr val="5B6775"/>
                </a:solidFill>
                <a:latin typeface="Segoe UI"/>
              </a:rPr>
              <a:t>MapReduce writes to disk between every stage. Spark keeps data in memory across a whole chain of operations and only writes when it has to. Everything else in this module follows from that one difference.</a:t>
            </a:r>
          </a:p>
        </p:txBody>
      </p:sp>
      <p:sp>
        <p:nvSpPr>
          <p:cNvPr id="6" name="Rectangle 5"/>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02  ·  Spark architecture</a:t>
            </a:r>
          </a:p>
        </p:txBody>
      </p:sp>
      <p:sp>
        <p:nvSpPr>
          <p:cNvPr id="8" name="TextBox 7"/>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12</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237744"/>
          </a:xfrm>
          <a:prstGeom prst="rect">
            <a:avLst/>
          </a:prstGeom>
          <a:noFill/>
        </p:spPr>
        <p:txBody>
          <a:bodyPr wrap="square" lIns="0" tIns="0" rIns="0" bIns="0">
            <a:spAutoFit/>
          </a:bodyPr>
          <a:lstStyle/>
          <a:p>
            <a:r>
              <a:rPr sz="1000" b="1" i="0">
                <a:solidFill>
                  <a:srgbClr val="2E74B5"/>
                </a:solidFill>
                <a:latin typeface="Segoe UI Semibold"/>
              </a:rPr>
              <a:t>THE CAST</a:t>
            </a:r>
          </a:p>
        </p:txBody>
      </p:sp>
      <p:sp>
        <p:nvSpPr>
          <p:cNvPr id="4" name="TextBox 3"/>
          <p:cNvSpPr txBox="1"/>
          <p:nvPr/>
        </p:nvSpPr>
        <p:spPr>
          <a:xfrm>
            <a:off x="658368" y="768096"/>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Four things are running when your job runs</a:t>
            </a:r>
          </a:p>
        </p:txBody>
      </p:sp>
      <p:sp>
        <p:nvSpPr>
          <p:cNvPr id="5" name="TextBox 4"/>
          <p:cNvSpPr txBox="1"/>
          <p:nvPr/>
        </p:nvSpPr>
        <p:spPr>
          <a:xfrm>
            <a:off x="658368" y="1481328"/>
            <a:ext cx="10874959" cy="4526280"/>
          </a:xfrm>
          <a:prstGeom prst="rect">
            <a:avLst/>
          </a:prstGeom>
          <a:noFill/>
        </p:spPr>
        <p:txBody>
          <a:bodyPr wrap="square" lIns="0" tIns="0" rIns="0" bIns="0">
            <a:spAutoFit/>
          </a:bodyPr>
          <a:lstStyle/>
          <a:p>
            <a:pPr marL="274320" indent="-274320">
              <a:lnSpc>
                <a:spcPct val="118000"/>
              </a:lnSpc>
              <a:spcAft>
                <a:spcPts val="900"/>
              </a:spcAft>
            </a:pPr>
            <a:r>
              <a:rPr sz="1500" b="1" i="0">
                <a:solidFill>
                  <a:srgbClr val="2E74B5"/>
                </a:solidFill>
                <a:latin typeface="Segoe UI"/>
              </a:rPr>
              <a:t>▪   </a:t>
            </a:r>
            <a:r>
              <a:rPr sz="1500" b="0" i="0">
                <a:solidFill>
                  <a:srgbClr val="242C38"/>
                </a:solidFill>
                <a:latin typeface="Segoe UI"/>
              </a:rPr>
              <a:t>Driver</a:t>
            </a:r>
          </a:p>
          <a:p>
            <a:pPr marL="566928" lvl="1" indent="-237744">
              <a:lnSpc>
                <a:spcPct val="115000"/>
              </a:lnSpc>
              <a:spcAft>
                <a:spcPts val="500"/>
              </a:spcAft>
            </a:pPr>
            <a:r>
              <a:rPr sz="1200" b="0" i="0">
                <a:solidFill>
                  <a:srgbClr val="9AA5B1"/>
                </a:solidFill>
                <a:latin typeface="Segoe UI"/>
              </a:rPr>
              <a:t>–   </a:t>
            </a:r>
            <a:r>
              <a:rPr sz="1200" b="0" i="0">
                <a:solidFill>
                  <a:srgbClr val="5B6775"/>
                </a:solidFill>
                <a:latin typeface="Segoe UI"/>
              </a:rPr>
              <a:t>holds the SparkSession, builds the plan, schedules tasks</a:t>
            </a:r>
          </a:p>
          <a:p>
            <a:pPr marL="566928" lvl="1" indent="-237744">
              <a:lnSpc>
                <a:spcPct val="115000"/>
              </a:lnSpc>
              <a:spcAft>
                <a:spcPts val="500"/>
              </a:spcAft>
            </a:pPr>
            <a:r>
              <a:rPr sz="1200" b="0" i="0">
                <a:solidFill>
                  <a:srgbClr val="9AA5B1"/>
                </a:solidFill>
                <a:latin typeface="Segoe UI"/>
              </a:rPr>
              <a:t>–   </a:t>
            </a:r>
            <a:r>
              <a:rPr sz="1200" b="0" i="0">
                <a:solidFill>
                  <a:srgbClr val="5B6775"/>
                </a:solidFill>
                <a:latin typeface="Segoe UI"/>
              </a:rPr>
              <a:t>your Python code runs here</a:t>
            </a:r>
          </a:p>
          <a:p>
            <a:pPr marL="274320" indent="-274320">
              <a:lnSpc>
                <a:spcPct val="118000"/>
              </a:lnSpc>
              <a:spcAft>
                <a:spcPts val="900"/>
              </a:spcAft>
            </a:pPr>
            <a:r>
              <a:rPr sz="1500" b="1" i="0">
                <a:solidFill>
                  <a:srgbClr val="2E74B5"/>
                </a:solidFill>
                <a:latin typeface="Segoe UI"/>
              </a:rPr>
              <a:t>▪   </a:t>
            </a:r>
            <a:r>
              <a:rPr sz="1500" b="0" i="0">
                <a:solidFill>
                  <a:srgbClr val="242C38"/>
                </a:solidFill>
                <a:latin typeface="Segoe UI"/>
              </a:rPr>
              <a:t>Cluster manager</a:t>
            </a:r>
          </a:p>
          <a:p>
            <a:pPr marL="566928" lvl="1" indent="-237744">
              <a:lnSpc>
                <a:spcPct val="115000"/>
              </a:lnSpc>
              <a:spcAft>
                <a:spcPts val="500"/>
              </a:spcAft>
            </a:pPr>
            <a:r>
              <a:rPr sz="1200" b="0" i="0">
                <a:solidFill>
                  <a:srgbClr val="9AA5B1"/>
                </a:solidFill>
                <a:latin typeface="Segoe UI"/>
              </a:rPr>
              <a:t>–   </a:t>
            </a:r>
            <a:r>
              <a:rPr sz="1200" b="0" i="0">
                <a:solidFill>
                  <a:srgbClr val="5B6775"/>
                </a:solidFill>
                <a:latin typeface="Segoe UI"/>
              </a:rPr>
              <a:t>hands out containers: YARN, Kubernetes or standalone</a:t>
            </a:r>
          </a:p>
          <a:p>
            <a:pPr marL="274320" indent="-274320">
              <a:lnSpc>
                <a:spcPct val="118000"/>
              </a:lnSpc>
              <a:spcAft>
                <a:spcPts val="900"/>
              </a:spcAft>
            </a:pPr>
            <a:r>
              <a:rPr sz="1500" b="1" i="0">
                <a:solidFill>
                  <a:srgbClr val="2E74B5"/>
                </a:solidFill>
                <a:latin typeface="Segoe UI"/>
              </a:rPr>
              <a:t>▪   </a:t>
            </a:r>
            <a:r>
              <a:rPr sz="1500" b="0" i="0">
                <a:solidFill>
                  <a:srgbClr val="242C38"/>
                </a:solidFill>
                <a:latin typeface="Segoe UI"/>
              </a:rPr>
              <a:t>Executors</a:t>
            </a:r>
          </a:p>
          <a:p>
            <a:pPr marL="566928" lvl="1" indent="-237744">
              <a:lnSpc>
                <a:spcPct val="115000"/>
              </a:lnSpc>
              <a:spcAft>
                <a:spcPts val="500"/>
              </a:spcAft>
            </a:pPr>
            <a:r>
              <a:rPr sz="1200" b="0" i="0">
                <a:solidFill>
                  <a:srgbClr val="9AA5B1"/>
                </a:solidFill>
                <a:latin typeface="Segoe UI"/>
              </a:rPr>
              <a:t>–   </a:t>
            </a:r>
            <a:r>
              <a:rPr sz="1200" b="0" i="0">
                <a:solidFill>
                  <a:srgbClr val="5B6775"/>
                </a:solidFill>
                <a:latin typeface="Segoe UI"/>
              </a:rPr>
              <a:t>JVM processes that actually do the work and hold cached data</a:t>
            </a:r>
          </a:p>
          <a:p>
            <a:pPr marL="274320" indent="-274320">
              <a:lnSpc>
                <a:spcPct val="118000"/>
              </a:lnSpc>
              <a:spcAft>
                <a:spcPts val="900"/>
              </a:spcAft>
            </a:pPr>
            <a:r>
              <a:rPr sz="1500" b="1" i="0">
                <a:solidFill>
                  <a:srgbClr val="2E74B5"/>
                </a:solidFill>
                <a:latin typeface="Segoe UI"/>
              </a:rPr>
              <a:t>▪   </a:t>
            </a:r>
            <a:r>
              <a:rPr sz="1500" b="0" i="0">
                <a:solidFill>
                  <a:srgbClr val="242C38"/>
                </a:solidFill>
                <a:latin typeface="Segoe UI"/>
              </a:rPr>
              <a:t>Tasks</a:t>
            </a:r>
          </a:p>
          <a:p>
            <a:pPr marL="566928" lvl="1" indent="-237744">
              <a:lnSpc>
                <a:spcPct val="115000"/>
              </a:lnSpc>
              <a:spcAft>
                <a:spcPts val="500"/>
              </a:spcAft>
            </a:pPr>
            <a:r>
              <a:rPr sz="1200" b="0" i="0">
                <a:solidFill>
                  <a:srgbClr val="9AA5B1"/>
                </a:solidFill>
                <a:latin typeface="Segoe UI"/>
              </a:rPr>
              <a:t>–   </a:t>
            </a:r>
            <a:r>
              <a:rPr sz="1200" b="0" i="0">
                <a:solidFill>
                  <a:srgbClr val="5B6775"/>
                </a:solidFill>
                <a:latin typeface="Segoe UI"/>
              </a:rPr>
              <a:t>one task per partition, the smallest unit of work</a:t>
            </a:r>
          </a:p>
        </p:txBody>
      </p:sp>
      <p:sp>
        <p:nvSpPr>
          <p:cNvPr id="6" name="TextBox 5"/>
          <p:cNvSpPr txBox="1"/>
          <p:nvPr/>
        </p:nvSpPr>
        <p:spPr>
          <a:xfrm>
            <a:off x="658368" y="5687568"/>
            <a:ext cx="10874959" cy="548640"/>
          </a:xfrm>
          <a:prstGeom prst="rect">
            <a:avLst/>
          </a:prstGeom>
          <a:noFill/>
        </p:spPr>
        <p:txBody>
          <a:bodyPr wrap="square" lIns="0" tIns="0" rIns="0" bIns="0">
            <a:spAutoFit/>
          </a:bodyPr>
          <a:lstStyle/>
          <a:p>
            <a:r>
              <a:rPr sz="1300" b="0" i="1">
                <a:solidFill>
                  <a:srgbClr val="5B6775"/>
                </a:solidFill>
                <a:latin typeface="Segoe UI"/>
              </a:rPr>
              <a:t>On your laptop, local[*] runs the driver and all executors inside one JVM.</a:t>
            </a:r>
          </a:p>
        </p:txBody>
      </p:sp>
      <p:sp>
        <p:nvSpPr>
          <p:cNvPr id="7" name="Rectangle 6"/>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02  ·  Spark architecture</a:t>
            </a:r>
          </a:p>
        </p:txBody>
      </p:sp>
      <p:sp>
        <p:nvSpPr>
          <p:cNvPr id="9" name="TextBox 8"/>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13</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Narrow versus wide: the only distinction that matters</a:t>
            </a:r>
          </a:p>
        </p:txBody>
      </p:sp>
      <p:graphicFrame>
        <p:nvGraphicFramePr>
          <p:cNvPr id="4" name="Table 3"/>
          <p:cNvGraphicFramePr>
            <a:graphicFrameLocks noGrp="1"/>
          </p:cNvGraphicFramePr>
          <p:nvPr/>
        </p:nvGraphicFramePr>
        <p:xfrm>
          <a:off x="658368" y="1481328"/>
          <a:ext cx="10874957" cy="2779776"/>
        </p:xfrm>
        <a:graphic>
          <a:graphicData uri="http://schemas.openxmlformats.org/drawingml/2006/table">
            <a:tbl>
              <a:tblPr firstRow="1" bandRow="1">
                <a:tableStyleId>{5C22544A-7EE6-4342-B048-85BDC9FD1C3A}</a:tableStyleId>
              </a:tblPr>
              <a:tblGrid>
                <a:gridCol w="2917671">
                  <a:extLst>
                    <a:ext uri="{9D8B030D-6E8A-4147-A177-3AD203B41FA5}">
                      <a16:colId xmlns:a16="http://schemas.microsoft.com/office/drawing/2014/main" val="20000"/>
                    </a:ext>
                  </a:extLst>
                </a:gridCol>
                <a:gridCol w="3978643">
                  <a:extLst>
                    <a:ext uri="{9D8B030D-6E8A-4147-A177-3AD203B41FA5}">
                      <a16:colId xmlns:a16="http://schemas.microsoft.com/office/drawing/2014/main" val="20001"/>
                    </a:ext>
                  </a:extLst>
                </a:gridCol>
                <a:gridCol w="3978643">
                  <a:extLst>
                    <a:ext uri="{9D8B030D-6E8A-4147-A177-3AD203B41FA5}">
                      <a16:colId xmlns:a16="http://schemas.microsoft.com/office/drawing/2014/main" val="20002"/>
                    </a:ext>
                  </a:extLst>
                </a:gridCol>
              </a:tblGrid>
              <a:tr h="402336">
                <a:tc>
                  <a:txBody>
                    <a:bodyPr/>
                    <a:lstStyle/>
                    <a:p>
                      <a:endParaRPr/>
                    </a:p>
                  </a:txBody>
                  <a:tcPr anchor="ctr">
                    <a:solidFill>
                      <a:srgbClr val="1F4E79"/>
                    </a:solidFill>
                  </a:tcPr>
                </a:tc>
                <a:tc>
                  <a:txBody>
                    <a:bodyPr/>
                    <a:lstStyle/>
                    <a:p>
                      <a:r>
                        <a:rPr sz="1450" b="1" i="0">
                          <a:solidFill>
                            <a:srgbClr val="FFFFFF"/>
                          </a:solidFill>
                          <a:latin typeface="Segoe UI Semibold"/>
                        </a:rPr>
                        <a:t>Narrow</a:t>
                      </a:r>
                    </a:p>
                  </a:txBody>
                  <a:tcPr anchor="ctr">
                    <a:solidFill>
                      <a:srgbClr val="1F4E79"/>
                    </a:solidFill>
                  </a:tcPr>
                </a:tc>
                <a:tc>
                  <a:txBody>
                    <a:bodyPr/>
                    <a:lstStyle/>
                    <a:p>
                      <a:r>
                        <a:rPr sz="1450" b="1" i="0">
                          <a:solidFill>
                            <a:srgbClr val="FFFFFF"/>
                          </a:solidFill>
                          <a:latin typeface="Segoe UI Semibold"/>
                        </a:rPr>
                        <a:t>Wide</a:t>
                      </a:r>
                    </a:p>
                  </a:txBody>
                  <a:tcPr anchor="ctr">
                    <a:solidFill>
                      <a:srgbClr val="1F4E79"/>
                    </a:solidFill>
                  </a:tcPr>
                </a:tc>
                <a:extLst>
                  <a:ext uri="{0D108BD9-81ED-4DB2-BD59-A6C34878D82A}">
                    <a16:rowId xmlns:a16="http://schemas.microsoft.com/office/drawing/2014/main" val="10000"/>
                  </a:ext>
                </a:extLst>
              </a:tr>
              <a:tr h="475488">
                <a:tc>
                  <a:txBody>
                    <a:bodyPr/>
                    <a:lstStyle/>
                    <a:p>
                      <a:pPr>
                        <a:lnSpc>
                          <a:spcPct val="106000"/>
                        </a:lnSpc>
                      </a:pPr>
                      <a:r>
                        <a:rPr sz="1400" b="1" i="0">
                          <a:solidFill>
                            <a:srgbClr val="242C38"/>
                          </a:solidFill>
                          <a:latin typeface="Segoe UI"/>
                        </a:rPr>
                        <a:t>Data movement</a:t>
                      </a:r>
                    </a:p>
                  </a:txBody>
                  <a:tcPr marT="36576" marB="36576" anchor="ctr">
                    <a:solidFill>
                      <a:srgbClr val="EEF3F8"/>
                    </a:solidFill>
                  </a:tcPr>
                </a:tc>
                <a:tc>
                  <a:txBody>
                    <a:bodyPr/>
                    <a:lstStyle/>
                    <a:p>
                      <a:pPr>
                        <a:lnSpc>
                          <a:spcPct val="106000"/>
                        </a:lnSpc>
                      </a:pPr>
                      <a:r>
                        <a:rPr sz="1400" b="0" i="0">
                          <a:solidFill>
                            <a:srgbClr val="242C38"/>
                          </a:solidFill>
                          <a:latin typeface="Segoe UI"/>
                        </a:rPr>
                        <a:t>stays on the same partition</a:t>
                      </a:r>
                    </a:p>
                  </a:txBody>
                  <a:tcPr marT="36576" marB="36576" anchor="ctr">
                    <a:solidFill>
                      <a:srgbClr val="EEF3F8"/>
                    </a:solidFill>
                  </a:tcPr>
                </a:tc>
                <a:tc>
                  <a:txBody>
                    <a:bodyPr/>
                    <a:lstStyle/>
                    <a:p>
                      <a:pPr>
                        <a:lnSpc>
                          <a:spcPct val="106000"/>
                        </a:lnSpc>
                      </a:pPr>
                      <a:r>
                        <a:rPr sz="1400" b="0" i="0">
                          <a:solidFill>
                            <a:srgbClr val="242C38"/>
                          </a:solidFill>
                          <a:latin typeface="Segoe UI"/>
                        </a:rPr>
                        <a:t>shuffles across the network</a:t>
                      </a:r>
                    </a:p>
                  </a:txBody>
                  <a:tcPr marT="36576" marB="36576" anchor="ctr">
                    <a:solidFill>
                      <a:srgbClr val="EEF3F8"/>
                    </a:solidFill>
                  </a:tcPr>
                </a:tc>
                <a:extLst>
                  <a:ext uri="{0D108BD9-81ED-4DB2-BD59-A6C34878D82A}">
                    <a16:rowId xmlns:a16="http://schemas.microsoft.com/office/drawing/2014/main" val="10001"/>
                  </a:ext>
                </a:extLst>
              </a:tr>
              <a:tr h="475488">
                <a:tc>
                  <a:txBody>
                    <a:bodyPr/>
                    <a:lstStyle/>
                    <a:p>
                      <a:pPr>
                        <a:lnSpc>
                          <a:spcPct val="106000"/>
                        </a:lnSpc>
                      </a:pPr>
                      <a:r>
                        <a:rPr sz="1400" b="1" i="0">
                          <a:solidFill>
                            <a:srgbClr val="242C38"/>
                          </a:solidFill>
                          <a:latin typeface="Segoe UI"/>
                        </a:rPr>
                        <a:t>Examples</a:t>
                      </a:r>
                    </a:p>
                  </a:txBody>
                  <a:tcPr marT="36576" marB="36576" anchor="ctr">
                    <a:solidFill>
                      <a:srgbClr val="FFFFFF"/>
                    </a:solidFill>
                  </a:tcPr>
                </a:tc>
                <a:tc>
                  <a:txBody>
                    <a:bodyPr/>
                    <a:lstStyle/>
                    <a:p>
                      <a:pPr>
                        <a:lnSpc>
                          <a:spcPct val="106000"/>
                        </a:lnSpc>
                      </a:pPr>
                      <a:r>
                        <a:rPr sz="1350" b="0" i="0">
                          <a:solidFill>
                            <a:srgbClr val="2E74B5"/>
                          </a:solidFill>
                          <a:latin typeface="Consolas"/>
                        </a:rPr>
                        <a:t>select</a:t>
                      </a:r>
                      <a:r>
                        <a:rPr sz="1400" b="0" i="0">
                          <a:solidFill>
                            <a:srgbClr val="242C38"/>
                          </a:solidFill>
                          <a:latin typeface="Segoe UI"/>
                        </a:rPr>
                        <a:t>, </a:t>
                      </a:r>
                      <a:r>
                        <a:rPr sz="1350" b="0" i="0">
                          <a:solidFill>
                            <a:srgbClr val="2E74B5"/>
                          </a:solidFill>
                          <a:latin typeface="Consolas"/>
                        </a:rPr>
                        <a:t>filter</a:t>
                      </a:r>
                      <a:r>
                        <a:rPr sz="1400" b="0" i="0">
                          <a:solidFill>
                            <a:srgbClr val="242C38"/>
                          </a:solidFill>
                          <a:latin typeface="Segoe UI"/>
                        </a:rPr>
                        <a:t>, </a:t>
                      </a:r>
                      <a:r>
                        <a:rPr sz="1350" b="0" i="0">
                          <a:solidFill>
                            <a:srgbClr val="2E74B5"/>
                          </a:solidFill>
                          <a:latin typeface="Consolas"/>
                        </a:rPr>
                        <a:t>withColumn</a:t>
                      </a:r>
                    </a:p>
                  </a:txBody>
                  <a:tcPr marT="36576" marB="36576" anchor="ctr">
                    <a:solidFill>
                      <a:srgbClr val="FFFFFF"/>
                    </a:solidFill>
                  </a:tcPr>
                </a:tc>
                <a:tc>
                  <a:txBody>
                    <a:bodyPr/>
                    <a:lstStyle/>
                    <a:p>
                      <a:pPr>
                        <a:lnSpc>
                          <a:spcPct val="106000"/>
                        </a:lnSpc>
                      </a:pPr>
                      <a:r>
                        <a:rPr sz="1350" b="0" i="0">
                          <a:solidFill>
                            <a:srgbClr val="2E74B5"/>
                          </a:solidFill>
                          <a:latin typeface="Consolas"/>
                        </a:rPr>
                        <a:t>groupBy</a:t>
                      </a:r>
                      <a:r>
                        <a:rPr sz="1400" b="0" i="0">
                          <a:solidFill>
                            <a:srgbClr val="242C38"/>
                          </a:solidFill>
                          <a:latin typeface="Segoe UI"/>
                        </a:rPr>
                        <a:t>, </a:t>
                      </a:r>
                      <a:r>
                        <a:rPr sz="1350" b="0" i="0">
                          <a:solidFill>
                            <a:srgbClr val="2E74B5"/>
                          </a:solidFill>
                          <a:latin typeface="Consolas"/>
                        </a:rPr>
                        <a:t>join</a:t>
                      </a:r>
                      <a:r>
                        <a:rPr sz="1400" b="0" i="0">
                          <a:solidFill>
                            <a:srgbClr val="242C38"/>
                          </a:solidFill>
                          <a:latin typeface="Segoe UI"/>
                        </a:rPr>
                        <a:t>, </a:t>
                      </a:r>
                      <a:r>
                        <a:rPr sz="1350" b="0" i="0">
                          <a:solidFill>
                            <a:srgbClr val="2E74B5"/>
                          </a:solidFill>
                          <a:latin typeface="Consolas"/>
                        </a:rPr>
                        <a:t>distinct</a:t>
                      </a:r>
                    </a:p>
                  </a:txBody>
                  <a:tcPr marT="36576" marB="36576" anchor="ctr">
                    <a:solidFill>
                      <a:srgbClr val="FFFFFF"/>
                    </a:solidFill>
                  </a:tcPr>
                </a:tc>
                <a:extLst>
                  <a:ext uri="{0D108BD9-81ED-4DB2-BD59-A6C34878D82A}">
                    <a16:rowId xmlns:a16="http://schemas.microsoft.com/office/drawing/2014/main" val="10002"/>
                  </a:ext>
                </a:extLst>
              </a:tr>
              <a:tr h="475488">
                <a:tc>
                  <a:txBody>
                    <a:bodyPr/>
                    <a:lstStyle/>
                    <a:p>
                      <a:pPr>
                        <a:lnSpc>
                          <a:spcPct val="106000"/>
                        </a:lnSpc>
                      </a:pPr>
                      <a:r>
                        <a:rPr sz="1400" b="1" i="0">
                          <a:solidFill>
                            <a:srgbClr val="242C38"/>
                          </a:solidFill>
                          <a:latin typeface="Segoe UI"/>
                        </a:rPr>
                        <a:t>Stage boundary</a:t>
                      </a:r>
                    </a:p>
                  </a:txBody>
                  <a:tcPr marT="36576" marB="36576" anchor="ctr">
                    <a:solidFill>
                      <a:srgbClr val="EEF3F8"/>
                    </a:solidFill>
                  </a:tcPr>
                </a:tc>
                <a:tc>
                  <a:txBody>
                    <a:bodyPr/>
                    <a:lstStyle/>
                    <a:p>
                      <a:pPr>
                        <a:lnSpc>
                          <a:spcPct val="106000"/>
                        </a:lnSpc>
                      </a:pPr>
                      <a:r>
                        <a:rPr sz="1400" b="0" i="0">
                          <a:solidFill>
                            <a:srgbClr val="242C38"/>
                          </a:solidFill>
                          <a:latin typeface="Segoe UI"/>
                        </a:rPr>
                        <a:t>no</a:t>
                      </a:r>
                    </a:p>
                  </a:txBody>
                  <a:tcPr marT="36576" marB="36576" anchor="ctr">
                    <a:solidFill>
                      <a:srgbClr val="EEF3F8"/>
                    </a:solidFill>
                  </a:tcPr>
                </a:tc>
                <a:tc>
                  <a:txBody>
                    <a:bodyPr/>
                    <a:lstStyle/>
                    <a:p>
                      <a:pPr>
                        <a:lnSpc>
                          <a:spcPct val="106000"/>
                        </a:lnSpc>
                      </a:pPr>
                      <a:r>
                        <a:rPr sz="1400" b="0" i="0">
                          <a:solidFill>
                            <a:srgbClr val="242C38"/>
                          </a:solidFill>
                          <a:latin typeface="Segoe UI"/>
                        </a:rPr>
                        <a:t>yes, always</a:t>
                      </a:r>
                    </a:p>
                  </a:txBody>
                  <a:tcPr marT="36576" marB="36576" anchor="ctr">
                    <a:solidFill>
                      <a:srgbClr val="EEF3F8"/>
                    </a:solidFill>
                  </a:tcPr>
                </a:tc>
                <a:extLst>
                  <a:ext uri="{0D108BD9-81ED-4DB2-BD59-A6C34878D82A}">
                    <a16:rowId xmlns:a16="http://schemas.microsoft.com/office/drawing/2014/main" val="10003"/>
                  </a:ext>
                </a:extLst>
              </a:tr>
              <a:tr h="475488">
                <a:tc>
                  <a:txBody>
                    <a:bodyPr/>
                    <a:lstStyle/>
                    <a:p>
                      <a:pPr>
                        <a:lnSpc>
                          <a:spcPct val="106000"/>
                        </a:lnSpc>
                      </a:pPr>
                      <a:r>
                        <a:rPr sz="1400" b="1" i="0">
                          <a:solidFill>
                            <a:srgbClr val="242C38"/>
                          </a:solidFill>
                          <a:latin typeface="Segoe UI"/>
                        </a:rPr>
                        <a:t>Cost</a:t>
                      </a:r>
                    </a:p>
                  </a:txBody>
                  <a:tcPr marT="36576" marB="36576" anchor="ctr">
                    <a:solidFill>
                      <a:srgbClr val="FFFFFF"/>
                    </a:solidFill>
                  </a:tcPr>
                </a:tc>
                <a:tc>
                  <a:txBody>
                    <a:bodyPr/>
                    <a:lstStyle/>
                    <a:p>
                      <a:pPr>
                        <a:lnSpc>
                          <a:spcPct val="106000"/>
                        </a:lnSpc>
                      </a:pPr>
                      <a:r>
                        <a:rPr sz="1400" b="0" i="0">
                          <a:solidFill>
                            <a:srgbClr val="242C38"/>
                          </a:solidFill>
                          <a:latin typeface="Segoe UI"/>
                        </a:rPr>
                        <a:t>nearly free</a:t>
                      </a:r>
                    </a:p>
                  </a:txBody>
                  <a:tcPr marT="36576" marB="36576" anchor="ctr">
                    <a:solidFill>
                      <a:srgbClr val="FFFFFF"/>
                    </a:solidFill>
                  </a:tcPr>
                </a:tc>
                <a:tc>
                  <a:txBody>
                    <a:bodyPr/>
                    <a:lstStyle/>
                    <a:p>
                      <a:pPr>
                        <a:lnSpc>
                          <a:spcPct val="106000"/>
                        </a:lnSpc>
                      </a:pPr>
                      <a:r>
                        <a:rPr sz="1400" b="0" i="0">
                          <a:solidFill>
                            <a:srgbClr val="242C38"/>
                          </a:solidFill>
                          <a:latin typeface="Segoe UI"/>
                        </a:rPr>
                        <a:t>the expensive thing</a:t>
                      </a:r>
                    </a:p>
                  </a:txBody>
                  <a:tcPr marT="36576" marB="36576" anchor="ctr">
                    <a:solidFill>
                      <a:srgbClr val="FFFFFF"/>
                    </a:solidFill>
                  </a:tcPr>
                </a:tc>
                <a:extLst>
                  <a:ext uri="{0D108BD9-81ED-4DB2-BD59-A6C34878D82A}">
                    <a16:rowId xmlns:a16="http://schemas.microsoft.com/office/drawing/2014/main" val="10004"/>
                  </a:ext>
                </a:extLst>
              </a:tr>
              <a:tr h="475488">
                <a:tc>
                  <a:txBody>
                    <a:bodyPr/>
                    <a:lstStyle/>
                    <a:p>
                      <a:pPr>
                        <a:lnSpc>
                          <a:spcPct val="106000"/>
                        </a:lnSpc>
                      </a:pPr>
                      <a:r>
                        <a:rPr sz="1400" b="1" i="0">
                          <a:solidFill>
                            <a:srgbClr val="242C38"/>
                          </a:solidFill>
                          <a:latin typeface="Segoe UI"/>
                        </a:rPr>
                        <a:t>Failure recovery</a:t>
                      </a:r>
                    </a:p>
                  </a:txBody>
                  <a:tcPr marT="36576" marB="36576" anchor="ctr">
                    <a:solidFill>
                      <a:srgbClr val="EEF3F8"/>
                    </a:solidFill>
                  </a:tcPr>
                </a:tc>
                <a:tc>
                  <a:txBody>
                    <a:bodyPr/>
                    <a:lstStyle/>
                    <a:p>
                      <a:pPr>
                        <a:lnSpc>
                          <a:spcPct val="106000"/>
                        </a:lnSpc>
                      </a:pPr>
                      <a:r>
                        <a:rPr sz="1400" b="0" i="0">
                          <a:solidFill>
                            <a:srgbClr val="242C38"/>
                          </a:solidFill>
                          <a:latin typeface="Segoe UI"/>
                        </a:rPr>
                        <a:t>recompute one partition</a:t>
                      </a:r>
                    </a:p>
                  </a:txBody>
                  <a:tcPr marT="36576" marB="36576" anchor="ctr">
                    <a:solidFill>
                      <a:srgbClr val="EEF3F8"/>
                    </a:solidFill>
                  </a:tcPr>
                </a:tc>
                <a:tc>
                  <a:txBody>
                    <a:bodyPr/>
                    <a:lstStyle/>
                    <a:p>
                      <a:pPr>
                        <a:lnSpc>
                          <a:spcPct val="106000"/>
                        </a:lnSpc>
                      </a:pPr>
                      <a:r>
                        <a:rPr sz="1400" b="0" i="0">
                          <a:solidFill>
                            <a:srgbClr val="242C38"/>
                          </a:solidFill>
                          <a:latin typeface="Segoe UI"/>
                        </a:rPr>
                        <a:t>recompute the whole stage</a:t>
                      </a:r>
                    </a:p>
                  </a:txBody>
                  <a:tcPr marT="36576" marB="36576" anchor="ctr">
                    <a:solidFill>
                      <a:srgbClr val="EEF3F8"/>
                    </a:solidFill>
                  </a:tcPr>
                </a:tc>
                <a:extLst>
                  <a:ext uri="{0D108BD9-81ED-4DB2-BD59-A6C34878D82A}">
                    <a16:rowId xmlns:a16="http://schemas.microsoft.com/office/drawing/2014/main" val="10005"/>
                  </a:ext>
                </a:extLst>
              </a:tr>
            </a:tbl>
          </a:graphicData>
        </a:graphic>
      </p:graphicFrame>
      <p:sp>
        <p:nvSpPr>
          <p:cNvPr id="5" name="TextBox 4"/>
          <p:cNvSpPr txBox="1"/>
          <p:nvPr/>
        </p:nvSpPr>
        <p:spPr>
          <a:xfrm>
            <a:off x="658368" y="5724144"/>
            <a:ext cx="10874959" cy="502920"/>
          </a:xfrm>
          <a:prstGeom prst="rect">
            <a:avLst/>
          </a:prstGeom>
          <a:noFill/>
        </p:spPr>
        <p:txBody>
          <a:bodyPr wrap="square" lIns="0" tIns="0" rIns="0" bIns="0">
            <a:spAutoFit/>
          </a:bodyPr>
          <a:lstStyle/>
          <a:p>
            <a:r>
              <a:rPr sz="1300" b="0" i="1">
                <a:solidFill>
                  <a:srgbClr val="5B6775"/>
                </a:solidFill>
                <a:latin typeface="Segoe UI"/>
              </a:rPr>
              <a:t>Every stage boundary in your job is a shuffle. Count the stages, count the shuffles.</a:t>
            </a:r>
          </a:p>
        </p:txBody>
      </p:sp>
      <p:sp>
        <p:nvSpPr>
          <p:cNvPr id="6" name="Rectangle 5"/>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02  ·  Spark architecture</a:t>
            </a:r>
          </a:p>
        </p:txBody>
      </p:sp>
      <p:sp>
        <p:nvSpPr>
          <p:cNvPr id="8" name="TextBox 7"/>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14</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Nothing runs until an action</a:t>
            </a:r>
          </a:p>
        </p:txBody>
      </p:sp>
      <p:sp>
        <p:nvSpPr>
          <p:cNvPr id="4" name="Rectangle 3"/>
          <p:cNvSpPr/>
          <p:nvPr/>
        </p:nvSpPr>
        <p:spPr>
          <a:xfrm>
            <a:off x="658368" y="1481328"/>
            <a:ext cx="10874959" cy="2157984"/>
          </a:xfrm>
          <a:prstGeom prst="rect">
            <a:avLst/>
          </a:prstGeom>
          <a:solidFill>
            <a:srgbClr val="F5F7F9"/>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81328"/>
            <a:ext cx="43180" cy="2157984"/>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77824" y="1645920"/>
            <a:ext cx="10509199" cy="1883664"/>
          </a:xfrm>
          <a:prstGeom prst="rect">
            <a:avLst/>
          </a:prstGeom>
          <a:noFill/>
        </p:spPr>
        <p:txBody>
          <a:bodyPr wrap="square" lIns="0" tIns="0" rIns="0" bIns="0">
            <a:spAutoFit/>
          </a:bodyPr>
          <a:lstStyle/>
          <a:p>
            <a:pPr>
              <a:lnSpc>
                <a:spcPct val="116000"/>
              </a:lnSpc>
              <a:spcAft>
                <a:spcPts val="0"/>
              </a:spcAft>
            </a:pPr>
            <a:r>
              <a:rPr sz="1500" b="0" i="0">
                <a:solidFill>
                  <a:srgbClr val="242C38"/>
                </a:solidFill>
                <a:latin typeface="Consolas"/>
              </a:rPr>
              <a:t>txns = spark.read.csv(f</a:t>
            </a:r>
            <a:r>
              <a:rPr sz="1500" b="0" i="0">
                <a:solidFill>
                  <a:srgbClr val="A31515"/>
                </a:solidFill>
                <a:latin typeface="Consolas"/>
              </a:rPr>
              <a:t>"{RAW}/transactions/"</a:t>
            </a:r>
            <a:r>
              <a:rPr sz="1500" b="0" i="0">
                <a:solidFill>
                  <a:srgbClr val="242C38"/>
                </a:solidFill>
                <a:latin typeface="Consolas"/>
              </a:rPr>
              <a:t>, header=</a:t>
            </a:r>
            <a:r>
              <a:rPr sz="1500" b="0" i="0">
                <a:solidFill>
                  <a:srgbClr val="0F5BA7"/>
                </a:solidFill>
                <a:latin typeface="Consolas"/>
              </a:rPr>
              <a:t>True</a:t>
            </a:r>
            <a:r>
              <a:rPr sz="1500" b="0" i="0">
                <a:solidFill>
                  <a:srgbClr val="242C38"/>
                </a:solidFill>
                <a:latin typeface="Consolas"/>
              </a:rPr>
              <a:t>)</a:t>
            </a:r>
          </a:p>
          <a:p>
            <a:pPr>
              <a:lnSpc>
                <a:spcPct val="116000"/>
              </a:lnSpc>
              <a:spcAft>
                <a:spcPts val="0"/>
              </a:spcAft>
            </a:pPr>
            <a:r>
              <a:rPr sz="1500" b="0" i="0">
                <a:solidFill>
                  <a:srgbClr val="242C38"/>
                </a:solidFill>
                <a:latin typeface="Consolas"/>
              </a:rPr>
              <a:t>big  = txns.filter(</a:t>
            </a:r>
            <a:r>
              <a:rPr sz="1500" b="0" i="0">
                <a:solidFill>
                  <a:srgbClr val="A31515"/>
                </a:solidFill>
                <a:latin typeface="Consolas"/>
              </a:rPr>
              <a:t>"amount &gt; 100000"</a:t>
            </a:r>
            <a:r>
              <a:rPr sz="1500" b="0" i="0">
                <a:solidFill>
                  <a:srgbClr val="242C38"/>
                </a:solidFill>
                <a:latin typeface="Consolas"/>
              </a:rPr>
              <a:t>)</a:t>
            </a:r>
          </a:p>
          <a:p>
            <a:pPr>
              <a:lnSpc>
                <a:spcPct val="116000"/>
              </a:lnSpc>
              <a:spcAft>
                <a:spcPts val="0"/>
              </a:spcAft>
            </a:pPr>
            <a:r>
              <a:rPr sz="1500" b="0" i="0">
                <a:solidFill>
                  <a:srgbClr val="242C38"/>
                </a:solidFill>
                <a:latin typeface="Consolas"/>
              </a:rPr>
              <a:t>agg  = big.groupBy(</a:t>
            </a:r>
            <a:r>
              <a:rPr sz="1500" b="0" i="0">
                <a:solidFill>
                  <a:srgbClr val="A31515"/>
                </a:solidFill>
                <a:latin typeface="Consolas"/>
              </a:rPr>
              <a:t>"channel"</a:t>
            </a:r>
            <a:r>
              <a:rPr sz="1500" b="0" i="0">
                <a:solidFill>
                  <a:srgbClr val="242C38"/>
                </a:solidFill>
                <a:latin typeface="Consolas"/>
              </a:rPr>
              <a:t>).count()</a:t>
            </a:r>
          </a:p>
          <a:p>
            <a:pPr>
              <a:lnSpc>
                <a:spcPct val="116000"/>
              </a:lnSpc>
              <a:spcAft>
                <a:spcPts val="0"/>
              </a:spcAft>
            </a:pPr>
            <a:r>
              <a:rPr sz="1500" b="0" i="1">
                <a:solidFill>
                  <a:srgbClr val="6F865C"/>
                </a:solidFill>
                <a:latin typeface="Consolas"/>
              </a:rPr>
              <a:t># still nothing has executed</a:t>
            </a:r>
          </a:p>
          <a:p>
            <a:pPr>
              <a:lnSpc>
                <a:spcPct val="116000"/>
              </a:lnSpc>
              <a:spcAft>
                <a:spcPts val="0"/>
              </a:spcAft>
            </a:pPr>
            <a:r>
              <a:rPr sz="1500" b="0" i="0">
                <a:solidFill>
                  <a:srgbClr val="242C38"/>
                </a:solidFill>
                <a:latin typeface="Consolas"/>
              </a:rPr>
              <a:t> </a:t>
            </a:r>
          </a:p>
          <a:p>
            <a:pPr>
              <a:lnSpc>
                <a:spcPct val="116000"/>
              </a:lnSpc>
              <a:spcAft>
                <a:spcPts val="0"/>
              </a:spcAft>
            </a:pPr>
            <a:r>
              <a:rPr sz="1500" b="0" i="0">
                <a:solidFill>
                  <a:srgbClr val="242C38"/>
                </a:solidFill>
                <a:latin typeface="Consolas"/>
              </a:rPr>
              <a:t>agg.show()    </a:t>
            </a:r>
            <a:r>
              <a:rPr sz="1500" b="0" i="1">
                <a:solidFill>
                  <a:srgbClr val="6F865C"/>
                </a:solidFill>
                <a:latin typeface="Consolas"/>
              </a:rPr>
              <a:t># THIS is the action that triggers the whole chain</a:t>
            </a:r>
          </a:p>
        </p:txBody>
      </p:sp>
      <p:sp>
        <p:nvSpPr>
          <p:cNvPr id="7" name="TextBox 6"/>
          <p:cNvSpPr txBox="1"/>
          <p:nvPr/>
        </p:nvSpPr>
        <p:spPr>
          <a:xfrm>
            <a:off x="658368" y="3785616"/>
            <a:ext cx="10874959" cy="457200"/>
          </a:xfrm>
          <a:prstGeom prst="rect">
            <a:avLst/>
          </a:prstGeom>
          <a:noFill/>
        </p:spPr>
        <p:txBody>
          <a:bodyPr wrap="square" lIns="0" tIns="0" rIns="0" bIns="0">
            <a:spAutoFit/>
          </a:bodyPr>
          <a:lstStyle/>
          <a:p>
            <a:r>
              <a:rPr sz="1400" b="0" i="0">
                <a:solidFill>
                  <a:srgbClr val="5B6775"/>
                </a:solidFill>
                <a:latin typeface="Segoe UI"/>
              </a:rPr>
              <a:t>Transformations build a plan. Actions run it. This is why a typo in line 2 surfaces at line 6.</a:t>
            </a:r>
          </a:p>
        </p:txBody>
      </p:sp>
      <p:sp>
        <p:nvSpPr>
          <p:cNvPr id="8" name="Rectangle 7"/>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02  ·  Spark architecture</a:t>
            </a:r>
          </a:p>
        </p:txBody>
      </p:sp>
      <p:sp>
        <p:nvSpPr>
          <p:cNvPr id="10" name="TextBox 9"/>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15</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What Catalyst does to your query</a:t>
            </a:r>
          </a:p>
        </p:txBody>
      </p:sp>
      <p:sp>
        <p:nvSpPr>
          <p:cNvPr id="4" name="Rectangle 3"/>
          <p:cNvSpPr/>
          <p:nvPr/>
        </p:nvSpPr>
        <p:spPr>
          <a:xfrm>
            <a:off x="658368" y="1801368"/>
            <a:ext cx="2540431" cy="2834640"/>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801368"/>
            <a:ext cx="2540431" cy="40640"/>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2020824"/>
            <a:ext cx="2211247" cy="310896"/>
          </a:xfrm>
          <a:prstGeom prst="rect">
            <a:avLst/>
          </a:prstGeom>
          <a:noFill/>
        </p:spPr>
        <p:txBody>
          <a:bodyPr wrap="square" lIns="0" tIns="0" rIns="0" bIns="0">
            <a:spAutoFit/>
          </a:bodyPr>
          <a:lstStyle/>
          <a:p>
            <a:r>
              <a:rPr sz="2000" b="1" i="0">
                <a:solidFill>
                  <a:srgbClr val="2E74B5"/>
                </a:solidFill>
                <a:latin typeface="Segoe UI Semibold"/>
              </a:rPr>
              <a:t>1</a:t>
            </a:r>
          </a:p>
        </p:txBody>
      </p:sp>
      <p:sp>
        <p:nvSpPr>
          <p:cNvPr id="7" name="TextBox 6"/>
          <p:cNvSpPr txBox="1"/>
          <p:nvPr/>
        </p:nvSpPr>
        <p:spPr>
          <a:xfrm>
            <a:off x="822960" y="2404872"/>
            <a:ext cx="2211247" cy="566928"/>
          </a:xfrm>
          <a:prstGeom prst="rect">
            <a:avLst/>
          </a:prstGeom>
          <a:noFill/>
        </p:spPr>
        <p:txBody>
          <a:bodyPr wrap="square" lIns="0" tIns="0" rIns="0" bIns="0">
            <a:spAutoFit/>
          </a:bodyPr>
          <a:lstStyle/>
          <a:p>
            <a:pPr>
              <a:lnSpc>
                <a:spcPct val="105000"/>
              </a:lnSpc>
            </a:pPr>
            <a:r>
              <a:rPr sz="1550" b="1" i="0">
                <a:solidFill>
                  <a:srgbClr val="1F4E79"/>
                </a:solidFill>
                <a:latin typeface="Segoe UI Semibold"/>
              </a:rPr>
              <a:t>Parsed</a:t>
            </a:r>
          </a:p>
        </p:txBody>
      </p:sp>
      <p:sp>
        <p:nvSpPr>
          <p:cNvPr id="8" name="TextBox 7"/>
          <p:cNvSpPr txBox="1"/>
          <p:nvPr/>
        </p:nvSpPr>
        <p:spPr>
          <a:xfrm>
            <a:off x="822960" y="3044952"/>
            <a:ext cx="2211247" cy="1417320"/>
          </a:xfrm>
          <a:prstGeom prst="rect">
            <a:avLst/>
          </a:prstGeom>
          <a:noFill/>
        </p:spPr>
        <p:txBody>
          <a:bodyPr wrap="square" lIns="0" tIns="0" rIns="0" bIns="0">
            <a:spAutoFit/>
          </a:bodyPr>
          <a:lstStyle/>
          <a:p>
            <a:pPr>
              <a:lnSpc>
                <a:spcPct val="116000"/>
              </a:lnSpc>
            </a:pPr>
            <a:r>
              <a:rPr sz="1300" b="0" i="0">
                <a:solidFill>
                  <a:srgbClr val="5B6775"/>
                </a:solidFill>
                <a:latin typeface="Segoe UI"/>
              </a:rPr>
              <a:t>your SQL or DataFrame code becomes an unresolved tree</a:t>
            </a:r>
          </a:p>
        </p:txBody>
      </p:sp>
      <p:sp>
        <p:nvSpPr>
          <p:cNvPr id="9" name="Rectangle 8"/>
          <p:cNvSpPr/>
          <p:nvPr/>
        </p:nvSpPr>
        <p:spPr>
          <a:xfrm>
            <a:off x="3436543" y="1801368"/>
            <a:ext cx="2540431" cy="2834640"/>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436543" y="1801368"/>
            <a:ext cx="2540431" cy="40640"/>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01135" y="2020824"/>
            <a:ext cx="2211247" cy="310896"/>
          </a:xfrm>
          <a:prstGeom prst="rect">
            <a:avLst/>
          </a:prstGeom>
          <a:noFill/>
        </p:spPr>
        <p:txBody>
          <a:bodyPr wrap="square" lIns="0" tIns="0" rIns="0" bIns="0">
            <a:spAutoFit/>
          </a:bodyPr>
          <a:lstStyle/>
          <a:p>
            <a:r>
              <a:rPr sz="2000" b="1" i="0">
                <a:solidFill>
                  <a:srgbClr val="2E74B5"/>
                </a:solidFill>
                <a:latin typeface="Segoe UI Semibold"/>
              </a:rPr>
              <a:t>2</a:t>
            </a:r>
          </a:p>
        </p:txBody>
      </p:sp>
      <p:sp>
        <p:nvSpPr>
          <p:cNvPr id="12" name="TextBox 11"/>
          <p:cNvSpPr txBox="1"/>
          <p:nvPr/>
        </p:nvSpPr>
        <p:spPr>
          <a:xfrm>
            <a:off x="3601135" y="2404872"/>
            <a:ext cx="2211247" cy="566928"/>
          </a:xfrm>
          <a:prstGeom prst="rect">
            <a:avLst/>
          </a:prstGeom>
          <a:noFill/>
        </p:spPr>
        <p:txBody>
          <a:bodyPr wrap="square" lIns="0" tIns="0" rIns="0" bIns="0">
            <a:spAutoFit/>
          </a:bodyPr>
          <a:lstStyle/>
          <a:p>
            <a:pPr>
              <a:lnSpc>
                <a:spcPct val="105000"/>
              </a:lnSpc>
            </a:pPr>
            <a:r>
              <a:rPr sz="1550" b="1" i="0">
                <a:solidFill>
                  <a:srgbClr val="1F4E79"/>
                </a:solidFill>
                <a:latin typeface="Segoe UI Semibold"/>
              </a:rPr>
              <a:t>Analysed</a:t>
            </a:r>
          </a:p>
        </p:txBody>
      </p:sp>
      <p:sp>
        <p:nvSpPr>
          <p:cNvPr id="13" name="TextBox 12"/>
          <p:cNvSpPr txBox="1"/>
          <p:nvPr/>
        </p:nvSpPr>
        <p:spPr>
          <a:xfrm>
            <a:off x="3601135" y="3044952"/>
            <a:ext cx="2211247" cy="1417320"/>
          </a:xfrm>
          <a:prstGeom prst="rect">
            <a:avLst/>
          </a:prstGeom>
          <a:noFill/>
        </p:spPr>
        <p:txBody>
          <a:bodyPr wrap="square" lIns="0" tIns="0" rIns="0" bIns="0">
            <a:spAutoFit/>
          </a:bodyPr>
          <a:lstStyle/>
          <a:p>
            <a:pPr>
              <a:lnSpc>
                <a:spcPct val="116000"/>
              </a:lnSpc>
            </a:pPr>
            <a:r>
              <a:rPr sz="1300" b="0" i="0">
                <a:solidFill>
                  <a:srgbClr val="5B6775"/>
                </a:solidFill>
                <a:latin typeface="Segoe UI"/>
              </a:rPr>
              <a:t>column and table names are resolved against the catalog</a:t>
            </a:r>
          </a:p>
        </p:txBody>
      </p:sp>
      <p:sp>
        <p:nvSpPr>
          <p:cNvPr id="14" name="Rectangle 13"/>
          <p:cNvSpPr/>
          <p:nvPr/>
        </p:nvSpPr>
        <p:spPr>
          <a:xfrm>
            <a:off x="6214719" y="1801368"/>
            <a:ext cx="2540431" cy="2834640"/>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214719" y="1801368"/>
            <a:ext cx="2540431" cy="40640"/>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379311" y="2020824"/>
            <a:ext cx="2211247" cy="310896"/>
          </a:xfrm>
          <a:prstGeom prst="rect">
            <a:avLst/>
          </a:prstGeom>
          <a:noFill/>
        </p:spPr>
        <p:txBody>
          <a:bodyPr wrap="square" lIns="0" tIns="0" rIns="0" bIns="0">
            <a:spAutoFit/>
          </a:bodyPr>
          <a:lstStyle/>
          <a:p>
            <a:r>
              <a:rPr sz="2000" b="1" i="0">
                <a:solidFill>
                  <a:srgbClr val="2E74B5"/>
                </a:solidFill>
                <a:latin typeface="Segoe UI Semibold"/>
              </a:rPr>
              <a:t>3</a:t>
            </a:r>
          </a:p>
        </p:txBody>
      </p:sp>
      <p:sp>
        <p:nvSpPr>
          <p:cNvPr id="17" name="TextBox 16"/>
          <p:cNvSpPr txBox="1"/>
          <p:nvPr/>
        </p:nvSpPr>
        <p:spPr>
          <a:xfrm>
            <a:off x="6379311" y="2404872"/>
            <a:ext cx="2211247" cy="566928"/>
          </a:xfrm>
          <a:prstGeom prst="rect">
            <a:avLst/>
          </a:prstGeom>
          <a:noFill/>
        </p:spPr>
        <p:txBody>
          <a:bodyPr wrap="square" lIns="0" tIns="0" rIns="0" bIns="0">
            <a:spAutoFit/>
          </a:bodyPr>
          <a:lstStyle/>
          <a:p>
            <a:pPr>
              <a:lnSpc>
                <a:spcPct val="105000"/>
              </a:lnSpc>
            </a:pPr>
            <a:r>
              <a:rPr sz="1550" b="1" i="0">
                <a:solidFill>
                  <a:srgbClr val="1F4E79"/>
                </a:solidFill>
                <a:latin typeface="Segoe UI Semibold"/>
              </a:rPr>
              <a:t>Optimised</a:t>
            </a:r>
          </a:p>
        </p:txBody>
      </p:sp>
      <p:sp>
        <p:nvSpPr>
          <p:cNvPr id="18" name="TextBox 17"/>
          <p:cNvSpPr txBox="1"/>
          <p:nvPr/>
        </p:nvSpPr>
        <p:spPr>
          <a:xfrm>
            <a:off x="6379311" y="3044952"/>
            <a:ext cx="2211247" cy="1417320"/>
          </a:xfrm>
          <a:prstGeom prst="rect">
            <a:avLst/>
          </a:prstGeom>
          <a:noFill/>
        </p:spPr>
        <p:txBody>
          <a:bodyPr wrap="square" lIns="0" tIns="0" rIns="0" bIns="0">
            <a:spAutoFit/>
          </a:bodyPr>
          <a:lstStyle/>
          <a:p>
            <a:pPr>
              <a:lnSpc>
                <a:spcPct val="116000"/>
              </a:lnSpc>
            </a:pPr>
            <a:r>
              <a:rPr sz="1300" b="0" i="0">
                <a:solidFill>
                  <a:srgbClr val="5B6775"/>
                </a:solidFill>
                <a:latin typeface="Segoe UI"/>
              </a:rPr>
              <a:t>rules fire: push filters down, prune columns, fold constants</a:t>
            </a:r>
          </a:p>
        </p:txBody>
      </p:sp>
      <p:sp>
        <p:nvSpPr>
          <p:cNvPr id="19" name="Rectangle 18"/>
          <p:cNvSpPr/>
          <p:nvPr/>
        </p:nvSpPr>
        <p:spPr>
          <a:xfrm>
            <a:off x="8992895" y="1801368"/>
            <a:ext cx="2540431" cy="2834640"/>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992895" y="1801368"/>
            <a:ext cx="2540431" cy="40640"/>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157487" y="2020824"/>
            <a:ext cx="2211247" cy="310896"/>
          </a:xfrm>
          <a:prstGeom prst="rect">
            <a:avLst/>
          </a:prstGeom>
          <a:noFill/>
        </p:spPr>
        <p:txBody>
          <a:bodyPr wrap="square" lIns="0" tIns="0" rIns="0" bIns="0">
            <a:spAutoFit/>
          </a:bodyPr>
          <a:lstStyle/>
          <a:p>
            <a:r>
              <a:rPr sz="2000" b="1" i="0">
                <a:solidFill>
                  <a:srgbClr val="2E74B5"/>
                </a:solidFill>
                <a:latin typeface="Segoe UI Semibold"/>
              </a:rPr>
              <a:t>4</a:t>
            </a:r>
          </a:p>
        </p:txBody>
      </p:sp>
      <p:sp>
        <p:nvSpPr>
          <p:cNvPr id="22" name="TextBox 21"/>
          <p:cNvSpPr txBox="1"/>
          <p:nvPr/>
        </p:nvSpPr>
        <p:spPr>
          <a:xfrm>
            <a:off x="9157487" y="2404872"/>
            <a:ext cx="2211247" cy="566928"/>
          </a:xfrm>
          <a:prstGeom prst="rect">
            <a:avLst/>
          </a:prstGeom>
          <a:noFill/>
        </p:spPr>
        <p:txBody>
          <a:bodyPr wrap="square" lIns="0" tIns="0" rIns="0" bIns="0">
            <a:spAutoFit/>
          </a:bodyPr>
          <a:lstStyle/>
          <a:p>
            <a:pPr>
              <a:lnSpc>
                <a:spcPct val="105000"/>
              </a:lnSpc>
            </a:pPr>
            <a:r>
              <a:rPr sz="1550" b="1" i="0">
                <a:solidFill>
                  <a:srgbClr val="1F4E79"/>
                </a:solidFill>
                <a:latin typeface="Segoe UI Semibold"/>
              </a:rPr>
              <a:t>Physical</a:t>
            </a:r>
          </a:p>
        </p:txBody>
      </p:sp>
      <p:sp>
        <p:nvSpPr>
          <p:cNvPr id="23" name="TextBox 22"/>
          <p:cNvSpPr txBox="1"/>
          <p:nvPr/>
        </p:nvSpPr>
        <p:spPr>
          <a:xfrm>
            <a:off x="9157487" y="3044952"/>
            <a:ext cx="2211247" cy="1417320"/>
          </a:xfrm>
          <a:prstGeom prst="rect">
            <a:avLst/>
          </a:prstGeom>
          <a:noFill/>
        </p:spPr>
        <p:txBody>
          <a:bodyPr wrap="square" lIns="0" tIns="0" rIns="0" bIns="0">
            <a:spAutoFit/>
          </a:bodyPr>
          <a:lstStyle/>
          <a:p>
            <a:pPr>
              <a:lnSpc>
                <a:spcPct val="116000"/>
              </a:lnSpc>
            </a:pPr>
            <a:r>
              <a:rPr sz="1300" b="0" i="0">
                <a:solidFill>
                  <a:srgbClr val="5B6775"/>
                </a:solidFill>
                <a:latin typeface="Segoe UI"/>
              </a:rPr>
              <a:t>join strategies chosen, cost compared, one plan selected</a:t>
            </a:r>
          </a:p>
        </p:txBody>
      </p:sp>
      <p:sp>
        <p:nvSpPr>
          <p:cNvPr id="24" name="TextBox 23"/>
          <p:cNvSpPr txBox="1"/>
          <p:nvPr/>
        </p:nvSpPr>
        <p:spPr>
          <a:xfrm>
            <a:off x="658368" y="4910328"/>
            <a:ext cx="10874959" cy="457200"/>
          </a:xfrm>
          <a:prstGeom prst="rect">
            <a:avLst/>
          </a:prstGeom>
          <a:noFill/>
        </p:spPr>
        <p:txBody>
          <a:bodyPr wrap="square" lIns="0" tIns="0" rIns="0" bIns="0">
            <a:spAutoFit/>
          </a:bodyPr>
          <a:lstStyle/>
          <a:p>
            <a:r>
              <a:rPr sz="1350" b="0" i="1">
                <a:solidFill>
                  <a:srgbClr val="5B6775"/>
                </a:solidFill>
                <a:latin typeface="Segoe UI"/>
              </a:rPr>
              <a:t>df.explain(True) prints all four. Read the physical plan bottom up.</a:t>
            </a:r>
          </a:p>
        </p:txBody>
      </p:sp>
      <p:sp>
        <p:nvSpPr>
          <p:cNvPr id="25" name="Rectangle 24"/>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02  ·  Spark architecture</a:t>
            </a:r>
          </a:p>
        </p:txBody>
      </p:sp>
      <p:sp>
        <p:nvSpPr>
          <p:cNvPr id="27" name="TextBox 26"/>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16</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Where to look first when a job is slow</a:t>
            </a:r>
          </a:p>
        </p:txBody>
      </p:sp>
      <p:sp>
        <p:nvSpPr>
          <p:cNvPr id="4" name="Rectangle 3"/>
          <p:cNvSpPr/>
          <p:nvPr/>
        </p:nvSpPr>
        <p:spPr>
          <a:xfrm>
            <a:off x="658368" y="1481328"/>
            <a:ext cx="5245455" cy="420624"/>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1581912"/>
            <a:ext cx="4971135" cy="274320"/>
          </a:xfrm>
          <a:prstGeom prst="rect">
            <a:avLst/>
          </a:prstGeom>
          <a:noFill/>
        </p:spPr>
        <p:txBody>
          <a:bodyPr wrap="square" lIns="0" tIns="0" rIns="0" bIns="0">
            <a:spAutoFit/>
          </a:bodyPr>
          <a:lstStyle/>
          <a:p>
            <a:r>
              <a:rPr sz="1450" b="1" i="0">
                <a:solidFill>
                  <a:srgbClr val="1F4E79"/>
                </a:solidFill>
                <a:latin typeface="Segoe UI Semibold"/>
              </a:rPr>
              <a:t>Symptom on the Stages tab</a:t>
            </a:r>
          </a:p>
        </p:txBody>
      </p:sp>
      <p:sp>
        <p:nvSpPr>
          <p:cNvPr id="6" name="TextBox 5"/>
          <p:cNvSpPr txBox="1"/>
          <p:nvPr/>
        </p:nvSpPr>
        <p:spPr>
          <a:xfrm>
            <a:off x="704088" y="2103120"/>
            <a:ext cx="5154015" cy="3794760"/>
          </a:xfrm>
          <a:prstGeom prst="rect">
            <a:avLst/>
          </a:prstGeom>
          <a:noFill/>
        </p:spPr>
        <p:txBody>
          <a:bodyPr wrap="square" lIns="0" tIns="0" rIns="0" bIns="0">
            <a:spAutoFit/>
          </a:bodyPr>
          <a:lstStyle/>
          <a:p>
            <a:pPr marL="274320" indent="-274320">
              <a:lnSpc>
                <a:spcPct val="118000"/>
              </a:lnSpc>
              <a:spcAft>
                <a:spcPts val="900"/>
              </a:spcAft>
            </a:pPr>
            <a:r>
              <a:rPr sz="1600" b="1" i="0">
                <a:solidFill>
                  <a:srgbClr val="2E74B5"/>
                </a:solidFill>
                <a:latin typeface="Segoe UI"/>
              </a:rPr>
              <a:t>▪   </a:t>
            </a:r>
            <a:r>
              <a:rPr sz="1600" b="0" i="0">
                <a:solidFill>
                  <a:srgbClr val="242C38"/>
                </a:solidFill>
                <a:latin typeface="Segoe UI"/>
              </a:rPr>
              <a:t>Max task time far above median</a:t>
            </a:r>
          </a:p>
          <a:p>
            <a:pPr marL="274320" indent="-274320">
              <a:lnSpc>
                <a:spcPct val="118000"/>
              </a:lnSpc>
              <a:spcAft>
                <a:spcPts val="900"/>
              </a:spcAft>
            </a:pPr>
            <a:r>
              <a:rPr sz="1600" b="1" i="0">
                <a:solidFill>
                  <a:srgbClr val="2E74B5"/>
                </a:solidFill>
                <a:latin typeface="Segoe UI"/>
              </a:rPr>
              <a:t>▪   </a:t>
            </a:r>
            <a:r>
              <a:rPr sz="1600" b="0" i="0">
                <a:solidFill>
                  <a:srgbClr val="242C38"/>
                </a:solidFill>
                <a:latin typeface="Segoe UI"/>
              </a:rPr>
              <a:t>Large spill to disk</a:t>
            </a:r>
          </a:p>
          <a:p>
            <a:pPr marL="274320" indent="-274320">
              <a:lnSpc>
                <a:spcPct val="118000"/>
              </a:lnSpc>
              <a:spcAft>
                <a:spcPts val="900"/>
              </a:spcAft>
            </a:pPr>
            <a:r>
              <a:rPr sz="1600" b="1" i="0">
                <a:solidFill>
                  <a:srgbClr val="2E74B5"/>
                </a:solidFill>
                <a:latin typeface="Segoe UI"/>
              </a:rPr>
              <a:t>▪   </a:t>
            </a:r>
            <a:r>
              <a:rPr sz="1600" b="0" i="0">
                <a:solidFill>
                  <a:srgbClr val="242C38"/>
                </a:solidFill>
                <a:latin typeface="Segoe UI"/>
              </a:rPr>
              <a:t>Huge shuffle read or write</a:t>
            </a:r>
          </a:p>
          <a:p>
            <a:pPr marL="274320" indent="-274320">
              <a:lnSpc>
                <a:spcPct val="118000"/>
              </a:lnSpc>
              <a:spcAft>
                <a:spcPts val="900"/>
              </a:spcAft>
            </a:pPr>
            <a:r>
              <a:rPr sz="1600" b="1" i="0">
                <a:solidFill>
                  <a:srgbClr val="2E74B5"/>
                </a:solidFill>
                <a:latin typeface="Segoe UI"/>
              </a:rPr>
              <a:t>▪   </a:t>
            </a:r>
            <a:r>
              <a:rPr sz="1600" b="0" i="0">
                <a:solidFill>
                  <a:srgbClr val="242C38"/>
                </a:solidFill>
                <a:latin typeface="Segoe UI"/>
              </a:rPr>
              <a:t>Thousands of tiny tasks</a:t>
            </a:r>
          </a:p>
        </p:txBody>
      </p:sp>
      <p:sp>
        <p:nvSpPr>
          <p:cNvPr id="7" name="Rectangle 6"/>
          <p:cNvSpPr/>
          <p:nvPr/>
        </p:nvSpPr>
        <p:spPr>
          <a:xfrm>
            <a:off x="6287871" y="1481328"/>
            <a:ext cx="5245455" cy="420624"/>
          </a:xfrm>
          <a:prstGeom prst="rect">
            <a:avLst/>
          </a:prstGeom>
          <a:solidFill>
            <a:srgbClr val="FFFFFF"/>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52463" y="1581912"/>
            <a:ext cx="4971135" cy="274320"/>
          </a:xfrm>
          <a:prstGeom prst="rect">
            <a:avLst/>
          </a:prstGeom>
          <a:noFill/>
        </p:spPr>
        <p:txBody>
          <a:bodyPr wrap="square" lIns="0" tIns="0" rIns="0" bIns="0">
            <a:spAutoFit/>
          </a:bodyPr>
          <a:lstStyle/>
          <a:p>
            <a:r>
              <a:rPr sz="1450" b="1" i="0">
                <a:solidFill>
                  <a:srgbClr val="5B6775"/>
                </a:solidFill>
                <a:latin typeface="Segoe UI Semibold"/>
              </a:rPr>
              <a:t>What it usually means</a:t>
            </a:r>
          </a:p>
        </p:txBody>
      </p:sp>
      <p:sp>
        <p:nvSpPr>
          <p:cNvPr id="9" name="TextBox 8"/>
          <p:cNvSpPr txBox="1"/>
          <p:nvPr/>
        </p:nvSpPr>
        <p:spPr>
          <a:xfrm>
            <a:off x="6333591" y="2103120"/>
            <a:ext cx="5154015" cy="3794760"/>
          </a:xfrm>
          <a:prstGeom prst="rect">
            <a:avLst/>
          </a:prstGeom>
          <a:noFill/>
        </p:spPr>
        <p:txBody>
          <a:bodyPr wrap="square" lIns="0" tIns="0" rIns="0" bIns="0">
            <a:spAutoFit/>
          </a:bodyPr>
          <a:lstStyle/>
          <a:p>
            <a:pPr marL="274320" indent="-274320">
              <a:lnSpc>
                <a:spcPct val="118000"/>
              </a:lnSpc>
              <a:spcAft>
                <a:spcPts val="900"/>
              </a:spcAft>
            </a:pPr>
            <a:r>
              <a:rPr sz="1600" b="1" i="0">
                <a:solidFill>
                  <a:srgbClr val="2E74B5"/>
                </a:solidFill>
                <a:latin typeface="Segoe UI"/>
              </a:rPr>
              <a:t>▪   </a:t>
            </a:r>
            <a:r>
              <a:rPr sz="1600" b="0" i="0">
                <a:solidFill>
                  <a:srgbClr val="242C38"/>
                </a:solidFill>
                <a:latin typeface="Segoe UI"/>
              </a:rPr>
              <a:t>Data skew, one key does most of the work</a:t>
            </a:r>
          </a:p>
          <a:p>
            <a:pPr marL="274320" indent="-274320">
              <a:lnSpc>
                <a:spcPct val="118000"/>
              </a:lnSpc>
              <a:spcAft>
                <a:spcPts val="900"/>
              </a:spcAft>
            </a:pPr>
            <a:r>
              <a:rPr sz="1600" b="1" i="0">
                <a:solidFill>
                  <a:srgbClr val="2E74B5"/>
                </a:solidFill>
                <a:latin typeface="Segoe UI"/>
              </a:rPr>
              <a:t>▪   </a:t>
            </a:r>
            <a:r>
              <a:rPr sz="1600" b="0" i="0">
                <a:solidFill>
                  <a:srgbClr val="242C38"/>
                </a:solidFill>
                <a:latin typeface="Segoe UI"/>
              </a:rPr>
              <a:t>Not enough execution memory per task</a:t>
            </a:r>
          </a:p>
          <a:p>
            <a:pPr marL="274320" indent="-274320">
              <a:lnSpc>
                <a:spcPct val="118000"/>
              </a:lnSpc>
              <a:spcAft>
                <a:spcPts val="900"/>
              </a:spcAft>
            </a:pPr>
            <a:r>
              <a:rPr sz="1600" b="1" i="0">
                <a:solidFill>
                  <a:srgbClr val="2E74B5"/>
                </a:solidFill>
                <a:latin typeface="Segoe UI"/>
              </a:rPr>
              <a:t>▪   </a:t>
            </a:r>
            <a:r>
              <a:rPr sz="1600" b="0" i="0">
                <a:solidFill>
                  <a:srgbClr val="242C38"/>
                </a:solidFill>
                <a:latin typeface="Segoe UI"/>
              </a:rPr>
              <a:t>A join or groupBy on a high-cardinality key</a:t>
            </a:r>
          </a:p>
          <a:p>
            <a:pPr marL="274320" indent="-274320">
              <a:lnSpc>
                <a:spcPct val="118000"/>
              </a:lnSpc>
              <a:spcAft>
                <a:spcPts val="900"/>
              </a:spcAft>
            </a:pPr>
            <a:r>
              <a:rPr sz="1600" b="1" i="0">
                <a:solidFill>
                  <a:srgbClr val="2E74B5"/>
                </a:solidFill>
                <a:latin typeface="Segoe UI"/>
              </a:rPr>
              <a:t>▪   </a:t>
            </a:r>
            <a:r>
              <a:rPr sz="1600" b="0" i="0">
                <a:solidFill>
                  <a:srgbClr val="242C38"/>
                </a:solidFill>
                <a:latin typeface="Segoe UI"/>
              </a:rPr>
              <a:t>Too many small input files, or partitions set too high</a:t>
            </a:r>
          </a:p>
        </p:txBody>
      </p:sp>
      <p:sp>
        <p:nvSpPr>
          <p:cNvPr id="10" name="Rectangle 9"/>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02  ·  Spark architecture</a:t>
            </a:r>
          </a:p>
        </p:txBody>
      </p:sp>
      <p:sp>
        <p:nvSpPr>
          <p:cNvPr id="12" name="TextBox 11"/>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17</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858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51560" y="2057400"/>
            <a:ext cx="9692640" cy="457200"/>
          </a:xfrm>
          <a:prstGeom prst="rect">
            <a:avLst/>
          </a:prstGeom>
          <a:noFill/>
        </p:spPr>
        <p:txBody>
          <a:bodyPr wrap="square" lIns="0" tIns="0" rIns="0" bIns="0">
            <a:spAutoFit/>
          </a:bodyPr>
          <a:lstStyle/>
          <a:p>
            <a:r>
              <a:rPr sz="1300" b="1" i="0">
                <a:solidFill>
                  <a:srgbClr val="2E74B5"/>
                </a:solidFill>
                <a:latin typeface="Segoe UI Semibold"/>
              </a:rPr>
              <a:t>MODULE 03</a:t>
            </a:r>
          </a:p>
        </p:txBody>
      </p:sp>
      <p:sp>
        <p:nvSpPr>
          <p:cNvPr id="5" name="TextBox 4"/>
          <p:cNvSpPr txBox="1"/>
          <p:nvPr/>
        </p:nvSpPr>
        <p:spPr>
          <a:xfrm>
            <a:off x="1051560" y="2578608"/>
            <a:ext cx="9692640" cy="1371600"/>
          </a:xfrm>
          <a:prstGeom prst="rect">
            <a:avLst/>
          </a:prstGeom>
          <a:noFill/>
        </p:spPr>
        <p:txBody>
          <a:bodyPr wrap="square" lIns="0" tIns="0" rIns="0" bIns="0">
            <a:spAutoFit/>
          </a:bodyPr>
          <a:lstStyle/>
          <a:p>
            <a:pPr>
              <a:lnSpc>
                <a:spcPct val="95000"/>
              </a:lnSpc>
            </a:pPr>
            <a:r>
              <a:rPr sz="4200" b="1" i="0">
                <a:solidFill>
                  <a:srgbClr val="1F4E79"/>
                </a:solidFill>
                <a:latin typeface="Segoe UI Semibold"/>
              </a:rPr>
              <a:t>DataFrames</a:t>
            </a:r>
          </a:p>
        </p:txBody>
      </p:sp>
      <p:sp>
        <p:nvSpPr>
          <p:cNvPr id="6" name="TextBox 5"/>
          <p:cNvSpPr txBox="1"/>
          <p:nvPr/>
        </p:nvSpPr>
        <p:spPr>
          <a:xfrm>
            <a:off x="1051560" y="3950208"/>
            <a:ext cx="8778240" cy="822960"/>
          </a:xfrm>
          <a:prstGeom prst="rect">
            <a:avLst/>
          </a:prstGeom>
          <a:noFill/>
        </p:spPr>
        <p:txBody>
          <a:bodyPr wrap="square" lIns="0" tIns="0" rIns="0" bIns="0">
            <a:spAutoFit/>
          </a:bodyPr>
          <a:lstStyle/>
          <a:p>
            <a:pPr>
              <a:lnSpc>
                <a:spcPct val="115000"/>
              </a:lnSpc>
            </a:pPr>
            <a:r>
              <a:rPr sz="1700" b="0" i="0">
                <a:solidFill>
                  <a:srgbClr val="5B6775"/>
                </a:solidFill>
                <a:latin typeface="Segoe UI"/>
              </a:rPr>
              <a:t>Read a dirty feed, clean it, join it safely, write it as Parquet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58368" y="2148840"/>
            <a:ext cx="82296" cy="219456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42416" y="2084831"/>
            <a:ext cx="9777679" cy="1828800"/>
          </a:xfrm>
          <a:prstGeom prst="rect">
            <a:avLst/>
          </a:prstGeom>
          <a:noFill/>
        </p:spPr>
        <p:txBody>
          <a:bodyPr wrap="square" lIns="0" tIns="0" rIns="0" bIns="0">
            <a:spAutoFit/>
          </a:bodyPr>
          <a:lstStyle/>
          <a:p>
            <a:pPr>
              <a:lnSpc>
                <a:spcPct val="112000"/>
              </a:lnSpc>
            </a:pPr>
            <a:r>
              <a:rPr sz="3000" b="1" i="0">
                <a:solidFill>
                  <a:srgbClr val="1F4E79"/>
                </a:solidFill>
                <a:latin typeface="Segoe UI Semibold"/>
              </a:rPr>
              <a:t>A join that returns rows is not proof your join is correct.</a:t>
            </a:r>
          </a:p>
        </p:txBody>
      </p:sp>
      <p:sp>
        <p:nvSpPr>
          <p:cNvPr id="5" name="TextBox 4"/>
          <p:cNvSpPr txBox="1"/>
          <p:nvPr/>
        </p:nvSpPr>
        <p:spPr>
          <a:xfrm>
            <a:off x="1042416" y="4041648"/>
            <a:ext cx="9411919" cy="1005840"/>
          </a:xfrm>
          <a:prstGeom prst="rect">
            <a:avLst/>
          </a:prstGeom>
          <a:noFill/>
        </p:spPr>
        <p:txBody>
          <a:bodyPr wrap="square" lIns="0" tIns="0" rIns="0" bIns="0">
            <a:spAutoFit/>
          </a:bodyPr>
          <a:lstStyle/>
          <a:p>
            <a:pPr>
              <a:lnSpc>
                <a:spcPct val="120000"/>
              </a:lnSpc>
            </a:pPr>
            <a:r>
              <a:rPr sz="1700" b="0" i="0">
                <a:solidFill>
                  <a:srgbClr val="5B6775"/>
                </a:solidFill>
                <a:latin typeface="Segoe UI"/>
              </a:rPr>
              <a:t>About 0.5% of this feed's account_id values don't exist in accounts.csv. An inner join drops those rows with no warning at all. This module is about catching that before it costs you a reconciliation.</a:t>
            </a:r>
          </a:p>
        </p:txBody>
      </p:sp>
      <p:sp>
        <p:nvSpPr>
          <p:cNvPr id="6" name="Rectangle 5"/>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03  ·  DataFrames</a:t>
            </a:r>
          </a:p>
        </p:txBody>
      </p:sp>
      <p:sp>
        <p:nvSpPr>
          <p:cNvPr id="8" name="TextBox 7"/>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18</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The shape of every pipeline in this course</a:t>
            </a:r>
          </a:p>
        </p:txBody>
      </p:sp>
      <p:sp>
        <p:nvSpPr>
          <p:cNvPr id="4" name="Rectangle 3"/>
          <p:cNvSpPr/>
          <p:nvPr/>
        </p:nvSpPr>
        <p:spPr>
          <a:xfrm>
            <a:off x="658368" y="1801368"/>
            <a:ext cx="1984796" cy="2834640"/>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801368"/>
            <a:ext cx="1984796" cy="40640"/>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2020824"/>
            <a:ext cx="1655612" cy="310896"/>
          </a:xfrm>
          <a:prstGeom prst="rect">
            <a:avLst/>
          </a:prstGeom>
          <a:noFill/>
        </p:spPr>
        <p:txBody>
          <a:bodyPr wrap="square" lIns="0" tIns="0" rIns="0" bIns="0">
            <a:spAutoFit/>
          </a:bodyPr>
          <a:lstStyle/>
          <a:p>
            <a:r>
              <a:rPr sz="2000" b="1" i="0">
                <a:solidFill>
                  <a:srgbClr val="2E74B5"/>
                </a:solidFill>
                <a:latin typeface="Segoe UI Semibold"/>
              </a:rPr>
              <a:t>1</a:t>
            </a:r>
          </a:p>
        </p:txBody>
      </p:sp>
      <p:sp>
        <p:nvSpPr>
          <p:cNvPr id="7" name="TextBox 6"/>
          <p:cNvSpPr txBox="1"/>
          <p:nvPr/>
        </p:nvSpPr>
        <p:spPr>
          <a:xfrm>
            <a:off x="822960" y="2404872"/>
            <a:ext cx="1655612" cy="566928"/>
          </a:xfrm>
          <a:prstGeom prst="rect">
            <a:avLst/>
          </a:prstGeom>
          <a:noFill/>
        </p:spPr>
        <p:txBody>
          <a:bodyPr wrap="square" lIns="0" tIns="0" rIns="0" bIns="0">
            <a:spAutoFit/>
          </a:bodyPr>
          <a:lstStyle/>
          <a:p>
            <a:pPr>
              <a:lnSpc>
                <a:spcPct val="105000"/>
              </a:lnSpc>
            </a:pPr>
            <a:r>
              <a:rPr sz="1550" b="1" i="0">
                <a:solidFill>
                  <a:srgbClr val="1F4E79"/>
                </a:solidFill>
                <a:latin typeface="Segoe UI Semibold"/>
              </a:rPr>
              <a:t>Read</a:t>
            </a:r>
          </a:p>
        </p:txBody>
      </p:sp>
      <p:sp>
        <p:nvSpPr>
          <p:cNvPr id="8" name="TextBox 7"/>
          <p:cNvSpPr txBox="1"/>
          <p:nvPr/>
        </p:nvSpPr>
        <p:spPr>
          <a:xfrm>
            <a:off x="822960" y="3044952"/>
            <a:ext cx="1655612" cy="1417320"/>
          </a:xfrm>
          <a:prstGeom prst="rect">
            <a:avLst/>
          </a:prstGeom>
          <a:noFill/>
        </p:spPr>
        <p:txBody>
          <a:bodyPr wrap="square" lIns="0" tIns="0" rIns="0" bIns="0">
            <a:spAutoFit/>
          </a:bodyPr>
          <a:lstStyle/>
          <a:p>
            <a:pPr>
              <a:lnSpc>
                <a:spcPct val="116000"/>
              </a:lnSpc>
            </a:pPr>
            <a:r>
              <a:rPr sz="1300" b="0" i="0">
                <a:solidFill>
                  <a:srgbClr val="5B6775"/>
                </a:solidFill>
                <a:latin typeface="Segoe UI"/>
              </a:rPr>
              <a:t>with an explicit schema, never inferSchema in a scheduled job</a:t>
            </a:r>
          </a:p>
        </p:txBody>
      </p:sp>
      <p:sp>
        <p:nvSpPr>
          <p:cNvPr id="9" name="Rectangle 8"/>
          <p:cNvSpPr/>
          <p:nvPr/>
        </p:nvSpPr>
        <p:spPr>
          <a:xfrm>
            <a:off x="2880908" y="1801368"/>
            <a:ext cx="1984796" cy="2834640"/>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880908" y="1801368"/>
            <a:ext cx="1984796" cy="40640"/>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045500" y="2020824"/>
            <a:ext cx="1655612" cy="310896"/>
          </a:xfrm>
          <a:prstGeom prst="rect">
            <a:avLst/>
          </a:prstGeom>
          <a:noFill/>
        </p:spPr>
        <p:txBody>
          <a:bodyPr wrap="square" lIns="0" tIns="0" rIns="0" bIns="0">
            <a:spAutoFit/>
          </a:bodyPr>
          <a:lstStyle/>
          <a:p>
            <a:r>
              <a:rPr sz="2000" b="1" i="0">
                <a:solidFill>
                  <a:srgbClr val="2E74B5"/>
                </a:solidFill>
                <a:latin typeface="Segoe UI Semibold"/>
              </a:rPr>
              <a:t>2</a:t>
            </a:r>
          </a:p>
        </p:txBody>
      </p:sp>
      <p:sp>
        <p:nvSpPr>
          <p:cNvPr id="12" name="TextBox 11"/>
          <p:cNvSpPr txBox="1"/>
          <p:nvPr/>
        </p:nvSpPr>
        <p:spPr>
          <a:xfrm>
            <a:off x="3045500" y="2404872"/>
            <a:ext cx="1655612" cy="566928"/>
          </a:xfrm>
          <a:prstGeom prst="rect">
            <a:avLst/>
          </a:prstGeom>
          <a:noFill/>
        </p:spPr>
        <p:txBody>
          <a:bodyPr wrap="square" lIns="0" tIns="0" rIns="0" bIns="0">
            <a:spAutoFit/>
          </a:bodyPr>
          <a:lstStyle/>
          <a:p>
            <a:pPr>
              <a:lnSpc>
                <a:spcPct val="105000"/>
              </a:lnSpc>
            </a:pPr>
            <a:r>
              <a:rPr sz="1550" b="1" i="0">
                <a:solidFill>
                  <a:srgbClr val="1F4E79"/>
                </a:solidFill>
                <a:latin typeface="Segoe UI Semibold"/>
              </a:rPr>
              <a:t>Clean</a:t>
            </a:r>
          </a:p>
        </p:txBody>
      </p:sp>
      <p:sp>
        <p:nvSpPr>
          <p:cNvPr id="13" name="TextBox 12"/>
          <p:cNvSpPr txBox="1"/>
          <p:nvPr/>
        </p:nvSpPr>
        <p:spPr>
          <a:xfrm>
            <a:off x="3045500" y="3044952"/>
            <a:ext cx="1655612" cy="1417320"/>
          </a:xfrm>
          <a:prstGeom prst="rect">
            <a:avLst/>
          </a:prstGeom>
          <a:noFill/>
        </p:spPr>
        <p:txBody>
          <a:bodyPr wrap="square" lIns="0" tIns="0" rIns="0" bIns="0">
            <a:spAutoFit/>
          </a:bodyPr>
          <a:lstStyle/>
          <a:p>
            <a:pPr>
              <a:lnSpc>
                <a:spcPct val="116000"/>
              </a:lnSpc>
            </a:pPr>
            <a:r>
              <a:rPr sz="1300" b="0" i="0">
                <a:solidFill>
                  <a:srgbClr val="5B6775"/>
                </a:solidFill>
                <a:latin typeface="Segoe UI"/>
              </a:rPr>
              <a:t>fix the specific, known defects in each dirty column</a:t>
            </a:r>
          </a:p>
        </p:txBody>
      </p:sp>
      <p:sp>
        <p:nvSpPr>
          <p:cNvPr id="14" name="Rectangle 13"/>
          <p:cNvSpPr/>
          <p:nvPr/>
        </p:nvSpPr>
        <p:spPr>
          <a:xfrm>
            <a:off x="5103449" y="1801368"/>
            <a:ext cx="1984796" cy="2834640"/>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103449" y="1801368"/>
            <a:ext cx="1984796" cy="40640"/>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268041" y="2020824"/>
            <a:ext cx="1655612" cy="310896"/>
          </a:xfrm>
          <a:prstGeom prst="rect">
            <a:avLst/>
          </a:prstGeom>
          <a:noFill/>
        </p:spPr>
        <p:txBody>
          <a:bodyPr wrap="square" lIns="0" tIns="0" rIns="0" bIns="0">
            <a:spAutoFit/>
          </a:bodyPr>
          <a:lstStyle/>
          <a:p>
            <a:r>
              <a:rPr sz="2000" b="1" i="0">
                <a:solidFill>
                  <a:srgbClr val="2E74B5"/>
                </a:solidFill>
                <a:latin typeface="Segoe UI Semibold"/>
              </a:rPr>
              <a:t>3</a:t>
            </a:r>
          </a:p>
        </p:txBody>
      </p:sp>
      <p:sp>
        <p:nvSpPr>
          <p:cNvPr id="17" name="TextBox 16"/>
          <p:cNvSpPr txBox="1"/>
          <p:nvPr/>
        </p:nvSpPr>
        <p:spPr>
          <a:xfrm>
            <a:off x="5268041" y="2404872"/>
            <a:ext cx="1655612" cy="566928"/>
          </a:xfrm>
          <a:prstGeom prst="rect">
            <a:avLst/>
          </a:prstGeom>
          <a:noFill/>
        </p:spPr>
        <p:txBody>
          <a:bodyPr wrap="square" lIns="0" tIns="0" rIns="0" bIns="0">
            <a:spAutoFit/>
          </a:bodyPr>
          <a:lstStyle/>
          <a:p>
            <a:pPr>
              <a:lnSpc>
                <a:spcPct val="105000"/>
              </a:lnSpc>
            </a:pPr>
            <a:r>
              <a:rPr sz="1550" b="1" i="0">
                <a:solidFill>
                  <a:srgbClr val="1F4E79"/>
                </a:solidFill>
                <a:latin typeface="Segoe UI Semibold"/>
              </a:rPr>
              <a:t>Join</a:t>
            </a:r>
          </a:p>
        </p:txBody>
      </p:sp>
      <p:sp>
        <p:nvSpPr>
          <p:cNvPr id="18" name="TextBox 17"/>
          <p:cNvSpPr txBox="1"/>
          <p:nvPr/>
        </p:nvSpPr>
        <p:spPr>
          <a:xfrm>
            <a:off x="5268041" y="3044952"/>
            <a:ext cx="1655612" cy="1417320"/>
          </a:xfrm>
          <a:prstGeom prst="rect">
            <a:avLst/>
          </a:prstGeom>
          <a:noFill/>
        </p:spPr>
        <p:txBody>
          <a:bodyPr wrap="square" lIns="0" tIns="0" rIns="0" bIns="0">
            <a:spAutoFit/>
          </a:bodyPr>
          <a:lstStyle/>
          <a:p>
            <a:pPr>
              <a:lnSpc>
                <a:spcPct val="116000"/>
              </a:lnSpc>
            </a:pPr>
            <a:r>
              <a:rPr sz="1300" b="0" i="0">
                <a:solidFill>
                  <a:srgbClr val="5B6775"/>
                </a:solidFill>
                <a:latin typeface="Segoe UI"/>
              </a:rPr>
              <a:t>default to left, so orphan rows are seen, not silently dropped</a:t>
            </a:r>
          </a:p>
        </p:txBody>
      </p:sp>
      <p:sp>
        <p:nvSpPr>
          <p:cNvPr id="19" name="Rectangle 18"/>
          <p:cNvSpPr/>
          <p:nvPr/>
        </p:nvSpPr>
        <p:spPr>
          <a:xfrm>
            <a:off x="7325989" y="1801368"/>
            <a:ext cx="1984796" cy="2834640"/>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7325989" y="1801368"/>
            <a:ext cx="1984796" cy="40640"/>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490581" y="2020824"/>
            <a:ext cx="1655612" cy="310896"/>
          </a:xfrm>
          <a:prstGeom prst="rect">
            <a:avLst/>
          </a:prstGeom>
          <a:noFill/>
        </p:spPr>
        <p:txBody>
          <a:bodyPr wrap="square" lIns="0" tIns="0" rIns="0" bIns="0">
            <a:spAutoFit/>
          </a:bodyPr>
          <a:lstStyle/>
          <a:p>
            <a:r>
              <a:rPr sz="2000" b="1" i="0">
                <a:solidFill>
                  <a:srgbClr val="2E74B5"/>
                </a:solidFill>
                <a:latin typeface="Segoe UI Semibold"/>
              </a:rPr>
              <a:t>4</a:t>
            </a:r>
          </a:p>
        </p:txBody>
      </p:sp>
      <p:sp>
        <p:nvSpPr>
          <p:cNvPr id="22" name="TextBox 21"/>
          <p:cNvSpPr txBox="1"/>
          <p:nvPr/>
        </p:nvSpPr>
        <p:spPr>
          <a:xfrm>
            <a:off x="7490581" y="2404872"/>
            <a:ext cx="1655612" cy="566928"/>
          </a:xfrm>
          <a:prstGeom prst="rect">
            <a:avLst/>
          </a:prstGeom>
          <a:noFill/>
        </p:spPr>
        <p:txBody>
          <a:bodyPr wrap="square" lIns="0" tIns="0" rIns="0" bIns="0">
            <a:spAutoFit/>
          </a:bodyPr>
          <a:lstStyle/>
          <a:p>
            <a:pPr>
              <a:lnSpc>
                <a:spcPct val="105000"/>
              </a:lnSpc>
            </a:pPr>
            <a:r>
              <a:rPr sz="1550" b="1" i="0">
                <a:solidFill>
                  <a:srgbClr val="1F4E79"/>
                </a:solidFill>
                <a:latin typeface="Segoe UI Semibold"/>
              </a:rPr>
              <a:t>Aggregate</a:t>
            </a:r>
          </a:p>
        </p:txBody>
      </p:sp>
      <p:sp>
        <p:nvSpPr>
          <p:cNvPr id="23" name="TextBox 22"/>
          <p:cNvSpPr txBox="1"/>
          <p:nvPr/>
        </p:nvSpPr>
        <p:spPr>
          <a:xfrm>
            <a:off x="7490581" y="3044952"/>
            <a:ext cx="1655612" cy="1417320"/>
          </a:xfrm>
          <a:prstGeom prst="rect">
            <a:avLst/>
          </a:prstGeom>
          <a:noFill/>
        </p:spPr>
        <p:txBody>
          <a:bodyPr wrap="square" lIns="0" tIns="0" rIns="0" bIns="0">
            <a:spAutoFit/>
          </a:bodyPr>
          <a:lstStyle/>
          <a:p>
            <a:pPr>
              <a:lnSpc>
                <a:spcPct val="116000"/>
              </a:lnSpc>
            </a:pPr>
            <a:r>
              <a:rPr sz="1300" b="0" i="0">
                <a:solidFill>
                  <a:srgbClr val="5B6775"/>
                </a:solidFill>
                <a:latin typeface="Segoe UI"/>
              </a:rPr>
              <a:t>group and summarise, every groupBy is a shuffle</a:t>
            </a:r>
          </a:p>
        </p:txBody>
      </p:sp>
      <p:sp>
        <p:nvSpPr>
          <p:cNvPr id="24" name="Rectangle 23"/>
          <p:cNvSpPr/>
          <p:nvPr/>
        </p:nvSpPr>
        <p:spPr>
          <a:xfrm>
            <a:off x="9548530" y="1801368"/>
            <a:ext cx="1984796" cy="2834640"/>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9548530" y="1801368"/>
            <a:ext cx="1984796" cy="40640"/>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713122" y="2020824"/>
            <a:ext cx="1655612" cy="310896"/>
          </a:xfrm>
          <a:prstGeom prst="rect">
            <a:avLst/>
          </a:prstGeom>
          <a:noFill/>
        </p:spPr>
        <p:txBody>
          <a:bodyPr wrap="square" lIns="0" tIns="0" rIns="0" bIns="0">
            <a:spAutoFit/>
          </a:bodyPr>
          <a:lstStyle/>
          <a:p>
            <a:r>
              <a:rPr sz="2000" b="1" i="0">
                <a:solidFill>
                  <a:srgbClr val="2E74B5"/>
                </a:solidFill>
                <a:latin typeface="Segoe UI Semibold"/>
              </a:rPr>
              <a:t>5</a:t>
            </a:r>
          </a:p>
        </p:txBody>
      </p:sp>
      <p:sp>
        <p:nvSpPr>
          <p:cNvPr id="27" name="TextBox 26"/>
          <p:cNvSpPr txBox="1"/>
          <p:nvPr/>
        </p:nvSpPr>
        <p:spPr>
          <a:xfrm>
            <a:off x="9713122" y="2404872"/>
            <a:ext cx="1655612" cy="566928"/>
          </a:xfrm>
          <a:prstGeom prst="rect">
            <a:avLst/>
          </a:prstGeom>
          <a:noFill/>
        </p:spPr>
        <p:txBody>
          <a:bodyPr wrap="square" lIns="0" tIns="0" rIns="0" bIns="0">
            <a:spAutoFit/>
          </a:bodyPr>
          <a:lstStyle/>
          <a:p>
            <a:pPr>
              <a:lnSpc>
                <a:spcPct val="105000"/>
              </a:lnSpc>
            </a:pPr>
            <a:r>
              <a:rPr sz="1550" b="1" i="0">
                <a:solidFill>
                  <a:srgbClr val="1F4E79"/>
                </a:solidFill>
                <a:latin typeface="Segoe UI Semibold"/>
              </a:rPr>
              <a:t>Write</a:t>
            </a:r>
          </a:p>
        </p:txBody>
      </p:sp>
      <p:sp>
        <p:nvSpPr>
          <p:cNvPr id="28" name="TextBox 27"/>
          <p:cNvSpPr txBox="1"/>
          <p:nvPr/>
        </p:nvSpPr>
        <p:spPr>
          <a:xfrm>
            <a:off x="9713122" y="3044952"/>
            <a:ext cx="1655612" cy="1417320"/>
          </a:xfrm>
          <a:prstGeom prst="rect">
            <a:avLst/>
          </a:prstGeom>
          <a:noFill/>
        </p:spPr>
        <p:txBody>
          <a:bodyPr wrap="square" lIns="0" tIns="0" rIns="0" bIns="0">
            <a:spAutoFit/>
          </a:bodyPr>
          <a:lstStyle/>
          <a:p>
            <a:pPr>
              <a:lnSpc>
                <a:spcPct val="116000"/>
              </a:lnSpc>
            </a:pPr>
            <a:r>
              <a:rPr sz="1300" b="0" i="0">
                <a:solidFill>
                  <a:srgbClr val="5B6775"/>
                </a:solidFill>
                <a:latin typeface="Segoe UI"/>
              </a:rPr>
              <a:t>as Parquet, schema stored with the data, columns pruned free</a:t>
            </a:r>
          </a:p>
        </p:txBody>
      </p:sp>
      <p:sp>
        <p:nvSpPr>
          <p:cNvPr id="29" name="TextBox 28"/>
          <p:cNvSpPr txBox="1"/>
          <p:nvPr/>
        </p:nvSpPr>
        <p:spPr>
          <a:xfrm>
            <a:off x="658368" y="4910328"/>
            <a:ext cx="10874959" cy="457200"/>
          </a:xfrm>
          <a:prstGeom prst="rect">
            <a:avLst/>
          </a:prstGeom>
          <a:noFill/>
        </p:spPr>
        <p:txBody>
          <a:bodyPr wrap="square" lIns="0" tIns="0" rIns="0" bIns="0">
            <a:spAutoFit/>
          </a:bodyPr>
          <a:lstStyle/>
          <a:p>
            <a:r>
              <a:rPr sz="1350" b="0" i="1">
                <a:solidFill>
                  <a:srgbClr val="5B6775"/>
                </a:solidFill>
                <a:latin typeface="Segoe UI"/>
              </a:rPr>
              <a:t>Module 04 scales this exact shape into a full bronze, silver, gold warehouse.</a:t>
            </a:r>
          </a:p>
        </p:txBody>
      </p:sp>
      <p:sp>
        <p:nvSpPr>
          <p:cNvPr id="30" name="Rectangle 29"/>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03  ·  DataFrames</a:t>
            </a:r>
          </a:p>
        </p:txBody>
      </p:sp>
      <p:sp>
        <p:nvSpPr>
          <p:cNvPr id="32" name="TextBox 31"/>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19</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Read with an explicit schema</a:t>
            </a:r>
          </a:p>
        </p:txBody>
      </p:sp>
      <p:sp>
        <p:nvSpPr>
          <p:cNvPr id="4" name="Rectangle 3"/>
          <p:cNvSpPr/>
          <p:nvPr/>
        </p:nvSpPr>
        <p:spPr>
          <a:xfrm>
            <a:off x="658368" y="1481328"/>
            <a:ext cx="10874959" cy="2737104"/>
          </a:xfrm>
          <a:prstGeom prst="rect">
            <a:avLst/>
          </a:prstGeom>
          <a:solidFill>
            <a:srgbClr val="F5F7F9"/>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81328"/>
            <a:ext cx="43180" cy="2737104"/>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77824" y="1645920"/>
            <a:ext cx="10509199" cy="2462784"/>
          </a:xfrm>
          <a:prstGeom prst="rect">
            <a:avLst/>
          </a:prstGeom>
          <a:noFill/>
        </p:spPr>
        <p:txBody>
          <a:bodyPr wrap="square" lIns="0" tIns="0" rIns="0" bIns="0">
            <a:spAutoFit/>
          </a:bodyPr>
          <a:lstStyle/>
          <a:p>
            <a:pPr>
              <a:lnSpc>
                <a:spcPct val="116000"/>
              </a:lnSpc>
              <a:spcAft>
                <a:spcPts val="0"/>
              </a:spcAft>
            </a:pPr>
            <a:r>
              <a:rPr sz="1500" b="0" i="0">
                <a:solidFill>
                  <a:srgbClr val="242C38"/>
                </a:solidFill>
                <a:latin typeface="Consolas"/>
              </a:rPr>
              <a:t>schema = StructType([</a:t>
            </a:r>
          </a:p>
          <a:p>
            <a:pPr>
              <a:lnSpc>
                <a:spcPct val="116000"/>
              </a:lnSpc>
              <a:spcAft>
                <a:spcPts val="0"/>
              </a:spcAft>
            </a:pPr>
            <a:r>
              <a:rPr sz="1500" b="0" i="0">
                <a:solidFill>
                  <a:srgbClr val="242C38"/>
                </a:solidFill>
                <a:latin typeface="Consolas"/>
              </a:rPr>
              <a:t>    StructField(</a:t>
            </a:r>
            <a:r>
              <a:rPr sz="1500" b="0" i="0">
                <a:solidFill>
                  <a:srgbClr val="A31515"/>
                </a:solidFill>
                <a:latin typeface="Consolas"/>
              </a:rPr>
              <a:t>"txn_id"</a:t>
            </a:r>
            <a:r>
              <a:rPr sz="1500" b="0" i="0">
                <a:solidFill>
                  <a:srgbClr val="242C38"/>
                </a:solidFill>
                <a:latin typeface="Consolas"/>
              </a:rPr>
              <a:t>, StringType()),</a:t>
            </a:r>
          </a:p>
          <a:p>
            <a:pPr>
              <a:lnSpc>
                <a:spcPct val="116000"/>
              </a:lnSpc>
              <a:spcAft>
                <a:spcPts val="0"/>
              </a:spcAft>
            </a:pPr>
            <a:r>
              <a:rPr sz="1500" b="0" i="0">
                <a:solidFill>
                  <a:srgbClr val="242C38"/>
                </a:solidFill>
                <a:latin typeface="Consolas"/>
              </a:rPr>
              <a:t>    StructField(</a:t>
            </a:r>
            <a:r>
              <a:rPr sz="1500" b="0" i="0">
                <a:solidFill>
                  <a:srgbClr val="A31515"/>
                </a:solidFill>
                <a:latin typeface="Consolas"/>
              </a:rPr>
              <a:t>"account_id"</a:t>
            </a:r>
            <a:r>
              <a:rPr sz="1500" b="0" i="0">
                <a:solidFill>
                  <a:srgbClr val="242C38"/>
                </a:solidFill>
                <a:latin typeface="Consolas"/>
              </a:rPr>
              <a:t>, StringType()),</a:t>
            </a:r>
          </a:p>
          <a:p>
            <a:pPr>
              <a:lnSpc>
                <a:spcPct val="116000"/>
              </a:lnSpc>
              <a:spcAft>
                <a:spcPts val="0"/>
              </a:spcAft>
            </a:pPr>
            <a:r>
              <a:rPr sz="1500" b="0" i="0">
                <a:solidFill>
                  <a:srgbClr val="242C38"/>
                </a:solidFill>
                <a:latin typeface="Consolas"/>
              </a:rPr>
              <a:t>    StructField(</a:t>
            </a:r>
            <a:r>
              <a:rPr sz="1500" b="0" i="0">
                <a:solidFill>
                  <a:srgbClr val="A31515"/>
                </a:solidFill>
                <a:latin typeface="Consolas"/>
              </a:rPr>
              <a:t>"amount"</a:t>
            </a:r>
            <a:r>
              <a:rPr sz="1500" b="0" i="0">
                <a:solidFill>
                  <a:srgbClr val="242C38"/>
                </a:solidFill>
                <a:latin typeface="Consolas"/>
              </a:rPr>
              <a:t>, DoubleType()),</a:t>
            </a:r>
          </a:p>
          <a:p>
            <a:pPr>
              <a:lnSpc>
                <a:spcPct val="116000"/>
              </a:lnSpc>
              <a:spcAft>
                <a:spcPts val="0"/>
              </a:spcAft>
            </a:pPr>
            <a:r>
              <a:rPr sz="1500" b="0" i="0">
                <a:solidFill>
                  <a:srgbClr val="242C38"/>
                </a:solidFill>
                <a:latin typeface="Consolas"/>
              </a:rPr>
              <a:t>    StructField(</a:t>
            </a:r>
            <a:r>
              <a:rPr sz="1500" b="0" i="0">
                <a:solidFill>
                  <a:srgbClr val="A31515"/>
                </a:solidFill>
                <a:latin typeface="Consolas"/>
              </a:rPr>
              <a:t>"channel"</a:t>
            </a:r>
            <a:r>
              <a:rPr sz="1500" b="0" i="0">
                <a:solidFill>
                  <a:srgbClr val="242C38"/>
                </a:solidFill>
                <a:latin typeface="Consolas"/>
              </a:rPr>
              <a:t>, StringType())])</a:t>
            </a:r>
          </a:p>
          <a:p>
            <a:pPr>
              <a:lnSpc>
                <a:spcPct val="116000"/>
              </a:lnSpc>
              <a:spcAft>
                <a:spcPts val="0"/>
              </a:spcAft>
            </a:pPr>
            <a:r>
              <a:rPr sz="1500" b="0" i="0">
                <a:solidFill>
                  <a:srgbClr val="242C38"/>
                </a:solidFill>
                <a:latin typeface="Consolas"/>
              </a:rPr>
              <a:t> </a:t>
            </a:r>
          </a:p>
          <a:p>
            <a:pPr>
              <a:lnSpc>
                <a:spcPct val="116000"/>
              </a:lnSpc>
              <a:spcAft>
                <a:spcPts val="0"/>
              </a:spcAft>
            </a:pPr>
            <a:r>
              <a:rPr sz="1500" b="0" i="0">
                <a:solidFill>
                  <a:srgbClr val="242C38"/>
                </a:solidFill>
                <a:latin typeface="Consolas"/>
              </a:rPr>
              <a:t>txns = spark.read.option(</a:t>
            </a:r>
            <a:r>
              <a:rPr sz="1500" b="0" i="0">
                <a:solidFill>
                  <a:srgbClr val="A31515"/>
                </a:solidFill>
                <a:latin typeface="Consolas"/>
              </a:rPr>
              <a:t>"header"</a:t>
            </a:r>
            <a:r>
              <a:rPr sz="1500" b="0" i="0">
                <a:solidFill>
                  <a:srgbClr val="242C38"/>
                </a:solidFill>
                <a:latin typeface="Consolas"/>
              </a:rPr>
              <a:t>, </a:t>
            </a:r>
            <a:r>
              <a:rPr sz="1500" b="0" i="0">
                <a:solidFill>
                  <a:srgbClr val="0F5BA7"/>
                </a:solidFill>
                <a:latin typeface="Consolas"/>
              </a:rPr>
              <a:t>True</a:t>
            </a:r>
            <a:r>
              <a:rPr sz="1500" b="0" i="0">
                <a:solidFill>
                  <a:srgbClr val="242C38"/>
                </a:solidFill>
                <a:latin typeface="Consolas"/>
              </a:rPr>
              <a:t>) \</a:t>
            </a:r>
          </a:p>
          <a:p>
            <a:pPr>
              <a:lnSpc>
                <a:spcPct val="116000"/>
              </a:lnSpc>
              <a:spcAft>
                <a:spcPts val="0"/>
              </a:spcAft>
            </a:pPr>
            <a:r>
              <a:rPr sz="1500" b="0" i="0">
                <a:solidFill>
                  <a:srgbClr val="242C38"/>
                </a:solidFill>
                <a:latin typeface="Consolas"/>
              </a:rPr>
              <a:t>    .schema(schema).csv(f</a:t>
            </a:r>
            <a:r>
              <a:rPr sz="1500" b="0" i="0">
                <a:solidFill>
                  <a:srgbClr val="A31515"/>
                </a:solidFill>
                <a:latin typeface="Consolas"/>
              </a:rPr>
              <a:t>"{RAW}/transactions/*.csv"</a:t>
            </a:r>
            <a:r>
              <a:rPr sz="1500" b="0" i="0">
                <a:solidFill>
                  <a:srgbClr val="242C38"/>
                </a:solidFill>
                <a:latin typeface="Consolas"/>
              </a:rPr>
              <a:t>)</a:t>
            </a:r>
          </a:p>
        </p:txBody>
      </p:sp>
      <p:sp>
        <p:nvSpPr>
          <p:cNvPr id="7" name="TextBox 6"/>
          <p:cNvSpPr txBox="1"/>
          <p:nvPr/>
        </p:nvSpPr>
        <p:spPr>
          <a:xfrm>
            <a:off x="658368" y="4364736"/>
            <a:ext cx="10874959" cy="457200"/>
          </a:xfrm>
          <a:prstGeom prst="rect">
            <a:avLst/>
          </a:prstGeom>
          <a:noFill/>
        </p:spPr>
        <p:txBody>
          <a:bodyPr wrap="square" lIns="0" tIns="0" rIns="0" bIns="0">
            <a:spAutoFit/>
          </a:bodyPr>
          <a:lstStyle/>
          <a:p>
            <a:r>
              <a:rPr sz="1400" b="0" i="0">
                <a:solidFill>
                  <a:srgbClr val="5B6775"/>
                </a:solidFill>
                <a:latin typeface="Segoe UI"/>
              </a:rPr>
              <a:t>A schema declared once and reused is safer than letting Spark guess it.</a:t>
            </a:r>
          </a:p>
        </p:txBody>
      </p:sp>
      <p:sp>
        <p:nvSpPr>
          <p:cNvPr id="8" name="Rectangle 7"/>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03  ·  DataFrames</a:t>
            </a:r>
          </a:p>
        </p:txBody>
      </p:sp>
      <p:sp>
        <p:nvSpPr>
          <p:cNvPr id="10" name="TextBox 9"/>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20</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inferSchema costs jobs, and can guess wrong</a:t>
            </a:r>
          </a:p>
        </p:txBody>
      </p:sp>
      <p:graphicFrame>
        <p:nvGraphicFramePr>
          <p:cNvPr id="4" name="Table 3"/>
          <p:cNvGraphicFramePr>
            <a:graphicFrameLocks noGrp="1"/>
          </p:cNvGraphicFramePr>
          <p:nvPr/>
        </p:nvGraphicFramePr>
        <p:xfrm>
          <a:off x="658368" y="1481328"/>
          <a:ext cx="10874958" cy="1828800"/>
        </p:xfrm>
        <a:graphic>
          <a:graphicData uri="http://schemas.openxmlformats.org/drawingml/2006/table">
            <a:tbl>
              <a:tblPr firstRow="1" bandRow="1">
                <a:tableStyleId>{5C22544A-7EE6-4342-B048-85BDC9FD1C3A}</a:tableStyleId>
              </a:tblPr>
              <a:tblGrid>
                <a:gridCol w="4046496">
                  <a:extLst>
                    <a:ext uri="{9D8B030D-6E8A-4147-A177-3AD203B41FA5}">
                      <a16:colId xmlns:a16="http://schemas.microsoft.com/office/drawing/2014/main" val="20000"/>
                    </a:ext>
                  </a:extLst>
                </a:gridCol>
                <a:gridCol w="3034872">
                  <a:extLst>
                    <a:ext uri="{9D8B030D-6E8A-4147-A177-3AD203B41FA5}">
                      <a16:colId xmlns:a16="http://schemas.microsoft.com/office/drawing/2014/main" val="20001"/>
                    </a:ext>
                  </a:extLst>
                </a:gridCol>
                <a:gridCol w="3793590">
                  <a:extLst>
                    <a:ext uri="{9D8B030D-6E8A-4147-A177-3AD203B41FA5}">
                      <a16:colId xmlns:a16="http://schemas.microsoft.com/office/drawing/2014/main" val="20002"/>
                    </a:ext>
                  </a:extLst>
                </a:gridCol>
              </a:tblGrid>
              <a:tr h="402336">
                <a:tc>
                  <a:txBody>
                    <a:bodyPr/>
                    <a:lstStyle/>
                    <a:p>
                      <a:endParaRPr/>
                    </a:p>
                  </a:txBody>
                  <a:tcPr anchor="ctr">
                    <a:solidFill>
                      <a:srgbClr val="1F4E79"/>
                    </a:solidFill>
                  </a:tcPr>
                </a:tc>
                <a:tc>
                  <a:txBody>
                    <a:bodyPr/>
                    <a:lstStyle/>
                    <a:p>
                      <a:r>
                        <a:rPr sz="1450" b="1" i="0">
                          <a:solidFill>
                            <a:srgbClr val="FFFFFF"/>
                          </a:solidFill>
                          <a:latin typeface="Segoe UI Semibold"/>
                        </a:rPr>
                        <a:t>Explicit schema</a:t>
                      </a:r>
                    </a:p>
                  </a:txBody>
                  <a:tcPr anchor="ctr">
                    <a:solidFill>
                      <a:srgbClr val="1F4E79"/>
                    </a:solidFill>
                  </a:tcPr>
                </a:tc>
                <a:tc>
                  <a:txBody>
                    <a:bodyPr/>
                    <a:lstStyle/>
                    <a:p>
                      <a:r>
                        <a:rPr sz="1450" b="1" i="0">
                          <a:solidFill>
                            <a:srgbClr val="FFFFFF"/>
                          </a:solidFill>
                          <a:latin typeface="Segoe UI Semibold"/>
                        </a:rPr>
                        <a:t>inferSchema=True</a:t>
                      </a:r>
                    </a:p>
                  </a:txBody>
                  <a:tcPr anchor="ctr">
                    <a:solidFill>
                      <a:srgbClr val="1F4E79"/>
                    </a:solidFill>
                  </a:tcPr>
                </a:tc>
                <a:extLst>
                  <a:ext uri="{0D108BD9-81ED-4DB2-BD59-A6C34878D82A}">
                    <a16:rowId xmlns:a16="http://schemas.microsoft.com/office/drawing/2014/main" val="10000"/>
                  </a:ext>
                </a:extLst>
              </a:tr>
              <a:tr h="475488">
                <a:tc>
                  <a:txBody>
                    <a:bodyPr/>
                    <a:lstStyle/>
                    <a:p>
                      <a:pPr>
                        <a:lnSpc>
                          <a:spcPct val="106000"/>
                        </a:lnSpc>
                      </a:pPr>
                      <a:r>
                        <a:rPr sz="1400" b="1" i="0">
                          <a:solidFill>
                            <a:srgbClr val="242C38"/>
                          </a:solidFill>
                          <a:latin typeface="Segoe UI"/>
                        </a:rPr>
                        <a:t>Jobs to build the DataFrame</a:t>
                      </a:r>
                    </a:p>
                  </a:txBody>
                  <a:tcPr marT="36576" marB="36576" anchor="ctr">
                    <a:solidFill>
                      <a:srgbClr val="EEF3F8"/>
                    </a:solidFill>
                  </a:tcPr>
                </a:tc>
                <a:tc>
                  <a:txBody>
                    <a:bodyPr/>
                    <a:lstStyle/>
                    <a:p>
                      <a:pPr>
                        <a:lnSpc>
                          <a:spcPct val="106000"/>
                        </a:lnSpc>
                      </a:pPr>
                      <a:r>
                        <a:rPr sz="1400" b="0" i="0">
                          <a:solidFill>
                            <a:srgbClr val="242C38"/>
                          </a:solidFill>
                          <a:latin typeface="Segoe UI"/>
                        </a:rPr>
                        <a:t>0</a:t>
                      </a:r>
                    </a:p>
                  </a:txBody>
                  <a:tcPr marT="36576" marB="36576" anchor="ctr">
                    <a:solidFill>
                      <a:srgbClr val="EEF3F8"/>
                    </a:solidFill>
                  </a:tcPr>
                </a:tc>
                <a:tc>
                  <a:txBody>
                    <a:bodyPr/>
                    <a:lstStyle/>
                    <a:p>
                      <a:pPr>
                        <a:lnSpc>
                          <a:spcPct val="106000"/>
                        </a:lnSpc>
                      </a:pPr>
                      <a:r>
                        <a:rPr sz="1400" b="0" i="0">
                          <a:solidFill>
                            <a:srgbClr val="242C38"/>
                          </a:solidFill>
                          <a:latin typeface="Segoe UI"/>
                        </a:rPr>
                        <a:t>2, reads the file twice</a:t>
                      </a:r>
                    </a:p>
                  </a:txBody>
                  <a:tcPr marT="36576" marB="36576" anchor="ctr">
                    <a:solidFill>
                      <a:srgbClr val="EEF3F8"/>
                    </a:solidFill>
                  </a:tcPr>
                </a:tc>
                <a:extLst>
                  <a:ext uri="{0D108BD9-81ED-4DB2-BD59-A6C34878D82A}">
                    <a16:rowId xmlns:a16="http://schemas.microsoft.com/office/drawing/2014/main" val="10001"/>
                  </a:ext>
                </a:extLst>
              </a:tr>
              <a:tr h="475488">
                <a:tc>
                  <a:txBody>
                    <a:bodyPr/>
                    <a:lstStyle/>
                    <a:p>
                      <a:pPr>
                        <a:lnSpc>
                          <a:spcPct val="106000"/>
                        </a:lnSpc>
                      </a:pPr>
                      <a:r>
                        <a:rPr sz="1400" b="1" i="0">
                          <a:solidFill>
                            <a:srgbClr val="242C38"/>
                          </a:solidFill>
                          <a:latin typeface="Segoe UI"/>
                        </a:rPr>
                        <a:t>Correctness risk</a:t>
                      </a:r>
                    </a:p>
                  </a:txBody>
                  <a:tcPr marT="36576" marB="36576" anchor="ctr">
                    <a:solidFill>
                      <a:srgbClr val="FFFFFF"/>
                    </a:solidFill>
                  </a:tcPr>
                </a:tc>
                <a:tc>
                  <a:txBody>
                    <a:bodyPr/>
                    <a:lstStyle/>
                    <a:p>
                      <a:pPr>
                        <a:lnSpc>
                          <a:spcPct val="106000"/>
                        </a:lnSpc>
                      </a:pPr>
                      <a:r>
                        <a:rPr sz="1400" b="0" i="0">
                          <a:solidFill>
                            <a:srgbClr val="242C38"/>
                          </a:solidFill>
                          <a:latin typeface="Segoe UI"/>
                        </a:rPr>
                        <a:t>none, you declared it</a:t>
                      </a:r>
                    </a:p>
                  </a:txBody>
                  <a:tcPr marT="36576" marB="36576" anchor="ctr">
                    <a:solidFill>
                      <a:srgbClr val="FFFFFF"/>
                    </a:solidFill>
                  </a:tcPr>
                </a:tc>
                <a:tc>
                  <a:txBody>
                    <a:bodyPr/>
                    <a:lstStyle/>
                    <a:p>
                      <a:pPr>
                        <a:lnSpc>
                          <a:spcPct val="106000"/>
                        </a:lnSpc>
                      </a:pPr>
                      <a:r>
                        <a:rPr sz="1400" b="0" i="0">
                          <a:solidFill>
                            <a:srgbClr val="242C38"/>
                          </a:solidFill>
                          <a:latin typeface="Segoe UI"/>
                        </a:rPr>
                        <a:t>can guess wrong on a later file</a:t>
                      </a:r>
                    </a:p>
                  </a:txBody>
                  <a:tcPr marT="36576" marB="36576" anchor="ctr">
                    <a:solidFill>
                      <a:srgbClr val="FFFFFF"/>
                    </a:solidFill>
                  </a:tcPr>
                </a:tc>
                <a:extLst>
                  <a:ext uri="{0D108BD9-81ED-4DB2-BD59-A6C34878D82A}">
                    <a16:rowId xmlns:a16="http://schemas.microsoft.com/office/drawing/2014/main" val="10002"/>
                  </a:ext>
                </a:extLst>
              </a:tr>
              <a:tr h="475488">
                <a:tc>
                  <a:txBody>
                    <a:bodyPr/>
                    <a:lstStyle/>
                    <a:p>
                      <a:pPr>
                        <a:lnSpc>
                          <a:spcPct val="106000"/>
                        </a:lnSpc>
                      </a:pPr>
                      <a:r>
                        <a:rPr sz="1400" b="1" i="0">
                          <a:solidFill>
                            <a:srgbClr val="242C38"/>
                          </a:solidFill>
                          <a:latin typeface="Segoe UI"/>
                        </a:rPr>
                        <a:t>Safe to leave in a scheduled job</a:t>
                      </a:r>
                    </a:p>
                  </a:txBody>
                  <a:tcPr marT="36576" marB="36576" anchor="ctr">
                    <a:solidFill>
                      <a:srgbClr val="EEF3F8"/>
                    </a:solidFill>
                  </a:tcPr>
                </a:tc>
                <a:tc>
                  <a:txBody>
                    <a:bodyPr/>
                    <a:lstStyle/>
                    <a:p>
                      <a:pPr>
                        <a:lnSpc>
                          <a:spcPct val="106000"/>
                        </a:lnSpc>
                      </a:pPr>
                      <a:r>
                        <a:rPr sz="1400" b="0" i="0">
                          <a:solidFill>
                            <a:srgbClr val="242C38"/>
                          </a:solidFill>
                          <a:latin typeface="Segoe UI"/>
                        </a:rPr>
                        <a:t>yes</a:t>
                      </a:r>
                    </a:p>
                  </a:txBody>
                  <a:tcPr marT="36576" marB="36576" anchor="ctr">
                    <a:solidFill>
                      <a:srgbClr val="EEF3F8"/>
                    </a:solidFill>
                  </a:tcPr>
                </a:tc>
                <a:tc>
                  <a:txBody>
                    <a:bodyPr/>
                    <a:lstStyle/>
                    <a:p>
                      <a:pPr>
                        <a:lnSpc>
                          <a:spcPct val="106000"/>
                        </a:lnSpc>
                      </a:pPr>
                      <a:r>
                        <a:rPr sz="1400" b="0" i="0">
                          <a:solidFill>
                            <a:srgbClr val="242C38"/>
                          </a:solidFill>
                          <a:latin typeface="Segoe UI"/>
                        </a:rPr>
                        <a:t>no</a:t>
                      </a:r>
                    </a:p>
                  </a:txBody>
                  <a:tcPr marT="36576" marB="36576" anchor="ctr">
                    <a:solidFill>
                      <a:srgbClr val="EEF3F8"/>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658368" y="5724144"/>
            <a:ext cx="10874959" cy="502920"/>
          </a:xfrm>
          <a:prstGeom prst="rect">
            <a:avLst/>
          </a:prstGeom>
          <a:noFill/>
        </p:spPr>
        <p:txBody>
          <a:bodyPr wrap="square" lIns="0" tIns="0" rIns="0" bIns="0">
            <a:spAutoFit/>
          </a:bodyPr>
          <a:lstStyle/>
          <a:p>
            <a:r>
              <a:rPr sz="1300" b="0" i="1">
                <a:solidFill>
                  <a:srgbClr val="5B6775"/>
                </a:solidFill>
                <a:latin typeface="Segoe UI"/>
              </a:rPr>
              <a:t>Even for ad hoc exploration, write down what was discovered before it runs again.</a:t>
            </a:r>
          </a:p>
        </p:txBody>
      </p:sp>
      <p:sp>
        <p:nvSpPr>
          <p:cNvPr id="6" name="Rectangle 5"/>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03  ·  DataFrames</a:t>
            </a:r>
          </a:p>
        </p:txBody>
      </p:sp>
      <p:sp>
        <p:nvSpPr>
          <p:cNvPr id="8" name="TextBox 7"/>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21</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Read modes: what happens to a malformed row</a:t>
            </a:r>
          </a:p>
        </p:txBody>
      </p:sp>
      <p:graphicFrame>
        <p:nvGraphicFramePr>
          <p:cNvPr id="4" name="Table 3"/>
          <p:cNvGraphicFramePr>
            <a:graphicFrameLocks noGrp="1"/>
          </p:cNvGraphicFramePr>
          <p:nvPr/>
        </p:nvGraphicFramePr>
        <p:xfrm>
          <a:off x="658368" y="1481328"/>
          <a:ext cx="10874957" cy="1828800"/>
        </p:xfrm>
        <a:graphic>
          <a:graphicData uri="http://schemas.openxmlformats.org/drawingml/2006/table">
            <a:tbl>
              <a:tblPr firstRow="1" bandRow="1">
                <a:tableStyleId>{5C22544A-7EE6-4342-B048-85BDC9FD1C3A}</a:tableStyleId>
              </a:tblPr>
              <a:tblGrid>
                <a:gridCol w="3141654">
                  <a:extLst>
                    <a:ext uri="{9D8B030D-6E8A-4147-A177-3AD203B41FA5}">
                      <a16:colId xmlns:a16="http://schemas.microsoft.com/office/drawing/2014/main" val="20000"/>
                    </a:ext>
                  </a:extLst>
                </a:gridCol>
                <a:gridCol w="4108317">
                  <a:extLst>
                    <a:ext uri="{9D8B030D-6E8A-4147-A177-3AD203B41FA5}">
                      <a16:colId xmlns:a16="http://schemas.microsoft.com/office/drawing/2014/main" val="20001"/>
                    </a:ext>
                  </a:extLst>
                </a:gridCol>
                <a:gridCol w="3624986">
                  <a:extLst>
                    <a:ext uri="{9D8B030D-6E8A-4147-A177-3AD203B41FA5}">
                      <a16:colId xmlns:a16="http://schemas.microsoft.com/office/drawing/2014/main" val="20002"/>
                    </a:ext>
                  </a:extLst>
                </a:gridCol>
              </a:tblGrid>
              <a:tr h="402336">
                <a:tc>
                  <a:txBody>
                    <a:bodyPr/>
                    <a:lstStyle/>
                    <a:p>
                      <a:r>
                        <a:rPr sz="1450" b="1" i="0">
                          <a:solidFill>
                            <a:srgbClr val="FFFFFF"/>
                          </a:solidFill>
                          <a:latin typeface="Segoe UI Semibold"/>
                        </a:rPr>
                        <a:t>Mode</a:t>
                      </a:r>
                    </a:p>
                  </a:txBody>
                  <a:tcPr anchor="ctr">
                    <a:solidFill>
                      <a:srgbClr val="1F4E79"/>
                    </a:solidFill>
                  </a:tcPr>
                </a:tc>
                <a:tc>
                  <a:txBody>
                    <a:bodyPr/>
                    <a:lstStyle/>
                    <a:p>
                      <a:r>
                        <a:rPr sz="1450" b="1" i="0">
                          <a:solidFill>
                            <a:srgbClr val="FFFFFF"/>
                          </a:solidFill>
                          <a:latin typeface="Segoe UI Semibold"/>
                        </a:rPr>
                        <a:t>Behaviour</a:t>
                      </a:r>
                    </a:p>
                  </a:txBody>
                  <a:tcPr anchor="ctr">
                    <a:solidFill>
                      <a:srgbClr val="1F4E79"/>
                    </a:solidFill>
                  </a:tcPr>
                </a:tc>
                <a:tc>
                  <a:txBody>
                    <a:bodyPr/>
                    <a:lstStyle/>
                    <a:p>
                      <a:r>
                        <a:rPr sz="1450" b="1" i="0">
                          <a:solidFill>
                            <a:srgbClr val="FFFFFF"/>
                          </a:solidFill>
                          <a:latin typeface="Segoe UI Semibold"/>
                        </a:rPr>
                        <a:t>Use it when</a:t>
                      </a:r>
                    </a:p>
                  </a:txBody>
                  <a:tcPr anchor="ctr">
                    <a:solidFill>
                      <a:srgbClr val="1F4E79"/>
                    </a:solidFill>
                  </a:tcPr>
                </a:tc>
                <a:extLst>
                  <a:ext uri="{0D108BD9-81ED-4DB2-BD59-A6C34878D82A}">
                    <a16:rowId xmlns:a16="http://schemas.microsoft.com/office/drawing/2014/main" val="10000"/>
                  </a:ext>
                </a:extLst>
              </a:tr>
              <a:tr h="475488">
                <a:tc>
                  <a:txBody>
                    <a:bodyPr/>
                    <a:lstStyle/>
                    <a:p>
                      <a:pPr>
                        <a:lnSpc>
                          <a:spcPct val="106000"/>
                        </a:lnSpc>
                      </a:pPr>
                      <a:r>
                        <a:rPr sz="1350" b="0" i="0">
                          <a:solidFill>
                            <a:srgbClr val="2E74B5"/>
                          </a:solidFill>
                          <a:latin typeface="Consolas"/>
                        </a:rPr>
                        <a:t>PERMISSIVE</a:t>
                      </a:r>
                      <a:r>
                        <a:rPr sz="1400" b="1" i="0">
                          <a:solidFill>
                            <a:srgbClr val="242C38"/>
                          </a:solidFill>
                          <a:latin typeface="Segoe UI"/>
                        </a:rPr>
                        <a:t> (default)</a:t>
                      </a:r>
                    </a:p>
                  </a:txBody>
                  <a:tcPr marT="36576" marB="36576" anchor="ctr">
                    <a:solidFill>
                      <a:srgbClr val="EEF3F8"/>
                    </a:solidFill>
                  </a:tcPr>
                </a:tc>
                <a:tc>
                  <a:txBody>
                    <a:bodyPr/>
                    <a:lstStyle/>
                    <a:p>
                      <a:pPr>
                        <a:lnSpc>
                          <a:spcPct val="106000"/>
                        </a:lnSpc>
                      </a:pPr>
                      <a:r>
                        <a:rPr sz="1400" b="0" i="0">
                          <a:solidFill>
                            <a:srgbClr val="242C38"/>
                          </a:solidFill>
                          <a:latin typeface="Segoe UI"/>
                        </a:rPr>
                        <a:t>keeps the row, nulls what it can't parse</a:t>
                      </a:r>
                    </a:p>
                  </a:txBody>
                  <a:tcPr marT="36576" marB="36576" anchor="ctr">
                    <a:solidFill>
                      <a:srgbClr val="EEF3F8"/>
                    </a:solidFill>
                  </a:tcPr>
                </a:tc>
                <a:tc>
                  <a:txBody>
                    <a:bodyPr/>
                    <a:lstStyle/>
                    <a:p>
                      <a:pPr>
                        <a:lnSpc>
                          <a:spcPct val="106000"/>
                        </a:lnSpc>
                      </a:pPr>
                      <a:r>
                        <a:rPr sz="1400" b="0" i="0">
                          <a:solidFill>
                            <a:srgbClr val="242C38"/>
                          </a:solidFill>
                          <a:latin typeface="Segoe UI"/>
                        </a:rPr>
                        <a:t>you'll handle bad rows downstream</a:t>
                      </a:r>
                    </a:p>
                  </a:txBody>
                  <a:tcPr marT="36576" marB="36576" anchor="ctr">
                    <a:solidFill>
                      <a:srgbClr val="EEF3F8"/>
                    </a:solidFill>
                  </a:tcPr>
                </a:tc>
                <a:extLst>
                  <a:ext uri="{0D108BD9-81ED-4DB2-BD59-A6C34878D82A}">
                    <a16:rowId xmlns:a16="http://schemas.microsoft.com/office/drawing/2014/main" val="10001"/>
                  </a:ext>
                </a:extLst>
              </a:tr>
              <a:tr h="475488">
                <a:tc>
                  <a:txBody>
                    <a:bodyPr/>
                    <a:lstStyle/>
                    <a:p>
                      <a:pPr>
                        <a:lnSpc>
                          <a:spcPct val="106000"/>
                        </a:lnSpc>
                      </a:pPr>
                      <a:r>
                        <a:rPr sz="1350" b="0" i="0">
                          <a:solidFill>
                            <a:srgbClr val="2E74B5"/>
                          </a:solidFill>
                          <a:latin typeface="Consolas"/>
                        </a:rPr>
                        <a:t>DROPMALFORMED</a:t>
                      </a:r>
                    </a:p>
                  </a:txBody>
                  <a:tcPr marT="36576" marB="36576" anchor="ctr">
                    <a:solidFill>
                      <a:srgbClr val="FFFFFF"/>
                    </a:solidFill>
                  </a:tcPr>
                </a:tc>
                <a:tc>
                  <a:txBody>
                    <a:bodyPr/>
                    <a:lstStyle/>
                    <a:p>
                      <a:pPr>
                        <a:lnSpc>
                          <a:spcPct val="106000"/>
                        </a:lnSpc>
                      </a:pPr>
                      <a:r>
                        <a:rPr sz="1400" b="0" i="0">
                          <a:solidFill>
                            <a:srgbClr val="242C38"/>
                          </a:solidFill>
                          <a:latin typeface="Segoe UI"/>
                        </a:rPr>
                        <a:t>silently drops the row</a:t>
                      </a:r>
                    </a:p>
                  </a:txBody>
                  <a:tcPr marT="36576" marB="36576" anchor="ctr">
                    <a:solidFill>
                      <a:srgbClr val="FFFFFF"/>
                    </a:solidFill>
                  </a:tcPr>
                </a:tc>
                <a:tc>
                  <a:txBody>
                    <a:bodyPr/>
                    <a:lstStyle/>
                    <a:p>
                      <a:pPr>
                        <a:lnSpc>
                          <a:spcPct val="106000"/>
                        </a:lnSpc>
                      </a:pPr>
                      <a:r>
                        <a:rPr sz="1400" b="0" i="0">
                          <a:solidFill>
                            <a:srgbClr val="242C38"/>
                          </a:solidFill>
                          <a:latin typeface="Segoe UI"/>
                        </a:rPr>
                        <a:t>rare, in a banking feed</a:t>
                      </a:r>
                    </a:p>
                  </a:txBody>
                  <a:tcPr marT="36576" marB="36576" anchor="ctr">
                    <a:solidFill>
                      <a:srgbClr val="FFFFFF"/>
                    </a:solidFill>
                  </a:tcPr>
                </a:tc>
                <a:extLst>
                  <a:ext uri="{0D108BD9-81ED-4DB2-BD59-A6C34878D82A}">
                    <a16:rowId xmlns:a16="http://schemas.microsoft.com/office/drawing/2014/main" val="10002"/>
                  </a:ext>
                </a:extLst>
              </a:tr>
              <a:tr h="475488">
                <a:tc>
                  <a:txBody>
                    <a:bodyPr/>
                    <a:lstStyle/>
                    <a:p>
                      <a:pPr>
                        <a:lnSpc>
                          <a:spcPct val="106000"/>
                        </a:lnSpc>
                      </a:pPr>
                      <a:r>
                        <a:rPr sz="1350" b="0" i="0">
                          <a:solidFill>
                            <a:srgbClr val="2E74B5"/>
                          </a:solidFill>
                          <a:latin typeface="Consolas"/>
                        </a:rPr>
                        <a:t>FAILFAST</a:t>
                      </a:r>
                    </a:p>
                  </a:txBody>
                  <a:tcPr marT="36576" marB="36576" anchor="ctr">
                    <a:solidFill>
                      <a:srgbClr val="EEF3F8"/>
                    </a:solidFill>
                  </a:tcPr>
                </a:tc>
                <a:tc>
                  <a:txBody>
                    <a:bodyPr/>
                    <a:lstStyle/>
                    <a:p>
                      <a:pPr>
                        <a:lnSpc>
                          <a:spcPct val="106000"/>
                        </a:lnSpc>
                      </a:pPr>
                      <a:r>
                        <a:rPr sz="1400" b="0" i="0">
                          <a:solidFill>
                            <a:srgbClr val="242C38"/>
                          </a:solidFill>
                          <a:latin typeface="Segoe UI"/>
                        </a:rPr>
                        <a:t>stops the whole read with an exception</a:t>
                      </a:r>
                    </a:p>
                  </a:txBody>
                  <a:tcPr marT="36576" marB="36576" anchor="ctr">
                    <a:solidFill>
                      <a:srgbClr val="EEF3F8"/>
                    </a:solidFill>
                  </a:tcPr>
                </a:tc>
                <a:tc>
                  <a:txBody>
                    <a:bodyPr/>
                    <a:lstStyle/>
                    <a:p>
                      <a:pPr>
                        <a:lnSpc>
                          <a:spcPct val="106000"/>
                        </a:lnSpc>
                      </a:pPr>
                      <a:r>
                        <a:rPr sz="1400" b="0" i="0">
                          <a:solidFill>
                            <a:srgbClr val="242C38"/>
                          </a:solidFill>
                          <a:latin typeface="Segoe UI"/>
                        </a:rPr>
                        <a:t>the feed must never be silently wrong</a:t>
                      </a:r>
                    </a:p>
                  </a:txBody>
                  <a:tcPr marT="36576" marB="36576" anchor="ctr">
                    <a:solidFill>
                      <a:srgbClr val="EEF3F8"/>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658368" y="5724144"/>
            <a:ext cx="10874959" cy="502920"/>
          </a:xfrm>
          <a:prstGeom prst="rect">
            <a:avLst/>
          </a:prstGeom>
          <a:noFill/>
        </p:spPr>
        <p:txBody>
          <a:bodyPr wrap="square" lIns="0" tIns="0" rIns="0" bIns="0">
            <a:spAutoFit/>
          </a:bodyPr>
          <a:lstStyle/>
          <a:p>
            <a:r>
              <a:rPr sz="1300" b="0" i="1">
                <a:solidFill>
                  <a:srgbClr val="5B6775"/>
                </a:solidFill>
                <a:latin typeface="Segoe UI"/>
              </a:rPr>
              <a:t>.count() alone can miss a malformed row. Force a full read, e.g. .collect(), to trust it.</a:t>
            </a:r>
          </a:p>
        </p:txBody>
      </p:sp>
      <p:sp>
        <p:nvSpPr>
          <p:cNvPr id="6" name="Rectangle 5"/>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03  ·  DataFrames</a:t>
            </a:r>
          </a:p>
        </p:txBody>
      </p:sp>
      <p:sp>
        <p:nvSpPr>
          <p:cNvPr id="8" name="TextBox 7"/>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22</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Two known defects, fixed by name</a:t>
            </a:r>
          </a:p>
        </p:txBody>
      </p:sp>
      <p:sp>
        <p:nvSpPr>
          <p:cNvPr id="4" name="Rectangle 3"/>
          <p:cNvSpPr/>
          <p:nvPr/>
        </p:nvSpPr>
        <p:spPr>
          <a:xfrm>
            <a:off x="658368" y="1481328"/>
            <a:ext cx="10874959" cy="2447544"/>
          </a:xfrm>
          <a:prstGeom prst="rect">
            <a:avLst/>
          </a:prstGeom>
          <a:solidFill>
            <a:srgbClr val="F5F7F9"/>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81328"/>
            <a:ext cx="43180" cy="2447544"/>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77824" y="1645920"/>
            <a:ext cx="10509199" cy="2173224"/>
          </a:xfrm>
          <a:prstGeom prst="rect">
            <a:avLst/>
          </a:prstGeom>
          <a:noFill/>
        </p:spPr>
        <p:txBody>
          <a:bodyPr wrap="square" lIns="0" tIns="0" rIns="0" bIns="0">
            <a:spAutoFit/>
          </a:bodyPr>
          <a:lstStyle/>
          <a:p>
            <a:pPr>
              <a:lnSpc>
                <a:spcPct val="116000"/>
              </a:lnSpc>
              <a:spcAft>
                <a:spcPts val="0"/>
              </a:spcAft>
            </a:pPr>
            <a:r>
              <a:rPr sz="1500" b="0" i="0">
                <a:solidFill>
                  <a:srgbClr val="242C38"/>
                </a:solidFill>
                <a:latin typeface="Consolas"/>
              </a:rPr>
              <a:t>cleaned = (txns</a:t>
            </a:r>
          </a:p>
          <a:p>
            <a:pPr>
              <a:lnSpc>
                <a:spcPct val="116000"/>
              </a:lnSpc>
              <a:spcAft>
                <a:spcPts val="0"/>
              </a:spcAft>
            </a:pPr>
            <a:r>
              <a:rPr sz="1500" b="0" i="0">
                <a:solidFill>
                  <a:srgbClr val="242C38"/>
                </a:solidFill>
                <a:latin typeface="Consolas"/>
              </a:rPr>
              <a:t>    .withColumn(</a:t>
            </a:r>
            <a:r>
              <a:rPr sz="1500" b="0" i="0">
                <a:solidFill>
                  <a:srgbClr val="A31515"/>
                </a:solidFill>
                <a:latin typeface="Consolas"/>
              </a:rPr>
              <a:t>"channel"</a:t>
            </a:r>
            <a:r>
              <a:rPr sz="1500" b="0" i="0">
                <a:solidFill>
                  <a:srgbClr val="242C38"/>
                </a:solidFill>
                <a:latin typeface="Consolas"/>
              </a:rPr>
              <a:t>,</a:t>
            </a:r>
          </a:p>
          <a:p>
            <a:pPr>
              <a:lnSpc>
                <a:spcPct val="116000"/>
              </a:lnSpc>
              <a:spcAft>
                <a:spcPts val="0"/>
              </a:spcAft>
            </a:pPr>
            <a:r>
              <a:rPr sz="1500" b="0" i="0">
                <a:solidFill>
                  <a:srgbClr val="242C38"/>
                </a:solidFill>
                <a:latin typeface="Consolas"/>
              </a:rPr>
              <a:t>        F.upper(F.trim(F.col(</a:t>
            </a:r>
            <a:r>
              <a:rPr sz="1500" b="0" i="0">
                <a:solidFill>
                  <a:srgbClr val="A31515"/>
                </a:solidFill>
                <a:latin typeface="Consolas"/>
              </a:rPr>
              <a:t>"channel"</a:t>
            </a:r>
            <a:r>
              <a:rPr sz="1500" b="0" i="0">
                <a:solidFill>
                  <a:srgbClr val="242C38"/>
                </a:solidFill>
                <a:latin typeface="Consolas"/>
              </a:rPr>
              <a:t>))))</a:t>
            </a:r>
          </a:p>
          <a:p>
            <a:pPr>
              <a:lnSpc>
                <a:spcPct val="116000"/>
              </a:lnSpc>
              <a:spcAft>
                <a:spcPts val="0"/>
              </a:spcAft>
            </a:pPr>
            <a:r>
              <a:rPr sz="1500" b="0" i="0">
                <a:solidFill>
                  <a:srgbClr val="242C38"/>
                </a:solidFill>
                <a:latin typeface="Consolas"/>
              </a:rPr>
              <a:t>    .withColumn(</a:t>
            </a:r>
            <a:r>
              <a:rPr sz="1500" b="0" i="0">
                <a:solidFill>
                  <a:srgbClr val="A31515"/>
                </a:solidFill>
                <a:latin typeface="Consolas"/>
              </a:rPr>
              <a:t>"merchant_category"</a:t>
            </a:r>
            <a:r>
              <a:rPr sz="1500" b="0" i="0">
                <a:solidFill>
                  <a:srgbClr val="242C38"/>
                </a:solidFill>
                <a:latin typeface="Consolas"/>
              </a:rPr>
              <a:t>,</a:t>
            </a:r>
          </a:p>
          <a:p>
            <a:pPr>
              <a:lnSpc>
                <a:spcPct val="116000"/>
              </a:lnSpc>
              <a:spcAft>
                <a:spcPts val="0"/>
              </a:spcAft>
            </a:pPr>
            <a:r>
              <a:rPr sz="1500" b="0" i="0">
                <a:solidFill>
                  <a:srgbClr val="242C38"/>
                </a:solidFill>
                <a:latin typeface="Consolas"/>
              </a:rPr>
              <a:t>        F.when(F.col(</a:t>
            </a:r>
            <a:r>
              <a:rPr sz="1500" b="0" i="0">
                <a:solidFill>
                  <a:srgbClr val="A31515"/>
                </a:solidFill>
                <a:latin typeface="Consolas"/>
              </a:rPr>
              <a:t>"merchant_category"</a:t>
            </a:r>
            <a:r>
              <a:rPr sz="1500" b="0" i="0">
                <a:solidFill>
                  <a:srgbClr val="242C38"/>
                </a:solidFill>
                <a:latin typeface="Consolas"/>
              </a:rPr>
              <a:t>) == </a:t>
            </a:r>
            <a:r>
              <a:rPr sz="1500" b="0" i="0">
                <a:solidFill>
                  <a:srgbClr val="A31515"/>
                </a:solidFill>
                <a:latin typeface="Consolas"/>
              </a:rPr>
              <a:t>""</a:t>
            </a:r>
            <a:r>
              <a:rPr sz="1500" b="0" i="0">
                <a:solidFill>
                  <a:srgbClr val="242C38"/>
                </a:solidFill>
                <a:latin typeface="Consolas"/>
              </a:rPr>
              <a:t>,</a:t>
            </a:r>
          </a:p>
          <a:p>
            <a:pPr>
              <a:lnSpc>
                <a:spcPct val="116000"/>
              </a:lnSpc>
              <a:spcAft>
                <a:spcPts val="0"/>
              </a:spcAft>
            </a:pPr>
            <a:r>
              <a:rPr sz="1500" b="0" i="0">
                <a:solidFill>
                  <a:srgbClr val="242C38"/>
                </a:solidFill>
                <a:latin typeface="Consolas"/>
              </a:rPr>
              <a:t>               </a:t>
            </a:r>
            <a:r>
              <a:rPr sz="1500" b="0" i="0">
                <a:solidFill>
                  <a:srgbClr val="A31515"/>
                </a:solidFill>
                <a:latin typeface="Consolas"/>
              </a:rPr>
              <a:t>"UNKNOWN"</a:t>
            </a:r>
            <a:r>
              <a:rPr sz="1500" b="0" i="0">
                <a:solidFill>
                  <a:srgbClr val="242C38"/>
                </a:solidFill>
                <a:latin typeface="Consolas"/>
              </a:rPr>
              <a:t>)</a:t>
            </a:r>
          </a:p>
          <a:p>
            <a:pPr>
              <a:lnSpc>
                <a:spcPct val="116000"/>
              </a:lnSpc>
              <a:spcAft>
                <a:spcPts val="0"/>
              </a:spcAft>
            </a:pPr>
            <a:r>
              <a:rPr sz="1500" b="0" i="0">
                <a:solidFill>
                  <a:srgbClr val="242C38"/>
                </a:solidFill>
                <a:latin typeface="Consolas"/>
              </a:rPr>
              <a:t>         .otherwise(F.col(</a:t>
            </a:r>
            <a:r>
              <a:rPr sz="1500" b="0" i="0">
                <a:solidFill>
                  <a:srgbClr val="A31515"/>
                </a:solidFill>
                <a:latin typeface="Consolas"/>
              </a:rPr>
              <a:t>"merchant_category"</a:t>
            </a:r>
            <a:r>
              <a:rPr sz="1500" b="0" i="0">
                <a:solidFill>
                  <a:srgbClr val="242C38"/>
                </a:solidFill>
                <a:latin typeface="Consolas"/>
              </a:rPr>
              <a:t>))))</a:t>
            </a:r>
          </a:p>
        </p:txBody>
      </p:sp>
      <p:sp>
        <p:nvSpPr>
          <p:cNvPr id="7" name="TextBox 6"/>
          <p:cNvSpPr txBox="1"/>
          <p:nvPr/>
        </p:nvSpPr>
        <p:spPr>
          <a:xfrm>
            <a:off x="658368" y="4075176"/>
            <a:ext cx="10874959" cy="457200"/>
          </a:xfrm>
          <a:prstGeom prst="rect">
            <a:avLst/>
          </a:prstGeom>
          <a:noFill/>
        </p:spPr>
        <p:txBody>
          <a:bodyPr wrap="square" lIns="0" tIns="0" rIns="0" bIns="0">
            <a:spAutoFit/>
          </a:bodyPr>
          <a:lstStyle/>
          <a:p>
            <a:r>
              <a:rPr sz="1400" b="0" i="0">
                <a:solidFill>
                  <a:srgbClr val="5B6775"/>
                </a:solidFill>
                <a:latin typeface="Segoe UI"/>
              </a:rPr>
              <a:t>merchant_category is an empty string, not null. isNull() alone misses every one.</a:t>
            </a:r>
          </a:p>
        </p:txBody>
      </p:sp>
      <p:sp>
        <p:nvSpPr>
          <p:cNvPr id="8" name="Rectangle 7"/>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03  ·  DataFrames</a:t>
            </a:r>
          </a:p>
        </p:txBody>
      </p:sp>
      <p:sp>
        <p:nvSpPr>
          <p:cNvPr id="10" name="TextBox 9"/>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23</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Orphan accounts: what each join type does</a:t>
            </a:r>
          </a:p>
        </p:txBody>
      </p:sp>
      <p:graphicFrame>
        <p:nvGraphicFramePr>
          <p:cNvPr id="4" name="Table 3"/>
          <p:cNvGraphicFramePr>
            <a:graphicFrameLocks noGrp="1"/>
          </p:cNvGraphicFramePr>
          <p:nvPr/>
        </p:nvGraphicFramePr>
        <p:xfrm>
          <a:off x="658368" y="1481328"/>
          <a:ext cx="10874957" cy="1828800"/>
        </p:xfrm>
        <a:graphic>
          <a:graphicData uri="http://schemas.openxmlformats.org/drawingml/2006/table">
            <a:tbl>
              <a:tblPr firstRow="1" bandRow="1">
                <a:tableStyleId>{5C22544A-7EE6-4342-B048-85BDC9FD1C3A}</a:tableStyleId>
              </a:tblPr>
              <a:tblGrid>
                <a:gridCol w="2658323">
                  <a:extLst>
                    <a:ext uri="{9D8B030D-6E8A-4147-A177-3AD203B41FA5}">
                      <a16:colId xmlns:a16="http://schemas.microsoft.com/office/drawing/2014/main" val="20000"/>
                    </a:ext>
                  </a:extLst>
                </a:gridCol>
                <a:gridCol w="4108317">
                  <a:extLst>
                    <a:ext uri="{9D8B030D-6E8A-4147-A177-3AD203B41FA5}">
                      <a16:colId xmlns:a16="http://schemas.microsoft.com/office/drawing/2014/main" val="20001"/>
                    </a:ext>
                  </a:extLst>
                </a:gridCol>
                <a:gridCol w="4108317">
                  <a:extLst>
                    <a:ext uri="{9D8B030D-6E8A-4147-A177-3AD203B41FA5}">
                      <a16:colId xmlns:a16="http://schemas.microsoft.com/office/drawing/2014/main" val="20002"/>
                    </a:ext>
                  </a:extLst>
                </a:gridCol>
              </a:tblGrid>
              <a:tr h="402336">
                <a:tc>
                  <a:txBody>
                    <a:bodyPr/>
                    <a:lstStyle/>
                    <a:p>
                      <a:r>
                        <a:rPr sz="1450" b="1" i="0">
                          <a:solidFill>
                            <a:srgbClr val="FFFFFF"/>
                          </a:solidFill>
                          <a:latin typeface="Segoe UI Semibold"/>
                        </a:rPr>
                        <a:t>Join type</a:t>
                      </a:r>
                    </a:p>
                  </a:txBody>
                  <a:tcPr anchor="ctr">
                    <a:solidFill>
                      <a:srgbClr val="1F4E79"/>
                    </a:solidFill>
                  </a:tcPr>
                </a:tc>
                <a:tc>
                  <a:txBody>
                    <a:bodyPr/>
                    <a:lstStyle/>
                    <a:p>
                      <a:r>
                        <a:rPr sz="1450" b="1" i="0">
                          <a:solidFill>
                            <a:srgbClr val="FFFFFF"/>
                          </a:solidFill>
                          <a:latin typeface="Segoe UI Semibold"/>
                        </a:rPr>
                        <a:t>Orphan rows</a:t>
                      </a:r>
                    </a:p>
                  </a:txBody>
                  <a:tcPr anchor="ctr">
                    <a:solidFill>
                      <a:srgbClr val="1F4E79"/>
                    </a:solidFill>
                  </a:tcPr>
                </a:tc>
                <a:tc>
                  <a:txBody>
                    <a:bodyPr/>
                    <a:lstStyle/>
                    <a:p>
                      <a:r>
                        <a:rPr sz="1450" b="1" i="0">
                          <a:solidFill>
                            <a:srgbClr val="FFFFFF"/>
                          </a:solidFill>
                          <a:latin typeface="Segoe UI Semibold"/>
                        </a:rPr>
                        <a:t>Use it when</a:t>
                      </a:r>
                    </a:p>
                  </a:txBody>
                  <a:tcPr anchor="ctr">
                    <a:solidFill>
                      <a:srgbClr val="1F4E79"/>
                    </a:solidFill>
                  </a:tcPr>
                </a:tc>
                <a:extLst>
                  <a:ext uri="{0D108BD9-81ED-4DB2-BD59-A6C34878D82A}">
                    <a16:rowId xmlns:a16="http://schemas.microsoft.com/office/drawing/2014/main" val="10000"/>
                  </a:ext>
                </a:extLst>
              </a:tr>
              <a:tr h="475488">
                <a:tc>
                  <a:txBody>
                    <a:bodyPr/>
                    <a:lstStyle/>
                    <a:p>
                      <a:pPr>
                        <a:lnSpc>
                          <a:spcPct val="106000"/>
                        </a:lnSpc>
                      </a:pPr>
                      <a:r>
                        <a:rPr sz="1350" b="0" i="0">
                          <a:solidFill>
                            <a:srgbClr val="2E74B5"/>
                          </a:solidFill>
                          <a:latin typeface="Consolas"/>
                        </a:rPr>
                        <a:t>inner</a:t>
                      </a:r>
                    </a:p>
                  </a:txBody>
                  <a:tcPr marT="36576" marB="36576" anchor="ctr">
                    <a:solidFill>
                      <a:srgbClr val="EEF3F8"/>
                    </a:solidFill>
                  </a:tcPr>
                </a:tc>
                <a:tc>
                  <a:txBody>
                    <a:bodyPr/>
                    <a:lstStyle/>
                    <a:p>
                      <a:pPr>
                        <a:lnSpc>
                          <a:spcPct val="106000"/>
                        </a:lnSpc>
                      </a:pPr>
                      <a:r>
                        <a:rPr sz="1400" b="0" i="0">
                          <a:solidFill>
                            <a:srgbClr val="242C38"/>
                          </a:solidFill>
                          <a:latin typeface="Segoe UI"/>
                        </a:rPr>
                        <a:t>dropped, no warning</a:t>
                      </a:r>
                    </a:p>
                  </a:txBody>
                  <a:tcPr marT="36576" marB="36576" anchor="ctr">
                    <a:solidFill>
                      <a:srgbClr val="EEF3F8"/>
                    </a:solidFill>
                  </a:tcPr>
                </a:tc>
                <a:tc>
                  <a:txBody>
                    <a:bodyPr/>
                    <a:lstStyle/>
                    <a:p>
                      <a:pPr>
                        <a:lnSpc>
                          <a:spcPct val="106000"/>
                        </a:lnSpc>
                      </a:pPr>
                      <a:r>
                        <a:rPr sz="1400" b="0" i="0">
                          <a:solidFill>
                            <a:srgbClr val="242C38"/>
                          </a:solidFill>
                          <a:latin typeface="Segoe UI"/>
                        </a:rPr>
                        <a:t>certain every row must match</a:t>
                      </a:r>
                    </a:p>
                  </a:txBody>
                  <a:tcPr marT="36576" marB="36576" anchor="ctr">
                    <a:solidFill>
                      <a:srgbClr val="EEF3F8"/>
                    </a:solidFill>
                  </a:tcPr>
                </a:tc>
                <a:extLst>
                  <a:ext uri="{0D108BD9-81ED-4DB2-BD59-A6C34878D82A}">
                    <a16:rowId xmlns:a16="http://schemas.microsoft.com/office/drawing/2014/main" val="10001"/>
                  </a:ext>
                </a:extLst>
              </a:tr>
              <a:tr h="475488">
                <a:tc>
                  <a:txBody>
                    <a:bodyPr/>
                    <a:lstStyle/>
                    <a:p>
                      <a:pPr>
                        <a:lnSpc>
                          <a:spcPct val="106000"/>
                        </a:lnSpc>
                      </a:pPr>
                      <a:r>
                        <a:rPr sz="1350" b="0" i="0">
                          <a:solidFill>
                            <a:srgbClr val="2E74B5"/>
                          </a:solidFill>
                          <a:latin typeface="Consolas"/>
                        </a:rPr>
                        <a:t>left</a:t>
                      </a:r>
                    </a:p>
                  </a:txBody>
                  <a:tcPr marT="36576" marB="36576" anchor="ctr">
                    <a:solidFill>
                      <a:srgbClr val="FFFFFF"/>
                    </a:solidFill>
                  </a:tcPr>
                </a:tc>
                <a:tc>
                  <a:txBody>
                    <a:bodyPr/>
                    <a:lstStyle/>
                    <a:p>
                      <a:pPr>
                        <a:lnSpc>
                          <a:spcPct val="106000"/>
                        </a:lnSpc>
                      </a:pPr>
                      <a:r>
                        <a:rPr sz="1400" b="0" i="0">
                          <a:solidFill>
                            <a:srgbClr val="242C38"/>
                          </a:solidFill>
                          <a:latin typeface="Segoe UI"/>
                        </a:rPr>
                        <a:t>kept, branch_code comes back null</a:t>
                      </a:r>
                    </a:p>
                  </a:txBody>
                  <a:tcPr marT="36576" marB="36576" anchor="ctr">
                    <a:solidFill>
                      <a:srgbClr val="FFFFFF"/>
                    </a:solidFill>
                  </a:tcPr>
                </a:tc>
                <a:tc>
                  <a:txBody>
                    <a:bodyPr/>
                    <a:lstStyle/>
                    <a:p>
                      <a:pPr>
                        <a:lnSpc>
                          <a:spcPct val="106000"/>
                        </a:lnSpc>
                      </a:pPr>
                      <a:r>
                        <a:rPr sz="1400" b="0" i="0">
                          <a:solidFill>
                            <a:srgbClr val="242C38"/>
                          </a:solidFill>
                          <a:latin typeface="Segoe UI"/>
                        </a:rPr>
                        <a:t>the safer default for a fact table</a:t>
                      </a:r>
                    </a:p>
                  </a:txBody>
                  <a:tcPr marT="36576" marB="36576" anchor="ctr">
                    <a:solidFill>
                      <a:srgbClr val="FFFFFF"/>
                    </a:solidFill>
                  </a:tcPr>
                </a:tc>
                <a:extLst>
                  <a:ext uri="{0D108BD9-81ED-4DB2-BD59-A6C34878D82A}">
                    <a16:rowId xmlns:a16="http://schemas.microsoft.com/office/drawing/2014/main" val="10002"/>
                  </a:ext>
                </a:extLst>
              </a:tr>
              <a:tr h="475488">
                <a:tc>
                  <a:txBody>
                    <a:bodyPr/>
                    <a:lstStyle/>
                    <a:p>
                      <a:pPr>
                        <a:lnSpc>
                          <a:spcPct val="106000"/>
                        </a:lnSpc>
                      </a:pPr>
                      <a:r>
                        <a:rPr sz="1350" b="0" i="0">
                          <a:solidFill>
                            <a:srgbClr val="2E74B5"/>
                          </a:solidFill>
                          <a:latin typeface="Consolas"/>
                        </a:rPr>
                        <a:t>left_anti</a:t>
                      </a:r>
                    </a:p>
                  </a:txBody>
                  <a:tcPr marT="36576" marB="36576" anchor="ctr">
                    <a:solidFill>
                      <a:srgbClr val="EEF3F8"/>
                    </a:solidFill>
                  </a:tcPr>
                </a:tc>
                <a:tc>
                  <a:txBody>
                    <a:bodyPr/>
                    <a:lstStyle/>
                    <a:p>
                      <a:pPr>
                        <a:lnSpc>
                          <a:spcPct val="106000"/>
                        </a:lnSpc>
                      </a:pPr>
                      <a:r>
                        <a:rPr sz="1400" b="0" i="0">
                          <a:solidFill>
                            <a:srgbClr val="242C38"/>
                          </a:solidFill>
                          <a:latin typeface="Segoe UI"/>
                        </a:rPr>
                        <a:t>only the orphans, directly</a:t>
                      </a:r>
                    </a:p>
                  </a:txBody>
                  <a:tcPr marT="36576" marB="36576" anchor="ctr">
                    <a:solidFill>
                      <a:srgbClr val="EEF3F8"/>
                    </a:solidFill>
                  </a:tcPr>
                </a:tc>
                <a:tc>
                  <a:txBody>
                    <a:bodyPr/>
                    <a:lstStyle/>
                    <a:p>
                      <a:pPr>
                        <a:lnSpc>
                          <a:spcPct val="106000"/>
                        </a:lnSpc>
                      </a:pPr>
                      <a:r>
                        <a:rPr sz="1400" b="0" i="0">
                          <a:solidFill>
                            <a:srgbClr val="242C38"/>
                          </a:solidFill>
                          <a:latin typeface="Segoe UI"/>
                        </a:rPr>
                        <a:t>isolating orphan rows to inspect</a:t>
                      </a:r>
                    </a:p>
                  </a:txBody>
                  <a:tcPr marT="36576" marB="36576" anchor="ctr">
                    <a:solidFill>
                      <a:srgbClr val="EEF3F8"/>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658368" y="5724144"/>
            <a:ext cx="10874959" cy="502920"/>
          </a:xfrm>
          <a:prstGeom prst="rect">
            <a:avLst/>
          </a:prstGeom>
          <a:noFill/>
        </p:spPr>
        <p:txBody>
          <a:bodyPr wrap="square" lIns="0" tIns="0" rIns="0" bIns="0">
            <a:spAutoFit/>
          </a:bodyPr>
          <a:lstStyle/>
          <a:p>
            <a:r>
              <a:rPr sz="1300" b="0" i="1">
                <a:solidFill>
                  <a:srgbClr val="5B6775"/>
                </a:solidFill>
                <a:latin typeface="Segoe UI"/>
              </a:rPr>
              <a:t>About 0.5% of account_id values in this feed don't exist in accounts.csv.</a:t>
            </a:r>
          </a:p>
        </p:txBody>
      </p:sp>
      <p:sp>
        <p:nvSpPr>
          <p:cNvPr id="6" name="Rectangle 5"/>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03  ·  DataFrames</a:t>
            </a:r>
          </a:p>
        </p:txBody>
      </p:sp>
      <p:sp>
        <p:nvSpPr>
          <p:cNvPr id="8" name="TextBox 7"/>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24</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Broadcast the small side, never shuffle it</a:t>
            </a:r>
          </a:p>
        </p:txBody>
      </p:sp>
      <p:sp>
        <p:nvSpPr>
          <p:cNvPr id="4" name="Rectangle 3"/>
          <p:cNvSpPr/>
          <p:nvPr/>
        </p:nvSpPr>
        <p:spPr>
          <a:xfrm>
            <a:off x="658368" y="1481328"/>
            <a:ext cx="10874959" cy="1868424"/>
          </a:xfrm>
          <a:prstGeom prst="rect">
            <a:avLst/>
          </a:prstGeom>
          <a:solidFill>
            <a:srgbClr val="F5F7F9"/>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81328"/>
            <a:ext cx="43180" cy="1868424"/>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77824" y="1645920"/>
            <a:ext cx="10509199" cy="1594104"/>
          </a:xfrm>
          <a:prstGeom prst="rect">
            <a:avLst/>
          </a:prstGeom>
          <a:noFill/>
        </p:spPr>
        <p:txBody>
          <a:bodyPr wrap="square" lIns="0" tIns="0" rIns="0" bIns="0">
            <a:spAutoFit/>
          </a:bodyPr>
          <a:lstStyle/>
          <a:p>
            <a:pPr>
              <a:lnSpc>
                <a:spcPct val="116000"/>
              </a:lnSpc>
              <a:spcAft>
                <a:spcPts val="0"/>
              </a:spcAft>
            </a:pPr>
            <a:r>
              <a:rPr sz="1500" b="0" i="0">
                <a:solidFill>
                  <a:srgbClr val="242C38"/>
                </a:solidFill>
                <a:latin typeface="Consolas"/>
              </a:rPr>
              <a:t>with_branch = inner.join(</a:t>
            </a:r>
          </a:p>
          <a:p>
            <a:pPr>
              <a:lnSpc>
                <a:spcPct val="116000"/>
              </a:lnSpc>
              <a:spcAft>
                <a:spcPts val="0"/>
              </a:spcAft>
            </a:pPr>
            <a:r>
              <a:rPr sz="1500" b="0" i="0">
                <a:solidFill>
                  <a:srgbClr val="242C38"/>
                </a:solidFill>
                <a:latin typeface="Consolas"/>
              </a:rPr>
              <a:t>    F.broadcast(branches), </a:t>
            </a:r>
            <a:r>
              <a:rPr sz="1500" b="0" i="0">
                <a:solidFill>
                  <a:srgbClr val="A31515"/>
                </a:solidFill>
                <a:latin typeface="Consolas"/>
              </a:rPr>
              <a:t>"branch_code"</a:t>
            </a:r>
            <a:r>
              <a:rPr sz="1500" b="0" i="0">
                <a:solidFill>
                  <a:srgbClr val="242C38"/>
                </a:solidFill>
                <a:latin typeface="Consolas"/>
              </a:rPr>
              <a:t>)</a:t>
            </a:r>
          </a:p>
          <a:p>
            <a:pPr>
              <a:lnSpc>
                <a:spcPct val="116000"/>
              </a:lnSpc>
              <a:spcAft>
                <a:spcPts val="0"/>
              </a:spcAft>
            </a:pPr>
            <a:r>
              <a:rPr sz="1500" b="0" i="0">
                <a:solidFill>
                  <a:srgbClr val="242C38"/>
                </a:solidFill>
                <a:latin typeface="Consolas"/>
              </a:rPr>
              <a:t> </a:t>
            </a:r>
          </a:p>
          <a:p>
            <a:pPr>
              <a:lnSpc>
                <a:spcPct val="116000"/>
              </a:lnSpc>
              <a:spcAft>
                <a:spcPts val="0"/>
              </a:spcAft>
            </a:pPr>
            <a:r>
              <a:rPr sz="1500" b="0" i="0">
                <a:solidFill>
                  <a:srgbClr val="242C38"/>
                </a:solidFill>
                <a:latin typeface="Consolas"/>
              </a:rPr>
              <a:t>with_branch.explain()</a:t>
            </a:r>
          </a:p>
          <a:p>
            <a:pPr>
              <a:lnSpc>
                <a:spcPct val="116000"/>
              </a:lnSpc>
              <a:spcAft>
                <a:spcPts val="0"/>
              </a:spcAft>
            </a:pPr>
            <a:r>
              <a:rPr sz="1500" b="0" i="1">
                <a:solidFill>
                  <a:srgbClr val="6F865C"/>
                </a:solidFill>
                <a:latin typeface="Consolas"/>
              </a:rPr>
              <a:t># look for BroadcastHashJoin, not SortMergeJoin</a:t>
            </a:r>
          </a:p>
        </p:txBody>
      </p:sp>
      <p:sp>
        <p:nvSpPr>
          <p:cNvPr id="7" name="TextBox 6"/>
          <p:cNvSpPr txBox="1"/>
          <p:nvPr/>
        </p:nvSpPr>
        <p:spPr>
          <a:xfrm>
            <a:off x="658368" y="3496056"/>
            <a:ext cx="10874959" cy="457200"/>
          </a:xfrm>
          <a:prstGeom prst="rect">
            <a:avLst/>
          </a:prstGeom>
          <a:noFill/>
        </p:spPr>
        <p:txBody>
          <a:bodyPr wrap="square" lIns="0" tIns="0" rIns="0" bIns="0">
            <a:spAutoFit/>
          </a:bodyPr>
          <a:lstStyle/>
          <a:p>
            <a:r>
              <a:rPr sz="1400" b="0" i="0">
                <a:solidFill>
                  <a:srgbClr val="5B6775"/>
                </a:solidFill>
                <a:latin typeface="Segoe UI"/>
              </a:rPr>
              <a:t>branches.csv is 36 rows. F.broadcast() guarantees the plan, not just the default threshold.</a:t>
            </a:r>
          </a:p>
        </p:txBody>
      </p:sp>
      <p:sp>
        <p:nvSpPr>
          <p:cNvPr id="8" name="Rectangle 7"/>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03  ·  DataFrames</a:t>
            </a:r>
          </a:p>
        </p:txBody>
      </p:sp>
      <p:sp>
        <p:nvSpPr>
          <p:cNvPr id="10" name="TextBox 9"/>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25</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CSV versus Parquet, for anything written between stages</a:t>
            </a:r>
          </a:p>
        </p:txBody>
      </p:sp>
      <p:graphicFrame>
        <p:nvGraphicFramePr>
          <p:cNvPr id="4" name="Table 3"/>
          <p:cNvGraphicFramePr>
            <a:graphicFrameLocks noGrp="1"/>
          </p:cNvGraphicFramePr>
          <p:nvPr/>
        </p:nvGraphicFramePr>
        <p:xfrm>
          <a:off x="658368" y="1481328"/>
          <a:ext cx="10874957" cy="2304288"/>
        </p:xfrm>
        <a:graphic>
          <a:graphicData uri="http://schemas.openxmlformats.org/drawingml/2006/table">
            <a:tbl>
              <a:tblPr firstRow="1" bandRow="1">
                <a:tableStyleId>{5C22544A-7EE6-4342-B048-85BDC9FD1C3A}</a:tableStyleId>
              </a:tblPr>
              <a:tblGrid>
                <a:gridCol w="2589275">
                  <a:extLst>
                    <a:ext uri="{9D8B030D-6E8A-4147-A177-3AD203B41FA5}">
                      <a16:colId xmlns:a16="http://schemas.microsoft.com/office/drawing/2014/main" val="20000"/>
                    </a:ext>
                  </a:extLst>
                </a:gridCol>
                <a:gridCol w="4142841">
                  <a:extLst>
                    <a:ext uri="{9D8B030D-6E8A-4147-A177-3AD203B41FA5}">
                      <a16:colId xmlns:a16="http://schemas.microsoft.com/office/drawing/2014/main" val="20001"/>
                    </a:ext>
                  </a:extLst>
                </a:gridCol>
                <a:gridCol w="4142841">
                  <a:extLst>
                    <a:ext uri="{9D8B030D-6E8A-4147-A177-3AD203B41FA5}">
                      <a16:colId xmlns:a16="http://schemas.microsoft.com/office/drawing/2014/main" val="20002"/>
                    </a:ext>
                  </a:extLst>
                </a:gridCol>
              </a:tblGrid>
              <a:tr h="402336">
                <a:tc>
                  <a:txBody>
                    <a:bodyPr/>
                    <a:lstStyle/>
                    <a:p>
                      <a:endParaRPr/>
                    </a:p>
                  </a:txBody>
                  <a:tcPr anchor="ctr">
                    <a:solidFill>
                      <a:srgbClr val="1F4E79"/>
                    </a:solidFill>
                  </a:tcPr>
                </a:tc>
                <a:tc>
                  <a:txBody>
                    <a:bodyPr/>
                    <a:lstStyle/>
                    <a:p>
                      <a:r>
                        <a:rPr sz="1450" b="1" i="0">
                          <a:solidFill>
                            <a:srgbClr val="FFFFFF"/>
                          </a:solidFill>
                          <a:latin typeface="Segoe UI Semibold"/>
                        </a:rPr>
                        <a:t>CSV</a:t>
                      </a:r>
                    </a:p>
                  </a:txBody>
                  <a:tcPr anchor="ctr">
                    <a:solidFill>
                      <a:srgbClr val="1F4E79"/>
                    </a:solidFill>
                  </a:tcPr>
                </a:tc>
                <a:tc>
                  <a:txBody>
                    <a:bodyPr/>
                    <a:lstStyle/>
                    <a:p>
                      <a:r>
                        <a:rPr sz="1450" b="1" i="0">
                          <a:solidFill>
                            <a:srgbClr val="FFFFFF"/>
                          </a:solidFill>
                          <a:latin typeface="Segoe UI Semibold"/>
                        </a:rPr>
                        <a:t>Parquet</a:t>
                      </a:r>
                    </a:p>
                  </a:txBody>
                  <a:tcPr anchor="ctr">
                    <a:solidFill>
                      <a:srgbClr val="1F4E79"/>
                    </a:solidFill>
                  </a:tcPr>
                </a:tc>
                <a:extLst>
                  <a:ext uri="{0D108BD9-81ED-4DB2-BD59-A6C34878D82A}">
                    <a16:rowId xmlns:a16="http://schemas.microsoft.com/office/drawing/2014/main" val="10000"/>
                  </a:ext>
                </a:extLst>
              </a:tr>
              <a:tr h="475488">
                <a:tc>
                  <a:txBody>
                    <a:bodyPr/>
                    <a:lstStyle/>
                    <a:p>
                      <a:pPr>
                        <a:lnSpc>
                          <a:spcPct val="106000"/>
                        </a:lnSpc>
                      </a:pPr>
                      <a:r>
                        <a:rPr sz="1400" b="1" i="0">
                          <a:solidFill>
                            <a:srgbClr val="242C38"/>
                          </a:solidFill>
                          <a:latin typeface="Segoe UI"/>
                        </a:rPr>
                        <a:t>Schema</a:t>
                      </a:r>
                    </a:p>
                  </a:txBody>
                  <a:tcPr marT="36576" marB="36576" anchor="ctr">
                    <a:solidFill>
                      <a:srgbClr val="EEF3F8"/>
                    </a:solidFill>
                  </a:tcPr>
                </a:tc>
                <a:tc>
                  <a:txBody>
                    <a:bodyPr/>
                    <a:lstStyle/>
                    <a:p>
                      <a:pPr>
                        <a:lnSpc>
                          <a:spcPct val="106000"/>
                        </a:lnSpc>
                      </a:pPr>
                      <a:r>
                        <a:rPr sz="1400" b="0" i="0">
                          <a:solidFill>
                            <a:srgbClr val="242C38"/>
                          </a:solidFill>
                          <a:latin typeface="Segoe UI"/>
                        </a:rPr>
                        <a:t>not stored, declare on every read</a:t>
                      </a:r>
                    </a:p>
                  </a:txBody>
                  <a:tcPr marT="36576" marB="36576" anchor="ctr">
                    <a:solidFill>
                      <a:srgbClr val="EEF3F8"/>
                    </a:solidFill>
                  </a:tcPr>
                </a:tc>
                <a:tc>
                  <a:txBody>
                    <a:bodyPr/>
                    <a:lstStyle/>
                    <a:p>
                      <a:pPr>
                        <a:lnSpc>
                          <a:spcPct val="106000"/>
                        </a:lnSpc>
                      </a:pPr>
                      <a:r>
                        <a:rPr sz="1400" b="0" i="0">
                          <a:solidFill>
                            <a:srgbClr val="242C38"/>
                          </a:solidFill>
                          <a:latin typeface="Segoe UI"/>
                        </a:rPr>
                        <a:t>stored with the file</a:t>
                      </a:r>
                    </a:p>
                  </a:txBody>
                  <a:tcPr marT="36576" marB="36576" anchor="ctr">
                    <a:solidFill>
                      <a:srgbClr val="EEF3F8"/>
                    </a:solidFill>
                  </a:tcPr>
                </a:tc>
                <a:extLst>
                  <a:ext uri="{0D108BD9-81ED-4DB2-BD59-A6C34878D82A}">
                    <a16:rowId xmlns:a16="http://schemas.microsoft.com/office/drawing/2014/main" val="10001"/>
                  </a:ext>
                </a:extLst>
              </a:tr>
              <a:tr h="475488">
                <a:tc>
                  <a:txBody>
                    <a:bodyPr/>
                    <a:lstStyle/>
                    <a:p>
                      <a:pPr>
                        <a:lnSpc>
                          <a:spcPct val="106000"/>
                        </a:lnSpc>
                      </a:pPr>
                      <a:r>
                        <a:rPr sz="1400" b="1" i="0">
                          <a:solidFill>
                            <a:srgbClr val="242C38"/>
                          </a:solidFill>
                          <a:latin typeface="Segoe UI"/>
                        </a:rPr>
                        <a:t>Column storage</a:t>
                      </a:r>
                    </a:p>
                  </a:txBody>
                  <a:tcPr marT="36576" marB="36576" anchor="ctr">
                    <a:solidFill>
                      <a:srgbClr val="FFFFFF"/>
                    </a:solidFill>
                  </a:tcPr>
                </a:tc>
                <a:tc>
                  <a:txBody>
                    <a:bodyPr/>
                    <a:lstStyle/>
                    <a:p>
                      <a:pPr>
                        <a:lnSpc>
                          <a:spcPct val="106000"/>
                        </a:lnSpc>
                      </a:pPr>
                      <a:r>
                        <a:rPr sz="1400" b="0" i="0">
                          <a:solidFill>
                            <a:srgbClr val="242C38"/>
                          </a:solidFill>
                          <a:latin typeface="Segoe UI"/>
                        </a:rPr>
                        <a:t>row by row</a:t>
                      </a:r>
                    </a:p>
                  </a:txBody>
                  <a:tcPr marT="36576" marB="36576" anchor="ctr">
                    <a:solidFill>
                      <a:srgbClr val="FFFFFF"/>
                    </a:solidFill>
                  </a:tcPr>
                </a:tc>
                <a:tc>
                  <a:txBody>
                    <a:bodyPr/>
                    <a:lstStyle/>
                    <a:p>
                      <a:pPr>
                        <a:lnSpc>
                          <a:spcPct val="106000"/>
                        </a:lnSpc>
                      </a:pPr>
                      <a:r>
                        <a:rPr sz="1400" b="0" i="0">
                          <a:solidFill>
                            <a:srgbClr val="242C38"/>
                          </a:solidFill>
                          <a:latin typeface="Segoe UI"/>
                        </a:rPr>
                        <a:t>column by column, prune what's unused</a:t>
                      </a:r>
                    </a:p>
                  </a:txBody>
                  <a:tcPr marT="36576" marB="36576" anchor="ctr">
                    <a:solidFill>
                      <a:srgbClr val="FFFFFF"/>
                    </a:solidFill>
                  </a:tcPr>
                </a:tc>
                <a:extLst>
                  <a:ext uri="{0D108BD9-81ED-4DB2-BD59-A6C34878D82A}">
                    <a16:rowId xmlns:a16="http://schemas.microsoft.com/office/drawing/2014/main" val="10002"/>
                  </a:ext>
                </a:extLst>
              </a:tr>
              <a:tr h="475488">
                <a:tc>
                  <a:txBody>
                    <a:bodyPr/>
                    <a:lstStyle/>
                    <a:p>
                      <a:pPr>
                        <a:lnSpc>
                          <a:spcPct val="106000"/>
                        </a:lnSpc>
                      </a:pPr>
                      <a:r>
                        <a:rPr sz="1400" b="1" i="0">
                          <a:solidFill>
                            <a:srgbClr val="242C38"/>
                          </a:solidFill>
                          <a:latin typeface="Segoe UI"/>
                        </a:rPr>
                        <a:t>Compression</a:t>
                      </a:r>
                    </a:p>
                  </a:txBody>
                  <a:tcPr marT="36576" marB="36576" anchor="ctr">
                    <a:solidFill>
                      <a:srgbClr val="EEF3F8"/>
                    </a:solidFill>
                  </a:tcPr>
                </a:tc>
                <a:tc>
                  <a:txBody>
                    <a:bodyPr/>
                    <a:lstStyle/>
                    <a:p>
                      <a:pPr>
                        <a:lnSpc>
                          <a:spcPct val="106000"/>
                        </a:lnSpc>
                      </a:pPr>
                      <a:r>
                        <a:rPr sz="1400" b="0" i="0">
                          <a:solidFill>
                            <a:srgbClr val="242C38"/>
                          </a:solidFill>
                          <a:latin typeface="Segoe UI"/>
                        </a:rPr>
                        <a:t>none by default</a:t>
                      </a:r>
                    </a:p>
                  </a:txBody>
                  <a:tcPr marT="36576" marB="36576" anchor="ctr">
                    <a:solidFill>
                      <a:srgbClr val="EEF3F8"/>
                    </a:solidFill>
                  </a:tcPr>
                </a:tc>
                <a:tc>
                  <a:txBody>
                    <a:bodyPr/>
                    <a:lstStyle/>
                    <a:p>
                      <a:pPr>
                        <a:lnSpc>
                          <a:spcPct val="106000"/>
                        </a:lnSpc>
                      </a:pPr>
                      <a:r>
                        <a:rPr sz="1400" b="0" i="0">
                          <a:solidFill>
                            <a:srgbClr val="242C38"/>
                          </a:solidFill>
                          <a:latin typeface="Segoe UI"/>
                        </a:rPr>
                        <a:t>built in, smaller on disk</a:t>
                      </a:r>
                    </a:p>
                  </a:txBody>
                  <a:tcPr marT="36576" marB="36576" anchor="ctr">
                    <a:solidFill>
                      <a:srgbClr val="EEF3F8"/>
                    </a:solidFill>
                  </a:tcPr>
                </a:tc>
                <a:extLst>
                  <a:ext uri="{0D108BD9-81ED-4DB2-BD59-A6C34878D82A}">
                    <a16:rowId xmlns:a16="http://schemas.microsoft.com/office/drawing/2014/main" val="10003"/>
                  </a:ext>
                </a:extLst>
              </a:tr>
              <a:tr h="475488">
                <a:tc>
                  <a:txBody>
                    <a:bodyPr/>
                    <a:lstStyle/>
                    <a:p>
                      <a:pPr>
                        <a:lnSpc>
                          <a:spcPct val="106000"/>
                        </a:lnSpc>
                      </a:pPr>
                      <a:r>
                        <a:rPr sz="1400" b="1" i="0">
                          <a:solidFill>
                            <a:srgbClr val="242C38"/>
                          </a:solidFill>
                          <a:latin typeface="Segoe UI"/>
                        </a:rPr>
                        <a:t>Human readable</a:t>
                      </a:r>
                    </a:p>
                  </a:txBody>
                  <a:tcPr marT="36576" marB="36576" anchor="ctr">
                    <a:solidFill>
                      <a:srgbClr val="FFFFFF"/>
                    </a:solidFill>
                  </a:tcPr>
                </a:tc>
                <a:tc>
                  <a:txBody>
                    <a:bodyPr/>
                    <a:lstStyle/>
                    <a:p>
                      <a:pPr>
                        <a:lnSpc>
                          <a:spcPct val="106000"/>
                        </a:lnSpc>
                      </a:pPr>
                      <a:r>
                        <a:rPr sz="1400" b="0" i="0">
                          <a:solidFill>
                            <a:srgbClr val="242C38"/>
                          </a:solidFill>
                          <a:latin typeface="Segoe UI"/>
                        </a:rPr>
                        <a:t>yes, plain text</a:t>
                      </a:r>
                    </a:p>
                  </a:txBody>
                  <a:tcPr marT="36576" marB="36576" anchor="ctr">
                    <a:solidFill>
                      <a:srgbClr val="FFFFFF"/>
                    </a:solidFill>
                  </a:tcPr>
                </a:tc>
                <a:tc>
                  <a:txBody>
                    <a:bodyPr/>
                    <a:lstStyle/>
                    <a:p>
                      <a:pPr>
                        <a:lnSpc>
                          <a:spcPct val="106000"/>
                        </a:lnSpc>
                      </a:pPr>
                      <a:r>
                        <a:rPr sz="1400" b="0" i="0">
                          <a:solidFill>
                            <a:srgbClr val="242C38"/>
                          </a:solidFill>
                          <a:latin typeface="Segoe UI"/>
                        </a:rPr>
                        <a:t>no, needs a Parquet-aware tool</a:t>
                      </a:r>
                    </a:p>
                  </a:txBody>
                  <a:tcPr marT="36576" marB="36576" anchor="ctr">
                    <a:solidFill>
                      <a:srgbClr val="FFFFFF"/>
                    </a:solidFill>
                  </a:tcPr>
                </a:tc>
                <a:extLst>
                  <a:ext uri="{0D108BD9-81ED-4DB2-BD59-A6C34878D82A}">
                    <a16:rowId xmlns:a16="http://schemas.microsoft.com/office/drawing/2014/main" val="10004"/>
                  </a:ext>
                </a:extLst>
              </a:tr>
            </a:tbl>
          </a:graphicData>
        </a:graphic>
      </p:graphicFrame>
      <p:sp>
        <p:nvSpPr>
          <p:cNvPr id="5" name="TextBox 4"/>
          <p:cNvSpPr txBox="1"/>
          <p:nvPr/>
        </p:nvSpPr>
        <p:spPr>
          <a:xfrm>
            <a:off x="658368" y="5724144"/>
            <a:ext cx="10874959" cy="502920"/>
          </a:xfrm>
          <a:prstGeom prst="rect">
            <a:avLst/>
          </a:prstGeom>
          <a:noFill/>
        </p:spPr>
        <p:txBody>
          <a:bodyPr wrap="square" lIns="0" tIns="0" rIns="0" bIns="0">
            <a:spAutoFit/>
          </a:bodyPr>
          <a:lstStyle/>
          <a:p>
            <a:r>
              <a:rPr sz="1300" b="0" i="1">
                <a:solidFill>
                  <a:srgbClr val="5B6775"/>
                </a:solidFill>
                <a:latin typeface="Segoe UI"/>
              </a:rPr>
              <a:t>Reading 2 of 12 Parquet columns reads only those 2. CSV always reads every row in full.</a:t>
            </a:r>
          </a:p>
        </p:txBody>
      </p:sp>
      <p:sp>
        <p:nvSpPr>
          <p:cNvPr id="6" name="Rectangle 5"/>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03  ·  DataFrames</a:t>
            </a:r>
          </a:p>
        </p:txBody>
      </p:sp>
      <p:sp>
        <p:nvSpPr>
          <p:cNvPr id="8" name="TextBox 7"/>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26</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Aggregations: one line, one shuffle</a:t>
            </a:r>
          </a:p>
        </p:txBody>
      </p:sp>
      <p:sp>
        <p:nvSpPr>
          <p:cNvPr id="4" name="Rectangle 3"/>
          <p:cNvSpPr/>
          <p:nvPr/>
        </p:nvSpPr>
        <p:spPr>
          <a:xfrm>
            <a:off x="658368" y="1481328"/>
            <a:ext cx="10874959" cy="1868424"/>
          </a:xfrm>
          <a:prstGeom prst="rect">
            <a:avLst/>
          </a:prstGeom>
          <a:solidFill>
            <a:srgbClr val="F5F7F9"/>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81328"/>
            <a:ext cx="43180" cy="1868424"/>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77824" y="1645920"/>
            <a:ext cx="10509199" cy="1594104"/>
          </a:xfrm>
          <a:prstGeom prst="rect">
            <a:avLst/>
          </a:prstGeom>
          <a:noFill/>
        </p:spPr>
        <p:txBody>
          <a:bodyPr wrap="square" lIns="0" tIns="0" rIns="0" bIns="0">
            <a:spAutoFit/>
          </a:bodyPr>
          <a:lstStyle/>
          <a:p>
            <a:pPr>
              <a:lnSpc>
                <a:spcPct val="116000"/>
              </a:lnSpc>
              <a:spcAft>
                <a:spcPts val="0"/>
              </a:spcAft>
            </a:pPr>
            <a:r>
              <a:rPr sz="1500" b="0" i="0">
                <a:solidFill>
                  <a:srgbClr val="242C38"/>
                </a:solidFill>
                <a:latin typeface="Consolas"/>
              </a:rPr>
              <a:t>by_channel = (with_branch.groupBy(</a:t>
            </a:r>
            <a:r>
              <a:rPr sz="1500" b="0" i="0">
                <a:solidFill>
                  <a:srgbClr val="A31515"/>
                </a:solidFill>
                <a:latin typeface="Consolas"/>
              </a:rPr>
              <a:t>"channel"</a:t>
            </a:r>
            <a:r>
              <a:rPr sz="1500" b="0" i="0">
                <a:solidFill>
                  <a:srgbClr val="242C38"/>
                </a:solidFill>
                <a:latin typeface="Consolas"/>
              </a:rPr>
              <a:t>)</a:t>
            </a:r>
          </a:p>
          <a:p>
            <a:pPr>
              <a:lnSpc>
                <a:spcPct val="116000"/>
              </a:lnSpc>
              <a:spcAft>
                <a:spcPts val="0"/>
              </a:spcAft>
            </a:pPr>
            <a:r>
              <a:rPr sz="1500" b="0" i="0">
                <a:solidFill>
                  <a:srgbClr val="242C38"/>
                </a:solidFill>
                <a:latin typeface="Consolas"/>
              </a:rPr>
              <a:t>    .agg(F.count(</a:t>
            </a:r>
            <a:r>
              <a:rPr sz="1500" b="0" i="0">
                <a:solidFill>
                  <a:srgbClr val="A31515"/>
                </a:solidFill>
                <a:latin typeface="Consolas"/>
              </a:rPr>
              <a:t>"*"</a:t>
            </a:r>
            <a:r>
              <a:rPr sz="1500" b="0" i="0">
                <a:solidFill>
                  <a:srgbClr val="242C38"/>
                </a:solidFill>
                <a:latin typeface="Consolas"/>
              </a:rPr>
              <a:t>).alias(</a:t>
            </a:r>
            <a:r>
              <a:rPr sz="1500" b="0" i="0">
                <a:solidFill>
                  <a:srgbClr val="A31515"/>
                </a:solidFill>
                <a:latin typeface="Consolas"/>
              </a:rPr>
              <a:t>"txn_count"</a:t>
            </a:r>
            <a:r>
              <a:rPr sz="1500" b="0" i="0">
                <a:solidFill>
                  <a:srgbClr val="242C38"/>
                </a:solidFill>
                <a:latin typeface="Consolas"/>
              </a:rPr>
              <a:t>),</a:t>
            </a:r>
          </a:p>
          <a:p>
            <a:pPr>
              <a:lnSpc>
                <a:spcPct val="116000"/>
              </a:lnSpc>
              <a:spcAft>
                <a:spcPts val="0"/>
              </a:spcAft>
            </a:pPr>
            <a:r>
              <a:rPr sz="1500" b="0" i="0">
                <a:solidFill>
                  <a:srgbClr val="242C38"/>
                </a:solidFill>
                <a:latin typeface="Consolas"/>
              </a:rPr>
              <a:t>         F.round(F.sum(</a:t>
            </a:r>
            <a:r>
              <a:rPr sz="1500" b="0" i="0">
                <a:solidFill>
                  <a:srgbClr val="A31515"/>
                </a:solidFill>
                <a:latin typeface="Consolas"/>
              </a:rPr>
              <a:t>"amount"</a:t>
            </a:r>
            <a:r>
              <a:rPr sz="1500" b="0" i="0">
                <a:solidFill>
                  <a:srgbClr val="242C38"/>
                </a:solidFill>
                <a:latin typeface="Consolas"/>
              </a:rPr>
              <a:t>), </a:t>
            </a:r>
            <a:r>
              <a:rPr sz="1500" b="0" i="0">
                <a:solidFill>
                  <a:srgbClr val="098658"/>
                </a:solidFill>
                <a:latin typeface="Consolas"/>
              </a:rPr>
              <a:t>2</a:t>
            </a:r>
            <a:r>
              <a:rPr sz="1500" b="0" i="0">
                <a:solidFill>
                  <a:srgbClr val="242C38"/>
                </a:solidFill>
                <a:latin typeface="Consolas"/>
              </a:rPr>
              <a:t>)</a:t>
            </a:r>
          </a:p>
          <a:p>
            <a:pPr>
              <a:lnSpc>
                <a:spcPct val="116000"/>
              </a:lnSpc>
              <a:spcAft>
                <a:spcPts val="0"/>
              </a:spcAft>
            </a:pPr>
            <a:r>
              <a:rPr sz="1500" b="0" i="0">
                <a:solidFill>
                  <a:srgbClr val="242C38"/>
                </a:solidFill>
                <a:latin typeface="Consolas"/>
              </a:rPr>
              <a:t>            .alias(</a:t>
            </a:r>
            <a:r>
              <a:rPr sz="1500" b="0" i="0">
                <a:solidFill>
                  <a:srgbClr val="A31515"/>
                </a:solidFill>
                <a:latin typeface="Consolas"/>
              </a:rPr>
              <a:t>"total_amount"</a:t>
            </a:r>
            <a:r>
              <a:rPr sz="1500" b="0" i="0">
                <a:solidFill>
                  <a:srgbClr val="242C38"/>
                </a:solidFill>
                <a:latin typeface="Consolas"/>
              </a:rPr>
              <a:t>))</a:t>
            </a:r>
          </a:p>
          <a:p>
            <a:pPr>
              <a:lnSpc>
                <a:spcPct val="116000"/>
              </a:lnSpc>
              <a:spcAft>
                <a:spcPts val="0"/>
              </a:spcAft>
            </a:pPr>
            <a:r>
              <a:rPr sz="1500" b="0" i="0">
                <a:solidFill>
                  <a:srgbClr val="242C38"/>
                </a:solidFill>
                <a:latin typeface="Consolas"/>
              </a:rPr>
              <a:t>    .orderBy(F.desc(</a:t>
            </a:r>
            <a:r>
              <a:rPr sz="1500" b="0" i="0">
                <a:solidFill>
                  <a:srgbClr val="A31515"/>
                </a:solidFill>
                <a:latin typeface="Consolas"/>
              </a:rPr>
              <a:t>"txn_count"</a:t>
            </a:r>
            <a:r>
              <a:rPr sz="1500" b="0" i="0">
                <a:solidFill>
                  <a:srgbClr val="242C38"/>
                </a:solidFill>
                <a:latin typeface="Consolas"/>
              </a:rPr>
              <a:t>)))</a:t>
            </a:r>
          </a:p>
        </p:txBody>
      </p:sp>
      <p:sp>
        <p:nvSpPr>
          <p:cNvPr id="7" name="TextBox 6"/>
          <p:cNvSpPr txBox="1"/>
          <p:nvPr/>
        </p:nvSpPr>
        <p:spPr>
          <a:xfrm>
            <a:off x="658368" y="3496056"/>
            <a:ext cx="10874959" cy="457200"/>
          </a:xfrm>
          <a:prstGeom prst="rect">
            <a:avLst/>
          </a:prstGeom>
          <a:noFill/>
        </p:spPr>
        <p:txBody>
          <a:bodyPr wrap="square" lIns="0" tIns="0" rIns="0" bIns="0">
            <a:spAutoFit/>
          </a:bodyPr>
          <a:lstStyle/>
          <a:p>
            <a:r>
              <a:rPr sz="1400" b="0" i="0">
                <a:solidFill>
                  <a:srgbClr val="5B6775"/>
                </a:solidFill>
                <a:latin typeface="Segoe UI"/>
              </a:rPr>
              <a:t>Always .alias() an aggregate. Without it the column is named sum(amount).</a:t>
            </a:r>
          </a:p>
        </p:txBody>
      </p:sp>
      <p:sp>
        <p:nvSpPr>
          <p:cNvPr id="8" name="Rectangle 7"/>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03  ·  DataFrames</a:t>
            </a:r>
          </a:p>
        </p:txBody>
      </p:sp>
      <p:sp>
        <p:nvSpPr>
          <p:cNvPr id="10" name="TextBox 9"/>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27</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select() versus withColumn()</a:t>
            </a:r>
          </a:p>
        </p:txBody>
      </p:sp>
      <p:sp>
        <p:nvSpPr>
          <p:cNvPr id="4" name="Rectangle 3"/>
          <p:cNvSpPr/>
          <p:nvPr/>
        </p:nvSpPr>
        <p:spPr>
          <a:xfrm>
            <a:off x="658368" y="1481328"/>
            <a:ext cx="5245455" cy="420624"/>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1581912"/>
            <a:ext cx="4971135" cy="274320"/>
          </a:xfrm>
          <a:prstGeom prst="rect">
            <a:avLst/>
          </a:prstGeom>
          <a:noFill/>
        </p:spPr>
        <p:txBody>
          <a:bodyPr wrap="square" lIns="0" tIns="0" rIns="0" bIns="0">
            <a:spAutoFit/>
          </a:bodyPr>
          <a:lstStyle/>
          <a:p>
            <a:r>
              <a:rPr sz="1450" b="1" i="0">
                <a:solidFill>
                  <a:srgbClr val="1F4E79"/>
                </a:solidFill>
                <a:latin typeface="Segoe UI Semibold"/>
              </a:rPr>
              <a:t>select()</a:t>
            </a:r>
          </a:p>
        </p:txBody>
      </p:sp>
      <p:sp>
        <p:nvSpPr>
          <p:cNvPr id="6" name="TextBox 5"/>
          <p:cNvSpPr txBox="1"/>
          <p:nvPr/>
        </p:nvSpPr>
        <p:spPr>
          <a:xfrm>
            <a:off x="704088" y="2103120"/>
            <a:ext cx="5154015" cy="3794760"/>
          </a:xfrm>
          <a:prstGeom prst="rect">
            <a:avLst/>
          </a:prstGeom>
          <a:noFill/>
        </p:spPr>
        <p:txBody>
          <a:bodyPr wrap="square" lIns="0" tIns="0" rIns="0" bIns="0">
            <a:spAutoFit/>
          </a:bodyPr>
          <a:lstStyle/>
          <a:p>
            <a:pPr marL="274320" indent="-274320">
              <a:lnSpc>
                <a:spcPct val="118000"/>
              </a:lnSpc>
              <a:spcAft>
                <a:spcPts val="900"/>
              </a:spcAft>
            </a:pPr>
            <a:r>
              <a:rPr sz="1600" b="1" i="0">
                <a:solidFill>
                  <a:srgbClr val="2E74B5"/>
                </a:solidFill>
                <a:latin typeface="Segoe UI"/>
              </a:rPr>
              <a:t>▪   </a:t>
            </a:r>
            <a:r>
              <a:rPr sz="1600" b="0" i="0">
                <a:solidFill>
                  <a:srgbClr val="242C38"/>
                </a:solidFill>
                <a:latin typeface="Segoe UI"/>
              </a:rPr>
              <a:t>Replaces the full column list</a:t>
            </a:r>
          </a:p>
          <a:p>
            <a:pPr marL="274320" indent="-274320">
              <a:lnSpc>
                <a:spcPct val="118000"/>
              </a:lnSpc>
              <a:spcAft>
                <a:spcPts val="900"/>
              </a:spcAft>
            </a:pPr>
            <a:r>
              <a:rPr sz="1600" b="1" i="0">
                <a:solidFill>
                  <a:srgbClr val="2E74B5"/>
                </a:solidFill>
                <a:latin typeface="Segoe UI"/>
              </a:rPr>
              <a:t>▪   </a:t>
            </a:r>
            <a:r>
              <a:rPr sz="1600" b="0" i="0">
                <a:solidFill>
                  <a:srgbClr val="242C38"/>
                </a:solidFill>
                <a:latin typeface="Segoe UI"/>
              </a:rPr>
              <a:t>Only the named columns survive</a:t>
            </a:r>
          </a:p>
          <a:p>
            <a:pPr marL="274320" indent="-274320">
              <a:lnSpc>
                <a:spcPct val="118000"/>
              </a:lnSpc>
              <a:spcAft>
                <a:spcPts val="900"/>
              </a:spcAft>
            </a:pPr>
            <a:r>
              <a:rPr sz="1600" b="1" i="0">
                <a:solidFill>
                  <a:srgbClr val="2E74B5"/>
                </a:solidFill>
                <a:latin typeface="Segoe UI"/>
              </a:rPr>
              <a:t>▪   </a:t>
            </a:r>
            <a:r>
              <a:rPr sz="1600" b="0" i="0">
                <a:solidFill>
                  <a:srgbClr val="242C38"/>
                </a:solidFill>
                <a:latin typeface="Segoe UI"/>
              </a:rPr>
              <a:t>Easy to lose a column by accident</a:t>
            </a:r>
          </a:p>
        </p:txBody>
      </p:sp>
      <p:sp>
        <p:nvSpPr>
          <p:cNvPr id="7" name="Rectangle 6"/>
          <p:cNvSpPr/>
          <p:nvPr/>
        </p:nvSpPr>
        <p:spPr>
          <a:xfrm>
            <a:off x="6287871" y="1481328"/>
            <a:ext cx="5245455" cy="420624"/>
          </a:xfrm>
          <a:prstGeom prst="rect">
            <a:avLst/>
          </a:prstGeom>
          <a:solidFill>
            <a:srgbClr val="FFFFFF"/>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52463" y="1581912"/>
            <a:ext cx="4971135" cy="274320"/>
          </a:xfrm>
          <a:prstGeom prst="rect">
            <a:avLst/>
          </a:prstGeom>
          <a:noFill/>
        </p:spPr>
        <p:txBody>
          <a:bodyPr wrap="square" lIns="0" tIns="0" rIns="0" bIns="0">
            <a:spAutoFit/>
          </a:bodyPr>
          <a:lstStyle/>
          <a:p>
            <a:r>
              <a:rPr sz="1450" b="1" i="0">
                <a:solidFill>
                  <a:srgbClr val="5B6775"/>
                </a:solidFill>
                <a:latin typeface="Segoe UI Semibold"/>
              </a:rPr>
              <a:t>withColumn()</a:t>
            </a:r>
          </a:p>
        </p:txBody>
      </p:sp>
      <p:sp>
        <p:nvSpPr>
          <p:cNvPr id="9" name="TextBox 8"/>
          <p:cNvSpPr txBox="1"/>
          <p:nvPr/>
        </p:nvSpPr>
        <p:spPr>
          <a:xfrm>
            <a:off x="6333591" y="2103120"/>
            <a:ext cx="5154015" cy="3794760"/>
          </a:xfrm>
          <a:prstGeom prst="rect">
            <a:avLst/>
          </a:prstGeom>
          <a:noFill/>
        </p:spPr>
        <p:txBody>
          <a:bodyPr wrap="square" lIns="0" tIns="0" rIns="0" bIns="0">
            <a:spAutoFit/>
          </a:bodyPr>
          <a:lstStyle/>
          <a:p>
            <a:pPr marL="274320" indent="-274320">
              <a:lnSpc>
                <a:spcPct val="118000"/>
              </a:lnSpc>
              <a:spcAft>
                <a:spcPts val="900"/>
              </a:spcAft>
            </a:pPr>
            <a:r>
              <a:rPr sz="1600" b="1" i="0">
                <a:solidFill>
                  <a:srgbClr val="2E74B5"/>
                </a:solidFill>
                <a:latin typeface="Segoe UI"/>
              </a:rPr>
              <a:t>▪   </a:t>
            </a:r>
            <a:r>
              <a:rPr sz="1600" b="0" i="0">
                <a:solidFill>
                  <a:srgbClr val="242C38"/>
                </a:solidFill>
                <a:latin typeface="Segoe UI"/>
              </a:rPr>
              <a:t>Keeps every existing column</a:t>
            </a:r>
          </a:p>
          <a:p>
            <a:pPr marL="274320" indent="-274320">
              <a:lnSpc>
                <a:spcPct val="118000"/>
              </a:lnSpc>
              <a:spcAft>
                <a:spcPts val="900"/>
              </a:spcAft>
            </a:pPr>
            <a:r>
              <a:rPr sz="1600" b="1" i="0">
                <a:solidFill>
                  <a:srgbClr val="2E74B5"/>
                </a:solidFill>
                <a:latin typeface="Segoe UI"/>
              </a:rPr>
              <a:t>▪   </a:t>
            </a:r>
            <a:r>
              <a:rPr sz="1600" b="0" i="0">
                <a:solidFill>
                  <a:srgbClr val="242C38"/>
                </a:solidFill>
                <a:latin typeface="Segoe UI"/>
              </a:rPr>
              <a:t>Adds or replaces just the one named</a:t>
            </a:r>
          </a:p>
          <a:p>
            <a:pPr marL="274320" indent="-274320">
              <a:lnSpc>
                <a:spcPct val="118000"/>
              </a:lnSpc>
              <a:spcAft>
                <a:spcPts val="900"/>
              </a:spcAft>
            </a:pPr>
            <a:r>
              <a:rPr sz="1600" b="1" i="0">
                <a:solidFill>
                  <a:srgbClr val="2E74B5"/>
                </a:solidFill>
                <a:latin typeface="Segoe UI"/>
              </a:rPr>
              <a:t>▪   </a:t>
            </a:r>
            <a:r>
              <a:rPr sz="1600" b="0" i="0">
                <a:solidFill>
                  <a:srgbClr val="242C38"/>
                </a:solidFill>
                <a:latin typeface="Segoe UI"/>
              </a:rPr>
              <a:t>Shows the next reader what actually changed</a:t>
            </a:r>
          </a:p>
        </p:txBody>
      </p:sp>
      <p:sp>
        <p:nvSpPr>
          <p:cNvPr id="10" name="Rectangle 9"/>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03  ·  DataFrames</a:t>
            </a:r>
          </a:p>
        </p:txBody>
      </p:sp>
      <p:sp>
        <p:nvSpPr>
          <p:cNvPr id="12" name="TextBox 11"/>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28</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Module 03 in one screen</a:t>
            </a:r>
          </a:p>
        </p:txBody>
      </p:sp>
      <p:sp>
        <p:nvSpPr>
          <p:cNvPr id="4" name="TextBox 3"/>
          <p:cNvSpPr txBox="1"/>
          <p:nvPr/>
        </p:nvSpPr>
        <p:spPr>
          <a:xfrm>
            <a:off x="658368" y="1481328"/>
            <a:ext cx="10874959" cy="4526280"/>
          </a:xfrm>
          <a:prstGeom prst="rect">
            <a:avLst/>
          </a:prstGeom>
          <a:noFill/>
        </p:spPr>
        <p:txBody>
          <a:bodyPr wrap="square" lIns="0" tIns="0" rIns="0" bIns="0">
            <a:spAutoFit/>
          </a:bodyPr>
          <a:lstStyle/>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Always declare a schema, inferSchema costs jobs and can guess wrong</a:t>
            </a:r>
          </a:p>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Default to a left join on a fact table, inner silently drops orphans</a:t>
            </a:r>
          </a:p>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F.broadcast() turns an expensive shuffle join into a cheap one</a:t>
            </a:r>
          </a:p>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Parquet, not CSV, for anything written between pipeline stages</a:t>
            </a:r>
          </a:p>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withColumn() keeps every column and changes one, select() replaces the whole list</a:t>
            </a:r>
          </a:p>
        </p:txBody>
      </p:sp>
      <p:sp>
        <p:nvSpPr>
          <p:cNvPr id="5" name="Rectangle 4"/>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03  ·  DataFrames</a:t>
            </a:r>
          </a:p>
        </p:txBody>
      </p:sp>
      <p:sp>
        <p:nvSpPr>
          <p:cNvPr id="7" name="TextBox 6"/>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29</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858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51560" y="2057400"/>
            <a:ext cx="9692640" cy="457200"/>
          </a:xfrm>
          <a:prstGeom prst="rect">
            <a:avLst/>
          </a:prstGeom>
          <a:noFill/>
        </p:spPr>
        <p:txBody>
          <a:bodyPr wrap="square" lIns="0" tIns="0" rIns="0" bIns="0">
            <a:spAutoFit/>
          </a:bodyPr>
          <a:lstStyle/>
          <a:p>
            <a:r>
              <a:rPr sz="1300" b="1" i="0">
                <a:solidFill>
                  <a:srgbClr val="2E74B5"/>
                </a:solidFill>
                <a:latin typeface="Segoe UI Semibold"/>
              </a:rPr>
              <a:t>MODULE 04</a:t>
            </a:r>
          </a:p>
        </p:txBody>
      </p:sp>
      <p:sp>
        <p:nvSpPr>
          <p:cNvPr id="5" name="TextBox 4"/>
          <p:cNvSpPr txBox="1"/>
          <p:nvPr/>
        </p:nvSpPr>
        <p:spPr>
          <a:xfrm>
            <a:off x="1051560" y="2578608"/>
            <a:ext cx="9692640" cy="1371600"/>
          </a:xfrm>
          <a:prstGeom prst="rect">
            <a:avLst/>
          </a:prstGeom>
          <a:noFill/>
        </p:spPr>
        <p:txBody>
          <a:bodyPr wrap="square" lIns="0" tIns="0" rIns="0" bIns="0">
            <a:spAutoFit/>
          </a:bodyPr>
          <a:lstStyle/>
          <a:p>
            <a:pPr>
              <a:lnSpc>
                <a:spcPct val="95000"/>
              </a:lnSpc>
            </a:pPr>
            <a:r>
              <a:rPr sz="4200" b="1" i="0">
                <a:solidFill>
                  <a:srgbClr val="1F4E79"/>
                </a:solidFill>
                <a:latin typeface="Segoe UI Semibold"/>
              </a:rPr>
              <a:t>Lakehouse: bronze, silver, gold</a:t>
            </a:r>
          </a:p>
        </p:txBody>
      </p:sp>
      <p:sp>
        <p:nvSpPr>
          <p:cNvPr id="6" name="TextBox 5"/>
          <p:cNvSpPr txBox="1"/>
          <p:nvPr/>
        </p:nvSpPr>
        <p:spPr>
          <a:xfrm>
            <a:off x="1051560" y="3950208"/>
            <a:ext cx="8778240" cy="822960"/>
          </a:xfrm>
          <a:prstGeom prst="rect">
            <a:avLst/>
          </a:prstGeom>
          <a:noFill/>
        </p:spPr>
        <p:txBody>
          <a:bodyPr wrap="square" lIns="0" tIns="0" rIns="0" bIns="0">
            <a:spAutoFit/>
          </a:bodyPr>
          <a:lstStyle/>
          <a:p>
            <a:pPr>
              <a:lnSpc>
                <a:spcPct val="115000"/>
              </a:lnSpc>
            </a:pPr>
            <a:r>
              <a:rPr sz="1700" b="0" i="0">
                <a:solidFill>
                  <a:srgbClr val="5B6775"/>
                </a:solidFill>
                <a:latin typeface="Segoe UI"/>
              </a:rPr>
              <a:t>A three-layer warehouse that quarantines bad rows and proves its own numbers tie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58368" y="2148840"/>
            <a:ext cx="82296" cy="219456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42416" y="2084831"/>
            <a:ext cx="9777679" cy="1828800"/>
          </a:xfrm>
          <a:prstGeom prst="rect">
            <a:avLst/>
          </a:prstGeom>
          <a:noFill/>
        </p:spPr>
        <p:txBody>
          <a:bodyPr wrap="square" lIns="0" tIns="0" rIns="0" bIns="0">
            <a:spAutoFit/>
          </a:bodyPr>
          <a:lstStyle/>
          <a:p>
            <a:pPr>
              <a:lnSpc>
                <a:spcPct val="112000"/>
              </a:lnSpc>
            </a:pPr>
            <a:r>
              <a:rPr sz="3000" b="1" i="0">
                <a:solidFill>
                  <a:srgbClr val="1F4E79"/>
                </a:solidFill>
                <a:latin typeface="Segoe UI Semibold"/>
              </a:rPr>
              <a:t>Bronze is a photograph. Silver is a fact. Gold is an answer.</a:t>
            </a:r>
          </a:p>
        </p:txBody>
      </p:sp>
      <p:sp>
        <p:nvSpPr>
          <p:cNvPr id="5" name="TextBox 4"/>
          <p:cNvSpPr txBox="1"/>
          <p:nvPr/>
        </p:nvSpPr>
        <p:spPr>
          <a:xfrm>
            <a:off x="1042416" y="4041648"/>
            <a:ext cx="9411919" cy="1005840"/>
          </a:xfrm>
          <a:prstGeom prst="rect">
            <a:avLst/>
          </a:prstGeom>
          <a:noFill/>
        </p:spPr>
        <p:txBody>
          <a:bodyPr wrap="square" lIns="0" tIns="0" rIns="0" bIns="0">
            <a:spAutoFit/>
          </a:bodyPr>
          <a:lstStyle/>
          <a:p>
            <a:pPr>
              <a:lnSpc>
                <a:spcPct val="120000"/>
              </a:lnSpc>
            </a:pPr>
            <a:r>
              <a:rPr sz="1700" b="0" i="0">
                <a:solidFill>
                  <a:srgbClr val="5B6775"/>
                </a:solidFill>
                <a:latin typeface="Segoe UI"/>
              </a:rPr>
              <a:t>Every bank already runs this pattern as staging, ODS and a data mart. This module builds all three on Parquet, with real reconciliation numbers that either tie out or tell you exactly where they don't.</a:t>
            </a:r>
          </a:p>
        </p:txBody>
      </p:sp>
      <p:sp>
        <p:nvSpPr>
          <p:cNvPr id="6" name="Rectangle 5"/>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04  ·  Lakehouse: bronze, silver, gold</a:t>
            </a:r>
          </a:p>
        </p:txBody>
      </p:sp>
      <p:sp>
        <p:nvSpPr>
          <p:cNvPr id="8" name="TextBox 7"/>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30</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237744"/>
          </a:xfrm>
          <a:prstGeom prst="rect">
            <a:avLst/>
          </a:prstGeom>
          <a:noFill/>
        </p:spPr>
        <p:txBody>
          <a:bodyPr wrap="square" lIns="0" tIns="0" rIns="0" bIns="0">
            <a:spAutoFit/>
          </a:bodyPr>
          <a:lstStyle/>
          <a:p>
            <a:r>
              <a:rPr sz="1000" b="1" i="0">
                <a:solidFill>
                  <a:srgbClr val="2E74B5"/>
                </a:solidFill>
                <a:latin typeface="Segoe UI Semibold"/>
              </a:rPr>
              <a:t>LANGUAGE YOU KNOW</a:t>
            </a:r>
          </a:p>
        </p:txBody>
      </p:sp>
      <p:sp>
        <p:nvSpPr>
          <p:cNvPr id="4" name="TextBox 3"/>
          <p:cNvSpPr txBox="1"/>
          <p:nvPr/>
        </p:nvSpPr>
        <p:spPr>
          <a:xfrm>
            <a:off x="658368" y="768096"/>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Bronze, silver, gold map to what you already run</a:t>
            </a:r>
          </a:p>
        </p:txBody>
      </p:sp>
      <p:graphicFrame>
        <p:nvGraphicFramePr>
          <p:cNvPr id="5" name="Table 4"/>
          <p:cNvGraphicFramePr>
            <a:graphicFrameLocks noGrp="1"/>
          </p:cNvGraphicFramePr>
          <p:nvPr/>
        </p:nvGraphicFramePr>
        <p:xfrm>
          <a:off x="658368" y="1481328"/>
          <a:ext cx="10874958" cy="2304288"/>
        </p:xfrm>
        <a:graphic>
          <a:graphicData uri="http://schemas.openxmlformats.org/drawingml/2006/table">
            <a:tbl>
              <a:tblPr firstRow="1" bandRow="1">
                <a:tableStyleId>{5C22544A-7EE6-4342-B048-85BDC9FD1C3A}</a:tableStyleId>
              </a:tblPr>
              <a:tblGrid>
                <a:gridCol w="4284074">
                  <a:extLst>
                    <a:ext uri="{9D8B030D-6E8A-4147-A177-3AD203B41FA5}">
                      <a16:colId xmlns:a16="http://schemas.microsoft.com/office/drawing/2014/main" val="20000"/>
                    </a:ext>
                  </a:extLst>
                </a:gridCol>
                <a:gridCol w="6590884">
                  <a:extLst>
                    <a:ext uri="{9D8B030D-6E8A-4147-A177-3AD203B41FA5}">
                      <a16:colId xmlns:a16="http://schemas.microsoft.com/office/drawing/2014/main" val="20001"/>
                    </a:ext>
                  </a:extLst>
                </a:gridCol>
              </a:tblGrid>
              <a:tr h="402336">
                <a:tc>
                  <a:txBody>
                    <a:bodyPr/>
                    <a:lstStyle/>
                    <a:p>
                      <a:r>
                        <a:rPr sz="1450" b="1" i="0">
                          <a:solidFill>
                            <a:srgbClr val="FFFFFF"/>
                          </a:solidFill>
                          <a:latin typeface="Segoe UI Semibold"/>
                        </a:rPr>
                        <a:t>This module's term</a:t>
                      </a:r>
                    </a:p>
                  </a:txBody>
                  <a:tcPr anchor="ctr">
                    <a:solidFill>
                      <a:srgbClr val="1F4E79"/>
                    </a:solidFill>
                  </a:tcPr>
                </a:tc>
                <a:tc>
                  <a:txBody>
                    <a:bodyPr/>
                    <a:lstStyle/>
                    <a:p>
                      <a:r>
                        <a:rPr sz="1450" b="1" i="0">
                          <a:solidFill>
                            <a:srgbClr val="FFFFFF"/>
                          </a:solidFill>
                          <a:latin typeface="Segoe UI Semibold"/>
                        </a:rPr>
                        <a:t>The term you already use</a:t>
                      </a:r>
                    </a:p>
                  </a:txBody>
                  <a:tcPr anchor="ctr">
                    <a:solidFill>
                      <a:srgbClr val="1F4E79"/>
                    </a:solidFill>
                  </a:tcPr>
                </a:tc>
                <a:extLst>
                  <a:ext uri="{0D108BD9-81ED-4DB2-BD59-A6C34878D82A}">
                    <a16:rowId xmlns:a16="http://schemas.microsoft.com/office/drawing/2014/main" val="10000"/>
                  </a:ext>
                </a:extLst>
              </a:tr>
              <a:tr h="475488">
                <a:tc>
                  <a:txBody>
                    <a:bodyPr/>
                    <a:lstStyle/>
                    <a:p>
                      <a:pPr>
                        <a:lnSpc>
                          <a:spcPct val="106000"/>
                        </a:lnSpc>
                      </a:pPr>
                      <a:r>
                        <a:rPr sz="1400" b="1" i="0">
                          <a:solidFill>
                            <a:srgbClr val="242C38"/>
                          </a:solidFill>
                          <a:latin typeface="Segoe UI"/>
                        </a:rPr>
                        <a:t>Bronze</a:t>
                      </a:r>
                    </a:p>
                  </a:txBody>
                  <a:tcPr marT="36576" marB="36576" anchor="ctr">
                    <a:solidFill>
                      <a:srgbClr val="EEF3F8"/>
                    </a:solidFill>
                  </a:tcPr>
                </a:tc>
                <a:tc>
                  <a:txBody>
                    <a:bodyPr/>
                    <a:lstStyle/>
                    <a:p>
                      <a:pPr>
                        <a:lnSpc>
                          <a:spcPct val="106000"/>
                        </a:lnSpc>
                      </a:pPr>
                      <a:r>
                        <a:rPr sz="1400" b="0" i="0">
                          <a:solidFill>
                            <a:srgbClr val="242C38"/>
                          </a:solidFill>
                          <a:latin typeface="Segoe UI"/>
                        </a:rPr>
                        <a:t>staging</a:t>
                      </a:r>
                    </a:p>
                  </a:txBody>
                  <a:tcPr marT="36576" marB="36576" anchor="ctr">
                    <a:solidFill>
                      <a:srgbClr val="EEF3F8"/>
                    </a:solidFill>
                  </a:tcPr>
                </a:tc>
                <a:extLst>
                  <a:ext uri="{0D108BD9-81ED-4DB2-BD59-A6C34878D82A}">
                    <a16:rowId xmlns:a16="http://schemas.microsoft.com/office/drawing/2014/main" val="10001"/>
                  </a:ext>
                </a:extLst>
              </a:tr>
              <a:tr h="475488">
                <a:tc>
                  <a:txBody>
                    <a:bodyPr/>
                    <a:lstStyle/>
                    <a:p>
                      <a:pPr>
                        <a:lnSpc>
                          <a:spcPct val="106000"/>
                        </a:lnSpc>
                      </a:pPr>
                      <a:r>
                        <a:rPr sz="1400" b="1" i="0">
                          <a:solidFill>
                            <a:srgbClr val="242C38"/>
                          </a:solidFill>
                          <a:latin typeface="Segoe UI"/>
                        </a:rPr>
                        <a:t>Silver</a:t>
                      </a:r>
                    </a:p>
                  </a:txBody>
                  <a:tcPr marT="36576" marB="36576" anchor="ctr">
                    <a:solidFill>
                      <a:srgbClr val="FFFFFF"/>
                    </a:solidFill>
                  </a:tcPr>
                </a:tc>
                <a:tc>
                  <a:txBody>
                    <a:bodyPr/>
                    <a:lstStyle/>
                    <a:p>
                      <a:pPr>
                        <a:lnSpc>
                          <a:spcPct val="106000"/>
                        </a:lnSpc>
                      </a:pPr>
                      <a:r>
                        <a:rPr sz="1400" b="0" i="0">
                          <a:solidFill>
                            <a:srgbClr val="242C38"/>
                          </a:solidFill>
                          <a:latin typeface="Segoe UI"/>
                        </a:rPr>
                        <a:t>ODS, operational data store</a:t>
                      </a:r>
                    </a:p>
                  </a:txBody>
                  <a:tcPr marT="36576" marB="36576" anchor="ctr">
                    <a:solidFill>
                      <a:srgbClr val="FFFFFF"/>
                    </a:solidFill>
                  </a:tcPr>
                </a:tc>
                <a:extLst>
                  <a:ext uri="{0D108BD9-81ED-4DB2-BD59-A6C34878D82A}">
                    <a16:rowId xmlns:a16="http://schemas.microsoft.com/office/drawing/2014/main" val="10002"/>
                  </a:ext>
                </a:extLst>
              </a:tr>
              <a:tr h="475488">
                <a:tc>
                  <a:txBody>
                    <a:bodyPr/>
                    <a:lstStyle/>
                    <a:p>
                      <a:pPr>
                        <a:lnSpc>
                          <a:spcPct val="106000"/>
                        </a:lnSpc>
                      </a:pPr>
                      <a:r>
                        <a:rPr sz="1400" b="1" i="0">
                          <a:solidFill>
                            <a:srgbClr val="242C38"/>
                          </a:solidFill>
                          <a:latin typeface="Segoe UI"/>
                        </a:rPr>
                        <a:t>Gold</a:t>
                      </a:r>
                    </a:p>
                  </a:txBody>
                  <a:tcPr marT="36576" marB="36576" anchor="ctr">
                    <a:solidFill>
                      <a:srgbClr val="EEF3F8"/>
                    </a:solidFill>
                  </a:tcPr>
                </a:tc>
                <a:tc>
                  <a:txBody>
                    <a:bodyPr/>
                    <a:lstStyle/>
                    <a:p>
                      <a:pPr>
                        <a:lnSpc>
                          <a:spcPct val="106000"/>
                        </a:lnSpc>
                      </a:pPr>
                      <a:r>
                        <a:rPr sz="1400" b="0" i="0">
                          <a:solidFill>
                            <a:srgbClr val="242C38"/>
                          </a:solidFill>
                          <a:latin typeface="Segoe UI"/>
                        </a:rPr>
                        <a:t>data mart</a:t>
                      </a:r>
                    </a:p>
                  </a:txBody>
                  <a:tcPr marT="36576" marB="36576" anchor="ctr">
                    <a:solidFill>
                      <a:srgbClr val="EEF3F8"/>
                    </a:solidFill>
                  </a:tcPr>
                </a:tc>
                <a:extLst>
                  <a:ext uri="{0D108BD9-81ED-4DB2-BD59-A6C34878D82A}">
                    <a16:rowId xmlns:a16="http://schemas.microsoft.com/office/drawing/2014/main" val="10003"/>
                  </a:ext>
                </a:extLst>
              </a:tr>
              <a:tr h="475488">
                <a:tc>
                  <a:txBody>
                    <a:bodyPr/>
                    <a:lstStyle/>
                    <a:p>
                      <a:pPr>
                        <a:lnSpc>
                          <a:spcPct val="106000"/>
                        </a:lnSpc>
                      </a:pPr>
                      <a:r>
                        <a:rPr sz="1400" b="1" i="0">
                          <a:solidFill>
                            <a:srgbClr val="242C38"/>
                          </a:solidFill>
                          <a:latin typeface="Segoe UI"/>
                        </a:rPr>
                        <a:t>Quarantine table</a:t>
                      </a:r>
                    </a:p>
                  </a:txBody>
                  <a:tcPr marT="36576" marB="36576" anchor="ctr">
                    <a:solidFill>
                      <a:srgbClr val="FFFFFF"/>
                    </a:solidFill>
                  </a:tcPr>
                </a:tc>
                <a:tc>
                  <a:txBody>
                    <a:bodyPr/>
                    <a:lstStyle/>
                    <a:p>
                      <a:pPr>
                        <a:lnSpc>
                          <a:spcPct val="106000"/>
                        </a:lnSpc>
                      </a:pPr>
                      <a:r>
                        <a:rPr sz="1400" b="0" i="0">
                          <a:solidFill>
                            <a:srgbClr val="242C38"/>
                          </a:solidFill>
                          <a:latin typeface="Segoe UI"/>
                        </a:rPr>
                        <a:t>a reject or exception table</a:t>
                      </a:r>
                    </a:p>
                  </a:txBody>
                  <a:tcPr marT="36576" marB="36576" anchor="ctr">
                    <a:solidFill>
                      <a:srgbClr val="FFFFFF"/>
                    </a:solidFill>
                  </a:tcPr>
                </a:tc>
                <a:extLst>
                  <a:ext uri="{0D108BD9-81ED-4DB2-BD59-A6C34878D82A}">
                    <a16:rowId xmlns:a16="http://schemas.microsoft.com/office/drawing/2014/main" val="10004"/>
                  </a:ext>
                </a:extLst>
              </a:tr>
            </a:tbl>
          </a:graphicData>
        </a:graphic>
      </p:graphicFrame>
      <p:sp>
        <p:nvSpPr>
          <p:cNvPr id="6" name="TextBox 5"/>
          <p:cNvSpPr txBox="1"/>
          <p:nvPr/>
        </p:nvSpPr>
        <p:spPr>
          <a:xfrm>
            <a:off x="658368" y="5724144"/>
            <a:ext cx="10874959" cy="502920"/>
          </a:xfrm>
          <a:prstGeom prst="rect">
            <a:avLst/>
          </a:prstGeom>
          <a:noFill/>
        </p:spPr>
        <p:txBody>
          <a:bodyPr wrap="square" lIns="0" tIns="0" rIns="0" bIns="0">
            <a:spAutoFit/>
          </a:bodyPr>
          <a:lstStyle/>
          <a:p>
            <a:r>
              <a:rPr sz="1300" b="0" i="1">
                <a:solidFill>
                  <a:srgbClr val="5B6775"/>
                </a:solidFill>
                <a:latin typeface="Segoe UI"/>
              </a:rPr>
              <a:t>Dynamic partition overwrite is a targeted DELETE plus INSERT for one partition.</a:t>
            </a:r>
          </a:p>
        </p:txBody>
      </p:sp>
      <p:sp>
        <p:nvSpPr>
          <p:cNvPr id="7" name="Rectangle 6"/>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04  ·  Lakehouse: bronze, silver, gold</a:t>
            </a:r>
          </a:p>
        </p:txBody>
      </p:sp>
      <p:sp>
        <p:nvSpPr>
          <p:cNvPr id="9" name="TextBox 8"/>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31</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What belongs in each layer</a:t>
            </a:r>
          </a:p>
        </p:txBody>
      </p:sp>
      <p:graphicFrame>
        <p:nvGraphicFramePr>
          <p:cNvPr id="4" name="Table 3"/>
          <p:cNvGraphicFramePr>
            <a:graphicFrameLocks noGrp="1"/>
          </p:cNvGraphicFramePr>
          <p:nvPr/>
        </p:nvGraphicFramePr>
        <p:xfrm>
          <a:off x="658368" y="1481328"/>
          <a:ext cx="10874958" cy="2304288"/>
        </p:xfrm>
        <a:graphic>
          <a:graphicData uri="http://schemas.openxmlformats.org/drawingml/2006/table">
            <a:tbl>
              <a:tblPr firstRow="1" bandRow="1">
                <a:tableStyleId>{5C22544A-7EE6-4342-B048-85BDC9FD1C3A}</a:tableStyleId>
              </a:tblPr>
              <a:tblGrid>
                <a:gridCol w="2471581">
                  <a:extLst>
                    <a:ext uri="{9D8B030D-6E8A-4147-A177-3AD203B41FA5}">
                      <a16:colId xmlns:a16="http://schemas.microsoft.com/office/drawing/2014/main" val="20000"/>
                    </a:ext>
                  </a:extLst>
                </a:gridCol>
                <a:gridCol w="4696005">
                  <a:extLst>
                    <a:ext uri="{9D8B030D-6E8A-4147-A177-3AD203B41FA5}">
                      <a16:colId xmlns:a16="http://schemas.microsoft.com/office/drawing/2014/main" val="20001"/>
                    </a:ext>
                  </a:extLst>
                </a:gridCol>
                <a:gridCol w="3707372">
                  <a:extLst>
                    <a:ext uri="{9D8B030D-6E8A-4147-A177-3AD203B41FA5}">
                      <a16:colId xmlns:a16="http://schemas.microsoft.com/office/drawing/2014/main" val="20002"/>
                    </a:ext>
                  </a:extLst>
                </a:gridCol>
              </a:tblGrid>
              <a:tr h="402336">
                <a:tc>
                  <a:txBody>
                    <a:bodyPr/>
                    <a:lstStyle/>
                    <a:p>
                      <a:r>
                        <a:rPr sz="1450" b="1" i="0">
                          <a:solidFill>
                            <a:srgbClr val="FFFFFF"/>
                          </a:solidFill>
                          <a:latin typeface="Segoe UI Semibold"/>
                        </a:rPr>
                        <a:t>Layer</a:t>
                      </a:r>
                    </a:p>
                  </a:txBody>
                  <a:tcPr anchor="ctr">
                    <a:solidFill>
                      <a:srgbClr val="1F4E79"/>
                    </a:solidFill>
                  </a:tcPr>
                </a:tc>
                <a:tc>
                  <a:txBody>
                    <a:bodyPr/>
                    <a:lstStyle/>
                    <a:p>
                      <a:r>
                        <a:rPr sz="1450" b="1" i="0">
                          <a:solidFill>
                            <a:srgbClr val="FFFFFF"/>
                          </a:solidFill>
                          <a:latin typeface="Segoe UI Semibold"/>
                        </a:rPr>
                        <a:t>What goes in it</a:t>
                      </a:r>
                    </a:p>
                  </a:txBody>
                  <a:tcPr anchor="ctr">
                    <a:solidFill>
                      <a:srgbClr val="1F4E79"/>
                    </a:solidFill>
                  </a:tcPr>
                </a:tc>
                <a:tc>
                  <a:txBody>
                    <a:bodyPr/>
                    <a:lstStyle/>
                    <a:p>
                      <a:r>
                        <a:rPr sz="1450" b="1" i="0">
                          <a:solidFill>
                            <a:srgbClr val="FFFFFF"/>
                          </a:solidFill>
                          <a:latin typeface="Segoe UI Semibold"/>
                        </a:rPr>
                        <a:t>Grain</a:t>
                      </a:r>
                    </a:p>
                  </a:txBody>
                  <a:tcPr anchor="ctr">
                    <a:solidFill>
                      <a:srgbClr val="1F4E79"/>
                    </a:solidFill>
                  </a:tcPr>
                </a:tc>
                <a:extLst>
                  <a:ext uri="{0D108BD9-81ED-4DB2-BD59-A6C34878D82A}">
                    <a16:rowId xmlns:a16="http://schemas.microsoft.com/office/drawing/2014/main" val="10000"/>
                  </a:ext>
                </a:extLst>
              </a:tr>
              <a:tr h="475488">
                <a:tc>
                  <a:txBody>
                    <a:bodyPr/>
                    <a:lstStyle/>
                    <a:p>
                      <a:pPr>
                        <a:lnSpc>
                          <a:spcPct val="106000"/>
                        </a:lnSpc>
                      </a:pPr>
                      <a:r>
                        <a:rPr sz="1400" b="1" i="0">
                          <a:solidFill>
                            <a:srgbClr val="242C38"/>
                          </a:solidFill>
                          <a:latin typeface="Segoe UI"/>
                        </a:rPr>
                        <a:t>Bronze</a:t>
                      </a:r>
                    </a:p>
                  </a:txBody>
                  <a:tcPr marT="36576" marB="36576" anchor="ctr">
                    <a:solidFill>
                      <a:srgbClr val="EEF3F8"/>
                    </a:solidFill>
                  </a:tcPr>
                </a:tc>
                <a:tc>
                  <a:txBody>
                    <a:bodyPr/>
                    <a:lstStyle/>
                    <a:p>
                      <a:pPr>
                        <a:lnSpc>
                          <a:spcPct val="106000"/>
                        </a:lnSpc>
                      </a:pPr>
                      <a:r>
                        <a:rPr sz="1400" b="0" i="0">
                          <a:solidFill>
                            <a:srgbClr val="242C38"/>
                          </a:solidFill>
                          <a:latin typeface="Segoe UI"/>
                        </a:rPr>
                        <a:t>the raw feed, exactly as it arrived</a:t>
                      </a:r>
                    </a:p>
                  </a:txBody>
                  <a:tcPr marT="36576" marB="36576" anchor="ctr">
                    <a:solidFill>
                      <a:srgbClr val="EEF3F8"/>
                    </a:solidFill>
                  </a:tcPr>
                </a:tc>
                <a:tc>
                  <a:txBody>
                    <a:bodyPr/>
                    <a:lstStyle/>
                    <a:p>
                      <a:pPr>
                        <a:lnSpc>
                          <a:spcPct val="106000"/>
                        </a:lnSpc>
                      </a:pPr>
                      <a:r>
                        <a:rPr sz="1400" b="0" i="0">
                          <a:solidFill>
                            <a:srgbClr val="242C38"/>
                          </a:solidFill>
                          <a:latin typeface="Segoe UI"/>
                        </a:rPr>
                        <a:t>one row per source row</a:t>
                      </a:r>
                    </a:p>
                  </a:txBody>
                  <a:tcPr marT="36576" marB="36576" anchor="ctr">
                    <a:solidFill>
                      <a:srgbClr val="EEF3F8"/>
                    </a:solidFill>
                  </a:tcPr>
                </a:tc>
                <a:extLst>
                  <a:ext uri="{0D108BD9-81ED-4DB2-BD59-A6C34878D82A}">
                    <a16:rowId xmlns:a16="http://schemas.microsoft.com/office/drawing/2014/main" val="10001"/>
                  </a:ext>
                </a:extLst>
              </a:tr>
              <a:tr h="475488">
                <a:tc>
                  <a:txBody>
                    <a:bodyPr/>
                    <a:lstStyle/>
                    <a:p>
                      <a:pPr>
                        <a:lnSpc>
                          <a:spcPct val="106000"/>
                        </a:lnSpc>
                      </a:pPr>
                      <a:r>
                        <a:rPr sz="1400" b="1" i="0">
                          <a:solidFill>
                            <a:srgbClr val="242C38"/>
                          </a:solidFill>
                          <a:latin typeface="Segoe UI"/>
                        </a:rPr>
                        <a:t>Silver</a:t>
                      </a:r>
                    </a:p>
                  </a:txBody>
                  <a:tcPr marT="36576" marB="36576" anchor="ctr">
                    <a:solidFill>
                      <a:srgbClr val="FFFFFF"/>
                    </a:solidFill>
                  </a:tcPr>
                </a:tc>
                <a:tc>
                  <a:txBody>
                    <a:bodyPr/>
                    <a:lstStyle/>
                    <a:p>
                      <a:pPr>
                        <a:lnSpc>
                          <a:spcPct val="106000"/>
                        </a:lnSpc>
                      </a:pPr>
                      <a:r>
                        <a:rPr sz="1400" b="0" i="0">
                          <a:solidFill>
                            <a:srgbClr val="242C38"/>
                          </a:solidFill>
                          <a:latin typeface="Segoe UI"/>
                        </a:rPr>
                        <a:t>deduped, typed, quarantined, joined</a:t>
                      </a:r>
                    </a:p>
                  </a:txBody>
                  <a:tcPr marT="36576" marB="36576" anchor="ctr">
                    <a:solidFill>
                      <a:srgbClr val="FFFFFF"/>
                    </a:solidFill>
                  </a:tcPr>
                </a:tc>
                <a:tc>
                  <a:txBody>
                    <a:bodyPr/>
                    <a:lstStyle/>
                    <a:p>
                      <a:pPr>
                        <a:lnSpc>
                          <a:spcPct val="106000"/>
                        </a:lnSpc>
                      </a:pPr>
                      <a:r>
                        <a:rPr sz="1400" b="0" i="0">
                          <a:solidFill>
                            <a:srgbClr val="242C38"/>
                          </a:solidFill>
                          <a:latin typeface="Segoe UI"/>
                        </a:rPr>
                        <a:t>one row per txn_id</a:t>
                      </a:r>
                    </a:p>
                  </a:txBody>
                  <a:tcPr marT="36576" marB="36576" anchor="ctr">
                    <a:solidFill>
                      <a:srgbClr val="FFFFFF"/>
                    </a:solidFill>
                  </a:tcPr>
                </a:tc>
                <a:extLst>
                  <a:ext uri="{0D108BD9-81ED-4DB2-BD59-A6C34878D82A}">
                    <a16:rowId xmlns:a16="http://schemas.microsoft.com/office/drawing/2014/main" val="10002"/>
                  </a:ext>
                </a:extLst>
              </a:tr>
              <a:tr h="475488">
                <a:tc>
                  <a:txBody>
                    <a:bodyPr/>
                    <a:lstStyle/>
                    <a:p>
                      <a:pPr>
                        <a:lnSpc>
                          <a:spcPct val="106000"/>
                        </a:lnSpc>
                      </a:pPr>
                      <a:r>
                        <a:rPr sz="1400" b="1" i="0">
                          <a:solidFill>
                            <a:srgbClr val="242C38"/>
                          </a:solidFill>
                          <a:latin typeface="Segoe UI"/>
                        </a:rPr>
                        <a:t>Gold</a:t>
                      </a:r>
                    </a:p>
                  </a:txBody>
                  <a:tcPr marT="36576" marB="36576" anchor="ctr">
                    <a:solidFill>
                      <a:srgbClr val="EEF3F8"/>
                    </a:solidFill>
                  </a:tcPr>
                </a:tc>
                <a:tc>
                  <a:txBody>
                    <a:bodyPr/>
                    <a:lstStyle/>
                    <a:p>
                      <a:pPr>
                        <a:lnSpc>
                          <a:spcPct val="106000"/>
                        </a:lnSpc>
                      </a:pPr>
                      <a:r>
                        <a:rPr sz="1400" b="0" i="0">
                          <a:solidFill>
                            <a:srgbClr val="242C38"/>
                          </a:solidFill>
                          <a:latin typeface="Segoe UI"/>
                        </a:rPr>
                        <a:t>business aggregates a bank reports</a:t>
                      </a:r>
                    </a:p>
                  </a:txBody>
                  <a:tcPr marT="36576" marB="36576" anchor="ctr">
                    <a:solidFill>
                      <a:srgbClr val="EEF3F8"/>
                    </a:solidFill>
                  </a:tcPr>
                </a:tc>
                <a:tc>
                  <a:txBody>
                    <a:bodyPr/>
                    <a:lstStyle/>
                    <a:p>
                      <a:pPr>
                        <a:lnSpc>
                          <a:spcPct val="106000"/>
                        </a:lnSpc>
                      </a:pPr>
                      <a:r>
                        <a:rPr sz="1400" b="0" i="0">
                          <a:solidFill>
                            <a:srgbClr val="242C38"/>
                          </a:solidFill>
                          <a:latin typeface="Segoe UI"/>
                        </a:rPr>
                        <a:t>one row per branch per day</a:t>
                      </a:r>
                    </a:p>
                  </a:txBody>
                  <a:tcPr marT="36576" marB="36576" anchor="ctr">
                    <a:solidFill>
                      <a:srgbClr val="EEF3F8"/>
                    </a:solidFill>
                  </a:tcPr>
                </a:tc>
                <a:extLst>
                  <a:ext uri="{0D108BD9-81ED-4DB2-BD59-A6C34878D82A}">
                    <a16:rowId xmlns:a16="http://schemas.microsoft.com/office/drawing/2014/main" val="10003"/>
                  </a:ext>
                </a:extLst>
              </a:tr>
              <a:tr h="475488">
                <a:tc>
                  <a:txBody>
                    <a:bodyPr/>
                    <a:lstStyle/>
                    <a:p>
                      <a:pPr>
                        <a:lnSpc>
                          <a:spcPct val="106000"/>
                        </a:lnSpc>
                      </a:pPr>
                      <a:r>
                        <a:rPr sz="1400" b="1" i="0">
                          <a:solidFill>
                            <a:srgbClr val="242C38"/>
                          </a:solidFill>
                          <a:latin typeface="Segoe UI"/>
                        </a:rPr>
                        <a:t>Quarantine</a:t>
                      </a:r>
                    </a:p>
                  </a:txBody>
                  <a:tcPr marT="36576" marB="36576" anchor="ctr">
                    <a:solidFill>
                      <a:srgbClr val="FFFFFF"/>
                    </a:solidFill>
                  </a:tcPr>
                </a:tc>
                <a:tc>
                  <a:txBody>
                    <a:bodyPr/>
                    <a:lstStyle/>
                    <a:p>
                      <a:pPr>
                        <a:lnSpc>
                          <a:spcPct val="106000"/>
                        </a:lnSpc>
                      </a:pPr>
                      <a:r>
                        <a:rPr sz="1400" b="0" i="0">
                          <a:solidFill>
                            <a:srgbClr val="242C38"/>
                          </a:solidFill>
                          <a:latin typeface="Segoe UI"/>
                        </a:rPr>
                        <a:t>rejected rows, with a reason</a:t>
                      </a:r>
                    </a:p>
                  </a:txBody>
                  <a:tcPr marT="36576" marB="36576" anchor="ctr">
                    <a:solidFill>
                      <a:srgbClr val="FFFFFF"/>
                    </a:solidFill>
                  </a:tcPr>
                </a:tc>
                <a:tc>
                  <a:txBody>
                    <a:bodyPr/>
                    <a:lstStyle/>
                    <a:p>
                      <a:pPr>
                        <a:lnSpc>
                          <a:spcPct val="106000"/>
                        </a:lnSpc>
                      </a:pPr>
                      <a:r>
                        <a:rPr sz="1400" b="0" i="0">
                          <a:solidFill>
                            <a:srgbClr val="242C38"/>
                          </a:solidFill>
                          <a:latin typeface="Segoe UI"/>
                        </a:rPr>
                        <a:t>one row per rejected txn</a:t>
                      </a:r>
                    </a:p>
                  </a:txBody>
                  <a:tcPr marT="36576" marB="36576" anchor="ctr">
                    <a:solidFill>
                      <a:srgbClr val="FFFFFF"/>
                    </a:solidFill>
                  </a:tcPr>
                </a:tc>
                <a:extLst>
                  <a:ext uri="{0D108BD9-81ED-4DB2-BD59-A6C34878D82A}">
                    <a16:rowId xmlns:a16="http://schemas.microsoft.com/office/drawing/2014/main" val="10004"/>
                  </a:ext>
                </a:extLst>
              </a:tr>
            </a:tbl>
          </a:graphicData>
        </a:graphic>
      </p:graphicFrame>
      <p:sp>
        <p:nvSpPr>
          <p:cNvPr id="5" name="TextBox 4"/>
          <p:cNvSpPr txBox="1"/>
          <p:nvPr/>
        </p:nvSpPr>
        <p:spPr>
          <a:xfrm>
            <a:off x="658368" y="5724144"/>
            <a:ext cx="10874959" cy="502920"/>
          </a:xfrm>
          <a:prstGeom prst="rect">
            <a:avLst/>
          </a:prstGeom>
          <a:noFill/>
        </p:spPr>
        <p:txBody>
          <a:bodyPr wrap="square" lIns="0" tIns="0" rIns="0" bIns="0">
            <a:spAutoFit/>
          </a:bodyPr>
          <a:lstStyle/>
          <a:p>
            <a:r>
              <a:rPr sz="1300" b="0" i="1">
                <a:solidFill>
                  <a:srgbClr val="5B6775"/>
                </a:solidFill>
                <a:latin typeface="Segoe UI"/>
              </a:rPr>
              <a:t>A useful test: would two different teams building two reports both need this number?</a:t>
            </a:r>
          </a:p>
        </p:txBody>
      </p:sp>
      <p:sp>
        <p:nvSpPr>
          <p:cNvPr id="6" name="Rectangle 5"/>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04  ·  Lakehouse: bronze, silver, gold</a:t>
            </a:r>
          </a:p>
        </p:txBody>
      </p:sp>
      <p:sp>
        <p:nvSpPr>
          <p:cNvPr id="8" name="TextBox 7"/>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32</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Bronze: land the feed exactly as it arrived</a:t>
            </a:r>
          </a:p>
        </p:txBody>
      </p:sp>
      <p:sp>
        <p:nvSpPr>
          <p:cNvPr id="4" name="Rectangle 3"/>
          <p:cNvSpPr/>
          <p:nvPr/>
        </p:nvSpPr>
        <p:spPr>
          <a:xfrm>
            <a:off x="658368" y="1481328"/>
            <a:ext cx="10874959" cy="2737104"/>
          </a:xfrm>
          <a:prstGeom prst="rect">
            <a:avLst/>
          </a:prstGeom>
          <a:solidFill>
            <a:srgbClr val="F5F7F9"/>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81328"/>
            <a:ext cx="43180" cy="2737104"/>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77824" y="1645920"/>
            <a:ext cx="10509199" cy="2462784"/>
          </a:xfrm>
          <a:prstGeom prst="rect">
            <a:avLst/>
          </a:prstGeom>
          <a:noFill/>
        </p:spPr>
        <p:txBody>
          <a:bodyPr wrap="square" lIns="0" tIns="0" rIns="0" bIns="0">
            <a:spAutoFit/>
          </a:bodyPr>
          <a:lstStyle/>
          <a:p>
            <a:pPr>
              <a:lnSpc>
                <a:spcPct val="116000"/>
              </a:lnSpc>
              <a:spcAft>
                <a:spcPts val="0"/>
              </a:spcAft>
            </a:pPr>
            <a:r>
              <a:rPr sz="1500" b="0" i="0">
                <a:solidFill>
                  <a:srgbClr val="242C38"/>
                </a:solidFill>
                <a:latin typeface="Consolas"/>
              </a:rPr>
              <a:t>bronze = (raw</a:t>
            </a:r>
          </a:p>
          <a:p>
            <a:pPr>
              <a:lnSpc>
                <a:spcPct val="116000"/>
              </a:lnSpc>
              <a:spcAft>
                <a:spcPts val="0"/>
              </a:spcAft>
            </a:pPr>
            <a:r>
              <a:rPr sz="1500" b="0" i="0">
                <a:solidFill>
                  <a:srgbClr val="242C38"/>
                </a:solidFill>
                <a:latin typeface="Consolas"/>
              </a:rPr>
              <a:t>    .withColumn(</a:t>
            </a:r>
            <a:r>
              <a:rPr sz="1500" b="0" i="0">
                <a:solidFill>
                  <a:srgbClr val="A31515"/>
                </a:solidFill>
                <a:latin typeface="Consolas"/>
              </a:rPr>
              <a:t>"ingest_date"</a:t>
            </a:r>
            <a:r>
              <a:rPr sz="1500" b="0" i="0">
                <a:solidFill>
                  <a:srgbClr val="242C38"/>
                </a:solidFill>
                <a:latin typeface="Consolas"/>
              </a:rPr>
              <a:t>,</a:t>
            </a:r>
          </a:p>
          <a:p>
            <a:pPr>
              <a:lnSpc>
                <a:spcPct val="116000"/>
              </a:lnSpc>
              <a:spcAft>
                <a:spcPts val="0"/>
              </a:spcAft>
            </a:pPr>
            <a:r>
              <a:rPr sz="1500" b="0" i="0">
                <a:solidFill>
                  <a:srgbClr val="242C38"/>
                </a:solidFill>
                <a:latin typeface="Consolas"/>
              </a:rPr>
              <a:t>        F.regexp_extract(F.input_file_name(),</a:t>
            </a:r>
          </a:p>
          <a:p>
            <a:pPr>
              <a:lnSpc>
                <a:spcPct val="116000"/>
              </a:lnSpc>
              <a:spcAft>
                <a:spcPts val="0"/>
              </a:spcAft>
            </a:pPr>
            <a:r>
              <a:rPr sz="1500" b="0" i="0">
                <a:solidFill>
                  <a:srgbClr val="242C38"/>
                </a:solidFill>
                <a:latin typeface="Consolas"/>
              </a:rPr>
              <a:t>            r</a:t>
            </a:r>
            <a:r>
              <a:rPr sz="1500" b="0" i="0">
                <a:solidFill>
                  <a:srgbClr val="A31515"/>
                </a:solidFill>
                <a:latin typeface="Consolas"/>
              </a:rPr>
              <a:t>"dt=(\d{4}-\d{2}-\d{2})"</a:t>
            </a:r>
            <a:r>
              <a:rPr sz="1500" b="0" i="0">
                <a:solidFill>
                  <a:srgbClr val="242C38"/>
                </a:solidFill>
                <a:latin typeface="Consolas"/>
              </a:rPr>
              <a:t>, </a:t>
            </a:r>
            <a:r>
              <a:rPr sz="1500" b="0" i="0">
                <a:solidFill>
                  <a:srgbClr val="098658"/>
                </a:solidFill>
                <a:latin typeface="Consolas"/>
              </a:rPr>
              <a:t>1</a:t>
            </a:r>
            <a:r>
              <a:rPr sz="1500" b="0" i="0">
                <a:solidFill>
                  <a:srgbClr val="242C38"/>
                </a:solidFill>
                <a:latin typeface="Consolas"/>
              </a:rPr>
              <a:t>))</a:t>
            </a:r>
          </a:p>
          <a:p>
            <a:pPr>
              <a:lnSpc>
                <a:spcPct val="116000"/>
              </a:lnSpc>
              <a:spcAft>
                <a:spcPts val="0"/>
              </a:spcAft>
            </a:pPr>
            <a:r>
              <a:rPr sz="1500" b="0" i="0">
                <a:solidFill>
                  <a:srgbClr val="242C38"/>
                </a:solidFill>
                <a:latin typeface="Consolas"/>
              </a:rPr>
              <a:t>    .withColumn(</a:t>
            </a:r>
            <a:r>
              <a:rPr sz="1500" b="0" i="0">
                <a:solidFill>
                  <a:srgbClr val="A31515"/>
                </a:solidFill>
                <a:latin typeface="Consolas"/>
              </a:rPr>
              <a:t>"ingest_ts"</a:t>
            </a:r>
            <a:r>
              <a:rPr sz="1500" b="0" i="0">
                <a:solidFill>
                  <a:srgbClr val="242C38"/>
                </a:solidFill>
                <a:latin typeface="Consolas"/>
              </a:rPr>
              <a:t>, F.current_timestamp()))</a:t>
            </a:r>
          </a:p>
          <a:p>
            <a:pPr>
              <a:lnSpc>
                <a:spcPct val="116000"/>
              </a:lnSpc>
              <a:spcAft>
                <a:spcPts val="0"/>
              </a:spcAft>
            </a:pPr>
            <a:r>
              <a:rPr sz="1500" b="0" i="0">
                <a:solidFill>
                  <a:srgbClr val="242C38"/>
                </a:solidFill>
                <a:latin typeface="Consolas"/>
              </a:rPr>
              <a:t> </a:t>
            </a:r>
          </a:p>
          <a:p>
            <a:pPr>
              <a:lnSpc>
                <a:spcPct val="116000"/>
              </a:lnSpc>
              <a:spcAft>
                <a:spcPts val="0"/>
              </a:spcAft>
            </a:pPr>
            <a:r>
              <a:rPr sz="1500" b="0" i="0">
                <a:solidFill>
                  <a:srgbClr val="242C38"/>
                </a:solidFill>
                <a:latin typeface="Consolas"/>
              </a:rPr>
              <a:t>bronze.write.mode(</a:t>
            </a:r>
            <a:r>
              <a:rPr sz="1500" b="0" i="0">
                <a:solidFill>
                  <a:srgbClr val="A31515"/>
                </a:solidFill>
                <a:latin typeface="Consolas"/>
              </a:rPr>
              <a:t>"overwrite"</a:t>
            </a:r>
            <a:r>
              <a:rPr sz="1500" b="0" i="0">
                <a:solidFill>
                  <a:srgbClr val="242C38"/>
                </a:solidFill>
                <a:latin typeface="Consolas"/>
              </a:rPr>
              <a:t>) \</a:t>
            </a:r>
          </a:p>
          <a:p>
            <a:pPr>
              <a:lnSpc>
                <a:spcPct val="116000"/>
              </a:lnSpc>
              <a:spcAft>
                <a:spcPts val="0"/>
              </a:spcAft>
            </a:pPr>
            <a:r>
              <a:rPr sz="1500" b="0" i="0">
                <a:solidFill>
                  <a:srgbClr val="242C38"/>
                </a:solidFill>
                <a:latin typeface="Consolas"/>
              </a:rPr>
              <a:t>    .partitionBy(</a:t>
            </a:r>
            <a:r>
              <a:rPr sz="1500" b="0" i="0">
                <a:solidFill>
                  <a:srgbClr val="A31515"/>
                </a:solidFill>
                <a:latin typeface="Consolas"/>
              </a:rPr>
              <a:t>"ingest_date"</a:t>
            </a:r>
            <a:r>
              <a:rPr sz="1500" b="0" i="0">
                <a:solidFill>
                  <a:srgbClr val="242C38"/>
                </a:solidFill>
                <a:latin typeface="Consolas"/>
              </a:rPr>
              <a:t>).parquet(f</a:t>
            </a:r>
            <a:r>
              <a:rPr sz="1500" b="0" i="0">
                <a:solidFill>
                  <a:srgbClr val="A31515"/>
                </a:solidFill>
                <a:latin typeface="Consolas"/>
              </a:rPr>
              <a:t>"{WAREHOUSE}/bronze/transactions"</a:t>
            </a:r>
            <a:r>
              <a:rPr sz="1500" b="0" i="0">
                <a:solidFill>
                  <a:srgbClr val="242C38"/>
                </a:solidFill>
                <a:latin typeface="Consolas"/>
              </a:rPr>
              <a:t>)</a:t>
            </a:r>
          </a:p>
        </p:txBody>
      </p:sp>
      <p:sp>
        <p:nvSpPr>
          <p:cNvPr id="7" name="TextBox 6"/>
          <p:cNvSpPr txBox="1"/>
          <p:nvPr/>
        </p:nvSpPr>
        <p:spPr>
          <a:xfrm>
            <a:off x="658368" y="4364736"/>
            <a:ext cx="10874959" cy="457200"/>
          </a:xfrm>
          <a:prstGeom prst="rect">
            <a:avLst/>
          </a:prstGeom>
          <a:noFill/>
        </p:spPr>
        <p:txBody>
          <a:bodyPr wrap="square" lIns="0" tIns="0" rIns="0" bIns="0">
            <a:spAutoFit/>
          </a:bodyPr>
          <a:lstStyle/>
          <a:p>
            <a:r>
              <a:rPr sz="1400" b="0" i="0">
                <a:solidFill>
                  <a:srgbClr val="5B6775"/>
                </a:solidFill>
                <a:latin typeface="Segoe UI"/>
              </a:rPr>
              <a:t>No cleaning, no dedup, no joins. Bronze's only promise: this is what we received.</a:t>
            </a:r>
          </a:p>
        </p:txBody>
      </p:sp>
      <p:sp>
        <p:nvSpPr>
          <p:cNvPr id="8" name="Rectangle 7"/>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04  ·  Lakehouse: bronze, silver, gold</a:t>
            </a:r>
          </a:p>
        </p:txBody>
      </p:sp>
      <p:sp>
        <p:nvSpPr>
          <p:cNvPr id="10" name="TextBox 9"/>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33</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Silver: dedup, clean, then tag a reason</a:t>
            </a:r>
          </a:p>
        </p:txBody>
      </p:sp>
      <p:sp>
        <p:nvSpPr>
          <p:cNvPr id="4" name="Rectangle 3"/>
          <p:cNvSpPr/>
          <p:nvPr/>
        </p:nvSpPr>
        <p:spPr>
          <a:xfrm>
            <a:off x="658368" y="1481328"/>
            <a:ext cx="10874959" cy="2737104"/>
          </a:xfrm>
          <a:prstGeom prst="rect">
            <a:avLst/>
          </a:prstGeom>
          <a:solidFill>
            <a:srgbClr val="F5F7F9"/>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81328"/>
            <a:ext cx="43180" cy="2737104"/>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77824" y="1645920"/>
            <a:ext cx="10509199" cy="2462784"/>
          </a:xfrm>
          <a:prstGeom prst="rect">
            <a:avLst/>
          </a:prstGeom>
          <a:noFill/>
        </p:spPr>
        <p:txBody>
          <a:bodyPr wrap="square" lIns="0" tIns="0" rIns="0" bIns="0">
            <a:spAutoFit/>
          </a:bodyPr>
          <a:lstStyle/>
          <a:p>
            <a:pPr>
              <a:lnSpc>
                <a:spcPct val="116000"/>
              </a:lnSpc>
              <a:spcAft>
                <a:spcPts val="0"/>
              </a:spcAft>
            </a:pPr>
            <a:r>
              <a:rPr sz="1500" b="0" i="0">
                <a:solidFill>
                  <a:srgbClr val="242C38"/>
                </a:solidFill>
                <a:latin typeface="Consolas"/>
              </a:rPr>
              <a:t>dedup_rank = Window.partitionBy(</a:t>
            </a:r>
            <a:r>
              <a:rPr sz="1500" b="0" i="0">
                <a:solidFill>
                  <a:srgbClr val="A31515"/>
                </a:solidFill>
                <a:latin typeface="Consolas"/>
              </a:rPr>
              <a:t>"txn_id"</a:t>
            </a:r>
            <a:r>
              <a:rPr sz="1500" b="0" i="0">
                <a:solidFill>
                  <a:srgbClr val="242C38"/>
                </a:solidFill>
                <a:latin typeface="Consolas"/>
              </a:rPr>
              <a:t>) \</a:t>
            </a:r>
          </a:p>
          <a:p>
            <a:pPr>
              <a:lnSpc>
                <a:spcPct val="116000"/>
              </a:lnSpc>
              <a:spcAft>
                <a:spcPts val="0"/>
              </a:spcAft>
            </a:pPr>
            <a:r>
              <a:rPr sz="1500" b="0" i="0">
                <a:solidFill>
                  <a:srgbClr val="242C38"/>
                </a:solidFill>
                <a:latin typeface="Consolas"/>
              </a:rPr>
              <a:t>    .orderBy(F.monotonically_increasing_id())</a:t>
            </a:r>
          </a:p>
          <a:p>
            <a:pPr>
              <a:lnSpc>
                <a:spcPct val="116000"/>
              </a:lnSpc>
              <a:spcAft>
                <a:spcPts val="0"/>
              </a:spcAft>
            </a:pPr>
            <a:r>
              <a:rPr sz="1500" b="0" i="0">
                <a:solidFill>
                  <a:srgbClr val="242C38"/>
                </a:solidFill>
                <a:latin typeface="Consolas"/>
              </a:rPr>
              <a:t>deduped = bronze.withColumn(</a:t>
            </a:r>
            <a:r>
              <a:rPr sz="1500" b="0" i="0">
                <a:solidFill>
                  <a:srgbClr val="A31515"/>
                </a:solidFill>
                <a:latin typeface="Consolas"/>
              </a:rPr>
              <a:t>"rnk"</a:t>
            </a:r>
            <a:r>
              <a:rPr sz="1500" b="0" i="0">
                <a:solidFill>
                  <a:srgbClr val="242C38"/>
                </a:solidFill>
                <a:latin typeface="Consolas"/>
              </a:rPr>
              <a:t>,</a:t>
            </a:r>
          </a:p>
          <a:p>
            <a:pPr>
              <a:lnSpc>
                <a:spcPct val="116000"/>
              </a:lnSpc>
              <a:spcAft>
                <a:spcPts val="0"/>
              </a:spcAft>
            </a:pPr>
            <a:r>
              <a:rPr sz="1500" b="0" i="0">
                <a:solidFill>
                  <a:srgbClr val="242C38"/>
                </a:solidFill>
                <a:latin typeface="Consolas"/>
              </a:rPr>
              <a:t>    F.row_number().over(dedup_rank)).filter(</a:t>
            </a:r>
            <a:r>
              <a:rPr sz="1500" b="0" i="0">
                <a:solidFill>
                  <a:srgbClr val="A31515"/>
                </a:solidFill>
                <a:latin typeface="Consolas"/>
              </a:rPr>
              <a:t>"rnk = 1"</a:t>
            </a:r>
            <a:r>
              <a:rPr sz="1500" b="0" i="0">
                <a:solidFill>
                  <a:srgbClr val="242C38"/>
                </a:solidFill>
                <a:latin typeface="Consolas"/>
              </a:rPr>
              <a:t>)</a:t>
            </a:r>
          </a:p>
          <a:p>
            <a:pPr>
              <a:lnSpc>
                <a:spcPct val="116000"/>
              </a:lnSpc>
              <a:spcAft>
                <a:spcPts val="0"/>
              </a:spcAft>
            </a:pPr>
            <a:r>
              <a:rPr sz="1500" b="0" i="0">
                <a:solidFill>
                  <a:srgbClr val="242C38"/>
                </a:solidFill>
                <a:latin typeface="Consolas"/>
              </a:rPr>
              <a:t> </a:t>
            </a:r>
          </a:p>
          <a:p>
            <a:pPr>
              <a:lnSpc>
                <a:spcPct val="116000"/>
              </a:lnSpc>
              <a:spcAft>
                <a:spcPts val="0"/>
              </a:spcAft>
            </a:pPr>
            <a:r>
              <a:rPr sz="1500" b="0" i="0">
                <a:solidFill>
                  <a:srgbClr val="242C38"/>
                </a:solidFill>
                <a:latin typeface="Consolas"/>
              </a:rPr>
              <a:t>tagged = deduped.withColumn(</a:t>
            </a:r>
            <a:r>
              <a:rPr sz="1500" b="0" i="0">
                <a:solidFill>
                  <a:srgbClr val="A31515"/>
                </a:solidFill>
                <a:latin typeface="Consolas"/>
              </a:rPr>
              <a:t>"bad_reason"</a:t>
            </a:r>
            <a:r>
              <a:rPr sz="1500" b="0" i="0">
                <a:solidFill>
                  <a:srgbClr val="242C38"/>
                </a:solidFill>
                <a:latin typeface="Consolas"/>
              </a:rPr>
              <a:t>,</a:t>
            </a:r>
          </a:p>
          <a:p>
            <a:pPr>
              <a:lnSpc>
                <a:spcPct val="116000"/>
              </a:lnSpc>
              <a:spcAft>
                <a:spcPts val="0"/>
              </a:spcAft>
            </a:pPr>
            <a:r>
              <a:rPr sz="1500" b="0" i="0">
                <a:solidFill>
                  <a:srgbClr val="242C38"/>
                </a:solidFill>
                <a:latin typeface="Consolas"/>
              </a:rPr>
              <a:t>    F.when(F.col(</a:t>
            </a:r>
            <a:r>
              <a:rPr sz="1500" b="0" i="0">
                <a:solidFill>
                  <a:srgbClr val="A31515"/>
                </a:solidFill>
                <a:latin typeface="Consolas"/>
              </a:rPr>
              <a:t>"amount"</a:t>
            </a:r>
            <a:r>
              <a:rPr sz="1500" b="0" i="0">
                <a:solidFill>
                  <a:srgbClr val="242C38"/>
                </a:solidFill>
                <a:latin typeface="Consolas"/>
              </a:rPr>
              <a:t>) &lt; </a:t>
            </a:r>
            <a:r>
              <a:rPr sz="1500" b="0" i="0">
                <a:solidFill>
                  <a:srgbClr val="098658"/>
                </a:solidFill>
                <a:latin typeface="Consolas"/>
              </a:rPr>
              <a:t>0</a:t>
            </a:r>
            <a:r>
              <a:rPr sz="1500" b="0" i="0">
                <a:solidFill>
                  <a:srgbClr val="242C38"/>
                </a:solidFill>
                <a:latin typeface="Consolas"/>
              </a:rPr>
              <a:t>, </a:t>
            </a:r>
            <a:r>
              <a:rPr sz="1500" b="0" i="0">
                <a:solidFill>
                  <a:srgbClr val="A31515"/>
                </a:solidFill>
                <a:latin typeface="Consolas"/>
              </a:rPr>
              <a:t>"NEGATIVE_AMOUNT"</a:t>
            </a:r>
            <a:r>
              <a:rPr sz="1500" b="0" i="0">
                <a:solidFill>
                  <a:srgbClr val="242C38"/>
                </a:solidFill>
                <a:latin typeface="Consolas"/>
              </a:rPr>
              <a:t>)</a:t>
            </a:r>
          </a:p>
          <a:p>
            <a:pPr>
              <a:lnSpc>
                <a:spcPct val="116000"/>
              </a:lnSpc>
              <a:spcAft>
                <a:spcPts val="0"/>
              </a:spcAft>
            </a:pPr>
            <a:r>
              <a:rPr sz="1500" b="0" i="0">
                <a:solidFill>
                  <a:srgbClr val="242C38"/>
                </a:solidFill>
                <a:latin typeface="Consolas"/>
              </a:rPr>
              <a:t>     .when(F.col(</a:t>
            </a:r>
            <a:r>
              <a:rPr sz="1500" b="0" i="0">
                <a:solidFill>
                  <a:srgbClr val="A31515"/>
                </a:solidFill>
                <a:latin typeface="Consolas"/>
              </a:rPr>
              <a:t>"branch_code"</a:t>
            </a:r>
            <a:r>
              <a:rPr sz="1500" b="0" i="0">
                <a:solidFill>
                  <a:srgbClr val="242C38"/>
                </a:solidFill>
                <a:latin typeface="Consolas"/>
              </a:rPr>
              <a:t>).isNull(), </a:t>
            </a:r>
            <a:r>
              <a:rPr sz="1500" b="0" i="0">
                <a:solidFill>
                  <a:srgbClr val="A31515"/>
                </a:solidFill>
                <a:latin typeface="Consolas"/>
              </a:rPr>
              <a:t>"ORPHAN_ACCOUNT"</a:t>
            </a:r>
            <a:r>
              <a:rPr sz="1500" b="0" i="0">
                <a:solidFill>
                  <a:srgbClr val="242C38"/>
                </a:solidFill>
                <a:latin typeface="Consolas"/>
              </a:rPr>
              <a:t>))</a:t>
            </a:r>
          </a:p>
        </p:txBody>
      </p:sp>
      <p:sp>
        <p:nvSpPr>
          <p:cNvPr id="7" name="TextBox 6"/>
          <p:cNvSpPr txBox="1"/>
          <p:nvPr/>
        </p:nvSpPr>
        <p:spPr>
          <a:xfrm>
            <a:off x="658368" y="4364736"/>
            <a:ext cx="10874959" cy="457200"/>
          </a:xfrm>
          <a:prstGeom prst="rect">
            <a:avLst/>
          </a:prstGeom>
          <a:noFill/>
        </p:spPr>
        <p:txBody>
          <a:bodyPr wrap="square" lIns="0" tIns="0" rIns="0" bIns="0">
            <a:spAutoFit/>
          </a:bodyPr>
          <a:lstStyle/>
          <a:p>
            <a:r>
              <a:rPr sz="1400" b="0" i="0">
                <a:solidFill>
                  <a:srgbClr val="5B6775"/>
                </a:solidFill>
                <a:latin typeface="Segoe UI"/>
              </a:rPr>
              <a:t>bad_reason is null for good rows. A left join to accounts lets orphans survive to be caught.</a:t>
            </a:r>
          </a:p>
        </p:txBody>
      </p:sp>
      <p:sp>
        <p:nvSpPr>
          <p:cNvPr id="8" name="Rectangle 7"/>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04  ·  Lakehouse: bronze, silver, gold</a:t>
            </a:r>
          </a:p>
        </p:txBody>
      </p:sp>
      <p:sp>
        <p:nvSpPr>
          <p:cNvPr id="10" name="TextBox 9"/>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34</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The quarantine pattern: the middle path</a:t>
            </a:r>
          </a:p>
        </p:txBody>
      </p:sp>
      <p:graphicFrame>
        <p:nvGraphicFramePr>
          <p:cNvPr id="4" name="Table 3"/>
          <p:cNvGraphicFramePr>
            <a:graphicFrameLocks noGrp="1"/>
          </p:cNvGraphicFramePr>
          <p:nvPr/>
        </p:nvGraphicFramePr>
        <p:xfrm>
          <a:off x="658368" y="1481328"/>
          <a:ext cx="10874958" cy="1828800"/>
        </p:xfrm>
        <a:graphic>
          <a:graphicData uri="http://schemas.openxmlformats.org/drawingml/2006/table">
            <a:tbl>
              <a:tblPr firstRow="1" bandRow="1">
                <a:tableStyleId>{5C22544A-7EE6-4342-B048-85BDC9FD1C3A}</a:tableStyleId>
              </a:tblPr>
              <a:tblGrid>
                <a:gridCol w="4349983">
                  <a:extLst>
                    <a:ext uri="{9D8B030D-6E8A-4147-A177-3AD203B41FA5}">
                      <a16:colId xmlns:a16="http://schemas.microsoft.com/office/drawing/2014/main" val="20000"/>
                    </a:ext>
                  </a:extLst>
                </a:gridCol>
                <a:gridCol w="6524975">
                  <a:extLst>
                    <a:ext uri="{9D8B030D-6E8A-4147-A177-3AD203B41FA5}">
                      <a16:colId xmlns:a16="http://schemas.microsoft.com/office/drawing/2014/main" val="20001"/>
                    </a:ext>
                  </a:extLst>
                </a:gridCol>
              </a:tblGrid>
              <a:tr h="402336">
                <a:tc>
                  <a:txBody>
                    <a:bodyPr/>
                    <a:lstStyle/>
                    <a:p>
                      <a:r>
                        <a:rPr sz="1450" b="1" i="0">
                          <a:solidFill>
                            <a:srgbClr val="FFFFFF"/>
                          </a:solidFill>
                          <a:latin typeface="Segoe UI Semibold"/>
                        </a:rPr>
                        <a:t>Why not...</a:t>
                      </a:r>
                    </a:p>
                  </a:txBody>
                  <a:tcPr anchor="ctr">
                    <a:solidFill>
                      <a:srgbClr val="1F4E79"/>
                    </a:solidFill>
                  </a:tcPr>
                </a:tc>
                <a:tc>
                  <a:txBody>
                    <a:bodyPr/>
                    <a:lstStyle/>
                    <a:p>
                      <a:r>
                        <a:rPr sz="1450" b="1" i="0">
                          <a:solidFill>
                            <a:srgbClr val="FFFFFF"/>
                          </a:solidFill>
                          <a:latin typeface="Segoe UI Semibold"/>
                        </a:rPr>
                        <a:t>Because</a:t>
                      </a:r>
                    </a:p>
                  </a:txBody>
                  <a:tcPr anchor="ctr">
                    <a:solidFill>
                      <a:srgbClr val="1F4E79"/>
                    </a:solidFill>
                  </a:tcPr>
                </a:tc>
                <a:extLst>
                  <a:ext uri="{0D108BD9-81ED-4DB2-BD59-A6C34878D82A}">
                    <a16:rowId xmlns:a16="http://schemas.microsoft.com/office/drawing/2014/main" val="10000"/>
                  </a:ext>
                </a:extLst>
              </a:tr>
              <a:tr h="475488">
                <a:tc>
                  <a:txBody>
                    <a:bodyPr/>
                    <a:lstStyle/>
                    <a:p>
                      <a:pPr>
                        <a:lnSpc>
                          <a:spcPct val="106000"/>
                        </a:lnSpc>
                      </a:pPr>
                      <a:r>
                        <a:rPr sz="1400" b="1" i="0">
                          <a:solidFill>
                            <a:srgbClr val="242C38"/>
                          </a:solidFill>
                          <a:latin typeface="Segoe UI"/>
                        </a:rPr>
                        <a:t>...just drop bad rows</a:t>
                      </a:r>
                    </a:p>
                  </a:txBody>
                  <a:tcPr marT="36576" marB="36576" anchor="ctr">
                    <a:solidFill>
                      <a:srgbClr val="EEF3F8"/>
                    </a:solidFill>
                  </a:tcPr>
                </a:tc>
                <a:tc>
                  <a:txBody>
                    <a:bodyPr/>
                    <a:lstStyle/>
                    <a:p>
                      <a:pPr>
                        <a:lnSpc>
                          <a:spcPct val="106000"/>
                        </a:lnSpc>
                      </a:pPr>
                      <a:r>
                        <a:rPr sz="1400" b="0" i="0">
                          <a:solidFill>
                            <a:srgbClr val="242C38"/>
                          </a:solidFill>
                          <a:latin typeface="Segoe UI"/>
                        </a:rPr>
                        <a:t>nobody can answer how many rows were lost, or why</a:t>
                      </a:r>
                    </a:p>
                  </a:txBody>
                  <a:tcPr marT="36576" marB="36576" anchor="ctr">
                    <a:solidFill>
                      <a:srgbClr val="EEF3F8"/>
                    </a:solidFill>
                  </a:tcPr>
                </a:tc>
                <a:extLst>
                  <a:ext uri="{0D108BD9-81ED-4DB2-BD59-A6C34878D82A}">
                    <a16:rowId xmlns:a16="http://schemas.microsoft.com/office/drawing/2014/main" val="10001"/>
                  </a:ext>
                </a:extLst>
              </a:tr>
              <a:tr h="475488">
                <a:tc>
                  <a:txBody>
                    <a:bodyPr/>
                    <a:lstStyle/>
                    <a:p>
                      <a:pPr>
                        <a:lnSpc>
                          <a:spcPct val="106000"/>
                        </a:lnSpc>
                      </a:pPr>
                      <a:r>
                        <a:rPr sz="1400" b="1" i="0">
                          <a:solidFill>
                            <a:srgbClr val="242C38"/>
                          </a:solidFill>
                          <a:latin typeface="Segoe UI"/>
                        </a:rPr>
                        <a:t>...keep bad rows in silver</a:t>
                      </a:r>
                    </a:p>
                  </a:txBody>
                  <a:tcPr marT="36576" marB="36576" anchor="ctr">
                    <a:solidFill>
                      <a:srgbClr val="FFFFFF"/>
                    </a:solidFill>
                  </a:tcPr>
                </a:tc>
                <a:tc>
                  <a:txBody>
                    <a:bodyPr/>
                    <a:lstStyle/>
                    <a:p>
                      <a:pPr>
                        <a:lnSpc>
                          <a:spcPct val="106000"/>
                        </a:lnSpc>
                      </a:pPr>
                      <a:r>
                        <a:rPr sz="1400" b="0" i="0">
                          <a:solidFill>
                            <a:srgbClr val="242C38"/>
                          </a:solidFill>
                          <a:latin typeface="Segoe UI"/>
                        </a:rPr>
                        <a:t>a downstream sum now includes money that shouldn't count</a:t>
                      </a:r>
                    </a:p>
                  </a:txBody>
                  <a:tcPr marT="36576" marB="36576" anchor="ctr">
                    <a:solidFill>
                      <a:srgbClr val="FFFFFF"/>
                    </a:solidFill>
                  </a:tcPr>
                </a:tc>
                <a:extLst>
                  <a:ext uri="{0D108BD9-81ED-4DB2-BD59-A6C34878D82A}">
                    <a16:rowId xmlns:a16="http://schemas.microsoft.com/office/drawing/2014/main" val="10002"/>
                  </a:ext>
                </a:extLst>
              </a:tr>
              <a:tr h="475488">
                <a:tc>
                  <a:txBody>
                    <a:bodyPr/>
                    <a:lstStyle/>
                    <a:p>
                      <a:pPr>
                        <a:lnSpc>
                          <a:spcPct val="106000"/>
                        </a:lnSpc>
                      </a:pPr>
                      <a:r>
                        <a:rPr sz="1400" b="1" i="0">
                          <a:solidFill>
                            <a:srgbClr val="242C38"/>
                          </a:solidFill>
                          <a:latin typeface="Segoe UI"/>
                        </a:rPr>
                        <a:t>...fail the whole job</a:t>
                      </a:r>
                    </a:p>
                  </a:txBody>
                  <a:tcPr marT="36576" marB="36576" anchor="ctr">
                    <a:solidFill>
                      <a:srgbClr val="EEF3F8"/>
                    </a:solidFill>
                  </a:tcPr>
                </a:tc>
                <a:tc>
                  <a:txBody>
                    <a:bodyPr/>
                    <a:lstStyle/>
                    <a:p>
                      <a:pPr>
                        <a:lnSpc>
                          <a:spcPct val="106000"/>
                        </a:lnSpc>
                      </a:pPr>
                      <a:r>
                        <a:rPr sz="1400" b="0" i="0">
                          <a:solidFill>
                            <a:srgbClr val="242C38"/>
                          </a:solidFill>
                          <a:latin typeface="Segoe UI"/>
                        </a:rPr>
                        <a:t>one bad row out of 180,000 stops the whole night for nothing</a:t>
                      </a:r>
                    </a:p>
                  </a:txBody>
                  <a:tcPr marT="36576" marB="36576" anchor="ctr">
                    <a:solidFill>
                      <a:srgbClr val="EEF3F8"/>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658368" y="5724144"/>
            <a:ext cx="10874959" cy="502920"/>
          </a:xfrm>
          <a:prstGeom prst="rect">
            <a:avLst/>
          </a:prstGeom>
          <a:noFill/>
        </p:spPr>
        <p:txBody>
          <a:bodyPr wrap="square" lIns="0" tIns="0" rIns="0" bIns="0">
            <a:spAutoFit/>
          </a:bodyPr>
          <a:lstStyle/>
          <a:p>
            <a:r>
              <a:rPr sz="1300" b="0" i="1">
                <a:solidFill>
                  <a:srgbClr val="5B6775"/>
                </a:solidFill>
                <a:latin typeface="Segoe UI"/>
              </a:rPr>
              <a:t>A quarantine table needs a REASON column, not just the rejected rows.</a:t>
            </a:r>
          </a:p>
        </p:txBody>
      </p:sp>
      <p:sp>
        <p:nvSpPr>
          <p:cNvPr id="6" name="Rectangle 5"/>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04  ·  Lakehouse: bronze, silver, gold</a:t>
            </a:r>
          </a:p>
        </p:txBody>
      </p:sp>
      <p:sp>
        <p:nvSpPr>
          <p:cNvPr id="8" name="TextBox 7"/>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35</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Gold: one row per branch per day</a:t>
            </a:r>
          </a:p>
        </p:txBody>
      </p:sp>
      <p:sp>
        <p:nvSpPr>
          <p:cNvPr id="4" name="Rectangle 3"/>
          <p:cNvSpPr/>
          <p:nvPr/>
        </p:nvSpPr>
        <p:spPr>
          <a:xfrm>
            <a:off x="658368" y="1481328"/>
            <a:ext cx="10874959" cy="2157984"/>
          </a:xfrm>
          <a:prstGeom prst="rect">
            <a:avLst/>
          </a:prstGeom>
          <a:solidFill>
            <a:srgbClr val="F5F7F9"/>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81328"/>
            <a:ext cx="43180" cy="2157984"/>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77824" y="1645920"/>
            <a:ext cx="10509199" cy="1883664"/>
          </a:xfrm>
          <a:prstGeom prst="rect">
            <a:avLst/>
          </a:prstGeom>
          <a:noFill/>
        </p:spPr>
        <p:txBody>
          <a:bodyPr wrap="square" lIns="0" tIns="0" rIns="0" bIns="0">
            <a:spAutoFit/>
          </a:bodyPr>
          <a:lstStyle/>
          <a:p>
            <a:pPr>
              <a:lnSpc>
                <a:spcPct val="116000"/>
              </a:lnSpc>
              <a:spcAft>
                <a:spcPts val="0"/>
              </a:spcAft>
            </a:pPr>
            <a:r>
              <a:rPr sz="1500" b="0" i="0">
                <a:solidFill>
                  <a:srgbClr val="242C38"/>
                </a:solidFill>
                <a:latin typeface="Consolas"/>
              </a:rPr>
              <a:t>gold = (silver.groupBy(</a:t>
            </a:r>
            <a:r>
              <a:rPr sz="1500" b="0" i="0">
                <a:solidFill>
                  <a:srgbClr val="A31515"/>
                </a:solidFill>
                <a:latin typeface="Consolas"/>
              </a:rPr>
              <a:t>"branch_code"</a:t>
            </a:r>
            <a:r>
              <a:rPr sz="1500" b="0" i="0">
                <a:solidFill>
                  <a:srgbClr val="242C38"/>
                </a:solidFill>
                <a:latin typeface="Consolas"/>
              </a:rPr>
              <a:t>, </a:t>
            </a:r>
            <a:r>
              <a:rPr sz="1500" b="0" i="0">
                <a:solidFill>
                  <a:srgbClr val="A31515"/>
                </a:solidFill>
                <a:latin typeface="Consolas"/>
              </a:rPr>
              <a:t>"posting_date"</a:t>
            </a:r>
            <a:r>
              <a:rPr sz="1500" b="0" i="0">
                <a:solidFill>
                  <a:srgbClr val="242C38"/>
                </a:solidFill>
                <a:latin typeface="Consolas"/>
              </a:rPr>
              <a:t>)</a:t>
            </a:r>
          </a:p>
          <a:p>
            <a:pPr>
              <a:lnSpc>
                <a:spcPct val="116000"/>
              </a:lnSpc>
              <a:spcAft>
                <a:spcPts val="0"/>
              </a:spcAft>
            </a:pPr>
            <a:r>
              <a:rPr sz="1500" b="0" i="0">
                <a:solidFill>
                  <a:srgbClr val="242C38"/>
                </a:solidFill>
                <a:latin typeface="Consolas"/>
              </a:rPr>
              <a:t>    .agg(F.count(</a:t>
            </a:r>
            <a:r>
              <a:rPr sz="1500" b="0" i="0">
                <a:solidFill>
                  <a:srgbClr val="A31515"/>
                </a:solidFill>
                <a:latin typeface="Consolas"/>
              </a:rPr>
              <a:t>"*"</a:t>
            </a:r>
            <a:r>
              <a:rPr sz="1500" b="0" i="0">
                <a:solidFill>
                  <a:srgbClr val="242C38"/>
                </a:solidFill>
                <a:latin typeface="Consolas"/>
              </a:rPr>
              <a:t>).alias(</a:t>
            </a:r>
            <a:r>
              <a:rPr sz="1500" b="0" i="0">
                <a:solidFill>
                  <a:srgbClr val="A31515"/>
                </a:solidFill>
                <a:latin typeface="Consolas"/>
              </a:rPr>
              <a:t>"txn_count"</a:t>
            </a:r>
            <a:r>
              <a:rPr sz="1500" b="0" i="0">
                <a:solidFill>
                  <a:srgbClr val="242C38"/>
                </a:solidFill>
                <a:latin typeface="Consolas"/>
              </a:rPr>
              <a:t>),</a:t>
            </a:r>
          </a:p>
          <a:p>
            <a:pPr>
              <a:lnSpc>
                <a:spcPct val="116000"/>
              </a:lnSpc>
              <a:spcAft>
                <a:spcPts val="0"/>
              </a:spcAft>
            </a:pPr>
            <a:r>
              <a:rPr sz="1500" b="0" i="0">
                <a:solidFill>
                  <a:srgbClr val="242C38"/>
                </a:solidFill>
                <a:latin typeface="Consolas"/>
              </a:rPr>
              <a:t>         F.sum(</a:t>
            </a:r>
            <a:r>
              <a:rPr sz="1500" b="0" i="0">
                <a:solidFill>
                  <a:srgbClr val="A31515"/>
                </a:solidFill>
                <a:latin typeface="Consolas"/>
              </a:rPr>
              <a:t>"amount"</a:t>
            </a:r>
            <a:r>
              <a:rPr sz="1500" b="0" i="0">
                <a:solidFill>
                  <a:srgbClr val="242C38"/>
                </a:solidFill>
                <a:latin typeface="Consolas"/>
              </a:rPr>
              <a:t>).alias(</a:t>
            </a:r>
            <a:r>
              <a:rPr sz="1500" b="0" i="0">
                <a:solidFill>
                  <a:srgbClr val="A31515"/>
                </a:solidFill>
                <a:latin typeface="Consolas"/>
              </a:rPr>
              <a:t>"total_amount"</a:t>
            </a:r>
            <a:r>
              <a:rPr sz="1500" b="0" i="0">
                <a:solidFill>
                  <a:srgbClr val="242C38"/>
                </a:solidFill>
                <a:latin typeface="Consolas"/>
              </a:rPr>
              <a:t>),</a:t>
            </a:r>
          </a:p>
          <a:p>
            <a:pPr>
              <a:lnSpc>
                <a:spcPct val="116000"/>
              </a:lnSpc>
              <a:spcAft>
                <a:spcPts val="0"/>
              </a:spcAft>
            </a:pPr>
            <a:r>
              <a:rPr sz="1500" b="0" i="0">
                <a:solidFill>
                  <a:srgbClr val="242C38"/>
                </a:solidFill>
                <a:latin typeface="Consolas"/>
              </a:rPr>
              <a:t>         F.sum(F.when(F.col(</a:t>
            </a:r>
            <a:r>
              <a:rPr sz="1500" b="0" i="0">
                <a:solidFill>
                  <a:srgbClr val="A31515"/>
                </a:solidFill>
                <a:latin typeface="Consolas"/>
              </a:rPr>
              <a:t>"txn_type"</a:t>
            </a:r>
            <a:r>
              <a:rPr sz="1500" b="0" i="0">
                <a:solidFill>
                  <a:srgbClr val="242C38"/>
                </a:solidFill>
                <a:latin typeface="Consolas"/>
              </a:rPr>
              <a:t>) == </a:t>
            </a:r>
            <a:r>
              <a:rPr sz="1500" b="0" i="0">
                <a:solidFill>
                  <a:srgbClr val="A31515"/>
                </a:solidFill>
                <a:latin typeface="Consolas"/>
              </a:rPr>
              <a:t>"DEBIT"</a:t>
            </a:r>
            <a:r>
              <a:rPr sz="1500" b="0" i="0">
                <a:solidFill>
                  <a:srgbClr val="242C38"/>
                </a:solidFill>
                <a:latin typeface="Consolas"/>
              </a:rPr>
              <a:t>,</a:t>
            </a:r>
          </a:p>
          <a:p>
            <a:pPr>
              <a:lnSpc>
                <a:spcPct val="116000"/>
              </a:lnSpc>
              <a:spcAft>
                <a:spcPts val="0"/>
              </a:spcAft>
            </a:pPr>
            <a:r>
              <a:rPr sz="1500" b="0" i="0">
                <a:solidFill>
                  <a:srgbClr val="242C38"/>
                </a:solidFill>
                <a:latin typeface="Consolas"/>
              </a:rPr>
              <a:t>             F.col(</a:t>
            </a:r>
            <a:r>
              <a:rPr sz="1500" b="0" i="0">
                <a:solidFill>
                  <a:srgbClr val="A31515"/>
                </a:solidFill>
                <a:latin typeface="Consolas"/>
              </a:rPr>
              <a:t>"amount"</a:t>
            </a:r>
            <a:r>
              <a:rPr sz="1500" b="0" i="0">
                <a:solidFill>
                  <a:srgbClr val="242C38"/>
                </a:solidFill>
                <a:latin typeface="Consolas"/>
              </a:rPr>
              <a:t>)).otherwise(</a:t>
            </a:r>
            <a:r>
              <a:rPr sz="1500" b="0" i="0">
                <a:solidFill>
                  <a:srgbClr val="098658"/>
                </a:solidFill>
                <a:latin typeface="Consolas"/>
              </a:rPr>
              <a:t>0</a:t>
            </a:r>
            <a:r>
              <a:rPr sz="1500" b="0" i="0">
                <a:solidFill>
                  <a:srgbClr val="242C38"/>
                </a:solidFill>
                <a:latin typeface="Consolas"/>
              </a:rPr>
              <a:t>))</a:t>
            </a:r>
          </a:p>
          <a:p>
            <a:pPr>
              <a:lnSpc>
                <a:spcPct val="116000"/>
              </a:lnSpc>
              <a:spcAft>
                <a:spcPts val="0"/>
              </a:spcAft>
            </a:pPr>
            <a:r>
              <a:rPr sz="1500" b="0" i="0">
                <a:solidFill>
                  <a:srgbClr val="242C38"/>
                </a:solidFill>
                <a:latin typeface="Consolas"/>
              </a:rPr>
              <a:t>          .alias(</a:t>
            </a:r>
            <a:r>
              <a:rPr sz="1500" b="0" i="0">
                <a:solidFill>
                  <a:srgbClr val="A31515"/>
                </a:solidFill>
                <a:latin typeface="Consolas"/>
              </a:rPr>
              <a:t>"debit_amount"</a:t>
            </a:r>
            <a:r>
              <a:rPr sz="1500" b="0" i="0">
                <a:solidFill>
                  <a:srgbClr val="242C38"/>
                </a:solidFill>
                <a:latin typeface="Consolas"/>
              </a:rPr>
              <a:t>)))</a:t>
            </a:r>
          </a:p>
        </p:txBody>
      </p:sp>
      <p:sp>
        <p:nvSpPr>
          <p:cNvPr id="7" name="TextBox 6"/>
          <p:cNvSpPr txBox="1"/>
          <p:nvPr/>
        </p:nvSpPr>
        <p:spPr>
          <a:xfrm>
            <a:off x="658368" y="3785616"/>
            <a:ext cx="10874959" cy="457200"/>
          </a:xfrm>
          <a:prstGeom prst="rect">
            <a:avLst/>
          </a:prstGeom>
          <a:noFill/>
        </p:spPr>
        <p:txBody>
          <a:bodyPr wrap="square" lIns="0" tIns="0" rIns="0" bIns="0">
            <a:spAutoFit/>
          </a:bodyPr>
          <a:lstStyle/>
          <a:p>
            <a:r>
              <a:rPr sz="1400" b="0" i="0">
                <a:solidFill>
                  <a:srgbClr val="5B6775"/>
                </a:solidFill>
                <a:latin typeface="Segoe UI"/>
              </a:rPr>
              <a:t>36 branches times 3 days, about 100 rows. The specific numbers a branch manager reports on.</a:t>
            </a:r>
          </a:p>
        </p:txBody>
      </p:sp>
      <p:sp>
        <p:nvSpPr>
          <p:cNvPr id="8" name="Rectangle 7"/>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04  ·  Lakehouse: bronze, silver, gold</a:t>
            </a:r>
          </a:p>
        </p:txBody>
      </p:sp>
      <p:sp>
        <p:nvSpPr>
          <p:cNvPr id="10" name="TextBox 9"/>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36</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Partitioning is one decision per layer, not a default</a:t>
            </a:r>
          </a:p>
        </p:txBody>
      </p:sp>
      <p:graphicFrame>
        <p:nvGraphicFramePr>
          <p:cNvPr id="4" name="Table 3"/>
          <p:cNvGraphicFramePr>
            <a:graphicFrameLocks noGrp="1"/>
          </p:cNvGraphicFramePr>
          <p:nvPr/>
        </p:nvGraphicFramePr>
        <p:xfrm>
          <a:off x="658368" y="1481328"/>
          <a:ext cx="10874958" cy="2304288"/>
        </p:xfrm>
        <a:graphic>
          <a:graphicData uri="http://schemas.openxmlformats.org/drawingml/2006/table">
            <a:tbl>
              <a:tblPr firstRow="1" bandRow="1">
                <a:tableStyleId>{5C22544A-7EE6-4342-B048-85BDC9FD1C3A}</a:tableStyleId>
              </a:tblPr>
              <a:tblGrid>
                <a:gridCol w="2529060">
                  <a:extLst>
                    <a:ext uri="{9D8B030D-6E8A-4147-A177-3AD203B41FA5}">
                      <a16:colId xmlns:a16="http://schemas.microsoft.com/office/drawing/2014/main" val="20000"/>
                    </a:ext>
                  </a:extLst>
                </a:gridCol>
                <a:gridCol w="3034872">
                  <a:extLst>
                    <a:ext uri="{9D8B030D-6E8A-4147-A177-3AD203B41FA5}">
                      <a16:colId xmlns:a16="http://schemas.microsoft.com/office/drawing/2014/main" val="20001"/>
                    </a:ext>
                  </a:extLst>
                </a:gridCol>
                <a:gridCol w="5311026">
                  <a:extLst>
                    <a:ext uri="{9D8B030D-6E8A-4147-A177-3AD203B41FA5}">
                      <a16:colId xmlns:a16="http://schemas.microsoft.com/office/drawing/2014/main" val="20002"/>
                    </a:ext>
                  </a:extLst>
                </a:gridCol>
              </a:tblGrid>
              <a:tr h="402336">
                <a:tc>
                  <a:txBody>
                    <a:bodyPr/>
                    <a:lstStyle/>
                    <a:p>
                      <a:r>
                        <a:rPr sz="1450" b="1" i="0">
                          <a:solidFill>
                            <a:srgbClr val="FFFFFF"/>
                          </a:solidFill>
                          <a:latin typeface="Segoe UI Semibold"/>
                        </a:rPr>
                        <a:t>Layer</a:t>
                      </a:r>
                    </a:p>
                  </a:txBody>
                  <a:tcPr anchor="ctr">
                    <a:solidFill>
                      <a:srgbClr val="1F4E79"/>
                    </a:solidFill>
                  </a:tcPr>
                </a:tc>
                <a:tc>
                  <a:txBody>
                    <a:bodyPr/>
                    <a:lstStyle/>
                    <a:p>
                      <a:r>
                        <a:rPr sz="1450" b="1" i="0">
                          <a:solidFill>
                            <a:srgbClr val="FFFFFF"/>
                          </a:solidFill>
                          <a:latin typeface="Segoe UI Semibold"/>
                        </a:rPr>
                        <a:t>Partition by</a:t>
                      </a:r>
                    </a:p>
                  </a:txBody>
                  <a:tcPr anchor="ctr">
                    <a:solidFill>
                      <a:srgbClr val="1F4E79"/>
                    </a:solidFill>
                  </a:tcPr>
                </a:tc>
                <a:tc>
                  <a:txBody>
                    <a:bodyPr/>
                    <a:lstStyle/>
                    <a:p>
                      <a:r>
                        <a:rPr sz="1450" b="1" i="0">
                          <a:solidFill>
                            <a:srgbClr val="FFFFFF"/>
                          </a:solidFill>
                          <a:latin typeface="Segoe UI Semibold"/>
                        </a:rPr>
                        <a:t>Why</a:t>
                      </a:r>
                    </a:p>
                  </a:txBody>
                  <a:tcPr anchor="ctr">
                    <a:solidFill>
                      <a:srgbClr val="1F4E79"/>
                    </a:solidFill>
                  </a:tcPr>
                </a:tc>
                <a:extLst>
                  <a:ext uri="{0D108BD9-81ED-4DB2-BD59-A6C34878D82A}">
                    <a16:rowId xmlns:a16="http://schemas.microsoft.com/office/drawing/2014/main" val="10000"/>
                  </a:ext>
                </a:extLst>
              </a:tr>
              <a:tr h="475488">
                <a:tc>
                  <a:txBody>
                    <a:bodyPr/>
                    <a:lstStyle/>
                    <a:p>
                      <a:pPr>
                        <a:lnSpc>
                          <a:spcPct val="106000"/>
                        </a:lnSpc>
                      </a:pPr>
                      <a:r>
                        <a:rPr sz="1400" b="1" i="0">
                          <a:solidFill>
                            <a:srgbClr val="242C38"/>
                          </a:solidFill>
                          <a:latin typeface="Segoe UI"/>
                        </a:rPr>
                        <a:t>Bronze</a:t>
                      </a:r>
                    </a:p>
                  </a:txBody>
                  <a:tcPr marT="36576" marB="36576" anchor="ctr">
                    <a:solidFill>
                      <a:srgbClr val="EEF3F8"/>
                    </a:solidFill>
                  </a:tcPr>
                </a:tc>
                <a:tc>
                  <a:txBody>
                    <a:bodyPr/>
                    <a:lstStyle/>
                    <a:p>
                      <a:pPr>
                        <a:lnSpc>
                          <a:spcPct val="106000"/>
                        </a:lnSpc>
                      </a:pPr>
                      <a:r>
                        <a:rPr sz="1400" b="0" i="0">
                          <a:solidFill>
                            <a:srgbClr val="242C38"/>
                          </a:solidFill>
                          <a:latin typeface="Segoe UI"/>
                        </a:rPr>
                        <a:t>ingest date</a:t>
                      </a:r>
                    </a:p>
                  </a:txBody>
                  <a:tcPr marT="36576" marB="36576" anchor="ctr">
                    <a:solidFill>
                      <a:srgbClr val="EEF3F8"/>
                    </a:solidFill>
                  </a:tcPr>
                </a:tc>
                <a:tc>
                  <a:txBody>
                    <a:bodyPr/>
                    <a:lstStyle/>
                    <a:p>
                      <a:pPr>
                        <a:lnSpc>
                          <a:spcPct val="106000"/>
                        </a:lnSpc>
                      </a:pPr>
                      <a:r>
                        <a:rPr sz="1400" b="0" i="0">
                          <a:solidFill>
                            <a:srgbClr val="242C38"/>
                          </a:solidFill>
                          <a:latin typeface="Segoe UI"/>
                        </a:rPr>
                        <a:t>matches how files actually arrive, one per day</a:t>
                      </a:r>
                    </a:p>
                  </a:txBody>
                  <a:tcPr marT="36576" marB="36576" anchor="ctr">
                    <a:solidFill>
                      <a:srgbClr val="EEF3F8"/>
                    </a:solidFill>
                  </a:tcPr>
                </a:tc>
                <a:extLst>
                  <a:ext uri="{0D108BD9-81ED-4DB2-BD59-A6C34878D82A}">
                    <a16:rowId xmlns:a16="http://schemas.microsoft.com/office/drawing/2014/main" val="10001"/>
                  </a:ext>
                </a:extLst>
              </a:tr>
              <a:tr h="475488">
                <a:tc>
                  <a:txBody>
                    <a:bodyPr/>
                    <a:lstStyle/>
                    <a:p>
                      <a:pPr>
                        <a:lnSpc>
                          <a:spcPct val="106000"/>
                        </a:lnSpc>
                      </a:pPr>
                      <a:r>
                        <a:rPr sz="1400" b="1" i="0">
                          <a:solidFill>
                            <a:srgbClr val="242C38"/>
                          </a:solidFill>
                          <a:latin typeface="Segoe UI"/>
                        </a:rPr>
                        <a:t>Silver</a:t>
                      </a:r>
                    </a:p>
                  </a:txBody>
                  <a:tcPr marT="36576" marB="36576" anchor="ctr">
                    <a:solidFill>
                      <a:srgbClr val="FFFFFF"/>
                    </a:solidFill>
                  </a:tcPr>
                </a:tc>
                <a:tc>
                  <a:txBody>
                    <a:bodyPr/>
                    <a:lstStyle/>
                    <a:p>
                      <a:pPr>
                        <a:lnSpc>
                          <a:spcPct val="106000"/>
                        </a:lnSpc>
                      </a:pPr>
                      <a:r>
                        <a:rPr sz="1400" b="0" i="0">
                          <a:solidFill>
                            <a:srgbClr val="242C38"/>
                          </a:solidFill>
                          <a:latin typeface="Segoe UI"/>
                        </a:rPr>
                        <a:t>posting date</a:t>
                      </a:r>
                    </a:p>
                  </a:txBody>
                  <a:tcPr marT="36576" marB="36576" anchor="ctr">
                    <a:solidFill>
                      <a:srgbClr val="FFFFFF"/>
                    </a:solidFill>
                  </a:tcPr>
                </a:tc>
                <a:tc>
                  <a:txBody>
                    <a:bodyPr/>
                    <a:lstStyle/>
                    <a:p>
                      <a:pPr>
                        <a:lnSpc>
                          <a:spcPct val="106000"/>
                        </a:lnSpc>
                      </a:pPr>
                      <a:r>
                        <a:rPr sz="1400" b="0" i="0">
                          <a:solidFill>
                            <a:srgbClr val="242C38"/>
                          </a:solidFill>
                          <a:latin typeface="Segoe UI"/>
                        </a:rPr>
                        <a:t>matches how analysts and gold actually query</a:t>
                      </a:r>
                    </a:p>
                  </a:txBody>
                  <a:tcPr marT="36576" marB="36576" anchor="ctr">
                    <a:solidFill>
                      <a:srgbClr val="FFFFFF"/>
                    </a:solidFill>
                  </a:tcPr>
                </a:tc>
                <a:extLst>
                  <a:ext uri="{0D108BD9-81ED-4DB2-BD59-A6C34878D82A}">
                    <a16:rowId xmlns:a16="http://schemas.microsoft.com/office/drawing/2014/main" val="10002"/>
                  </a:ext>
                </a:extLst>
              </a:tr>
              <a:tr h="475488">
                <a:tc>
                  <a:txBody>
                    <a:bodyPr/>
                    <a:lstStyle/>
                    <a:p>
                      <a:pPr>
                        <a:lnSpc>
                          <a:spcPct val="106000"/>
                        </a:lnSpc>
                      </a:pPr>
                      <a:r>
                        <a:rPr sz="1400" b="1" i="0">
                          <a:solidFill>
                            <a:srgbClr val="242C38"/>
                          </a:solidFill>
                          <a:latin typeface="Segoe UI"/>
                        </a:rPr>
                        <a:t>Quarantine</a:t>
                      </a:r>
                    </a:p>
                  </a:txBody>
                  <a:tcPr marT="36576" marB="36576" anchor="ctr">
                    <a:solidFill>
                      <a:srgbClr val="EEF3F8"/>
                    </a:solidFill>
                  </a:tcPr>
                </a:tc>
                <a:tc>
                  <a:txBody>
                    <a:bodyPr/>
                    <a:lstStyle/>
                    <a:p>
                      <a:pPr>
                        <a:lnSpc>
                          <a:spcPct val="106000"/>
                        </a:lnSpc>
                      </a:pPr>
                      <a:r>
                        <a:rPr sz="1400" b="0" i="0">
                          <a:solidFill>
                            <a:srgbClr val="242C38"/>
                          </a:solidFill>
                          <a:latin typeface="Segoe UI"/>
                        </a:rPr>
                        <a:t>none</a:t>
                      </a:r>
                    </a:p>
                  </a:txBody>
                  <a:tcPr marT="36576" marB="36576" anchor="ctr">
                    <a:solidFill>
                      <a:srgbClr val="EEF3F8"/>
                    </a:solidFill>
                  </a:tcPr>
                </a:tc>
                <a:tc>
                  <a:txBody>
                    <a:bodyPr/>
                    <a:lstStyle/>
                    <a:p>
                      <a:pPr>
                        <a:lnSpc>
                          <a:spcPct val="106000"/>
                        </a:lnSpc>
                      </a:pPr>
                      <a:r>
                        <a:rPr sz="1400" b="0" i="0">
                          <a:solidFill>
                            <a:srgbClr val="242C38"/>
                          </a:solidFill>
                          <a:latin typeface="Segoe UI"/>
                        </a:rPr>
                        <a:t>small, read as a whole, nothing to prune</a:t>
                      </a:r>
                    </a:p>
                  </a:txBody>
                  <a:tcPr marT="36576" marB="36576" anchor="ctr">
                    <a:solidFill>
                      <a:srgbClr val="EEF3F8"/>
                    </a:solidFill>
                  </a:tcPr>
                </a:tc>
                <a:extLst>
                  <a:ext uri="{0D108BD9-81ED-4DB2-BD59-A6C34878D82A}">
                    <a16:rowId xmlns:a16="http://schemas.microsoft.com/office/drawing/2014/main" val="10003"/>
                  </a:ext>
                </a:extLst>
              </a:tr>
              <a:tr h="475488">
                <a:tc>
                  <a:txBody>
                    <a:bodyPr/>
                    <a:lstStyle/>
                    <a:p>
                      <a:pPr>
                        <a:lnSpc>
                          <a:spcPct val="106000"/>
                        </a:lnSpc>
                      </a:pPr>
                      <a:r>
                        <a:rPr sz="1400" b="1" i="0">
                          <a:solidFill>
                            <a:srgbClr val="242C38"/>
                          </a:solidFill>
                          <a:latin typeface="Segoe UI"/>
                        </a:rPr>
                        <a:t>Gold</a:t>
                      </a:r>
                    </a:p>
                  </a:txBody>
                  <a:tcPr marT="36576" marB="36576" anchor="ctr">
                    <a:solidFill>
                      <a:srgbClr val="FFFFFF"/>
                    </a:solidFill>
                  </a:tcPr>
                </a:tc>
                <a:tc>
                  <a:txBody>
                    <a:bodyPr/>
                    <a:lstStyle/>
                    <a:p>
                      <a:pPr>
                        <a:lnSpc>
                          <a:spcPct val="106000"/>
                        </a:lnSpc>
                      </a:pPr>
                      <a:r>
                        <a:rPr sz="1400" b="0" i="0">
                          <a:solidFill>
                            <a:srgbClr val="242C38"/>
                          </a:solidFill>
                          <a:latin typeface="Segoe UI"/>
                        </a:rPr>
                        <a:t>none</a:t>
                      </a:r>
                    </a:p>
                  </a:txBody>
                  <a:tcPr marT="36576" marB="36576" anchor="ctr">
                    <a:solidFill>
                      <a:srgbClr val="FFFFFF"/>
                    </a:solidFill>
                  </a:tcPr>
                </a:tc>
                <a:tc>
                  <a:txBody>
                    <a:bodyPr/>
                    <a:lstStyle/>
                    <a:p>
                      <a:pPr>
                        <a:lnSpc>
                          <a:spcPct val="106000"/>
                        </a:lnSpc>
                      </a:pPr>
                      <a:r>
                        <a:rPr sz="1400" b="0" i="0">
                          <a:solidFill>
                            <a:srgbClr val="242C38"/>
                          </a:solidFill>
                          <a:latin typeface="Segoe UI"/>
                        </a:rPr>
                        <a:t>small and aggregated, any query scans it in a blink</a:t>
                      </a:r>
                    </a:p>
                  </a:txBody>
                  <a:tcPr marT="36576" marB="36576" anchor="ctr">
                    <a:solidFill>
                      <a:srgbClr val="FFFFFF"/>
                    </a:solidFill>
                  </a:tcPr>
                </a:tc>
                <a:extLst>
                  <a:ext uri="{0D108BD9-81ED-4DB2-BD59-A6C34878D82A}">
                    <a16:rowId xmlns:a16="http://schemas.microsoft.com/office/drawing/2014/main" val="10004"/>
                  </a:ext>
                </a:extLst>
              </a:tr>
            </a:tbl>
          </a:graphicData>
        </a:graphic>
      </p:graphicFrame>
      <p:sp>
        <p:nvSpPr>
          <p:cNvPr id="5" name="TextBox 4"/>
          <p:cNvSpPr txBox="1"/>
          <p:nvPr/>
        </p:nvSpPr>
        <p:spPr>
          <a:xfrm>
            <a:off x="658368" y="5724144"/>
            <a:ext cx="10874959" cy="502920"/>
          </a:xfrm>
          <a:prstGeom prst="rect">
            <a:avLst/>
          </a:prstGeom>
          <a:noFill/>
        </p:spPr>
        <p:txBody>
          <a:bodyPr wrap="square" lIns="0" tIns="0" rIns="0" bIns="0">
            <a:spAutoFit/>
          </a:bodyPr>
          <a:lstStyle/>
          <a:p>
            <a:r>
              <a:rPr sz="1300" b="0" i="1">
                <a:solidFill>
                  <a:srgbClr val="5B6775"/>
                </a:solidFill>
                <a:latin typeface="Segoe UI"/>
              </a:rPr>
              <a:t>Partitioning by account_id, 12,000 distinct values, would make 12,000 tiny folders.</a:t>
            </a:r>
          </a:p>
        </p:txBody>
      </p:sp>
      <p:sp>
        <p:nvSpPr>
          <p:cNvPr id="6" name="Rectangle 5"/>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04  ·  Lakehouse: bronze, silver, gold</a:t>
            </a:r>
          </a:p>
        </p:txBody>
      </p:sp>
      <p:sp>
        <p:nvSpPr>
          <p:cNvPr id="8" name="TextBox 7"/>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37</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Reprocess one day, without touching the other 29</a:t>
            </a:r>
          </a:p>
        </p:txBody>
      </p:sp>
      <p:sp>
        <p:nvSpPr>
          <p:cNvPr id="4" name="Rectangle 3"/>
          <p:cNvSpPr/>
          <p:nvPr/>
        </p:nvSpPr>
        <p:spPr>
          <a:xfrm>
            <a:off x="658368" y="1481328"/>
            <a:ext cx="10874959" cy="2157984"/>
          </a:xfrm>
          <a:prstGeom prst="rect">
            <a:avLst/>
          </a:prstGeom>
          <a:solidFill>
            <a:srgbClr val="F5F7F9"/>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81328"/>
            <a:ext cx="43180" cy="2157984"/>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77824" y="1645920"/>
            <a:ext cx="10509199" cy="1883664"/>
          </a:xfrm>
          <a:prstGeom prst="rect">
            <a:avLst/>
          </a:prstGeom>
          <a:noFill/>
        </p:spPr>
        <p:txBody>
          <a:bodyPr wrap="square" lIns="0" tIns="0" rIns="0" bIns="0">
            <a:spAutoFit/>
          </a:bodyPr>
          <a:lstStyle/>
          <a:p>
            <a:pPr>
              <a:lnSpc>
                <a:spcPct val="116000"/>
              </a:lnSpc>
              <a:spcAft>
                <a:spcPts val="0"/>
              </a:spcAft>
            </a:pPr>
            <a:r>
              <a:rPr sz="1500" b="0" i="0">
                <a:solidFill>
                  <a:srgbClr val="242C38"/>
                </a:solidFill>
                <a:latin typeface="Consolas"/>
              </a:rPr>
              <a:t>spark.conf.set(</a:t>
            </a:r>
          </a:p>
          <a:p>
            <a:pPr>
              <a:lnSpc>
                <a:spcPct val="116000"/>
              </a:lnSpc>
              <a:spcAft>
                <a:spcPts val="0"/>
              </a:spcAft>
            </a:pPr>
            <a:r>
              <a:rPr sz="1500" b="0" i="0">
                <a:solidFill>
                  <a:srgbClr val="242C38"/>
                </a:solidFill>
                <a:latin typeface="Consolas"/>
              </a:rPr>
              <a:t>    </a:t>
            </a:r>
            <a:r>
              <a:rPr sz="1500" b="0" i="0">
                <a:solidFill>
                  <a:srgbClr val="A31515"/>
                </a:solidFill>
                <a:latin typeface="Consolas"/>
              </a:rPr>
              <a:t>"spark.sql.sources.partitionOverwriteMode"</a:t>
            </a:r>
            <a:r>
              <a:rPr sz="1500" b="0" i="0">
                <a:solidFill>
                  <a:srgbClr val="242C38"/>
                </a:solidFill>
                <a:latin typeface="Consolas"/>
              </a:rPr>
              <a:t>, </a:t>
            </a:r>
            <a:r>
              <a:rPr sz="1500" b="0" i="0">
                <a:solidFill>
                  <a:srgbClr val="A31515"/>
                </a:solidFill>
                <a:latin typeface="Consolas"/>
              </a:rPr>
              <a:t>"dynamic"</a:t>
            </a:r>
            <a:r>
              <a:rPr sz="1500" b="0" i="0">
                <a:solidFill>
                  <a:srgbClr val="242C38"/>
                </a:solidFill>
                <a:latin typeface="Consolas"/>
              </a:rPr>
              <a:t>)</a:t>
            </a:r>
          </a:p>
          <a:p>
            <a:pPr>
              <a:lnSpc>
                <a:spcPct val="116000"/>
              </a:lnSpc>
              <a:spcAft>
                <a:spcPts val="0"/>
              </a:spcAft>
            </a:pPr>
            <a:r>
              <a:rPr sz="1500" b="0" i="0">
                <a:solidFill>
                  <a:srgbClr val="242C38"/>
                </a:solidFill>
                <a:latin typeface="Consolas"/>
              </a:rPr>
              <a:t> </a:t>
            </a:r>
          </a:p>
          <a:p>
            <a:pPr>
              <a:lnSpc>
                <a:spcPct val="116000"/>
              </a:lnSpc>
              <a:spcAft>
                <a:spcPts val="0"/>
              </a:spcAft>
            </a:pPr>
            <a:r>
              <a:rPr sz="1500" b="0" i="0">
                <a:solidFill>
                  <a:srgbClr val="242C38"/>
                </a:solidFill>
                <a:latin typeface="Consolas"/>
              </a:rPr>
              <a:t>redo_clean.write.mode(</a:t>
            </a:r>
            <a:r>
              <a:rPr sz="1500" b="0" i="0">
                <a:solidFill>
                  <a:srgbClr val="A31515"/>
                </a:solidFill>
                <a:latin typeface="Consolas"/>
              </a:rPr>
              <a:t>"overwrite"</a:t>
            </a:r>
            <a:r>
              <a:rPr sz="1500" b="0" i="0">
                <a:solidFill>
                  <a:srgbClr val="242C38"/>
                </a:solidFill>
                <a:latin typeface="Consolas"/>
              </a:rPr>
              <a:t>) \</a:t>
            </a:r>
          </a:p>
          <a:p>
            <a:pPr>
              <a:lnSpc>
                <a:spcPct val="116000"/>
              </a:lnSpc>
              <a:spcAft>
                <a:spcPts val="0"/>
              </a:spcAft>
            </a:pPr>
            <a:r>
              <a:rPr sz="1500" b="0" i="0">
                <a:solidFill>
                  <a:srgbClr val="242C38"/>
                </a:solidFill>
                <a:latin typeface="Consolas"/>
              </a:rPr>
              <a:t>    .partitionBy(</a:t>
            </a:r>
            <a:r>
              <a:rPr sz="1500" b="0" i="0">
                <a:solidFill>
                  <a:srgbClr val="A31515"/>
                </a:solidFill>
                <a:latin typeface="Consolas"/>
              </a:rPr>
              <a:t>"posting_date"</a:t>
            </a:r>
            <a:r>
              <a:rPr sz="1500" b="0" i="0">
                <a:solidFill>
                  <a:srgbClr val="242C38"/>
                </a:solidFill>
                <a:latin typeface="Consolas"/>
              </a:rPr>
              <a:t>) \</a:t>
            </a:r>
          </a:p>
          <a:p>
            <a:pPr>
              <a:lnSpc>
                <a:spcPct val="116000"/>
              </a:lnSpc>
              <a:spcAft>
                <a:spcPts val="0"/>
              </a:spcAft>
            </a:pPr>
            <a:r>
              <a:rPr sz="1500" b="0" i="0">
                <a:solidFill>
                  <a:srgbClr val="242C38"/>
                </a:solidFill>
                <a:latin typeface="Consolas"/>
              </a:rPr>
              <a:t>    .parquet(f</a:t>
            </a:r>
            <a:r>
              <a:rPr sz="1500" b="0" i="0">
                <a:solidFill>
                  <a:srgbClr val="A31515"/>
                </a:solidFill>
                <a:latin typeface="Consolas"/>
              </a:rPr>
              <a:t>"{WAREHOUSE}/silver/transactions"</a:t>
            </a:r>
            <a:r>
              <a:rPr sz="1500" b="0" i="0">
                <a:solidFill>
                  <a:srgbClr val="242C38"/>
                </a:solidFill>
                <a:latin typeface="Consolas"/>
              </a:rPr>
              <a:t>)</a:t>
            </a:r>
          </a:p>
        </p:txBody>
      </p:sp>
      <p:sp>
        <p:nvSpPr>
          <p:cNvPr id="7" name="TextBox 6"/>
          <p:cNvSpPr txBox="1"/>
          <p:nvPr/>
        </p:nvSpPr>
        <p:spPr>
          <a:xfrm>
            <a:off x="658368" y="3785616"/>
            <a:ext cx="10874959" cy="457200"/>
          </a:xfrm>
          <a:prstGeom prst="rect">
            <a:avLst/>
          </a:prstGeom>
          <a:noFill/>
        </p:spPr>
        <p:txBody>
          <a:bodyPr wrap="square" lIns="0" tIns="0" rIns="0" bIns="0">
            <a:spAutoFit/>
          </a:bodyPr>
          <a:lstStyle/>
          <a:p>
            <a:r>
              <a:rPr sz="1400" b="0" i="0">
                <a:solidFill>
                  <a:srgbClr val="5B6775"/>
                </a:solidFill>
                <a:latin typeface="Segoe UI"/>
              </a:rPr>
              <a:t>Without dynamic mode, this overwrite silently deletes every other day's silver data.</a:t>
            </a:r>
          </a:p>
        </p:txBody>
      </p:sp>
      <p:sp>
        <p:nvSpPr>
          <p:cNvPr id="8" name="Rectangle 7"/>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04  ·  Lakehouse: bronze, silver, gold</a:t>
            </a:r>
          </a:p>
        </p:txBody>
      </p:sp>
      <p:sp>
        <p:nvSpPr>
          <p:cNvPr id="10" name="TextBox 9"/>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38</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Reprocessing one day, end to end</a:t>
            </a:r>
          </a:p>
        </p:txBody>
      </p:sp>
      <p:sp>
        <p:nvSpPr>
          <p:cNvPr id="4" name="Rectangle 3"/>
          <p:cNvSpPr/>
          <p:nvPr/>
        </p:nvSpPr>
        <p:spPr>
          <a:xfrm>
            <a:off x="658368" y="1801368"/>
            <a:ext cx="1984796" cy="2834640"/>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801368"/>
            <a:ext cx="1984796" cy="40640"/>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2020824"/>
            <a:ext cx="1655612" cy="310896"/>
          </a:xfrm>
          <a:prstGeom prst="rect">
            <a:avLst/>
          </a:prstGeom>
          <a:noFill/>
        </p:spPr>
        <p:txBody>
          <a:bodyPr wrap="square" lIns="0" tIns="0" rIns="0" bIns="0">
            <a:spAutoFit/>
          </a:bodyPr>
          <a:lstStyle/>
          <a:p>
            <a:r>
              <a:rPr sz="2000" b="1" i="0">
                <a:solidFill>
                  <a:srgbClr val="2E74B5"/>
                </a:solidFill>
                <a:latin typeface="Segoe UI Semibold"/>
              </a:rPr>
              <a:t>1</a:t>
            </a:r>
          </a:p>
        </p:txBody>
      </p:sp>
      <p:sp>
        <p:nvSpPr>
          <p:cNvPr id="7" name="TextBox 6"/>
          <p:cNvSpPr txBox="1"/>
          <p:nvPr/>
        </p:nvSpPr>
        <p:spPr>
          <a:xfrm>
            <a:off x="822960" y="2404872"/>
            <a:ext cx="1655612" cy="566928"/>
          </a:xfrm>
          <a:prstGeom prst="rect">
            <a:avLst/>
          </a:prstGeom>
          <a:noFill/>
        </p:spPr>
        <p:txBody>
          <a:bodyPr wrap="square" lIns="0" tIns="0" rIns="0" bIns="0">
            <a:spAutoFit/>
          </a:bodyPr>
          <a:lstStyle/>
          <a:p>
            <a:pPr>
              <a:lnSpc>
                <a:spcPct val="105000"/>
              </a:lnSpc>
            </a:pPr>
            <a:r>
              <a:rPr sz="1550" b="1" i="0">
                <a:solidFill>
                  <a:srgbClr val="1F4E79"/>
                </a:solidFill>
                <a:latin typeface="Segoe UI Semibold"/>
              </a:rPr>
              <a:t>Snapshot</a:t>
            </a:r>
          </a:p>
        </p:txBody>
      </p:sp>
      <p:sp>
        <p:nvSpPr>
          <p:cNvPr id="8" name="TextBox 7"/>
          <p:cNvSpPr txBox="1"/>
          <p:nvPr/>
        </p:nvSpPr>
        <p:spPr>
          <a:xfrm>
            <a:off x="822960" y="3044952"/>
            <a:ext cx="1655612" cy="1417320"/>
          </a:xfrm>
          <a:prstGeom prst="rect">
            <a:avLst/>
          </a:prstGeom>
          <a:noFill/>
        </p:spPr>
        <p:txBody>
          <a:bodyPr wrap="square" lIns="0" tIns="0" rIns="0" bIns="0">
            <a:spAutoFit/>
          </a:bodyPr>
          <a:lstStyle/>
          <a:p>
            <a:pPr>
              <a:lnSpc>
                <a:spcPct val="116000"/>
              </a:lnSpc>
            </a:pPr>
            <a:r>
              <a:rPr sz="1300" b="0" i="0">
                <a:solidFill>
                  <a:srgbClr val="5B6775"/>
                </a:solidFill>
                <a:latin typeface="Segoe UI"/>
              </a:rPr>
              <a:t>count the other two days' rows, before touching anything</a:t>
            </a:r>
          </a:p>
        </p:txBody>
      </p:sp>
      <p:sp>
        <p:nvSpPr>
          <p:cNvPr id="9" name="Rectangle 8"/>
          <p:cNvSpPr/>
          <p:nvPr/>
        </p:nvSpPr>
        <p:spPr>
          <a:xfrm>
            <a:off x="2880908" y="1801368"/>
            <a:ext cx="1984796" cy="2834640"/>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880908" y="1801368"/>
            <a:ext cx="1984796" cy="40640"/>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045500" y="2020824"/>
            <a:ext cx="1655612" cy="310896"/>
          </a:xfrm>
          <a:prstGeom prst="rect">
            <a:avLst/>
          </a:prstGeom>
          <a:noFill/>
        </p:spPr>
        <p:txBody>
          <a:bodyPr wrap="square" lIns="0" tIns="0" rIns="0" bIns="0">
            <a:spAutoFit/>
          </a:bodyPr>
          <a:lstStyle/>
          <a:p>
            <a:r>
              <a:rPr sz="2000" b="1" i="0">
                <a:solidFill>
                  <a:srgbClr val="2E74B5"/>
                </a:solidFill>
                <a:latin typeface="Segoe UI Semibold"/>
              </a:rPr>
              <a:t>2</a:t>
            </a:r>
          </a:p>
        </p:txBody>
      </p:sp>
      <p:sp>
        <p:nvSpPr>
          <p:cNvPr id="12" name="TextBox 11"/>
          <p:cNvSpPr txBox="1"/>
          <p:nvPr/>
        </p:nvSpPr>
        <p:spPr>
          <a:xfrm>
            <a:off x="3045500" y="2404872"/>
            <a:ext cx="1655612" cy="566928"/>
          </a:xfrm>
          <a:prstGeom prst="rect">
            <a:avLst/>
          </a:prstGeom>
          <a:noFill/>
        </p:spPr>
        <p:txBody>
          <a:bodyPr wrap="square" lIns="0" tIns="0" rIns="0" bIns="0">
            <a:spAutoFit/>
          </a:bodyPr>
          <a:lstStyle/>
          <a:p>
            <a:pPr>
              <a:lnSpc>
                <a:spcPct val="105000"/>
              </a:lnSpc>
            </a:pPr>
            <a:r>
              <a:rPr sz="1550" b="1" i="0">
                <a:solidFill>
                  <a:srgbClr val="1F4E79"/>
                </a:solidFill>
                <a:latin typeface="Segoe UI Semibold"/>
              </a:rPr>
              <a:t>Combine</a:t>
            </a:r>
          </a:p>
        </p:txBody>
      </p:sp>
      <p:sp>
        <p:nvSpPr>
          <p:cNvPr id="13" name="TextBox 12"/>
          <p:cNvSpPr txBox="1"/>
          <p:nvPr/>
        </p:nvSpPr>
        <p:spPr>
          <a:xfrm>
            <a:off x="3045500" y="3044952"/>
            <a:ext cx="1655612" cy="1417320"/>
          </a:xfrm>
          <a:prstGeom prst="rect">
            <a:avLst/>
          </a:prstGeom>
          <a:noFill/>
        </p:spPr>
        <p:txBody>
          <a:bodyPr wrap="square" lIns="0" tIns="0" rIns="0" bIns="0">
            <a:spAutoFit/>
          </a:bodyPr>
          <a:lstStyle/>
          <a:p>
            <a:pPr>
              <a:lnSpc>
                <a:spcPct val="116000"/>
              </a:lnSpc>
            </a:pPr>
            <a:r>
              <a:rPr sz="1300" b="0" i="0">
                <a:solidFill>
                  <a:srgbClr val="5B6775"/>
                </a:solidFill>
                <a:latin typeface="Segoe UI"/>
              </a:rPr>
              <a:t>bronze's original rows plus the day's late corrections</a:t>
            </a:r>
          </a:p>
        </p:txBody>
      </p:sp>
      <p:sp>
        <p:nvSpPr>
          <p:cNvPr id="14" name="Rectangle 13"/>
          <p:cNvSpPr/>
          <p:nvPr/>
        </p:nvSpPr>
        <p:spPr>
          <a:xfrm>
            <a:off x="5103449" y="1801368"/>
            <a:ext cx="1984796" cy="2834640"/>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103449" y="1801368"/>
            <a:ext cx="1984796" cy="40640"/>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268041" y="2020824"/>
            <a:ext cx="1655612" cy="310896"/>
          </a:xfrm>
          <a:prstGeom prst="rect">
            <a:avLst/>
          </a:prstGeom>
          <a:noFill/>
        </p:spPr>
        <p:txBody>
          <a:bodyPr wrap="square" lIns="0" tIns="0" rIns="0" bIns="0">
            <a:spAutoFit/>
          </a:bodyPr>
          <a:lstStyle/>
          <a:p>
            <a:r>
              <a:rPr sz="2000" b="1" i="0">
                <a:solidFill>
                  <a:srgbClr val="2E74B5"/>
                </a:solidFill>
                <a:latin typeface="Segoe UI Semibold"/>
              </a:rPr>
              <a:t>3</a:t>
            </a:r>
          </a:p>
        </p:txBody>
      </p:sp>
      <p:sp>
        <p:nvSpPr>
          <p:cNvPr id="17" name="TextBox 16"/>
          <p:cNvSpPr txBox="1"/>
          <p:nvPr/>
        </p:nvSpPr>
        <p:spPr>
          <a:xfrm>
            <a:off x="5268041" y="2404872"/>
            <a:ext cx="1655612" cy="566928"/>
          </a:xfrm>
          <a:prstGeom prst="rect">
            <a:avLst/>
          </a:prstGeom>
          <a:noFill/>
        </p:spPr>
        <p:txBody>
          <a:bodyPr wrap="square" lIns="0" tIns="0" rIns="0" bIns="0">
            <a:spAutoFit/>
          </a:bodyPr>
          <a:lstStyle/>
          <a:p>
            <a:pPr>
              <a:lnSpc>
                <a:spcPct val="105000"/>
              </a:lnSpc>
            </a:pPr>
            <a:r>
              <a:rPr sz="1550" b="1" i="0">
                <a:solidFill>
                  <a:srgbClr val="1F4E79"/>
                </a:solidFill>
                <a:latin typeface="Segoe UI Semibold"/>
              </a:rPr>
              <a:t>Redo</a:t>
            </a:r>
          </a:p>
        </p:txBody>
      </p:sp>
      <p:sp>
        <p:nvSpPr>
          <p:cNvPr id="18" name="TextBox 17"/>
          <p:cNvSpPr txBox="1"/>
          <p:nvPr/>
        </p:nvSpPr>
        <p:spPr>
          <a:xfrm>
            <a:off x="5268041" y="3044952"/>
            <a:ext cx="1655612" cy="1417320"/>
          </a:xfrm>
          <a:prstGeom prst="rect">
            <a:avLst/>
          </a:prstGeom>
          <a:noFill/>
        </p:spPr>
        <p:txBody>
          <a:bodyPr wrap="square" lIns="0" tIns="0" rIns="0" bIns="0">
            <a:spAutoFit/>
          </a:bodyPr>
          <a:lstStyle/>
          <a:p>
            <a:pPr>
              <a:lnSpc>
                <a:spcPct val="116000"/>
              </a:lnSpc>
            </a:pPr>
            <a:r>
              <a:rPr sz="1300" b="0" i="0">
                <a:solidFill>
                  <a:srgbClr val="5B6775"/>
                </a:solidFill>
                <a:latin typeface="Segoe UI"/>
              </a:rPr>
              <a:t>the full silver pipeline again, scoped to this one day</a:t>
            </a:r>
          </a:p>
        </p:txBody>
      </p:sp>
      <p:sp>
        <p:nvSpPr>
          <p:cNvPr id="19" name="Rectangle 18"/>
          <p:cNvSpPr/>
          <p:nvPr/>
        </p:nvSpPr>
        <p:spPr>
          <a:xfrm>
            <a:off x="7325989" y="1801368"/>
            <a:ext cx="1984796" cy="2834640"/>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7325989" y="1801368"/>
            <a:ext cx="1984796" cy="40640"/>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490581" y="2020824"/>
            <a:ext cx="1655612" cy="310896"/>
          </a:xfrm>
          <a:prstGeom prst="rect">
            <a:avLst/>
          </a:prstGeom>
          <a:noFill/>
        </p:spPr>
        <p:txBody>
          <a:bodyPr wrap="square" lIns="0" tIns="0" rIns="0" bIns="0">
            <a:spAutoFit/>
          </a:bodyPr>
          <a:lstStyle/>
          <a:p>
            <a:r>
              <a:rPr sz="2000" b="1" i="0">
                <a:solidFill>
                  <a:srgbClr val="2E74B5"/>
                </a:solidFill>
                <a:latin typeface="Segoe UI Semibold"/>
              </a:rPr>
              <a:t>4</a:t>
            </a:r>
          </a:p>
        </p:txBody>
      </p:sp>
      <p:sp>
        <p:nvSpPr>
          <p:cNvPr id="22" name="TextBox 21"/>
          <p:cNvSpPr txBox="1"/>
          <p:nvPr/>
        </p:nvSpPr>
        <p:spPr>
          <a:xfrm>
            <a:off x="7490581" y="2404872"/>
            <a:ext cx="1655612" cy="566928"/>
          </a:xfrm>
          <a:prstGeom prst="rect">
            <a:avLst/>
          </a:prstGeom>
          <a:noFill/>
        </p:spPr>
        <p:txBody>
          <a:bodyPr wrap="square" lIns="0" tIns="0" rIns="0" bIns="0">
            <a:spAutoFit/>
          </a:bodyPr>
          <a:lstStyle/>
          <a:p>
            <a:pPr>
              <a:lnSpc>
                <a:spcPct val="105000"/>
              </a:lnSpc>
            </a:pPr>
            <a:r>
              <a:rPr sz="1550" b="1" i="0">
                <a:solidFill>
                  <a:srgbClr val="1F4E79"/>
                </a:solidFill>
                <a:latin typeface="Segoe UI Semibold"/>
              </a:rPr>
              <a:t>Write</a:t>
            </a:r>
          </a:p>
        </p:txBody>
      </p:sp>
      <p:sp>
        <p:nvSpPr>
          <p:cNvPr id="23" name="TextBox 22"/>
          <p:cNvSpPr txBox="1"/>
          <p:nvPr/>
        </p:nvSpPr>
        <p:spPr>
          <a:xfrm>
            <a:off x="7490581" y="3044952"/>
            <a:ext cx="1655612" cy="1417320"/>
          </a:xfrm>
          <a:prstGeom prst="rect">
            <a:avLst/>
          </a:prstGeom>
          <a:noFill/>
        </p:spPr>
        <p:txBody>
          <a:bodyPr wrap="square" lIns="0" tIns="0" rIns="0" bIns="0">
            <a:spAutoFit/>
          </a:bodyPr>
          <a:lstStyle/>
          <a:p>
            <a:pPr>
              <a:lnSpc>
                <a:spcPct val="116000"/>
              </a:lnSpc>
            </a:pPr>
            <a:r>
              <a:rPr sz="1300" b="0" i="0">
                <a:solidFill>
                  <a:srgbClr val="5B6775"/>
                </a:solidFill>
                <a:latin typeface="Segoe UI"/>
              </a:rPr>
              <a:t>dynamic mode replaces only that one partition on disk</a:t>
            </a:r>
          </a:p>
        </p:txBody>
      </p:sp>
      <p:sp>
        <p:nvSpPr>
          <p:cNvPr id="24" name="Rectangle 23"/>
          <p:cNvSpPr/>
          <p:nvPr/>
        </p:nvSpPr>
        <p:spPr>
          <a:xfrm>
            <a:off x="9548530" y="1801368"/>
            <a:ext cx="1984796" cy="2834640"/>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9548530" y="1801368"/>
            <a:ext cx="1984796" cy="40640"/>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713122" y="2020824"/>
            <a:ext cx="1655612" cy="310896"/>
          </a:xfrm>
          <a:prstGeom prst="rect">
            <a:avLst/>
          </a:prstGeom>
          <a:noFill/>
        </p:spPr>
        <p:txBody>
          <a:bodyPr wrap="square" lIns="0" tIns="0" rIns="0" bIns="0">
            <a:spAutoFit/>
          </a:bodyPr>
          <a:lstStyle/>
          <a:p>
            <a:r>
              <a:rPr sz="2000" b="1" i="0">
                <a:solidFill>
                  <a:srgbClr val="2E74B5"/>
                </a:solidFill>
                <a:latin typeface="Segoe UI Semibold"/>
              </a:rPr>
              <a:t>5</a:t>
            </a:r>
          </a:p>
        </p:txBody>
      </p:sp>
      <p:sp>
        <p:nvSpPr>
          <p:cNvPr id="27" name="TextBox 26"/>
          <p:cNvSpPr txBox="1"/>
          <p:nvPr/>
        </p:nvSpPr>
        <p:spPr>
          <a:xfrm>
            <a:off x="9713122" y="2404872"/>
            <a:ext cx="1655612" cy="566928"/>
          </a:xfrm>
          <a:prstGeom prst="rect">
            <a:avLst/>
          </a:prstGeom>
          <a:noFill/>
        </p:spPr>
        <p:txBody>
          <a:bodyPr wrap="square" lIns="0" tIns="0" rIns="0" bIns="0">
            <a:spAutoFit/>
          </a:bodyPr>
          <a:lstStyle/>
          <a:p>
            <a:pPr>
              <a:lnSpc>
                <a:spcPct val="105000"/>
              </a:lnSpc>
            </a:pPr>
            <a:r>
              <a:rPr sz="1550" b="1" i="0">
                <a:solidFill>
                  <a:srgbClr val="1F4E79"/>
                </a:solidFill>
                <a:latin typeface="Segoe UI Semibold"/>
              </a:rPr>
              <a:t>Compare</a:t>
            </a:r>
          </a:p>
        </p:txBody>
      </p:sp>
      <p:sp>
        <p:nvSpPr>
          <p:cNvPr id="28" name="TextBox 27"/>
          <p:cNvSpPr txBox="1"/>
          <p:nvPr/>
        </p:nvSpPr>
        <p:spPr>
          <a:xfrm>
            <a:off x="9713122" y="3044952"/>
            <a:ext cx="1655612" cy="1417320"/>
          </a:xfrm>
          <a:prstGeom prst="rect">
            <a:avLst/>
          </a:prstGeom>
          <a:noFill/>
        </p:spPr>
        <p:txBody>
          <a:bodyPr wrap="square" lIns="0" tIns="0" rIns="0" bIns="0">
            <a:spAutoFit/>
          </a:bodyPr>
          <a:lstStyle/>
          <a:p>
            <a:pPr>
              <a:lnSpc>
                <a:spcPct val="116000"/>
              </a:lnSpc>
            </a:pPr>
            <a:r>
              <a:rPr sz="1300" b="0" i="0">
                <a:solidFill>
                  <a:srgbClr val="5B6775"/>
                </a:solidFill>
                <a:latin typeface="Segoe UI"/>
              </a:rPr>
              <a:t>the other two days' counts must match the snapshot exactly</a:t>
            </a:r>
          </a:p>
        </p:txBody>
      </p:sp>
      <p:sp>
        <p:nvSpPr>
          <p:cNvPr id="29" name="TextBox 28"/>
          <p:cNvSpPr txBox="1"/>
          <p:nvPr/>
        </p:nvSpPr>
        <p:spPr>
          <a:xfrm>
            <a:off x="658368" y="4910328"/>
            <a:ext cx="10874959" cy="457200"/>
          </a:xfrm>
          <a:prstGeom prst="rect">
            <a:avLst/>
          </a:prstGeom>
          <a:noFill/>
        </p:spPr>
        <p:txBody>
          <a:bodyPr wrap="square" lIns="0" tIns="0" rIns="0" bIns="0">
            <a:spAutoFit/>
          </a:bodyPr>
          <a:lstStyle/>
          <a:p>
            <a:r>
              <a:rPr sz="1350" b="0" i="1">
                <a:solidFill>
                  <a:srgbClr val="5B6775"/>
                </a:solidFill>
                <a:latin typeface="Segoe UI"/>
              </a:rPr>
              <a:t>Gold, built from silver, is recomputed right after, cheap enough to just redo whole.</a:t>
            </a:r>
          </a:p>
        </p:txBody>
      </p:sp>
      <p:sp>
        <p:nvSpPr>
          <p:cNvPr id="30" name="Rectangle 29"/>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04  ·  Lakehouse: bronze, silver, gold</a:t>
            </a:r>
          </a:p>
        </p:txBody>
      </p:sp>
      <p:sp>
        <p:nvSpPr>
          <p:cNvPr id="32" name="TextBox 31"/>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39</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Reconciliation: numbers that must tie, checked in code</a:t>
            </a:r>
          </a:p>
        </p:txBody>
      </p:sp>
      <p:sp>
        <p:nvSpPr>
          <p:cNvPr id="4" name="Rectangle 3"/>
          <p:cNvSpPr/>
          <p:nvPr/>
        </p:nvSpPr>
        <p:spPr>
          <a:xfrm>
            <a:off x="658368" y="1481328"/>
            <a:ext cx="10874959" cy="2447544"/>
          </a:xfrm>
          <a:prstGeom prst="rect">
            <a:avLst/>
          </a:prstGeom>
          <a:solidFill>
            <a:srgbClr val="F5F7F9"/>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81328"/>
            <a:ext cx="43180" cy="2447544"/>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77824" y="1645920"/>
            <a:ext cx="10509199" cy="2173224"/>
          </a:xfrm>
          <a:prstGeom prst="rect">
            <a:avLst/>
          </a:prstGeom>
          <a:noFill/>
        </p:spPr>
        <p:txBody>
          <a:bodyPr wrap="square" lIns="0" tIns="0" rIns="0" bIns="0">
            <a:spAutoFit/>
          </a:bodyPr>
          <a:lstStyle/>
          <a:p>
            <a:pPr>
              <a:lnSpc>
                <a:spcPct val="116000"/>
              </a:lnSpc>
              <a:spcAft>
                <a:spcPts val="0"/>
              </a:spcAft>
            </a:pPr>
            <a:r>
              <a:rPr sz="1500" b="0" i="0">
                <a:solidFill>
                  <a:srgbClr val="242C38"/>
                </a:solidFill>
                <a:latin typeface="Consolas"/>
              </a:rPr>
              <a:t>check_1 = (bronze_count - duplicates_removed) \</a:t>
            </a:r>
          </a:p>
          <a:p>
            <a:pPr>
              <a:lnSpc>
                <a:spcPct val="116000"/>
              </a:lnSpc>
              <a:spcAft>
                <a:spcPts val="0"/>
              </a:spcAft>
            </a:pPr>
            <a:r>
              <a:rPr sz="1500" b="0" i="0">
                <a:solidFill>
                  <a:srgbClr val="242C38"/>
                </a:solidFill>
                <a:latin typeface="Consolas"/>
              </a:rPr>
              <a:t>    == (silver_count + quarantine_count)</a:t>
            </a:r>
          </a:p>
          <a:p>
            <a:pPr>
              <a:lnSpc>
                <a:spcPct val="116000"/>
              </a:lnSpc>
              <a:spcAft>
                <a:spcPts val="0"/>
              </a:spcAft>
            </a:pPr>
            <a:r>
              <a:rPr sz="1500" b="0" i="0">
                <a:solidFill>
                  <a:srgbClr val="242C38"/>
                </a:solidFill>
                <a:latin typeface="Consolas"/>
              </a:rPr>
              <a:t> </a:t>
            </a:r>
          </a:p>
          <a:p>
            <a:pPr>
              <a:lnSpc>
                <a:spcPct val="116000"/>
              </a:lnSpc>
              <a:spcAft>
                <a:spcPts val="0"/>
              </a:spcAft>
            </a:pPr>
            <a:r>
              <a:rPr sz="1500" b="0" i="0">
                <a:solidFill>
                  <a:srgbClr val="242C38"/>
                </a:solidFill>
                <a:latin typeface="Consolas"/>
              </a:rPr>
              <a:t>check_2 = round(silver_sum, </a:t>
            </a:r>
            <a:r>
              <a:rPr sz="1500" b="0" i="0">
                <a:solidFill>
                  <a:srgbClr val="098658"/>
                </a:solidFill>
                <a:latin typeface="Consolas"/>
              </a:rPr>
              <a:t>2</a:t>
            </a:r>
            <a:r>
              <a:rPr sz="1500" b="0" i="0">
                <a:solidFill>
                  <a:srgbClr val="242C38"/>
                </a:solidFill>
                <a:latin typeface="Consolas"/>
              </a:rPr>
              <a:t>) == round(gold_sum, </a:t>
            </a:r>
            <a:r>
              <a:rPr sz="1500" b="0" i="0">
                <a:solidFill>
                  <a:srgbClr val="098658"/>
                </a:solidFill>
                <a:latin typeface="Consolas"/>
              </a:rPr>
              <a:t>2</a:t>
            </a:r>
            <a:r>
              <a:rPr sz="1500" b="0" i="0">
                <a:solidFill>
                  <a:srgbClr val="242C38"/>
                </a:solidFill>
                <a:latin typeface="Consolas"/>
              </a:rPr>
              <a:t>)</a:t>
            </a:r>
          </a:p>
          <a:p>
            <a:pPr>
              <a:lnSpc>
                <a:spcPct val="116000"/>
              </a:lnSpc>
              <a:spcAft>
                <a:spcPts val="0"/>
              </a:spcAft>
            </a:pPr>
            <a:r>
              <a:rPr sz="1500" b="0" i="0">
                <a:solidFill>
                  <a:srgbClr val="242C38"/>
                </a:solidFill>
                <a:latin typeface="Consolas"/>
              </a:rPr>
              <a:t> </a:t>
            </a:r>
          </a:p>
          <a:p>
            <a:pPr>
              <a:lnSpc>
                <a:spcPct val="116000"/>
              </a:lnSpc>
              <a:spcAft>
                <a:spcPts val="0"/>
              </a:spcAft>
            </a:pPr>
            <a:r>
              <a:rPr sz="1500" b="0" i="0">
                <a:solidFill>
                  <a:srgbClr val="242C38"/>
                </a:solidFill>
                <a:latin typeface="Consolas"/>
              </a:rPr>
              <a:t>check_3 = silver_count == \</a:t>
            </a:r>
          </a:p>
          <a:p>
            <a:pPr>
              <a:lnSpc>
                <a:spcPct val="116000"/>
              </a:lnSpc>
              <a:spcAft>
                <a:spcPts val="0"/>
              </a:spcAft>
            </a:pPr>
            <a:r>
              <a:rPr sz="1500" b="0" i="0">
                <a:solidFill>
                  <a:srgbClr val="242C38"/>
                </a:solidFill>
                <a:latin typeface="Consolas"/>
              </a:rPr>
              <a:t>    gold.agg(F.sum(</a:t>
            </a:r>
            <a:r>
              <a:rPr sz="1500" b="0" i="0">
                <a:solidFill>
                  <a:srgbClr val="A31515"/>
                </a:solidFill>
                <a:latin typeface="Consolas"/>
              </a:rPr>
              <a:t>"txn_count"</a:t>
            </a:r>
            <a:r>
              <a:rPr sz="1500" b="0" i="0">
                <a:solidFill>
                  <a:srgbClr val="242C38"/>
                </a:solidFill>
                <a:latin typeface="Consolas"/>
              </a:rPr>
              <a:t>)).first()[</a:t>
            </a:r>
            <a:r>
              <a:rPr sz="1500" b="0" i="0">
                <a:solidFill>
                  <a:srgbClr val="098658"/>
                </a:solidFill>
                <a:latin typeface="Consolas"/>
              </a:rPr>
              <a:t>0</a:t>
            </a:r>
            <a:r>
              <a:rPr sz="1500" b="0" i="0">
                <a:solidFill>
                  <a:srgbClr val="242C38"/>
                </a:solidFill>
                <a:latin typeface="Consolas"/>
              </a:rPr>
              <a:t>]</a:t>
            </a:r>
          </a:p>
        </p:txBody>
      </p:sp>
      <p:sp>
        <p:nvSpPr>
          <p:cNvPr id="7" name="TextBox 6"/>
          <p:cNvSpPr txBox="1"/>
          <p:nvPr/>
        </p:nvSpPr>
        <p:spPr>
          <a:xfrm>
            <a:off x="658368" y="4075176"/>
            <a:ext cx="10874959" cy="457200"/>
          </a:xfrm>
          <a:prstGeom prst="rect">
            <a:avLst/>
          </a:prstGeom>
          <a:noFill/>
        </p:spPr>
        <p:txBody>
          <a:bodyPr wrap="square" lIns="0" tIns="0" rIns="0" bIns="0">
            <a:spAutoFit/>
          </a:bodyPr>
          <a:lstStyle/>
          <a:p>
            <a:r>
              <a:rPr sz="1400" b="0" i="0">
                <a:solidFill>
                  <a:srgbClr val="5B6775"/>
                </a:solidFill>
                <a:latin typeface="Segoe UI"/>
              </a:rPr>
              <a:t>A False here is a bug found the day it happened, not weeks later as a wrong report.</a:t>
            </a:r>
          </a:p>
        </p:txBody>
      </p:sp>
      <p:sp>
        <p:nvSpPr>
          <p:cNvPr id="8" name="Rectangle 7"/>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04  ·  Lakehouse: bronze, silver, gold</a:t>
            </a:r>
          </a:p>
        </p:txBody>
      </p:sp>
      <p:sp>
        <p:nvSpPr>
          <p:cNvPr id="10" name="TextBox 9"/>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40</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A real run, printed every time</a:t>
            </a:r>
          </a:p>
        </p:txBody>
      </p:sp>
      <p:graphicFrame>
        <p:nvGraphicFramePr>
          <p:cNvPr id="4" name="Table 3"/>
          <p:cNvGraphicFramePr>
            <a:graphicFrameLocks noGrp="1"/>
          </p:cNvGraphicFramePr>
          <p:nvPr/>
        </p:nvGraphicFramePr>
        <p:xfrm>
          <a:off x="658368" y="1481328"/>
          <a:ext cx="10874958" cy="1828800"/>
        </p:xfrm>
        <a:graphic>
          <a:graphicData uri="http://schemas.openxmlformats.org/drawingml/2006/table">
            <a:tbl>
              <a:tblPr firstRow="1" bandRow="1">
                <a:tableStyleId>{5C22544A-7EE6-4342-B048-85BDC9FD1C3A}</a:tableStyleId>
              </a:tblPr>
              <a:tblGrid>
                <a:gridCol w="4509129">
                  <a:extLst>
                    <a:ext uri="{9D8B030D-6E8A-4147-A177-3AD203B41FA5}">
                      <a16:colId xmlns:a16="http://schemas.microsoft.com/office/drawing/2014/main" val="20000"/>
                    </a:ext>
                  </a:extLst>
                </a:gridCol>
                <a:gridCol w="4509129">
                  <a:extLst>
                    <a:ext uri="{9D8B030D-6E8A-4147-A177-3AD203B41FA5}">
                      <a16:colId xmlns:a16="http://schemas.microsoft.com/office/drawing/2014/main" val="20001"/>
                    </a:ext>
                  </a:extLst>
                </a:gridCol>
                <a:gridCol w="1856700">
                  <a:extLst>
                    <a:ext uri="{9D8B030D-6E8A-4147-A177-3AD203B41FA5}">
                      <a16:colId xmlns:a16="http://schemas.microsoft.com/office/drawing/2014/main" val="20002"/>
                    </a:ext>
                  </a:extLst>
                </a:gridCol>
              </a:tblGrid>
              <a:tr h="402336">
                <a:tc>
                  <a:txBody>
                    <a:bodyPr/>
                    <a:lstStyle/>
                    <a:p>
                      <a:r>
                        <a:rPr sz="1450" b="1" i="0">
                          <a:solidFill>
                            <a:srgbClr val="FFFFFF"/>
                          </a:solidFill>
                          <a:latin typeface="Segoe UI Semibold"/>
                        </a:rPr>
                        <a:t>Check</a:t>
                      </a:r>
                    </a:p>
                  </a:txBody>
                  <a:tcPr anchor="ctr">
                    <a:solidFill>
                      <a:srgbClr val="1F4E79"/>
                    </a:solidFill>
                  </a:tcPr>
                </a:tc>
                <a:tc>
                  <a:txBody>
                    <a:bodyPr/>
                    <a:lstStyle/>
                    <a:p>
                      <a:r>
                        <a:rPr sz="1450" b="1" i="0">
                          <a:solidFill>
                            <a:srgbClr val="FFFFFF"/>
                          </a:solidFill>
                          <a:latin typeface="Segoe UI Semibold"/>
                        </a:rPr>
                        <a:t>Numbers</a:t>
                      </a:r>
                    </a:p>
                  </a:txBody>
                  <a:tcPr anchor="ctr">
                    <a:solidFill>
                      <a:srgbClr val="1F4E79"/>
                    </a:solidFill>
                  </a:tcPr>
                </a:tc>
                <a:tc>
                  <a:txBody>
                    <a:bodyPr/>
                    <a:lstStyle/>
                    <a:p>
                      <a:r>
                        <a:rPr sz="1450" b="1" i="0">
                          <a:solidFill>
                            <a:srgbClr val="FFFFFF"/>
                          </a:solidFill>
                          <a:latin typeface="Segoe UI Semibold"/>
                        </a:rPr>
                        <a:t>Ties?</a:t>
                      </a:r>
                    </a:p>
                  </a:txBody>
                  <a:tcPr anchor="ctr">
                    <a:solidFill>
                      <a:srgbClr val="1F4E79"/>
                    </a:solidFill>
                  </a:tcPr>
                </a:tc>
                <a:extLst>
                  <a:ext uri="{0D108BD9-81ED-4DB2-BD59-A6C34878D82A}">
                    <a16:rowId xmlns:a16="http://schemas.microsoft.com/office/drawing/2014/main" val="10000"/>
                  </a:ext>
                </a:extLst>
              </a:tr>
              <a:tr h="475488">
                <a:tc>
                  <a:txBody>
                    <a:bodyPr/>
                    <a:lstStyle/>
                    <a:p>
                      <a:pPr>
                        <a:lnSpc>
                          <a:spcPct val="106000"/>
                        </a:lnSpc>
                      </a:pPr>
                      <a:r>
                        <a:rPr sz="1400" b="1" i="0">
                          <a:solidFill>
                            <a:srgbClr val="242C38"/>
                          </a:solidFill>
                          <a:latin typeface="Segoe UI"/>
                        </a:rPr>
                        <a:t>bronze - dup == silver + quarantine</a:t>
                      </a:r>
                    </a:p>
                  </a:txBody>
                  <a:tcPr marT="36576" marB="36576" anchor="ctr">
                    <a:solidFill>
                      <a:srgbClr val="EEF3F8"/>
                    </a:solidFill>
                  </a:tcPr>
                </a:tc>
                <a:tc>
                  <a:txBody>
                    <a:bodyPr/>
                    <a:lstStyle/>
                    <a:p>
                      <a:pPr>
                        <a:lnSpc>
                          <a:spcPct val="106000"/>
                        </a:lnSpc>
                      </a:pPr>
                      <a:r>
                        <a:rPr sz="1400" b="0" i="0">
                          <a:solidFill>
                            <a:srgbClr val="242C38"/>
                          </a:solidFill>
                          <a:latin typeface="Segoe UI"/>
                        </a:rPr>
                        <a:t>180720 - 720 == 178719 + 1281</a:t>
                      </a:r>
                    </a:p>
                  </a:txBody>
                  <a:tcPr marT="36576" marB="36576" anchor="ctr">
                    <a:solidFill>
                      <a:srgbClr val="EEF3F8"/>
                    </a:solidFill>
                  </a:tcPr>
                </a:tc>
                <a:tc>
                  <a:txBody>
                    <a:bodyPr/>
                    <a:lstStyle/>
                    <a:p>
                      <a:pPr>
                        <a:lnSpc>
                          <a:spcPct val="106000"/>
                        </a:lnSpc>
                      </a:pPr>
                      <a:r>
                        <a:rPr sz="1400" b="0" i="0">
                          <a:solidFill>
                            <a:srgbClr val="242C38"/>
                          </a:solidFill>
                          <a:latin typeface="Segoe UI"/>
                        </a:rPr>
                        <a:t>True</a:t>
                      </a:r>
                    </a:p>
                  </a:txBody>
                  <a:tcPr marT="36576" marB="36576" anchor="ctr">
                    <a:solidFill>
                      <a:srgbClr val="EEF3F8"/>
                    </a:solidFill>
                  </a:tcPr>
                </a:tc>
                <a:extLst>
                  <a:ext uri="{0D108BD9-81ED-4DB2-BD59-A6C34878D82A}">
                    <a16:rowId xmlns:a16="http://schemas.microsoft.com/office/drawing/2014/main" val="10001"/>
                  </a:ext>
                </a:extLst>
              </a:tr>
              <a:tr h="475488">
                <a:tc>
                  <a:txBody>
                    <a:bodyPr/>
                    <a:lstStyle/>
                    <a:p>
                      <a:pPr>
                        <a:lnSpc>
                          <a:spcPct val="106000"/>
                        </a:lnSpc>
                      </a:pPr>
                      <a:r>
                        <a:rPr sz="1400" b="1" i="0">
                          <a:solidFill>
                            <a:srgbClr val="242C38"/>
                          </a:solidFill>
                          <a:latin typeface="Segoe UI"/>
                        </a:rPr>
                        <a:t>sum(silver.amount) == sum(gold.total)</a:t>
                      </a:r>
                    </a:p>
                  </a:txBody>
                  <a:tcPr marT="36576" marB="36576" anchor="ctr">
                    <a:solidFill>
                      <a:srgbClr val="FFFFFF"/>
                    </a:solidFill>
                  </a:tcPr>
                </a:tc>
                <a:tc>
                  <a:txBody>
                    <a:bodyPr/>
                    <a:lstStyle/>
                    <a:p>
                      <a:pPr>
                        <a:lnSpc>
                          <a:spcPct val="106000"/>
                        </a:lnSpc>
                      </a:pPr>
                      <a:r>
                        <a:rPr sz="1400" b="0" i="0">
                          <a:solidFill>
                            <a:srgbClr val="242C38"/>
                          </a:solidFill>
                          <a:latin typeface="Segoe UI"/>
                        </a:rPr>
                        <a:t>596136934.12 == 596136934.12</a:t>
                      </a:r>
                    </a:p>
                  </a:txBody>
                  <a:tcPr marT="36576" marB="36576" anchor="ctr">
                    <a:solidFill>
                      <a:srgbClr val="FFFFFF"/>
                    </a:solidFill>
                  </a:tcPr>
                </a:tc>
                <a:tc>
                  <a:txBody>
                    <a:bodyPr/>
                    <a:lstStyle/>
                    <a:p>
                      <a:pPr>
                        <a:lnSpc>
                          <a:spcPct val="106000"/>
                        </a:lnSpc>
                      </a:pPr>
                      <a:r>
                        <a:rPr sz="1400" b="0" i="0">
                          <a:solidFill>
                            <a:srgbClr val="242C38"/>
                          </a:solidFill>
                          <a:latin typeface="Segoe UI"/>
                        </a:rPr>
                        <a:t>True</a:t>
                      </a:r>
                    </a:p>
                  </a:txBody>
                  <a:tcPr marT="36576" marB="36576" anchor="ctr">
                    <a:solidFill>
                      <a:srgbClr val="FFFFFF"/>
                    </a:solidFill>
                  </a:tcPr>
                </a:tc>
                <a:extLst>
                  <a:ext uri="{0D108BD9-81ED-4DB2-BD59-A6C34878D82A}">
                    <a16:rowId xmlns:a16="http://schemas.microsoft.com/office/drawing/2014/main" val="10002"/>
                  </a:ext>
                </a:extLst>
              </a:tr>
              <a:tr h="475488">
                <a:tc>
                  <a:txBody>
                    <a:bodyPr/>
                    <a:lstStyle/>
                    <a:p>
                      <a:pPr>
                        <a:lnSpc>
                          <a:spcPct val="106000"/>
                        </a:lnSpc>
                      </a:pPr>
                      <a:r>
                        <a:rPr sz="1400" b="1" i="0">
                          <a:solidFill>
                            <a:srgbClr val="242C38"/>
                          </a:solidFill>
                          <a:latin typeface="Segoe UI"/>
                        </a:rPr>
                        <a:t>count(silver) == sum(gold.txn_count)</a:t>
                      </a:r>
                    </a:p>
                  </a:txBody>
                  <a:tcPr marT="36576" marB="36576" anchor="ctr">
                    <a:solidFill>
                      <a:srgbClr val="EEF3F8"/>
                    </a:solidFill>
                  </a:tcPr>
                </a:tc>
                <a:tc>
                  <a:txBody>
                    <a:bodyPr/>
                    <a:lstStyle/>
                    <a:p>
                      <a:pPr>
                        <a:lnSpc>
                          <a:spcPct val="106000"/>
                        </a:lnSpc>
                      </a:pPr>
                      <a:r>
                        <a:rPr sz="1400" b="0" i="0">
                          <a:solidFill>
                            <a:srgbClr val="242C38"/>
                          </a:solidFill>
                          <a:latin typeface="Segoe UI"/>
                        </a:rPr>
                        <a:t>178719 == 178719</a:t>
                      </a:r>
                    </a:p>
                  </a:txBody>
                  <a:tcPr marT="36576" marB="36576" anchor="ctr">
                    <a:solidFill>
                      <a:srgbClr val="EEF3F8"/>
                    </a:solidFill>
                  </a:tcPr>
                </a:tc>
                <a:tc>
                  <a:txBody>
                    <a:bodyPr/>
                    <a:lstStyle/>
                    <a:p>
                      <a:pPr>
                        <a:lnSpc>
                          <a:spcPct val="106000"/>
                        </a:lnSpc>
                      </a:pPr>
                      <a:r>
                        <a:rPr sz="1400" b="0" i="0">
                          <a:solidFill>
                            <a:srgbClr val="242C38"/>
                          </a:solidFill>
                          <a:latin typeface="Segoe UI"/>
                        </a:rPr>
                        <a:t>True</a:t>
                      </a:r>
                    </a:p>
                  </a:txBody>
                  <a:tcPr marT="36576" marB="36576" anchor="ctr">
                    <a:solidFill>
                      <a:srgbClr val="EEF3F8"/>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658368" y="5724144"/>
            <a:ext cx="10874959" cy="502920"/>
          </a:xfrm>
          <a:prstGeom prst="rect">
            <a:avLst/>
          </a:prstGeom>
          <a:noFill/>
        </p:spPr>
        <p:txBody>
          <a:bodyPr wrap="square" lIns="0" tIns="0" rIns="0" bIns="0">
            <a:spAutoFit/>
          </a:bodyPr>
          <a:lstStyle/>
          <a:p>
            <a:r>
              <a:rPr sz="1300" b="0" i="1">
                <a:solidFill>
                  <a:srgbClr val="5B6775"/>
                </a:solidFill>
                <a:latin typeface="Segoe UI"/>
              </a:rPr>
              <a:t>Printed to the console every run, not asserted once during development.</a:t>
            </a:r>
          </a:p>
        </p:txBody>
      </p:sp>
      <p:sp>
        <p:nvSpPr>
          <p:cNvPr id="6" name="Rectangle 5"/>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04  ·  Lakehouse: bronze, silver, gold</a:t>
            </a:r>
          </a:p>
        </p:txBody>
      </p:sp>
      <p:sp>
        <p:nvSpPr>
          <p:cNvPr id="8" name="TextBox 7"/>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41</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Module 04 in one screen</a:t>
            </a:r>
          </a:p>
        </p:txBody>
      </p:sp>
      <p:sp>
        <p:nvSpPr>
          <p:cNvPr id="4" name="TextBox 3"/>
          <p:cNvSpPr txBox="1"/>
          <p:nvPr/>
        </p:nvSpPr>
        <p:spPr>
          <a:xfrm>
            <a:off x="658368" y="1481328"/>
            <a:ext cx="10874959" cy="4526280"/>
          </a:xfrm>
          <a:prstGeom prst="rect">
            <a:avLst/>
          </a:prstGeom>
          <a:noFill/>
        </p:spPr>
        <p:txBody>
          <a:bodyPr wrap="square" lIns="0" tIns="0" rIns="0" bIns="0">
            <a:spAutoFit/>
          </a:bodyPr>
          <a:lstStyle/>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Bronze is a photograph, silver is a fact, gold is an answer</a:t>
            </a:r>
          </a:p>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A bad row gets a reason and a home, never a silent drop</a:t>
            </a:r>
          </a:p>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Partition each layer by how it's queried: bronze by ingest, silver by posting date</a:t>
            </a:r>
          </a:p>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Dynamic partition overwrite mode is what makes reprocessing one day safe</a:t>
            </a:r>
          </a:p>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Reconciliation isn't optional, print the numbers that must tie, every single run</a:t>
            </a:r>
          </a:p>
        </p:txBody>
      </p:sp>
      <p:sp>
        <p:nvSpPr>
          <p:cNvPr id="5" name="Rectangle 4"/>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04  ·  Lakehouse: bronze, silver, gold</a:t>
            </a:r>
          </a:p>
        </p:txBody>
      </p:sp>
      <p:sp>
        <p:nvSpPr>
          <p:cNvPr id="7" name="TextBox 6"/>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42</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5840" y="1737360"/>
            <a:ext cx="10058400" cy="457200"/>
          </a:xfrm>
          <a:prstGeom prst="rect">
            <a:avLst/>
          </a:prstGeom>
          <a:noFill/>
        </p:spPr>
        <p:txBody>
          <a:bodyPr wrap="square" lIns="0" tIns="0" rIns="0" bIns="0">
            <a:spAutoFit/>
          </a:bodyPr>
          <a:lstStyle/>
          <a:p>
            <a:r>
              <a:rPr sz="1500" b="1" i="0">
                <a:solidFill>
                  <a:srgbClr val="E88A2B"/>
                </a:solidFill>
                <a:latin typeface="Segoe UI Semibold"/>
              </a:rPr>
              <a:t>DAY 2</a:t>
            </a:r>
          </a:p>
        </p:txBody>
      </p:sp>
      <p:sp>
        <p:nvSpPr>
          <p:cNvPr id="5" name="TextBox 4"/>
          <p:cNvSpPr txBox="1"/>
          <p:nvPr/>
        </p:nvSpPr>
        <p:spPr>
          <a:xfrm>
            <a:off x="1005840" y="2194560"/>
            <a:ext cx="10058400" cy="914400"/>
          </a:xfrm>
          <a:prstGeom prst="rect">
            <a:avLst/>
          </a:prstGeom>
          <a:noFill/>
        </p:spPr>
        <p:txBody>
          <a:bodyPr wrap="square" lIns="0" tIns="0" rIns="0" bIns="0">
            <a:spAutoFit/>
          </a:bodyPr>
          <a:lstStyle/>
          <a:p>
            <a:r>
              <a:rPr sz="4000" b="1" i="0">
                <a:solidFill>
                  <a:srgbClr val="1F4E79"/>
                </a:solidFill>
                <a:latin typeface="Segoe UI Semibold"/>
              </a:rPr>
              <a:t>Modelling and querying</a:t>
            </a:r>
          </a:p>
        </p:txBody>
      </p:sp>
      <p:sp>
        <p:nvSpPr>
          <p:cNvPr id="6" name="TextBox 5"/>
          <p:cNvSpPr txBox="1"/>
          <p:nvPr/>
        </p:nvSpPr>
        <p:spPr>
          <a:xfrm>
            <a:off x="1005840" y="3429000"/>
            <a:ext cx="9692640" cy="2194560"/>
          </a:xfrm>
          <a:prstGeom prst="rect">
            <a:avLst/>
          </a:prstGeom>
          <a:noFill/>
        </p:spPr>
        <p:txBody>
          <a:bodyPr wrap="square" lIns="0" tIns="0" rIns="0" bIns="0">
            <a:spAutoFit/>
          </a:bodyPr>
          <a:lstStyle/>
          <a:p>
            <a:pPr>
              <a:spcAft>
                <a:spcPts val="1000"/>
              </a:spcAft>
            </a:pPr>
            <a:r>
              <a:rPr sz="1700" b="1" i="0">
                <a:solidFill>
                  <a:srgbClr val="E88A2B"/>
                </a:solidFill>
                <a:latin typeface="Segoe UI Semibold"/>
              </a:rPr>
              <a:t>05   </a:t>
            </a:r>
            <a:r>
              <a:rPr sz="1700" b="0" i="0">
                <a:solidFill>
                  <a:srgbClr val="242C38"/>
                </a:solidFill>
                <a:latin typeface="Segoe UI"/>
              </a:rPr>
              <a:t>Data models for a lakehouse</a:t>
            </a:r>
            <a:r>
              <a:rPr sz="1400" b="0" i="1">
                <a:solidFill>
                  <a:srgbClr val="9AA5B1"/>
                </a:solidFill>
                <a:latin typeface="Segoe UI"/>
              </a:rPr>
              <a:t>   Star schemas, the three fact types, and a real SCD Type 2 </a:t>
            </a:r>
          </a:p>
          <a:p>
            <a:pPr>
              <a:spcAft>
                <a:spcPts val="1000"/>
              </a:spcAft>
            </a:pPr>
            <a:r>
              <a:rPr sz="1700" b="1" i="0">
                <a:solidFill>
                  <a:srgbClr val="E88A2B"/>
                </a:solidFill>
                <a:latin typeface="Segoe UI Semibold"/>
              </a:rPr>
              <a:t>06   </a:t>
            </a:r>
            <a:r>
              <a:rPr sz="1700" b="0" i="0">
                <a:solidFill>
                  <a:srgbClr val="242C38"/>
                </a:solidFill>
                <a:latin typeface="Segoe UI"/>
              </a:rPr>
              <a:t>RDDs and UDFs</a:t>
            </a:r>
            <a:r>
              <a:rPr sz="1400" b="0" i="1">
                <a:solidFill>
                  <a:srgbClr val="9AA5B1"/>
                </a:solidFill>
                <a:latin typeface="Segoe UI"/>
              </a:rPr>
              <a:t>   When an RDD is still the right tool, and the UDF ladder th</a:t>
            </a:r>
          </a:p>
          <a:p>
            <a:pPr>
              <a:spcAft>
                <a:spcPts val="1000"/>
              </a:spcAft>
            </a:pPr>
            <a:r>
              <a:rPr sz="1700" b="1" i="0">
                <a:solidFill>
                  <a:srgbClr val="E88A2B"/>
                </a:solidFill>
                <a:latin typeface="Segoe UI Semibold"/>
              </a:rPr>
              <a:t>07   </a:t>
            </a:r>
            <a:r>
              <a:rPr sz="1700" b="0" i="0">
                <a:solidFill>
                  <a:srgbClr val="242C38"/>
                </a:solidFill>
                <a:latin typeface="Segoe UI"/>
              </a:rPr>
              <a:t>Using pandas from PySpark</a:t>
            </a:r>
            <a:r>
              <a:rPr sz="1400" b="0" i="1">
                <a:solidFill>
                  <a:srgbClr val="9AA5B1"/>
                </a:solidFill>
                <a:latin typeface="Segoe UI"/>
              </a:rPr>
              <a:t>   Three ways to combine pandas and Spark, and knowing which </a:t>
            </a:r>
          </a:p>
          <a:p>
            <a:pPr>
              <a:spcAft>
                <a:spcPts val="1000"/>
              </a:spcAft>
            </a:pPr>
            <a:r>
              <a:rPr sz="1700" b="1" i="0">
                <a:solidFill>
                  <a:srgbClr val="E88A2B"/>
                </a:solidFill>
                <a:latin typeface="Segoe UI Semibold"/>
              </a:rPr>
              <a:t>08   </a:t>
            </a:r>
            <a:r>
              <a:rPr sz="1700" b="0" i="0">
                <a:solidFill>
                  <a:srgbClr val="242C38"/>
                </a:solidFill>
                <a:latin typeface="Segoe UI"/>
              </a:rPr>
              <a:t>Data quality and profiling</a:t>
            </a:r>
            <a:r>
              <a:rPr sz="1400" b="0" i="1">
                <a:solidFill>
                  <a:srgbClr val="9AA5B1"/>
                </a:solidFill>
                <a:latin typeface="Segoe UI"/>
              </a:rPr>
              <a:t>   Turn a dirty feed into real numbers, a rule table, and a r</a:t>
            </a:r>
          </a:p>
          <a:p>
            <a:pPr>
              <a:spcAft>
                <a:spcPts val="1000"/>
              </a:spcAft>
            </a:pPr>
            <a:r>
              <a:rPr sz="1700" b="1" i="0">
                <a:solidFill>
                  <a:srgbClr val="E88A2B"/>
                </a:solidFill>
                <a:latin typeface="Segoe UI Semibold"/>
              </a:rPr>
              <a:t>09   </a:t>
            </a:r>
            <a:r>
              <a:rPr sz="1700" b="0" i="0">
                <a:solidFill>
                  <a:srgbClr val="242C38"/>
                </a:solidFill>
                <a:latin typeface="Segoe UI"/>
              </a:rPr>
              <a:t>SQL, Python and Spark</a:t>
            </a:r>
            <a:r>
              <a:rPr sz="1400" b="0" i="1">
                <a:solidFill>
                  <a:srgbClr val="9AA5B1"/>
                </a:solidFill>
                <a:latin typeface="Segoe UI"/>
              </a:rPr>
              <a:t>   Proof they compile to the same plan, and the patterns Tera</a:t>
            </a:r>
          </a:p>
          <a:p>
            <a:pPr>
              <a:spcAft>
                <a:spcPts val="1000"/>
              </a:spcAft>
            </a:pPr>
            <a:r>
              <a:rPr sz="1700" b="1" i="0">
                <a:solidFill>
                  <a:srgbClr val="E88A2B"/>
                </a:solidFill>
                <a:latin typeface="Segoe UI Semibold"/>
              </a:rPr>
              <a:t>10   </a:t>
            </a:r>
            <a:r>
              <a:rPr sz="1700" b="0" i="0">
                <a:solidFill>
                  <a:srgbClr val="242C38"/>
                </a:solidFill>
                <a:latin typeface="Segoe UI"/>
              </a:rPr>
              <a:t>Window functions</a:t>
            </a:r>
            <a:r>
              <a:rPr sz="1400" b="0" i="1">
                <a:solidFill>
                  <a:srgbClr val="9AA5B1"/>
                </a:solidFill>
                <a:latin typeface="Segoe UI"/>
              </a:rPr>
              <a:t>   The default frame trap, and five real banking problems win</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858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51560" y="2057400"/>
            <a:ext cx="9692640" cy="457200"/>
          </a:xfrm>
          <a:prstGeom prst="rect">
            <a:avLst/>
          </a:prstGeom>
          <a:noFill/>
        </p:spPr>
        <p:txBody>
          <a:bodyPr wrap="square" lIns="0" tIns="0" rIns="0" bIns="0">
            <a:spAutoFit/>
          </a:bodyPr>
          <a:lstStyle/>
          <a:p>
            <a:r>
              <a:rPr sz="1300" b="1" i="0">
                <a:solidFill>
                  <a:srgbClr val="2E74B5"/>
                </a:solidFill>
                <a:latin typeface="Segoe UI Semibold"/>
              </a:rPr>
              <a:t>MODULE 05</a:t>
            </a:r>
          </a:p>
        </p:txBody>
      </p:sp>
      <p:sp>
        <p:nvSpPr>
          <p:cNvPr id="5" name="TextBox 4"/>
          <p:cNvSpPr txBox="1"/>
          <p:nvPr/>
        </p:nvSpPr>
        <p:spPr>
          <a:xfrm>
            <a:off x="1051560" y="2578608"/>
            <a:ext cx="9692640" cy="1371600"/>
          </a:xfrm>
          <a:prstGeom prst="rect">
            <a:avLst/>
          </a:prstGeom>
          <a:noFill/>
        </p:spPr>
        <p:txBody>
          <a:bodyPr wrap="square" lIns="0" tIns="0" rIns="0" bIns="0">
            <a:spAutoFit/>
          </a:bodyPr>
          <a:lstStyle/>
          <a:p>
            <a:pPr>
              <a:lnSpc>
                <a:spcPct val="95000"/>
              </a:lnSpc>
            </a:pPr>
            <a:r>
              <a:rPr sz="4200" b="1" i="0">
                <a:solidFill>
                  <a:srgbClr val="1F4E79"/>
                </a:solidFill>
                <a:latin typeface="Segoe UI Semibold"/>
              </a:rPr>
              <a:t>Data models for a lakehouse</a:t>
            </a:r>
          </a:p>
        </p:txBody>
      </p:sp>
      <p:sp>
        <p:nvSpPr>
          <p:cNvPr id="6" name="TextBox 5"/>
          <p:cNvSpPr txBox="1"/>
          <p:nvPr/>
        </p:nvSpPr>
        <p:spPr>
          <a:xfrm>
            <a:off x="1051560" y="3950208"/>
            <a:ext cx="8778240" cy="822960"/>
          </a:xfrm>
          <a:prstGeom prst="rect">
            <a:avLst/>
          </a:prstGeom>
          <a:noFill/>
        </p:spPr>
        <p:txBody>
          <a:bodyPr wrap="square" lIns="0" tIns="0" rIns="0" bIns="0">
            <a:spAutoFit/>
          </a:bodyPr>
          <a:lstStyle/>
          <a:p>
            <a:pPr>
              <a:lnSpc>
                <a:spcPct val="115000"/>
              </a:lnSpc>
            </a:pPr>
            <a:r>
              <a:rPr sz="1700" b="0" i="0">
                <a:solidFill>
                  <a:srgbClr val="5B6775"/>
                </a:solidFill>
                <a:latin typeface="Segoe UI"/>
              </a:rPr>
              <a:t>Star schemas, the three fact types, and a real SCD Type 2 dimension</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58368" y="2148840"/>
            <a:ext cx="82296" cy="219456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42416" y="2084831"/>
            <a:ext cx="9777679" cy="1828800"/>
          </a:xfrm>
          <a:prstGeom prst="rect">
            <a:avLst/>
          </a:prstGeom>
          <a:noFill/>
        </p:spPr>
        <p:txBody>
          <a:bodyPr wrap="square" lIns="0" tIns="0" rIns="0" bIns="0">
            <a:spAutoFit/>
          </a:bodyPr>
          <a:lstStyle/>
          <a:p>
            <a:pPr>
              <a:lnSpc>
                <a:spcPct val="112000"/>
              </a:lnSpc>
            </a:pPr>
            <a:r>
              <a:rPr sz="3000" b="1" i="0">
                <a:solidFill>
                  <a:srgbClr val="1F4E79"/>
                </a:solidFill>
                <a:latin typeface="Segoe UI Semibold"/>
              </a:rPr>
              <a:t>A dimension without history can't answer what was true that day.</a:t>
            </a:r>
          </a:p>
        </p:txBody>
      </p:sp>
      <p:sp>
        <p:nvSpPr>
          <p:cNvPr id="5" name="TextBox 4"/>
          <p:cNvSpPr txBox="1"/>
          <p:nvPr/>
        </p:nvSpPr>
        <p:spPr>
          <a:xfrm>
            <a:off x="1042416" y="4041648"/>
            <a:ext cx="9411919" cy="1005840"/>
          </a:xfrm>
          <a:prstGeom prst="rect">
            <a:avLst/>
          </a:prstGeom>
          <a:noFill/>
        </p:spPr>
        <p:txBody>
          <a:bodyPr wrap="square" lIns="0" tIns="0" rIns="0" bIns="0">
            <a:spAutoFit/>
          </a:bodyPr>
          <a:lstStyle/>
          <a:p>
            <a:pPr>
              <a:lnSpc>
                <a:spcPct val="120000"/>
              </a:lnSpc>
            </a:pPr>
            <a:r>
              <a:rPr sz="1700" b="0" i="0">
                <a:solidFill>
                  <a:srgbClr val="5B6775"/>
                </a:solidFill>
                <a:latin typeface="Segoe UI"/>
              </a:rPr>
              <a:t>A regulator asking for a customer's KYC status on the day of a transaction needs the dimension row as it looked then, not as it looks today. That single gap is why SCD Type 2 exists.</a:t>
            </a:r>
          </a:p>
        </p:txBody>
      </p:sp>
      <p:sp>
        <p:nvSpPr>
          <p:cNvPr id="6" name="Rectangle 5"/>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05  ·  Data models for a lakehouse</a:t>
            </a:r>
          </a:p>
        </p:txBody>
      </p:sp>
      <p:sp>
        <p:nvSpPr>
          <p:cNvPr id="8" name="TextBox 7"/>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43</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237744"/>
          </a:xfrm>
          <a:prstGeom prst="rect">
            <a:avLst/>
          </a:prstGeom>
          <a:noFill/>
        </p:spPr>
        <p:txBody>
          <a:bodyPr wrap="square" lIns="0" tIns="0" rIns="0" bIns="0">
            <a:spAutoFit/>
          </a:bodyPr>
          <a:lstStyle/>
          <a:p>
            <a:r>
              <a:rPr sz="1000" b="1" i="0">
                <a:solidFill>
                  <a:srgbClr val="2E74B5"/>
                </a:solidFill>
                <a:latin typeface="Segoe UI Semibold"/>
              </a:rPr>
              <a:t>THE FIRST QUESTION</a:t>
            </a:r>
          </a:p>
        </p:txBody>
      </p:sp>
      <p:sp>
        <p:nvSpPr>
          <p:cNvPr id="4" name="TextBox 3"/>
          <p:cNvSpPr txBox="1"/>
          <p:nvPr/>
        </p:nvSpPr>
        <p:spPr>
          <a:xfrm>
            <a:off x="658368" y="768096"/>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The grain: what does one row mean?</a:t>
            </a:r>
          </a:p>
        </p:txBody>
      </p:sp>
      <p:sp>
        <p:nvSpPr>
          <p:cNvPr id="5" name="TextBox 4"/>
          <p:cNvSpPr txBox="1"/>
          <p:nvPr/>
        </p:nvSpPr>
        <p:spPr>
          <a:xfrm>
            <a:off x="658368" y="1481328"/>
            <a:ext cx="10874959" cy="4526280"/>
          </a:xfrm>
          <a:prstGeom prst="rect">
            <a:avLst/>
          </a:prstGeom>
          <a:noFill/>
        </p:spPr>
        <p:txBody>
          <a:bodyPr wrap="square" lIns="0" tIns="0" rIns="0" bIns="0">
            <a:spAutoFit/>
          </a:bodyPr>
          <a:lstStyle/>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fact_transactions: one row per txn_id</a:t>
            </a:r>
          </a:p>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fact_branch_daily: one row per branch_code per posting_date</a:t>
            </a:r>
          </a:p>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fact_loan: one row per loan_id, columns update as it moves</a:t>
            </a:r>
          </a:p>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dim_customer (SCD2): one row per customer_id per version</a:t>
            </a:r>
          </a:p>
        </p:txBody>
      </p:sp>
      <p:sp>
        <p:nvSpPr>
          <p:cNvPr id="6" name="TextBox 5"/>
          <p:cNvSpPr txBox="1"/>
          <p:nvPr/>
        </p:nvSpPr>
        <p:spPr>
          <a:xfrm>
            <a:off x="658368" y="5687568"/>
            <a:ext cx="10874959" cy="548640"/>
          </a:xfrm>
          <a:prstGeom prst="rect">
            <a:avLst/>
          </a:prstGeom>
          <a:noFill/>
        </p:spPr>
        <p:txBody>
          <a:bodyPr wrap="square" lIns="0" tIns="0" rIns="0" bIns="0">
            <a:spAutoFit/>
          </a:bodyPr>
          <a:lstStyle/>
          <a:p>
            <a:r>
              <a:rPr sz="1300" b="0" i="1">
                <a:solidFill>
                  <a:srgbClr val="5B6775"/>
                </a:solidFill>
                <a:latin typeface="Segoe UI"/>
              </a:rPr>
              <a:t>Get the grain wrong and a join fans out, or an aggregate undercounts.</a:t>
            </a:r>
          </a:p>
        </p:txBody>
      </p:sp>
      <p:sp>
        <p:nvSpPr>
          <p:cNvPr id="7" name="Rectangle 6"/>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05  ·  Data models for a lakehouse</a:t>
            </a:r>
          </a:p>
        </p:txBody>
      </p:sp>
      <p:sp>
        <p:nvSpPr>
          <p:cNvPr id="9" name="TextBox 8"/>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44</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One fact table in the middle, dimensions around it</a:t>
            </a:r>
          </a:p>
        </p:txBody>
      </p:sp>
      <p:graphicFrame>
        <p:nvGraphicFramePr>
          <p:cNvPr id="4" name="Table 3"/>
          <p:cNvGraphicFramePr>
            <a:graphicFrameLocks noGrp="1"/>
          </p:cNvGraphicFramePr>
          <p:nvPr/>
        </p:nvGraphicFramePr>
        <p:xfrm>
          <a:off x="658368" y="1481328"/>
          <a:ext cx="10874957" cy="2304288"/>
        </p:xfrm>
        <a:graphic>
          <a:graphicData uri="http://schemas.openxmlformats.org/drawingml/2006/table">
            <a:tbl>
              <a:tblPr firstRow="1" bandRow="1">
                <a:tableStyleId>{5C22544A-7EE6-4342-B048-85BDC9FD1C3A}</a:tableStyleId>
              </a:tblPr>
              <a:tblGrid>
                <a:gridCol w="2718739">
                  <a:extLst>
                    <a:ext uri="{9D8B030D-6E8A-4147-A177-3AD203B41FA5}">
                      <a16:colId xmlns:a16="http://schemas.microsoft.com/office/drawing/2014/main" val="20000"/>
                    </a:ext>
                  </a:extLst>
                </a:gridCol>
                <a:gridCol w="4201688">
                  <a:extLst>
                    <a:ext uri="{9D8B030D-6E8A-4147-A177-3AD203B41FA5}">
                      <a16:colId xmlns:a16="http://schemas.microsoft.com/office/drawing/2014/main" val="20001"/>
                    </a:ext>
                  </a:extLst>
                </a:gridCol>
                <a:gridCol w="3954530">
                  <a:extLst>
                    <a:ext uri="{9D8B030D-6E8A-4147-A177-3AD203B41FA5}">
                      <a16:colId xmlns:a16="http://schemas.microsoft.com/office/drawing/2014/main" val="20002"/>
                    </a:ext>
                  </a:extLst>
                </a:gridCol>
              </a:tblGrid>
              <a:tr h="402336">
                <a:tc>
                  <a:txBody>
                    <a:bodyPr/>
                    <a:lstStyle/>
                    <a:p>
                      <a:r>
                        <a:rPr sz="1450" b="1" i="0">
                          <a:solidFill>
                            <a:srgbClr val="FFFFFF"/>
                          </a:solidFill>
                          <a:latin typeface="Segoe UI Semibold"/>
                        </a:rPr>
                        <a:t>Piece</a:t>
                      </a:r>
                    </a:p>
                  </a:txBody>
                  <a:tcPr anchor="ctr">
                    <a:solidFill>
                      <a:srgbClr val="1F4E79"/>
                    </a:solidFill>
                  </a:tcPr>
                </a:tc>
                <a:tc>
                  <a:txBody>
                    <a:bodyPr/>
                    <a:lstStyle/>
                    <a:p>
                      <a:r>
                        <a:rPr sz="1450" b="1" i="0">
                          <a:solidFill>
                            <a:srgbClr val="FFFFFF"/>
                          </a:solidFill>
                          <a:latin typeface="Segoe UI Semibold"/>
                        </a:rPr>
                        <a:t>Holds</a:t>
                      </a:r>
                    </a:p>
                  </a:txBody>
                  <a:tcPr anchor="ctr">
                    <a:solidFill>
                      <a:srgbClr val="1F4E79"/>
                    </a:solidFill>
                  </a:tcPr>
                </a:tc>
                <a:tc>
                  <a:txBody>
                    <a:bodyPr/>
                    <a:lstStyle/>
                    <a:p>
                      <a:r>
                        <a:rPr sz="1450" b="1" i="0">
                          <a:solidFill>
                            <a:srgbClr val="FFFFFF"/>
                          </a:solidFill>
                          <a:latin typeface="Segoe UI Semibold"/>
                        </a:rPr>
                        <a:t>Changes</a:t>
                      </a:r>
                    </a:p>
                  </a:txBody>
                  <a:tcPr anchor="ctr">
                    <a:solidFill>
                      <a:srgbClr val="1F4E79"/>
                    </a:solidFill>
                  </a:tcPr>
                </a:tc>
                <a:extLst>
                  <a:ext uri="{0D108BD9-81ED-4DB2-BD59-A6C34878D82A}">
                    <a16:rowId xmlns:a16="http://schemas.microsoft.com/office/drawing/2014/main" val="10000"/>
                  </a:ext>
                </a:extLst>
              </a:tr>
              <a:tr h="475488">
                <a:tc>
                  <a:txBody>
                    <a:bodyPr/>
                    <a:lstStyle/>
                    <a:p>
                      <a:pPr>
                        <a:lnSpc>
                          <a:spcPct val="106000"/>
                        </a:lnSpc>
                      </a:pPr>
                      <a:r>
                        <a:rPr sz="1400" b="1" i="0">
                          <a:solidFill>
                            <a:srgbClr val="242C38"/>
                          </a:solidFill>
                          <a:latin typeface="Segoe UI"/>
                        </a:rPr>
                        <a:t>fact_transactions</a:t>
                      </a:r>
                    </a:p>
                  </a:txBody>
                  <a:tcPr marT="36576" marB="36576" anchor="ctr">
                    <a:solidFill>
                      <a:srgbClr val="EEF3F8"/>
                    </a:solidFill>
                  </a:tcPr>
                </a:tc>
                <a:tc>
                  <a:txBody>
                    <a:bodyPr/>
                    <a:lstStyle/>
                    <a:p>
                      <a:pPr>
                        <a:lnSpc>
                          <a:spcPct val="106000"/>
                        </a:lnSpc>
                      </a:pPr>
                      <a:r>
                        <a:rPr sz="1400" b="0" i="0">
                          <a:solidFill>
                            <a:srgbClr val="242C38"/>
                          </a:solidFill>
                          <a:latin typeface="Segoe UI"/>
                        </a:rPr>
                        <a:t>txn_id, amounts, foreign keys</a:t>
                      </a:r>
                    </a:p>
                  </a:txBody>
                  <a:tcPr marT="36576" marB="36576" anchor="ctr">
                    <a:solidFill>
                      <a:srgbClr val="EEF3F8"/>
                    </a:solidFill>
                  </a:tcPr>
                </a:tc>
                <a:tc>
                  <a:txBody>
                    <a:bodyPr/>
                    <a:lstStyle/>
                    <a:p>
                      <a:pPr>
                        <a:lnSpc>
                          <a:spcPct val="106000"/>
                        </a:lnSpc>
                      </a:pPr>
                      <a:r>
                        <a:rPr sz="1400" b="0" i="0">
                          <a:solidFill>
                            <a:srgbClr val="242C38"/>
                          </a:solidFill>
                          <a:latin typeface="Segoe UI"/>
                        </a:rPr>
                        <a:t>append-only, never updated</a:t>
                      </a:r>
                    </a:p>
                  </a:txBody>
                  <a:tcPr marT="36576" marB="36576" anchor="ctr">
                    <a:solidFill>
                      <a:srgbClr val="EEF3F8"/>
                    </a:solidFill>
                  </a:tcPr>
                </a:tc>
                <a:extLst>
                  <a:ext uri="{0D108BD9-81ED-4DB2-BD59-A6C34878D82A}">
                    <a16:rowId xmlns:a16="http://schemas.microsoft.com/office/drawing/2014/main" val="10001"/>
                  </a:ext>
                </a:extLst>
              </a:tr>
              <a:tr h="475488">
                <a:tc>
                  <a:txBody>
                    <a:bodyPr/>
                    <a:lstStyle/>
                    <a:p>
                      <a:pPr>
                        <a:lnSpc>
                          <a:spcPct val="106000"/>
                        </a:lnSpc>
                      </a:pPr>
                      <a:r>
                        <a:rPr sz="1400" b="1" i="0">
                          <a:solidFill>
                            <a:srgbClr val="242C38"/>
                          </a:solidFill>
                          <a:latin typeface="Segoe UI"/>
                        </a:rPr>
                        <a:t>dim_customer</a:t>
                      </a:r>
                    </a:p>
                  </a:txBody>
                  <a:tcPr marT="36576" marB="36576" anchor="ctr">
                    <a:solidFill>
                      <a:srgbClr val="FFFFFF"/>
                    </a:solidFill>
                  </a:tcPr>
                </a:tc>
                <a:tc>
                  <a:txBody>
                    <a:bodyPr/>
                    <a:lstStyle/>
                    <a:p>
                      <a:pPr>
                        <a:lnSpc>
                          <a:spcPct val="106000"/>
                        </a:lnSpc>
                      </a:pPr>
                      <a:r>
                        <a:rPr sz="1400" b="0" i="0">
                          <a:solidFill>
                            <a:srgbClr val="242C38"/>
                          </a:solidFill>
                          <a:latin typeface="Segoe UI"/>
                        </a:rPr>
                        <a:t>segment, risk_rating, kyc_status</a:t>
                      </a:r>
                    </a:p>
                  </a:txBody>
                  <a:tcPr marT="36576" marB="36576" anchor="ctr">
                    <a:solidFill>
                      <a:srgbClr val="FFFFFF"/>
                    </a:solidFill>
                  </a:tcPr>
                </a:tc>
                <a:tc>
                  <a:txBody>
                    <a:bodyPr/>
                    <a:lstStyle/>
                    <a:p>
                      <a:pPr>
                        <a:lnSpc>
                          <a:spcPct val="106000"/>
                        </a:lnSpc>
                      </a:pPr>
                      <a:r>
                        <a:rPr sz="1400" b="0" i="0">
                          <a:solidFill>
                            <a:srgbClr val="242C38"/>
                          </a:solidFill>
                          <a:latin typeface="Segoe UI"/>
                        </a:rPr>
                        <a:t>tracked with SCD Type 2</a:t>
                      </a:r>
                    </a:p>
                  </a:txBody>
                  <a:tcPr marT="36576" marB="36576" anchor="ctr">
                    <a:solidFill>
                      <a:srgbClr val="FFFFFF"/>
                    </a:solidFill>
                  </a:tcPr>
                </a:tc>
                <a:extLst>
                  <a:ext uri="{0D108BD9-81ED-4DB2-BD59-A6C34878D82A}">
                    <a16:rowId xmlns:a16="http://schemas.microsoft.com/office/drawing/2014/main" val="10002"/>
                  </a:ext>
                </a:extLst>
              </a:tr>
              <a:tr h="475488">
                <a:tc>
                  <a:txBody>
                    <a:bodyPr/>
                    <a:lstStyle/>
                    <a:p>
                      <a:pPr>
                        <a:lnSpc>
                          <a:spcPct val="106000"/>
                        </a:lnSpc>
                      </a:pPr>
                      <a:r>
                        <a:rPr sz="1400" b="1" i="0">
                          <a:solidFill>
                            <a:srgbClr val="242C38"/>
                          </a:solidFill>
                          <a:latin typeface="Segoe UI"/>
                        </a:rPr>
                        <a:t>dim_account</a:t>
                      </a:r>
                    </a:p>
                  </a:txBody>
                  <a:tcPr marT="36576" marB="36576" anchor="ctr">
                    <a:solidFill>
                      <a:srgbClr val="EEF3F8"/>
                    </a:solidFill>
                  </a:tcPr>
                </a:tc>
                <a:tc>
                  <a:txBody>
                    <a:bodyPr/>
                    <a:lstStyle/>
                    <a:p>
                      <a:pPr>
                        <a:lnSpc>
                          <a:spcPct val="106000"/>
                        </a:lnSpc>
                      </a:pPr>
                      <a:r>
                        <a:rPr sz="1400" b="0" i="0">
                          <a:solidFill>
                            <a:srgbClr val="242C38"/>
                          </a:solidFill>
                          <a:latin typeface="Segoe UI"/>
                        </a:rPr>
                        <a:t>account_type, open_date</a:t>
                      </a:r>
                    </a:p>
                  </a:txBody>
                  <a:tcPr marT="36576" marB="36576" anchor="ctr">
                    <a:solidFill>
                      <a:srgbClr val="EEF3F8"/>
                    </a:solidFill>
                  </a:tcPr>
                </a:tc>
                <a:tc>
                  <a:txBody>
                    <a:bodyPr/>
                    <a:lstStyle/>
                    <a:p>
                      <a:pPr>
                        <a:lnSpc>
                          <a:spcPct val="106000"/>
                        </a:lnSpc>
                      </a:pPr>
                      <a:r>
                        <a:rPr sz="1400" b="0" i="0">
                          <a:solidFill>
                            <a:srgbClr val="242C38"/>
                          </a:solidFill>
                          <a:latin typeface="Segoe UI"/>
                        </a:rPr>
                        <a:t>rarely changes</a:t>
                      </a:r>
                    </a:p>
                  </a:txBody>
                  <a:tcPr marT="36576" marB="36576" anchor="ctr">
                    <a:solidFill>
                      <a:srgbClr val="EEF3F8"/>
                    </a:solidFill>
                  </a:tcPr>
                </a:tc>
                <a:extLst>
                  <a:ext uri="{0D108BD9-81ED-4DB2-BD59-A6C34878D82A}">
                    <a16:rowId xmlns:a16="http://schemas.microsoft.com/office/drawing/2014/main" val="10003"/>
                  </a:ext>
                </a:extLst>
              </a:tr>
              <a:tr h="475488">
                <a:tc>
                  <a:txBody>
                    <a:bodyPr/>
                    <a:lstStyle/>
                    <a:p>
                      <a:pPr>
                        <a:lnSpc>
                          <a:spcPct val="106000"/>
                        </a:lnSpc>
                      </a:pPr>
                      <a:r>
                        <a:rPr sz="1400" b="1" i="0">
                          <a:solidFill>
                            <a:srgbClr val="242C38"/>
                          </a:solidFill>
                          <a:latin typeface="Segoe UI"/>
                        </a:rPr>
                        <a:t>dim_branch</a:t>
                      </a:r>
                    </a:p>
                  </a:txBody>
                  <a:tcPr marT="36576" marB="36576" anchor="ctr">
                    <a:solidFill>
                      <a:srgbClr val="FFFFFF"/>
                    </a:solidFill>
                  </a:tcPr>
                </a:tc>
                <a:tc>
                  <a:txBody>
                    <a:bodyPr/>
                    <a:lstStyle/>
                    <a:p>
                      <a:pPr>
                        <a:lnSpc>
                          <a:spcPct val="106000"/>
                        </a:lnSpc>
                      </a:pPr>
                      <a:r>
                        <a:rPr sz="1400" b="0" i="0">
                          <a:solidFill>
                            <a:srgbClr val="242C38"/>
                          </a:solidFill>
                          <a:latin typeface="Segoe UI"/>
                        </a:rPr>
                        <a:t>branch_name, region</a:t>
                      </a:r>
                    </a:p>
                  </a:txBody>
                  <a:tcPr marT="36576" marB="36576" anchor="ctr">
                    <a:solidFill>
                      <a:srgbClr val="FFFFFF"/>
                    </a:solidFill>
                  </a:tcPr>
                </a:tc>
                <a:tc>
                  <a:txBody>
                    <a:bodyPr/>
                    <a:lstStyle/>
                    <a:p>
                      <a:pPr>
                        <a:lnSpc>
                          <a:spcPct val="106000"/>
                        </a:lnSpc>
                      </a:pPr>
                      <a:r>
                        <a:rPr sz="1400" b="0" i="0">
                          <a:solidFill>
                            <a:srgbClr val="242C38"/>
                          </a:solidFill>
                          <a:latin typeface="Segoe UI"/>
                        </a:rPr>
                        <a:t>almost never changes</a:t>
                      </a:r>
                    </a:p>
                  </a:txBody>
                  <a:tcPr marT="36576" marB="36576" anchor="ctr">
                    <a:solidFill>
                      <a:srgbClr val="FFFFFF"/>
                    </a:solidFill>
                  </a:tcPr>
                </a:tc>
                <a:extLst>
                  <a:ext uri="{0D108BD9-81ED-4DB2-BD59-A6C34878D82A}">
                    <a16:rowId xmlns:a16="http://schemas.microsoft.com/office/drawing/2014/main" val="10004"/>
                  </a:ext>
                </a:extLst>
              </a:tr>
            </a:tbl>
          </a:graphicData>
        </a:graphic>
      </p:graphicFrame>
      <p:sp>
        <p:nvSpPr>
          <p:cNvPr id="5" name="TextBox 4"/>
          <p:cNvSpPr txBox="1"/>
          <p:nvPr/>
        </p:nvSpPr>
        <p:spPr>
          <a:xfrm>
            <a:off x="658368" y="5724144"/>
            <a:ext cx="10874959" cy="502920"/>
          </a:xfrm>
          <a:prstGeom prst="rect">
            <a:avLst/>
          </a:prstGeom>
          <a:noFill/>
        </p:spPr>
        <p:txBody>
          <a:bodyPr wrap="square" lIns="0" tIns="0" rIns="0" bIns="0">
            <a:spAutoFit/>
          </a:bodyPr>
          <a:lstStyle/>
          <a:p>
            <a:r>
              <a:rPr sz="1300" b="0" i="1">
                <a:solidFill>
                  <a:srgbClr val="5B6775"/>
                </a:solidFill>
                <a:latin typeface="Segoe UI"/>
              </a:rPr>
              <a:t>Staging lands the feed. Silver is roughly the ODS. The star schema on top is gold.</a:t>
            </a:r>
          </a:p>
        </p:txBody>
      </p:sp>
      <p:sp>
        <p:nvSpPr>
          <p:cNvPr id="6" name="Rectangle 5"/>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05  ·  Data models for a lakehouse</a:t>
            </a:r>
          </a:p>
        </p:txBody>
      </p:sp>
      <p:sp>
        <p:nvSpPr>
          <p:cNvPr id="8" name="TextBox 7"/>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45</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The three fact types, named</a:t>
            </a:r>
          </a:p>
        </p:txBody>
      </p:sp>
      <p:graphicFrame>
        <p:nvGraphicFramePr>
          <p:cNvPr id="4" name="Table 3"/>
          <p:cNvGraphicFramePr>
            <a:graphicFrameLocks noGrp="1"/>
          </p:cNvGraphicFramePr>
          <p:nvPr/>
        </p:nvGraphicFramePr>
        <p:xfrm>
          <a:off x="658368" y="1481328"/>
          <a:ext cx="10874958" cy="1828800"/>
        </p:xfrm>
        <a:graphic>
          <a:graphicData uri="http://schemas.openxmlformats.org/drawingml/2006/table">
            <a:tbl>
              <a:tblPr firstRow="1" bandRow="1">
                <a:tableStyleId>{5C22544A-7EE6-4342-B048-85BDC9FD1C3A}</a:tableStyleId>
              </a:tblPr>
              <a:tblGrid>
                <a:gridCol w="3309770">
                  <a:extLst>
                    <a:ext uri="{9D8B030D-6E8A-4147-A177-3AD203B41FA5}">
                      <a16:colId xmlns:a16="http://schemas.microsoft.com/office/drawing/2014/main" val="20000"/>
                    </a:ext>
                  </a:extLst>
                </a:gridCol>
                <a:gridCol w="3782594">
                  <a:extLst>
                    <a:ext uri="{9D8B030D-6E8A-4147-A177-3AD203B41FA5}">
                      <a16:colId xmlns:a16="http://schemas.microsoft.com/office/drawing/2014/main" val="20001"/>
                    </a:ext>
                  </a:extLst>
                </a:gridCol>
                <a:gridCol w="3782594">
                  <a:extLst>
                    <a:ext uri="{9D8B030D-6E8A-4147-A177-3AD203B41FA5}">
                      <a16:colId xmlns:a16="http://schemas.microsoft.com/office/drawing/2014/main" val="20002"/>
                    </a:ext>
                  </a:extLst>
                </a:gridCol>
              </a:tblGrid>
              <a:tr h="402336">
                <a:tc>
                  <a:txBody>
                    <a:bodyPr/>
                    <a:lstStyle/>
                    <a:p>
                      <a:r>
                        <a:rPr sz="1450" b="1" i="0">
                          <a:solidFill>
                            <a:srgbClr val="FFFFFF"/>
                          </a:solidFill>
                          <a:latin typeface="Segoe UI Semibold"/>
                        </a:rPr>
                        <a:t>Fact type</a:t>
                      </a:r>
                    </a:p>
                  </a:txBody>
                  <a:tcPr anchor="ctr">
                    <a:solidFill>
                      <a:srgbClr val="1F4E79"/>
                    </a:solidFill>
                  </a:tcPr>
                </a:tc>
                <a:tc>
                  <a:txBody>
                    <a:bodyPr/>
                    <a:lstStyle/>
                    <a:p>
                      <a:r>
                        <a:rPr sz="1450" b="1" i="0">
                          <a:solidFill>
                            <a:srgbClr val="FFFFFF"/>
                          </a:solidFill>
                          <a:latin typeface="Segoe UI Semibold"/>
                        </a:rPr>
                        <a:t>Grain</a:t>
                      </a:r>
                    </a:p>
                  </a:txBody>
                  <a:tcPr anchor="ctr">
                    <a:solidFill>
                      <a:srgbClr val="1F4E79"/>
                    </a:solidFill>
                  </a:tcPr>
                </a:tc>
                <a:tc>
                  <a:txBody>
                    <a:bodyPr/>
                    <a:lstStyle/>
                    <a:p>
                      <a:r>
                        <a:rPr sz="1450" b="1" i="0">
                          <a:solidFill>
                            <a:srgbClr val="FFFFFF"/>
                          </a:solidFill>
                          <a:latin typeface="Segoe UI Semibold"/>
                        </a:rPr>
                        <a:t>Write pattern</a:t>
                      </a:r>
                    </a:p>
                  </a:txBody>
                  <a:tcPr anchor="ctr">
                    <a:solidFill>
                      <a:srgbClr val="1F4E79"/>
                    </a:solidFill>
                  </a:tcPr>
                </a:tc>
                <a:extLst>
                  <a:ext uri="{0D108BD9-81ED-4DB2-BD59-A6C34878D82A}">
                    <a16:rowId xmlns:a16="http://schemas.microsoft.com/office/drawing/2014/main" val="10000"/>
                  </a:ext>
                </a:extLst>
              </a:tr>
              <a:tr h="475488">
                <a:tc>
                  <a:txBody>
                    <a:bodyPr/>
                    <a:lstStyle/>
                    <a:p>
                      <a:pPr>
                        <a:lnSpc>
                          <a:spcPct val="106000"/>
                        </a:lnSpc>
                      </a:pPr>
                      <a:r>
                        <a:rPr sz="1400" b="1" i="0">
                          <a:solidFill>
                            <a:srgbClr val="242C38"/>
                          </a:solidFill>
                          <a:latin typeface="Segoe UI"/>
                        </a:rPr>
                        <a:t>Transaction fact</a:t>
                      </a:r>
                    </a:p>
                  </a:txBody>
                  <a:tcPr marT="36576" marB="36576" anchor="ctr">
                    <a:solidFill>
                      <a:srgbClr val="EEF3F8"/>
                    </a:solidFill>
                  </a:tcPr>
                </a:tc>
                <a:tc>
                  <a:txBody>
                    <a:bodyPr/>
                    <a:lstStyle/>
                    <a:p>
                      <a:pPr>
                        <a:lnSpc>
                          <a:spcPct val="106000"/>
                        </a:lnSpc>
                      </a:pPr>
                      <a:r>
                        <a:rPr sz="1400" b="0" i="0">
                          <a:solidFill>
                            <a:srgbClr val="242C38"/>
                          </a:solidFill>
                          <a:latin typeface="Segoe UI"/>
                        </a:rPr>
                        <a:t>one row per event</a:t>
                      </a:r>
                    </a:p>
                  </a:txBody>
                  <a:tcPr marT="36576" marB="36576" anchor="ctr">
                    <a:solidFill>
                      <a:srgbClr val="EEF3F8"/>
                    </a:solidFill>
                  </a:tcPr>
                </a:tc>
                <a:tc>
                  <a:txBody>
                    <a:bodyPr/>
                    <a:lstStyle/>
                    <a:p>
                      <a:pPr>
                        <a:lnSpc>
                          <a:spcPct val="106000"/>
                        </a:lnSpc>
                      </a:pPr>
                      <a:r>
                        <a:rPr sz="1400" b="0" i="0">
                          <a:solidFill>
                            <a:srgbClr val="242C38"/>
                          </a:solidFill>
                          <a:latin typeface="Segoe UI"/>
                        </a:rPr>
                        <a:t>append-only, </a:t>
                      </a:r>
                      <a:r>
                        <a:rPr sz="1350" b="0" i="0">
                          <a:solidFill>
                            <a:srgbClr val="2E74B5"/>
                          </a:solidFill>
                          <a:latin typeface="Consolas"/>
                        </a:rPr>
                        <a:t>mode("append")</a:t>
                      </a:r>
                    </a:p>
                  </a:txBody>
                  <a:tcPr marT="36576" marB="36576" anchor="ctr">
                    <a:solidFill>
                      <a:srgbClr val="EEF3F8"/>
                    </a:solidFill>
                  </a:tcPr>
                </a:tc>
                <a:extLst>
                  <a:ext uri="{0D108BD9-81ED-4DB2-BD59-A6C34878D82A}">
                    <a16:rowId xmlns:a16="http://schemas.microsoft.com/office/drawing/2014/main" val="10001"/>
                  </a:ext>
                </a:extLst>
              </a:tr>
              <a:tr h="475488">
                <a:tc>
                  <a:txBody>
                    <a:bodyPr/>
                    <a:lstStyle/>
                    <a:p>
                      <a:pPr>
                        <a:lnSpc>
                          <a:spcPct val="106000"/>
                        </a:lnSpc>
                      </a:pPr>
                      <a:r>
                        <a:rPr sz="1400" b="1" i="0">
                          <a:solidFill>
                            <a:srgbClr val="242C38"/>
                          </a:solidFill>
                          <a:latin typeface="Segoe UI"/>
                        </a:rPr>
                        <a:t>Periodic snapshot</a:t>
                      </a:r>
                    </a:p>
                  </a:txBody>
                  <a:tcPr marT="36576" marB="36576" anchor="ctr">
                    <a:solidFill>
                      <a:srgbClr val="FFFFFF"/>
                    </a:solidFill>
                  </a:tcPr>
                </a:tc>
                <a:tc>
                  <a:txBody>
                    <a:bodyPr/>
                    <a:lstStyle/>
                    <a:p>
                      <a:pPr>
                        <a:lnSpc>
                          <a:spcPct val="106000"/>
                        </a:lnSpc>
                      </a:pPr>
                      <a:r>
                        <a:rPr sz="1400" b="0" i="0">
                          <a:solidFill>
                            <a:srgbClr val="242C38"/>
                          </a:solidFill>
                          <a:latin typeface="Segoe UI"/>
                        </a:rPr>
                        <a:t>one row per dimension per period</a:t>
                      </a:r>
                    </a:p>
                  </a:txBody>
                  <a:tcPr marT="36576" marB="36576" anchor="ctr">
                    <a:solidFill>
                      <a:srgbClr val="FFFFFF"/>
                    </a:solidFill>
                  </a:tcPr>
                </a:tc>
                <a:tc>
                  <a:txBody>
                    <a:bodyPr/>
                    <a:lstStyle/>
                    <a:p>
                      <a:pPr>
                        <a:lnSpc>
                          <a:spcPct val="106000"/>
                        </a:lnSpc>
                      </a:pPr>
                      <a:r>
                        <a:rPr sz="1400" b="0" i="0">
                          <a:solidFill>
                            <a:srgbClr val="242C38"/>
                          </a:solidFill>
                          <a:latin typeface="Segoe UI"/>
                        </a:rPr>
                        <a:t>overwrite every run, even if unchanged</a:t>
                      </a:r>
                    </a:p>
                  </a:txBody>
                  <a:tcPr marT="36576" marB="36576" anchor="ctr">
                    <a:solidFill>
                      <a:srgbClr val="FFFFFF"/>
                    </a:solidFill>
                  </a:tcPr>
                </a:tc>
                <a:extLst>
                  <a:ext uri="{0D108BD9-81ED-4DB2-BD59-A6C34878D82A}">
                    <a16:rowId xmlns:a16="http://schemas.microsoft.com/office/drawing/2014/main" val="10002"/>
                  </a:ext>
                </a:extLst>
              </a:tr>
              <a:tr h="475488">
                <a:tc>
                  <a:txBody>
                    <a:bodyPr/>
                    <a:lstStyle/>
                    <a:p>
                      <a:pPr>
                        <a:lnSpc>
                          <a:spcPct val="106000"/>
                        </a:lnSpc>
                      </a:pPr>
                      <a:r>
                        <a:rPr sz="1400" b="1" i="0">
                          <a:solidFill>
                            <a:srgbClr val="242C38"/>
                          </a:solidFill>
                          <a:latin typeface="Segoe UI"/>
                        </a:rPr>
                        <a:t>Accumulating snapshot</a:t>
                      </a:r>
                    </a:p>
                  </a:txBody>
                  <a:tcPr marT="36576" marB="36576" anchor="ctr">
                    <a:solidFill>
                      <a:srgbClr val="EEF3F8"/>
                    </a:solidFill>
                  </a:tcPr>
                </a:tc>
                <a:tc>
                  <a:txBody>
                    <a:bodyPr/>
                    <a:lstStyle/>
                    <a:p>
                      <a:pPr>
                        <a:lnSpc>
                          <a:spcPct val="106000"/>
                        </a:lnSpc>
                      </a:pPr>
                      <a:r>
                        <a:rPr sz="1400" b="0" i="0">
                          <a:solidFill>
                            <a:srgbClr val="242C38"/>
                          </a:solidFill>
                          <a:latin typeface="Segoe UI"/>
                        </a:rPr>
                        <a:t>one row per case</a:t>
                      </a:r>
                    </a:p>
                  </a:txBody>
                  <a:tcPr marT="36576" marB="36576" anchor="ctr">
                    <a:solidFill>
                      <a:srgbClr val="EEF3F8"/>
                    </a:solidFill>
                  </a:tcPr>
                </a:tc>
                <a:tc>
                  <a:txBody>
                    <a:bodyPr/>
                    <a:lstStyle/>
                    <a:p>
                      <a:pPr>
                        <a:lnSpc>
                          <a:spcPct val="106000"/>
                        </a:lnSpc>
                      </a:pPr>
                      <a:r>
                        <a:rPr sz="1400" b="0" i="0">
                          <a:solidFill>
                            <a:srgbClr val="242C38"/>
                          </a:solidFill>
                          <a:latin typeface="Segoe UI"/>
                        </a:rPr>
                        <a:t>update in place as milestones happen</a:t>
                      </a:r>
                    </a:p>
                  </a:txBody>
                  <a:tcPr marT="36576" marB="36576" anchor="ctr">
                    <a:solidFill>
                      <a:srgbClr val="EEF3F8"/>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658368" y="5724144"/>
            <a:ext cx="10874959" cy="502920"/>
          </a:xfrm>
          <a:prstGeom prst="rect">
            <a:avLst/>
          </a:prstGeom>
          <a:noFill/>
        </p:spPr>
        <p:txBody>
          <a:bodyPr wrap="square" lIns="0" tIns="0" rIns="0" bIns="0">
            <a:spAutoFit/>
          </a:bodyPr>
          <a:lstStyle/>
          <a:p>
            <a:r>
              <a:rPr sz="1300" b="0" i="1">
                <a:solidFill>
                  <a:srgbClr val="5B6775"/>
                </a:solidFill>
                <a:latin typeface="Segoe UI"/>
              </a:rPr>
              <a:t>Transaction facts never update. A periodic snapshot has the same row count every period.</a:t>
            </a:r>
          </a:p>
        </p:txBody>
      </p:sp>
      <p:sp>
        <p:nvSpPr>
          <p:cNvPr id="6" name="Rectangle 5"/>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05  ·  Data models for a lakehouse</a:t>
            </a:r>
          </a:p>
        </p:txBody>
      </p:sp>
      <p:sp>
        <p:nvSpPr>
          <p:cNvPr id="8" name="TextBox 7"/>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46</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Slowly Changing Dimensions: overwrite, or keep both?</a:t>
            </a:r>
          </a:p>
        </p:txBody>
      </p:sp>
      <p:graphicFrame>
        <p:nvGraphicFramePr>
          <p:cNvPr id="4" name="Table 3"/>
          <p:cNvGraphicFramePr>
            <a:graphicFrameLocks noGrp="1"/>
          </p:cNvGraphicFramePr>
          <p:nvPr/>
        </p:nvGraphicFramePr>
        <p:xfrm>
          <a:off x="658368" y="1481328"/>
          <a:ext cx="10874958" cy="1828800"/>
        </p:xfrm>
        <a:graphic>
          <a:graphicData uri="http://schemas.openxmlformats.org/drawingml/2006/table">
            <a:tbl>
              <a:tblPr firstRow="1" bandRow="1">
                <a:tableStyleId>{5C22544A-7EE6-4342-B048-85BDC9FD1C3A}</a:tableStyleId>
              </a:tblPr>
              <a:tblGrid>
                <a:gridCol w="1977265">
                  <a:extLst>
                    <a:ext uri="{9D8B030D-6E8A-4147-A177-3AD203B41FA5}">
                      <a16:colId xmlns:a16="http://schemas.microsoft.com/office/drawing/2014/main" val="20000"/>
                    </a:ext>
                  </a:extLst>
                </a:gridCol>
                <a:gridCol w="4201688">
                  <a:extLst>
                    <a:ext uri="{9D8B030D-6E8A-4147-A177-3AD203B41FA5}">
                      <a16:colId xmlns:a16="http://schemas.microsoft.com/office/drawing/2014/main" val="20001"/>
                    </a:ext>
                  </a:extLst>
                </a:gridCol>
                <a:gridCol w="4696005">
                  <a:extLst>
                    <a:ext uri="{9D8B030D-6E8A-4147-A177-3AD203B41FA5}">
                      <a16:colId xmlns:a16="http://schemas.microsoft.com/office/drawing/2014/main" val="20002"/>
                    </a:ext>
                  </a:extLst>
                </a:gridCol>
              </a:tblGrid>
              <a:tr h="402336">
                <a:tc>
                  <a:txBody>
                    <a:bodyPr/>
                    <a:lstStyle/>
                    <a:p>
                      <a:r>
                        <a:rPr sz="1450" b="1" i="0">
                          <a:solidFill>
                            <a:srgbClr val="FFFFFF"/>
                          </a:solidFill>
                          <a:latin typeface="Segoe UI Semibold"/>
                        </a:rPr>
                        <a:t>Type</a:t>
                      </a:r>
                    </a:p>
                  </a:txBody>
                  <a:tcPr anchor="ctr">
                    <a:solidFill>
                      <a:srgbClr val="1F4E79"/>
                    </a:solidFill>
                  </a:tcPr>
                </a:tc>
                <a:tc>
                  <a:txBody>
                    <a:bodyPr/>
                    <a:lstStyle/>
                    <a:p>
                      <a:r>
                        <a:rPr sz="1450" b="1" i="0">
                          <a:solidFill>
                            <a:srgbClr val="FFFFFF"/>
                          </a:solidFill>
                          <a:latin typeface="Segoe UI Semibold"/>
                        </a:rPr>
                        <a:t>Old value</a:t>
                      </a:r>
                    </a:p>
                  </a:txBody>
                  <a:tcPr anchor="ctr">
                    <a:solidFill>
                      <a:srgbClr val="1F4E79"/>
                    </a:solidFill>
                  </a:tcPr>
                </a:tc>
                <a:tc>
                  <a:txBody>
                    <a:bodyPr/>
                    <a:lstStyle/>
                    <a:p>
                      <a:r>
                        <a:rPr sz="1450" b="1" i="0">
                          <a:solidFill>
                            <a:srgbClr val="FFFFFF"/>
                          </a:solidFill>
                          <a:latin typeface="Segoe UI Semibold"/>
                        </a:rPr>
                        <a:t>Use it when</a:t>
                      </a:r>
                    </a:p>
                  </a:txBody>
                  <a:tcPr anchor="ctr">
                    <a:solidFill>
                      <a:srgbClr val="1F4E79"/>
                    </a:solidFill>
                  </a:tcPr>
                </a:tc>
                <a:extLst>
                  <a:ext uri="{0D108BD9-81ED-4DB2-BD59-A6C34878D82A}">
                    <a16:rowId xmlns:a16="http://schemas.microsoft.com/office/drawing/2014/main" val="10000"/>
                  </a:ext>
                </a:extLst>
              </a:tr>
              <a:tr h="475488">
                <a:tc>
                  <a:txBody>
                    <a:bodyPr/>
                    <a:lstStyle/>
                    <a:p>
                      <a:pPr>
                        <a:lnSpc>
                          <a:spcPct val="106000"/>
                        </a:lnSpc>
                      </a:pPr>
                      <a:r>
                        <a:rPr sz="1400" b="1" i="0">
                          <a:solidFill>
                            <a:srgbClr val="242C38"/>
                          </a:solidFill>
                          <a:latin typeface="Segoe UI"/>
                        </a:rPr>
                        <a:t>Type 1</a:t>
                      </a:r>
                    </a:p>
                  </a:txBody>
                  <a:tcPr marT="36576" marB="36576" anchor="ctr">
                    <a:solidFill>
                      <a:srgbClr val="EEF3F8"/>
                    </a:solidFill>
                  </a:tcPr>
                </a:tc>
                <a:tc>
                  <a:txBody>
                    <a:bodyPr/>
                    <a:lstStyle/>
                    <a:p>
                      <a:pPr>
                        <a:lnSpc>
                          <a:spcPct val="106000"/>
                        </a:lnSpc>
                      </a:pPr>
                      <a:r>
                        <a:rPr sz="1400" b="0" i="0">
                          <a:solidFill>
                            <a:srgbClr val="242C38"/>
                          </a:solidFill>
                          <a:latin typeface="Segoe UI"/>
                        </a:rPr>
                        <a:t>overwritten, gone</a:t>
                      </a:r>
                    </a:p>
                  </a:txBody>
                  <a:tcPr marT="36576" marB="36576" anchor="ctr">
                    <a:solidFill>
                      <a:srgbClr val="EEF3F8"/>
                    </a:solidFill>
                  </a:tcPr>
                </a:tc>
                <a:tc>
                  <a:txBody>
                    <a:bodyPr/>
                    <a:lstStyle/>
                    <a:p>
                      <a:pPr>
                        <a:lnSpc>
                          <a:spcPct val="106000"/>
                        </a:lnSpc>
                      </a:pPr>
                      <a:r>
                        <a:rPr sz="1400" b="0" i="0">
                          <a:solidFill>
                            <a:srgbClr val="242C38"/>
                          </a:solidFill>
                          <a:latin typeface="Segoe UI"/>
                        </a:rPr>
                        <a:t>the old value was a mistake, e.g. a typo</a:t>
                      </a:r>
                    </a:p>
                  </a:txBody>
                  <a:tcPr marT="36576" marB="36576" anchor="ctr">
                    <a:solidFill>
                      <a:srgbClr val="EEF3F8"/>
                    </a:solidFill>
                  </a:tcPr>
                </a:tc>
                <a:extLst>
                  <a:ext uri="{0D108BD9-81ED-4DB2-BD59-A6C34878D82A}">
                    <a16:rowId xmlns:a16="http://schemas.microsoft.com/office/drawing/2014/main" val="10001"/>
                  </a:ext>
                </a:extLst>
              </a:tr>
              <a:tr h="475488">
                <a:tc>
                  <a:txBody>
                    <a:bodyPr/>
                    <a:lstStyle/>
                    <a:p>
                      <a:pPr>
                        <a:lnSpc>
                          <a:spcPct val="106000"/>
                        </a:lnSpc>
                      </a:pPr>
                      <a:r>
                        <a:rPr sz="1400" b="1" i="0">
                          <a:solidFill>
                            <a:srgbClr val="242C38"/>
                          </a:solidFill>
                          <a:latin typeface="Segoe UI"/>
                        </a:rPr>
                        <a:t>Type 2</a:t>
                      </a:r>
                    </a:p>
                  </a:txBody>
                  <a:tcPr marT="36576" marB="36576" anchor="ctr">
                    <a:solidFill>
                      <a:srgbClr val="FFFFFF"/>
                    </a:solidFill>
                  </a:tcPr>
                </a:tc>
                <a:tc>
                  <a:txBody>
                    <a:bodyPr/>
                    <a:lstStyle/>
                    <a:p>
                      <a:pPr>
                        <a:lnSpc>
                          <a:spcPct val="106000"/>
                        </a:lnSpc>
                      </a:pPr>
                      <a:r>
                        <a:rPr sz="1400" b="0" i="0">
                          <a:solidFill>
                            <a:srgbClr val="242C38"/>
                          </a:solidFill>
                          <a:latin typeface="Segoe UI"/>
                        </a:rPr>
                        <a:t>kept, as a new dated row</a:t>
                      </a:r>
                    </a:p>
                  </a:txBody>
                  <a:tcPr marT="36576" marB="36576" anchor="ctr">
                    <a:solidFill>
                      <a:srgbClr val="FFFFFF"/>
                    </a:solidFill>
                  </a:tcPr>
                </a:tc>
                <a:tc>
                  <a:txBody>
                    <a:bodyPr/>
                    <a:lstStyle/>
                    <a:p>
                      <a:pPr>
                        <a:lnSpc>
                          <a:spcPct val="106000"/>
                        </a:lnSpc>
                      </a:pPr>
                      <a:r>
                        <a:rPr sz="1400" b="0" i="0">
                          <a:solidFill>
                            <a:srgbClr val="242C38"/>
                          </a:solidFill>
                          <a:latin typeface="Segoe UI"/>
                        </a:rPr>
                        <a:t>the old value was TRUE at the time</a:t>
                      </a:r>
                    </a:p>
                  </a:txBody>
                  <a:tcPr marT="36576" marB="36576" anchor="ctr">
                    <a:solidFill>
                      <a:srgbClr val="FFFFFF"/>
                    </a:solidFill>
                  </a:tcPr>
                </a:tc>
                <a:extLst>
                  <a:ext uri="{0D108BD9-81ED-4DB2-BD59-A6C34878D82A}">
                    <a16:rowId xmlns:a16="http://schemas.microsoft.com/office/drawing/2014/main" val="10002"/>
                  </a:ext>
                </a:extLst>
              </a:tr>
              <a:tr h="475488">
                <a:tc>
                  <a:txBody>
                    <a:bodyPr/>
                    <a:lstStyle/>
                    <a:p>
                      <a:pPr>
                        <a:lnSpc>
                          <a:spcPct val="106000"/>
                        </a:lnSpc>
                      </a:pPr>
                      <a:r>
                        <a:rPr sz="1400" b="1" i="0">
                          <a:solidFill>
                            <a:srgbClr val="242C38"/>
                          </a:solidFill>
                          <a:latin typeface="Segoe UI"/>
                        </a:rPr>
                        <a:t>Type 3</a:t>
                      </a:r>
                    </a:p>
                  </a:txBody>
                  <a:tcPr marT="36576" marB="36576" anchor="ctr">
                    <a:solidFill>
                      <a:srgbClr val="EEF3F8"/>
                    </a:solidFill>
                  </a:tcPr>
                </a:tc>
                <a:tc>
                  <a:txBody>
                    <a:bodyPr/>
                    <a:lstStyle/>
                    <a:p>
                      <a:pPr>
                        <a:lnSpc>
                          <a:spcPct val="106000"/>
                        </a:lnSpc>
                      </a:pPr>
                      <a:r>
                        <a:rPr sz="1400" b="0" i="0">
                          <a:solidFill>
                            <a:srgbClr val="242C38"/>
                          </a:solidFill>
                          <a:latin typeface="Segoe UI"/>
                        </a:rPr>
                        <a:t>kept, one extra column only</a:t>
                      </a:r>
                    </a:p>
                  </a:txBody>
                  <a:tcPr marT="36576" marB="36576" anchor="ctr">
                    <a:solidFill>
                      <a:srgbClr val="EEF3F8"/>
                    </a:solidFill>
                  </a:tcPr>
                </a:tc>
                <a:tc>
                  <a:txBody>
                    <a:bodyPr/>
                    <a:lstStyle/>
                    <a:p>
                      <a:pPr>
                        <a:lnSpc>
                          <a:spcPct val="106000"/>
                        </a:lnSpc>
                      </a:pPr>
                      <a:r>
                        <a:rPr sz="1400" b="0" i="0">
                          <a:solidFill>
                            <a:srgbClr val="242C38"/>
                          </a:solidFill>
                          <a:latin typeface="Segoe UI"/>
                        </a:rPr>
                        <a:t>rare, one step of history is enough</a:t>
                      </a:r>
                    </a:p>
                  </a:txBody>
                  <a:tcPr marT="36576" marB="36576" anchor="ctr">
                    <a:solidFill>
                      <a:srgbClr val="EEF3F8"/>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658368" y="5724144"/>
            <a:ext cx="10874959" cy="502920"/>
          </a:xfrm>
          <a:prstGeom prst="rect">
            <a:avLst/>
          </a:prstGeom>
          <a:noFill/>
        </p:spPr>
        <p:txBody>
          <a:bodyPr wrap="square" lIns="0" tIns="0" rIns="0" bIns="0">
            <a:spAutoFit/>
          </a:bodyPr>
          <a:lstStyle/>
          <a:p>
            <a:r>
              <a:rPr sz="1300" b="0" i="1">
                <a:solidFill>
                  <a:srgbClr val="5B6775"/>
                </a:solidFill>
                <a:latin typeface="Segoe UI"/>
              </a:rPr>
              <a:t>Banking dimensions are almost always Type 2. A Type 1 overwrite breaks every prior join.</a:t>
            </a:r>
          </a:p>
        </p:txBody>
      </p:sp>
      <p:sp>
        <p:nvSpPr>
          <p:cNvPr id="6" name="Rectangle 5"/>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05  ·  Data models for a lakehouse</a:t>
            </a:r>
          </a:p>
        </p:txBody>
      </p:sp>
      <p:sp>
        <p:nvSpPr>
          <p:cNvPr id="8" name="TextBox 7"/>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47</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Four columns turn a dimension into SCD Type 2</a:t>
            </a:r>
          </a:p>
        </p:txBody>
      </p:sp>
      <p:graphicFrame>
        <p:nvGraphicFramePr>
          <p:cNvPr id="4" name="Table 3"/>
          <p:cNvGraphicFramePr>
            <a:graphicFrameLocks noGrp="1"/>
          </p:cNvGraphicFramePr>
          <p:nvPr/>
        </p:nvGraphicFramePr>
        <p:xfrm>
          <a:off x="658368" y="1481328"/>
          <a:ext cx="10874958" cy="2304288"/>
        </p:xfrm>
        <a:graphic>
          <a:graphicData uri="http://schemas.openxmlformats.org/drawingml/2006/table">
            <a:tbl>
              <a:tblPr firstRow="1" bandRow="1">
                <a:tableStyleId>{5C22544A-7EE6-4342-B048-85BDC9FD1C3A}</a:tableStyleId>
              </a:tblPr>
              <a:tblGrid>
                <a:gridCol w="4158072">
                  <a:extLst>
                    <a:ext uri="{9D8B030D-6E8A-4147-A177-3AD203B41FA5}">
                      <a16:colId xmlns:a16="http://schemas.microsoft.com/office/drawing/2014/main" val="20000"/>
                    </a:ext>
                  </a:extLst>
                </a:gridCol>
                <a:gridCol w="6716886">
                  <a:extLst>
                    <a:ext uri="{9D8B030D-6E8A-4147-A177-3AD203B41FA5}">
                      <a16:colId xmlns:a16="http://schemas.microsoft.com/office/drawing/2014/main" val="20001"/>
                    </a:ext>
                  </a:extLst>
                </a:gridCol>
              </a:tblGrid>
              <a:tr h="402336">
                <a:tc>
                  <a:txBody>
                    <a:bodyPr/>
                    <a:lstStyle/>
                    <a:p>
                      <a:r>
                        <a:rPr sz="1450" b="1" i="0">
                          <a:solidFill>
                            <a:srgbClr val="FFFFFF"/>
                          </a:solidFill>
                          <a:latin typeface="Segoe UI Semibold"/>
                        </a:rPr>
                        <a:t>Column</a:t>
                      </a:r>
                    </a:p>
                  </a:txBody>
                  <a:tcPr anchor="ctr">
                    <a:solidFill>
                      <a:srgbClr val="1F4E79"/>
                    </a:solidFill>
                  </a:tcPr>
                </a:tc>
                <a:tc>
                  <a:txBody>
                    <a:bodyPr/>
                    <a:lstStyle/>
                    <a:p>
                      <a:r>
                        <a:rPr sz="1450" b="1" i="0">
                          <a:solidFill>
                            <a:srgbClr val="FFFFFF"/>
                          </a:solidFill>
                          <a:latin typeface="Segoe UI Semibold"/>
                        </a:rPr>
                        <a:t>Meaning</a:t>
                      </a:r>
                    </a:p>
                  </a:txBody>
                  <a:tcPr anchor="ctr">
                    <a:solidFill>
                      <a:srgbClr val="1F4E79"/>
                    </a:solidFill>
                  </a:tcPr>
                </a:tc>
                <a:extLst>
                  <a:ext uri="{0D108BD9-81ED-4DB2-BD59-A6C34878D82A}">
                    <a16:rowId xmlns:a16="http://schemas.microsoft.com/office/drawing/2014/main" val="10000"/>
                  </a:ext>
                </a:extLst>
              </a:tr>
              <a:tr h="475488">
                <a:tc>
                  <a:txBody>
                    <a:bodyPr/>
                    <a:lstStyle/>
                    <a:p>
                      <a:pPr>
                        <a:lnSpc>
                          <a:spcPct val="106000"/>
                        </a:lnSpc>
                      </a:pPr>
                      <a:r>
                        <a:rPr sz="1400" b="1" i="0">
                          <a:solidFill>
                            <a:srgbClr val="242C38"/>
                          </a:solidFill>
                          <a:latin typeface="Segoe UI"/>
                        </a:rPr>
                        <a:t>surrogate_key</a:t>
                      </a:r>
                    </a:p>
                  </a:txBody>
                  <a:tcPr marT="36576" marB="36576" anchor="ctr">
                    <a:solidFill>
                      <a:srgbClr val="EEF3F8"/>
                    </a:solidFill>
                  </a:tcPr>
                </a:tc>
                <a:tc>
                  <a:txBody>
                    <a:bodyPr/>
                    <a:lstStyle/>
                    <a:p>
                      <a:pPr>
                        <a:lnSpc>
                          <a:spcPct val="106000"/>
                        </a:lnSpc>
                      </a:pPr>
                      <a:r>
                        <a:rPr sz="1400" b="0" i="0">
                          <a:solidFill>
                            <a:srgbClr val="242C38"/>
                          </a:solidFill>
                          <a:latin typeface="Segoe UI"/>
                        </a:rPr>
                        <a:t>a new, unique key for every VERSION, not per customer</a:t>
                      </a:r>
                    </a:p>
                  </a:txBody>
                  <a:tcPr marT="36576" marB="36576" anchor="ctr">
                    <a:solidFill>
                      <a:srgbClr val="EEF3F8"/>
                    </a:solidFill>
                  </a:tcPr>
                </a:tc>
                <a:extLst>
                  <a:ext uri="{0D108BD9-81ED-4DB2-BD59-A6C34878D82A}">
                    <a16:rowId xmlns:a16="http://schemas.microsoft.com/office/drawing/2014/main" val="10001"/>
                  </a:ext>
                </a:extLst>
              </a:tr>
              <a:tr h="475488">
                <a:tc>
                  <a:txBody>
                    <a:bodyPr/>
                    <a:lstStyle/>
                    <a:p>
                      <a:pPr>
                        <a:lnSpc>
                          <a:spcPct val="106000"/>
                        </a:lnSpc>
                      </a:pPr>
                      <a:r>
                        <a:rPr sz="1400" b="1" i="0">
                          <a:solidFill>
                            <a:srgbClr val="242C38"/>
                          </a:solidFill>
                          <a:latin typeface="Segoe UI"/>
                        </a:rPr>
                        <a:t>effective_from</a:t>
                      </a:r>
                    </a:p>
                  </a:txBody>
                  <a:tcPr marT="36576" marB="36576" anchor="ctr">
                    <a:solidFill>
                      <a:srgbClr val="FFFFFF"/>
                    </a:solidFill>
                  </a:tcPr>
                </a:tc>
                <a:tc>
                  <a:txBody>
                    <a:bodyPr/>
                    <a:lstStyle/>
                    <a:p>
                      <a:pPr>
                        <a:lnSpc>
                          <a:spcPct val="106000"/>
                        </a:lnSpc>
                      </a:pPr>
                      <a:r>
                        <a:rPr sz="1400" b="0" i="0">
                          <a:solidFill>
                            <a:srgbClr val="242C38"/>
                          </a:solidFill>
                          <a:latin typeface="Segoe UI"/>
                        </a:rPr>
                        <a:t>the date this version became true</a:t>
                      </a:r>
                    </a:p>
                  </a:txBody>
                  <a:tcPr marT="36576" marB="36576" anchor="ctr">
                    <a:solidFill>
                      <a:srgbClr val="FFFFFF"/>
                    </a:solidFill>
                  </a:tcPr>
                </a:tc>
                <a:extLst>
                  <a:ext uri="{0D108BD9-81ED-4DB2-BD59-A6C34878D82A}">
                    <a16:rowId xmlns:a16="http://schemas.microsoft.com/office/drawing/2014/main" val="10002"/>
                  </a:ext>
                </a:extLst>
              </a:tr>
              <a:tr h="475488">
                <a:tc>
                  <a:txBody>
                    <a:bodyPr/>
                    <a:lstStyle/>
                    <a:p>
                      <a:pPr>
                        <a:lnSpc>
                          <a:spcPct val="106000"/>
                        </a:lnSpc>
                      </a:pPr>
                      <a:r>
                        <a:rPr sz="1400" b="1" i="0">
                          <a:solidFill>
                            <a:srgbClr val="242C38"/>
                          </a:solidFill>
                          <a:latin typeface="Segoe UI"/>
                        </a:rPr>
                        <a:t>effective_to</a:t>
                      </a:r>
                    </a:p>
                  </a:txBody>
                  <a:tcPr marT="36576" marB="36576" anchor="ctr">
                    <a:solidFill>
                      <a:srgbClr val="EEF3F8"/>
                    </a:solidFill>
                  </a:tcPr>
                </a:tc>
                <a:tc>
                  <a:txBody>
                    <a:bodyPr/>
                    <a:lstStyle/>
                    <a:p>
                      <a:pPr>
                        <a:lnSpc>
                          <a:spcPct val="106000"/>
                        </a:lnSpc>
                      </a:pPr>
                      <a:r>
                        <a:rPr sz="1400" b="0" i="0">
                          <a:solidFill>
                            <a:srgbClr val="242C38"/>
                          </a:solidFill>
                          <a:latin typeface="Segoe UI"/>
                        </a:rPr>
                        <a:t>the date it stopped being true, null if still current</a:t>
                      </a:r>
                    </a:p>
                  </a:txBody>
                  <a:tcPr marT="36576" marB="36576" anchor="ctr">
                    <a:solidFill>
                      <a:srgbClr val="EEF3F8"/>
                    </a:solidFill>
                  </a:tcPr>
                </a:tc>
                <a:extLst>
                  <a:ext uri="{0D108BD9-81ED-4DB2-BD59-A6C34878D82A}">
                    <a16:rowId xmlns:a16="http://schemas.microsoft.com/office/drawing/2014/main" val="10003"/>
                  </a:ext>
                </a:extLst>
              </a:tr>
              <a:tr h="475488">
                <a:tc>
                  <a:txBody>
                    <a:bodyPr/>
                    <a:lstStyle/>
                    <a:p>
                      <a:pPr>
                        <a:lnSpc>
                          <a:spcPct val="106000"/>
                        </a:lnSpc>
                      </a:pPr>
                      <a:r>
                        <a:rPr sz="1400" b="1" i="0">
                          <a:solidFill>
                            <a:srgbClr val="242C38"/>
                          </a:solidFill>
                          <a:latin typeface="Segoe UI"/>
                        </a:rPr>
                        <a:t>is_current</a:t>
                      </a:r>
                    </a:p>
                  </a:txBody>
                  <a:tcPr marT="36576" marB="36576" anchor="ctr">
                    <a:solidFill>
                      <a:srgbClr val="FFFFFF"/>
                    </a:solidFill>
                  </a:tcPr>
                </a:tc>
                <a:tc>
                  <a:txBody>
                    <a:bodyPr/>
                    <a:lstStyle/>
                    <a:p>
                      <a:pPr>
                        <a:lnSpc>
                          <a:spcPct val="106000"/>
                        </a:lnSpc>
                      </a:pPr>
                      <a:r>
                        <a:rPr sz="1400" b="0" i="0">
                          <a:solidFill>
                            <a:srgbClr val="242C38"/>
                          </a:solidFill>
                          <a:latin typeface="Segoe UI"/>
                        </a:rPr>
                        <a:t>a shortcut so a query skips checking effective_to IS NULL</a:t>
                      </a:r>
                    </a:p>
                  </a:txBody>
                  <a:tcPr marT="36576" marB="36576" anchor="ctr">
                    <a:solidFill>
                      <a:srgbClr val="FFFFFF"/>
                    </a:solidFill>
                  </a:tcPr>
                </a:tc>
                <a:extLst>
                  <a:ext uri="{0D108BD9-81ED-4DB2-BD59-A6C34878D82A}">
                    <a16:rowId xmlns:a16="http://schemas.microsoft.com/office/drawing/2014/main" val="10004"/>
                  </a:ext>
                </a:extLst>
              </a:tr>
            </a:tbl>
          </a:graphicData>
        </a:graphic>
      </p:graphicFrame>
      <p:sp>
        <p:nvSpPr>
          <p:cNvPr id="5" name="Rectangle 4"/>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05  ·  Data models for a lakehouse</a:t>
            </a:r>
          </a:p>
        </p:txBody>
      </p:sp>
      <p:sp>
        <p:nvSpPr>
          <p:cNvPr id="7" name="TextBox 6"/>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48</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Change detection: fingerprint the tracked columns</a:t>
            </a:r>
          </a:p>
        </p:txBody>
      </p:sp>
      <p:sp>
        <p:nvSpPr>
          <p:cNvPr id="4" name="Rectangle 3"/>
          <p:cNvSpPr/>
          <p:nvPr/>
        </p:nvSpPr>
        <p:spPr>
          <a:xfrm>
            <a:off x="658368" y="1481328"/>
            <a:ext cx="10874959" cy="2447544"/>
          </a:xfrm>
          <a:prstGeom prst="rect">
            <a:avLst/>
          </a:prstGeom>
          <a:solidFill>
            <a:srgbClr val="F5F7F9"/>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81328"/>
            <a:ext cx="43180" cy="2447544"/>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77824" y="1645920"/>
            <a:ext cx="10509199" cy="2173224"/>
          </a:xfrm>
          <a:prstGeom prst="rect">
            <a:avLst/>
          </a:prstGeom>
          <a:noFill/>
        </p:spPr>
        <p:txBody>
          <a:bodyPr wrap="square" lIns="0" tIns="0" rIns="0" bIns="0">
            <a:spAutoFit/>
          </a:bodyPr>
          <a:lstStyle/>
          <a:p>
            <a:pPr>
              <a:lnSpc>
                <a:spcPct val="116000"/>
              </a:lnSpc>
              <a:spcAft>
                <a:spcPts val="0"/>
              </a:spcAft>
            </a:pPr>
            <a:r>
              <a:rPr sz="1500" b="0" i="0">
                <a:solidFill>
                  <a:srgbClr val="242C38"/>
                </a:solidFill>
                <a:latin typeface="Consolas"/>
              </a:rPr>
              <a:t>TRACKED = [</a:t>
            </a:r>
            <a:r>
              <a:rPr sz="1500" b="0" i="0">
                <a:solidFill>
                  <a:srgbClr val="A31515"/>
                </a:solidFill>
                <a:latin typeface="Consolas"/>
              </a:rPr>
              <a:t>"segment"</a:t>
            </a:r>
            <a:r>
              <a:rPr sz="1500" b="0" i="0">
                <a:solidFill>
                  <a:srgbClr val="242C38"/>
                </a:solidFill>
                <a:latin typeface="Consolas"/>
              </a:rPr>
              <a:t>, </a:t>
            </a:r>
            <a:r>
              <a:rPr sz="1500" b="0" i="0">
                <a:solidFill>
                  <a:srgbClr val="A31515"/>
                </a:solidFill>
                <a:latin typeface="Consolas"/>
              </a:rPr>
              <a:t>"risk_rating"</a:t>
            </a:r>
            <a:r>
              <a:rPr sz="1500" b="0" i="0">
                <a:solidFill>
                  <a:srgbClr val="242C38"/>
                </a:solidFill>
                <a:latin typeface="Consolas"/>
              </a:rPr>
              <a:t>, </a:t>
            </a:r>
            <a:r>
              <a:rPr sz="1500" b="0" i="0">
                <a:solidFill>
                  <a:srgbClr val="A31515"/>
                </a:solidFill>
                <a:latin typeface="Consolas"/>
              </a:rPr>
              <a:t>"kyc_status"</a:t>
            </a:r>
            <a:r>
              <a:rPr sz="1500" b="0" i="0">
                <a:solidFill>
                  <a:srgbClr val="242C38"/>
                </a:solidFill>
                <a:latin typeface="Consolas"/>
              </a:rPr>
              <a:t>, </a:t>
            </a:r>
            <a:r>
              <a:rPr sz="1500" b="0" i="0">
                <a:solidFill>
                  <a:srgbClr val="A31515"/>
                </a:solidFill>
                <a:latin typeface="Consolas"/>
              </a:rPr>
              <a:t>"income_band"</a:t>
            </a:r>
            <a:r>
              <a:rPr sz="1500" b="0" i="0">
                <a:solidFill>
                  <a:srgbClr val="242C38"/>
                </a:solidFill>
                <a:latin typeface="Consolas"/>
              </a:rPr>
              <a:t>]</a:t>
            </a:r>
          </a:p>
          <a:p>
            <a:pPr>
              <a:lnSpc>
                <a:spcPct val="116000"/>
              </a:lnSpc>
              <a:spcAft>
                <a:spcPts val="0"/>
              </a:spcAft>
            </a:pPr>
            <a:r>
              <a:rPr sz="1500" b="0" i="0">
                <a:solidFill>
                  <a:srgbClr val="242C38"/>
                </a:solidFill>
                <a:latin typeface="Consolas"/>
              </a:rPr>
              <a:t>dim_customer = customers.withColumn(</a:t>
            </a:r>
          </a:p>
          <a:p>
            <a:pPr>
              <a:lnSpc>
                <a:spcPct val="116000"/>
              </a:lnSpc>
              <a:spcAft>
                <a:spcPts val="0"/>
              </a:spcAft>
            </a:pPr>
            <a:r>
              <a:rPr sz="1500" b="0" i="0">
                <a:solidFill>
                  <a:srgbClr val="242C38"/>
                </a:solidFill>
                <a:latin typeface="Consolas"/>
              </a:rPr>
              <a:t>    </a:t>
            </a:r>
            <a:r>
              <a:rPr sz="1500" b="0" i="0">
                <a:solidFill>
                  <a:srgbClr val="A31515"/>
                </a:solidFill>
                <a:latin typeface="Consolas"/>
              </a:rPr>
              <a:t>"row_hash"</a:t>
            </a:r>
            <a:r>
              <a:rPr sz="1500" b="0" i="0">
                <a:solidFill>
                  <a:srgbClr val="242C38"/>
                </a:solidFill>
                <a:latin typeface="Consolas"/>
              </a:rPr>
              <a:t>, F.sha2(F.concat_ws(</a:t>
            </a:r>
            <a:r>
              <a:rPr sz="1500" b="0" i="0">
                <a:solidFill>
                  <a:srgbClr val="A31515"/>
                </a:solidFill>
                <a:latin typeface="Consolas"/>
              </a:rPr>
              <a:t>"|"</a:t>
            </a:r>
            <a:r>
              <a:rPr sz="1500" b="0" i="0">
                <a:solidFill>
                  <a:srgbClr val="242C38"/>
                </a:solidFill>
                <a:latin typeface="Consolas"/>
              </a:rPr>
              <a:t>, *TRACKED), </a:t>
            </a:r>
            <a:r>
              <a:rPr sz="1500" b="0" i="0">
                <a:solidFill>
                  <a:srgbClr val="098658"/>
                </a:solidFill>
                <a:latin typeface="Consolas"/>
              </a:rPr>
              <a:t>256</a:t>
            </a:r>
            <a:r>
              <a:rPr sz="1500" b="0" i="0">
                <a:solidFill>
                  <a:srgbClr val="242C38"/>
                </a:solidFill>
                <a:latin typeface="Consolas"/>
              </a:rPr>
              <a:t>))</a:t>
            </a:r>
          </a:p>
          <a:p>
            <a:pPr>
              <a:lnSpc>
                <a:spcPct val="116000"/>
              </a:lnSpc>
              <a:spcAft>
                <a:spcPts val="0"/>
              </a:spcAft>
            </a:pPr>
            <a:r>
              <a:rPr sz="1500" b="0" i="0">
                <a:solidFill>
                  <a:srgbClr val="242C38"/>
                </a:solidFill>
                <a:latin typeface="Consolas"/>
              </a:rPr>
              <a:t> </a:t>
            </a:r>
          </a:p>
          <a:p>
            <a:pPr>
              <a:lnSpc>
                <a:spcPct val="116000"/>
              </a:lnSpc>
              <a:spcAft>
                <a:spcPts val="0"/>
              </a:spcAft>
            </a:pPr>
            <a:r>
              <a:rPr sz="1500" b="0" i="0">
                <a:solidFill>
                  <a:srgbClr val="242C38"/>
                </a:solidFill>
                <a:latin typeface="Consolas"/>
              </a:rPr>
              <a:t>changed = compared.filter(</a:t>
            </a:r>
          </a:p>
          <a:p>
            <a:pPr>
              <a:lnSpc>
                <a:spcPct val="116000"/>
              </a:lnSpc>
              <a:spcAft>
                <a:spcPts val="0"/>
              </a:spcAft>
            </a:pPr>
            <a:r>
              <a:rPr sz="1500" b="0" i="0">
                <a:solidFill>
                  <a:srgbClr val="242C38"/>
                </a:solidFill>
                <a:latin typeface="Consolas"/>
              </a:rPr>
              <a:t>    F.col(</a:t>
            </a:r>
            <a:r>
              <a:rPr sz="1500" b="0" i="0">
                <a:solidFill>
                  <a:srgbClr val="A31515"/>
                </a:solidFill>
                <a:latin typeface="Consolas"/>
              </a:rPr>
              <a:t>"c.customer_id"</a:t>
            </a:r>
            <a:r>
              <a:rPr sz="1500" b="0" i="0">
                <a:solidFill>
                  <a:srgbClr val="242C38"/>
                </a:solidFill>
                <a:latin typeface="Consolas"/>
              </a:rPr>
              <a:t>).isNotNull() &amp;</a:t>
            </a:r>
          </a:p>
          <a:p>
            <a:pPr>
              <a:lnSpc>
                <a:spcPct val="116000"/>
              </a:lnSpc>
              <a:spcAft>
                <a:spcPts val="0"/>
              </a:spcAft>
            </a:pPr>
            <a:r>
              <a:rPr sz="1500" b="0" i="0">
                <a:solidFill>
                  <a:srgbClr val="242C38"/>
                </a:solidFill>
                <a:latin typeface="Consolas"/>
              </a:rPr>
              <a:t>    (F.col(</a:t>
            </a:r>
            <a:r>
              <a:rPr sz="1500" b="0" i="0">
                <a:solidFill>
                  <a:srgbClr val="A31515"/>
                </a:solidFill>
                <a:latin typeface="Consolas"/>
              </a:rPr>
              <a:t>"e.row_hash"</a:t>
            </a:r>
            <a:r>
              <a:rPr sz="1500" b="0" i="0">
                <a:solidFill>
                  <a:srgbClr val="242C38"/>
                </a:solidFill>
                <a:latin typeface="Consolas"/>
              </a:rPr>
              <a:t>) != F.col(</a:t>
            </a:r>
            <a:r>
              <a:rPr sz="1500" b="0" i="0">
                <a:solidFill>
                  <a:srgbClr val="A31515"/>
                </a:solidFill>
                <a:latin typeface="Consolas"/>
              </a:rPr>
              <a:t>"c.row_hash"</a:t>
            </a:r>
            <a:r>
              <a:rPr sz="1500" b="0" i="0">
                <a:solidFill>
                  <a:srgbClr val="242C38"/>
                </a:solidFill>
                <a:latin typeface="Consolas"/>
              </a:rPr>
              <a:t>)))</a:t>
            </a:r>
          </a:p>
        </p:txBody>
      </p:sp>
      <p:sp>
        <p:nvSpPr>
          <p:cNvPr id="7" name="TextBox 6"/>
          <p:cNvSpPr txBox="1"/>
          <p:nvPr/>
        </p:nvSpPr>
        <p:spPr>
          <a:xfrm>
            <a:off x="658368" y="4075176"/>
            <a:ext cx="10874959" cy="457200"/>
          </a:xfrm>
          <a:prstGeom prst="rect">
            <a:avLst/>
          </a:prstGeom>
          <a:noFill/>
        </p:spPr>
        <p:txBody>
          <a:bodyPr wrap="square" lIns="0" tIns="0" rIns="0" bIns="0">
            <a:spAutoFit/>
          </a:bodyPr>
          <a:lstStyle/>
          <a:p>
            <a:r>
              <a:rPr sz="1400" b="0" i="0">
                <a:solidFill>
                  <a:srgbClr val="5B6775"/>
                </a:solidFill>
                <a:latin typeface="Segoe UI"/>
              </a:rPr>
              <a:t>Only hash columns the business wants history for. A name typo shouldn't create a new row.</a:t>
            </a:r>
          </a:p>
        </p:txBody>
      </p:sp>
      <p:sp>
        <p:nvSpPr>
          <p:cNvPr id="8" name="Rectangle 7"/>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05  ·  Data models for a lakehouse</a:t>
            </a:r>
          </a:p>
        </p:txBody>
      </p:sp>
      <p:sp>
        <p:nvSpPr>
          <p:cNvPr id="10" name="TextBox 9"/>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49</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The merge: expire, insert, keep</a:t>
            </a:r>
          </a:p>
        </p:txBody>
      </p:sp>
      <p:sp>
        <p:nvSpPr>
          <p:cNvPr id="4" name="Rectangle 3"/>
          <p:cNvSpPr/>
          <p:nvPr/>
        </p:nvSpPr>
        <p:spPr>
          <a:xfrm>
            <a:off x="658368" y="1481328"/>
            <a:ext cx="10874959" cy="2447544"/>
          </a:xfrm>
          <a:prstGeom prst="rect">
            <a:avLst/>
          </a:prstGeom>
          <a:solidFill>
            <a:srgbClr val="F5F7F9"/>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81328"/>
            <a:ext cx="43180" cy="2447544"/>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77824" y="1645920"/>
            <a:ext cx="10509199" cy="2173224"/>
          </a:xfrm>
          <a:prstGeom prst="rect">
            <a:avLst/>
          </a:prstGeom>
          <a:noFill/>
        </p:spPr>
        <p:txBody>
          <a:bodyPr wrap="square" lIns="0" tIns="0" rIns="0" bIns="0">
            <a:spAutoFit/>
          </a:bodyPr>
          <a:lstStyle/>
          <a:p>
            <a:pPr>
              <a:lnSpc>
                <a:spcPct val="116000"/>
              </a:lnSpc>
              <a:spcAft>
                <a:spcPts val="0"/>
              </a:spcAft>
            </a:pPr>
            <a:r>
              <a:rPr sz="1500" b="0" i="0">
                <a:solidFill>
                  <a:srgbClr val="242C38"/>
                </a:solidFill>
                <a:latin typeface="Consolas"/>
              </a:rPr>
              <a:t>expired = (current.join(changed_ids, </a:t>
            </a:r>
            <a:r>
              <a:rPr sz="1500" b="0" i="0">
                <a:solidFill>
                  <a:srgbClr val="A31515"/>
                </a:solidFill>
                <a:latin typeface="Consolas"/>
              </a:rPr>
              <a:t>"customer_id"</a:t>
            </a:r>
            <a:r>
              <a:rPr sz="1500" b="0" i="0">
                <a:solidFill>
                  <a:srgbClr val="242C38"/>
                </a:solidFill>
                <a:latin typeface="Consolas"/>
              </a:rPr>
              <a:t>)</a:t>
            </a:r>
          </a:p>
          <a:p>
            <a:pPr>
              <a:lnSpc>
                <a:spcPct val="116000"/>
              </a:lnSpc>
              <a:spcAft>
                <a:spcPts val="0"/>
              </a:spcAft>
            </a:pPr>
            <a:r>
              <a:rPr sz="1500" b="0" i="0">
                <a:solidFill>
                  <a:srgbClr val="242C38"/>
                </a:solidFill>
                <a:latin typeface="Consolas"/>
              </a:rPr>
              <a:t>    .withColumn(</a:t>
            </a:r>
            <a:r>
              <a:rPr sz="1500" b="0" i="0">
                <a:solidFill>
                  <a:srgbClr val="A31515"/>
                </a:solidFill>
                <a:latin typeface="Consolas"/>
              </a:rPr>
              <a:t>"effective_to"</a:t>
            </a:r>
            <a:r>
              <a:rPr sz="1500" b="0" i="0">
                <a:solidFill>
                  <a:srgbClr val="242C38"/>
                </a:solidFill>
                <a:latin typeface="Consolas"/>
              </a:rPr>
              <a:t>, F.lit(TODAY))</a:t>
            </a:r>
          </a:p>
          <a:p>
            <a:pPr>
              <a:lnSpc>
                <a:spcPct val="116000"/>
              </a:lnSpc>
              <a:spcAft>
                <a:spcPts val="0"/>
              </a:spcAft>
            </a:pPr>
            <a:r>
              <a:rPr sz="1500" b="0" i="0">
                <a:solidFill>
                  <a:srgbClr val="242C38"/>
                </a:solidFill>
                <a:latin typeface="Consolas"/>
              </a:rPr>
              <a:t>    .withColumn(</a:t>
            </a:r>
            <a:r>
              <a:rPr sz="1500" b="0" i="0">
                <a:solidFill>
                  <a:srgbClr val="A31515"/>
                </a:solidFill>
                <a:latin typeface="Consolas"/>
              </a:rPr>
              <a:t>"is_current"</a:t>
            </a:r>
            <a:r>
              <a:rPr sz="1500" b="0" i="0">
                <a:solidFill>
                  <a:srgbClr val="242C38"/>
                </a:solidFill>
                <a:latin typeface="Consolas"/>
              </a:rPr>
              <a:t>, F.lit(</a:t>
            </a:r>
            <a:r>
              <a:rPr sz="1500" b="0" i="0">
                <a:solidFill>
                  <a:srgbClr val="0F5BA7"/>
                </a:solidFill>
                <a:latin typeface="Consolas"/>
              </a:rPr>
              <a:t>False</a:t>
            </a:r>
            <a:r>
              <a:rPr sz="1500" b="0" i="0">
                <a:solidFill>
                  <a:srgbClr val="242C38"/>
                </a:solidFill>
                <a:latin typeface="Consolas"/>
              </a:rPr>
              <a:t>)))</a:t>
            </a:r>
          </a:p>
          <a:p>
            <a:pPr>
              <a:lnSpc>
                <a:spcPct val="116000"/>
              </a:lnSpc>
              <a:spcAft>
                <a:spcPts val="0"/>
              </a:spcAft>
            </a:pPr>
            <a:r>
              <a:rPr sz="1500" b="0" i="0">
                <a:solidFill>
                  <a:srgbClr val="242C38"/>
                </a:solidFill>
                <a:latin typeface="Consolas"/>
              </a:rPr>
              <a:t> </a:t>
            </a:r>
          </a:p>
          <a:p>
            <a:pPr>
              <a:lnSpc>
                <a:spcPct val="116000"/>
              </a:lnSpc>
              <a:spcAft>
                <a:spcPts val="0"/>
              </a:spcAft>
            </a:pPr>
            <a:r>
              <a:rPr sz="1500" b="0" i="0">
                <a:solidFill>
                  <a:srgbClr val="242C38"/>
                </a:solidFill>
                <a:latin typeface="Consolas"/>
              </a:rPr>
              <a:t>new_versions = (changed.select(</a:t>
            </a:r>
            <a:r>
              <a:rPr sz="1500" b="0" i="0">
                <a:solidFill>
                  <a:srgbClr val="A31515"/>
                </a:solidFill>
                <a:latin typeface="Consolas"/>
              </a:rPr>
              <a:t>"e.*"</a:t>
            </a:r>
            <a:r>
              <a:rPr sz="1500" b="0" i="0">
                <a:solidFill>
                  <a:srgbClr val="242C38"/>
                </a:solidFill>
                <a:latin typeface="Consolas"/>
              </a:rPr>
              <a:t>)</a:t>
            </a:r>
          </a:p>
          <a:p>
            <a:pPr>
              <a:lnSpc>
                <a:spcPct val="116000"/>
              </a:lnSpc>
              <a:spcAft>
                <a:spcPts val="0"/>
              </a:spcAft>
            </a:pPr>
            <a:r>
              <a:rPr sz="1500" b="0" i="0">
                <a:solidFill>
                  <a:srgbClr val="242C38"/>
                </a:solidFill>
                <a:latin typeface="Consolas"/>
              </a:rPr>
              <a:t>    .withColumn(</a:t>
            </a:r>
            <a:r>
              <a:rPr sz="1500" b="0" i="0">
                <a:solidFill>
                  <a:srgbClr val="A31515"/>
                </a:solidFill>
                <a:latin typeface="Consolas"/>
              </a:rPr>
              <a:t>"effective_from"</a:t>
            </a:r>
            <a:r>
              <a:rPr sz="1500" b="0" i="0">
                <a:solidFill>
                  <a:srgbClr val="242C38"/>
                </a:solidFill>
                <a:latin typeface="Consolas"/>
              </a:rPr>
              <a:t>, F.lit(TODAY))</a:t>
            </a:r>
          </a:p>
          <a:p>
            <a:pPr>
              <a:lnSpc>
                <a:spcPct val="116000"/>
              </a:lnSpc>
              <a:spcAft>
                <a:spcPts val="0"/>
              </a:spcAft>
            </a:pPr>
            <a:r>
              <a:rPr sz="1500" b="0" i="0">
                <a:solidFill>
                  <a:srgbClr val="242C38"/>
                </a:solidFill>
                <a:latin typeface="Consolas"/>
              </a:rPr>
              <a:t>    .withColumn(</a:t>
            </a:r>
            <a:r>
              <a:rPr sz="1500" b="0" i="0">
                <a:solidFill>
                  <a:srgbClr val="A31515"/>
                </a:solidFill>
                <a:latin typeface="Consolas"/>
              </a:rPr>
              <a:t>"is_current"</a:t>
            </a:r>
            <a:r>
              <a:rPr sz="1500" b="0" i="0">
                <a:solidFill>
                  <a:srgbClr val="242C38"/>
                </a:solidFill>
                <a:latin typeface="Consolas"/>
              </a:rPr>
              <a:t>, F.lit(</a:t>
            </a:r>
            <a:r>
              <a:rPr sz="1500" b="0" i="0">
                <a:solidFill>
                  <a:srgbClr val="0F5BA7"/>
                </a:solidFill>
                <a:latin typeface="Consolas"/>
              </a:rPr>
              <a:t>True</a:t>
            </a:r>
            <a:r>
              <a:rPr sz="1500" b="0" i="0">
                <a:solidFill>
                  <a:srgbClr val="242C38"/>
                </a:solidFill>
                <a:latin typeface="Consolas"/>
              </a:rPr>
              <a:t>)))</a:t>
            </a:r>
          </a:p>
        </p:txBody>
      </p:sp>
      <p:sp>
        <p:nvSpPr>
          <p:cNvPr id="7" name="TextBox 6"/>
          <p:cNvSpPr txBox="1"/>
          <p:nvPr/>
        </p:nvSpPr>
        <p:spPr>
          <a:xfrm>
            <a:off x="658368" y="4075176"/>
            <a:ext cx="10874959" cy="457200"/>
          </a:xfrm>
          <a:prstGeom prst="rect">
            <a:avLst/>
          </a:prstGeom>
          <a:noFill/>
        </p:spPr>
        <p:txBody>
          <a:bodyPr wrap="square" lIns="0" tIns="0" rIns="0" bIns="0">
            <a:spAutoFit/>
          </a:bodyPr>
          <a:lstStyle/>
          <a:p>
            <a:r>
              <a:rPr sz="1400" b="0" i="0">
                <a:solidFill>
                  <a:srgbClr val="5B6775"/>
                </a:solidFill>
                <a:latin typeface="Segoe UI"/>
              </a:rPr>
              <a:t>A changed customer now has two rows: one expired, one current from today onward.</a:t>
            </a:r>
          </a:p>
        </p:txBody>
      </p:sp>
      <p:sp>
        <p:nvSpPr>
          <p:cNvPr id="8" name="Rectangle 7"/>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05  ·  Data models for a lakehouse</a:t>
            </a:r>
          </a:p>
        </p:txBody>
      </p:sp>
      <p:sp>
        <p:nvSpPr>
          <p:cNvPr id="10" name="TextBox 9"/>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50</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The as-of query answers every audit question</a:t>
            </a:r>
          </a:p>
        </p:txBody>
      </p:sp>
      <p:sp>
        <p:nvSpPr>
          <p:cNvPr id="4" name="Rectangle 3"/>
          <p:cNvSpPr/>
          <p:nvPr/>
        </p:nvSpPr>
        <p:spPr>
          <a:xfrm>
            <a:off x="658368" y="1481328"/>
            <a:ext cx="10874959" cy="1868424"/>
          </a:xfrm>
          <a:prstGeom prst="rect">
            <a:avLst/>
          </a:prstGeom>
          <a:solidFill>
            <a:srgbClr val="F5F7F9"/>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81328"/>
            <a:ext cx="43180" cy="1868424"/>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77824" y="1645920"/>
            <a:ext cx="10509199" cy="1594104"/>
          </a:xfrm>
          <a:prstGeom prst="rect">
            <a:avLst/>
          </a:prstGeom>
          <a:noFill/>
        </p:spPr>
        <p:txBody>
          <a:bodyPr wrap="square" lIns="0" tIns="0" rIns="0" bIns="0">
            <a:spAutoFit/>
          </a:bodyPr>
          <a:lstStyle/>
          <a:p>
            <a:pPr>
              <a:lnSpc>
                <a:spcPct val="116000"/>
              </a:lnSpc>
              <a:spcAft>
                <a:spcPts val="0"/>
              </a:spcAft>
            </a:pPr>
            <a:r>
              <a:rPr sz="1500" b="0" i="0">
                <a:solidFill>
                  <a:srgbClr val="242C38"/>
                </a:solidFill>
                <a:latin typeface="Consolas"/>
              </a:rPr>
              <a:t>as_of_date = </a:t>
            </a:r>
            <a:r>
              <a:rPr sz="1500" b="0" i="0">
                <a:solidFill>
                  <a:srgbClr val="A31515"/>
                </a:solidFill>
                <a:latin typeface="Consolas"/>
              </a:rPr>
              <a:t>"2026-03-01"</a:t>
            </a:r>
          </a:p>
          <a:p>
            <a:pPr>
              <a:lnSpc>
                <a:spcPct val="116000"/>
              </a:lnSpc>
              <a:spcAft>
                <a:spcPts val="0"/>
              </a:spcAft>
            </a:pPr>
            <a:r>
              <a:rPr sz="1500" b="0" i="0">
                <a:solidFill>
                  <a:srgbClr val="242C38"/>
                </a:solidFill>
                <a:latin typeface="Consolas"/>
              </a:rPr>
              <a:t>point_in_time = dim_customer_v2.filter(</a:t>
            </a:r>
          </a:p>
          <a:p>
            <a:pPr>
              <a:lnSpc>
                <a:spcPct val="116000"/>
              </a:lnSpc>
              <a:spcAft>
                <a:spcPts val="0"/>
              </a:spcAft>
            </a:pPr>
            <a:r>
              <a:rPr sz="1500" b="0" i="0">
                <a:solidFill>
                  <a:srgbClr val="242C38"/>
                </a:solidFill>
                <a:latin typeface="Consolas"/>
              </a:rPr>
              <a:t>    f</a:t>
            </a:r>
            <a:r>
              <a:rPr sz="1500" b="0" i="0">
                <a:solidFill>
                  <a:srgbClr val="A31515"/>
                </a:solidFill>
                <a:latin typeface="Consolas"/>
              </a:rPr>
              <a:t>"effective_from &lt;= '{as_of_date}' "</a:t>
            </a:r>
          </a:p>
          <a:p>
            <a:pPr>
              <a:lnSpc>
                <a:spcPct val="116000"/>
              </a:lnSpc>
              <a:spcAft>
                <a:spcPts val="0"/>
              </a:spcAft>
            </a:pPr>
            <a:r>
              <a:rPr sz="1500" b="0" i="0">
                <a:solidFill>
                  <a:srgbClr val="242C38"/>
                </a:solidFill>
                <a:latin typeface="Consolas"/>
              </a:rPr>
              <a:t>    f</a:t>
            </a:r>
            <a:r>
              <a:rPr sz="1500" b="0" i="0">
                <a:solidFill>
                  <a:srgbClr val="A31515"/>
                </a:solidFill>
                <a:latin typeface="Consolas"/>
              </a:rPr>
              <a:t>"AND (effective_to IS NULL "</a:t>
            </a:r>
          </a:p>
          <a:p>
            <a:pPr>
              <a:lnSpc>
                <a:spcPct val="116000"/>
              </a:lnSpc>
              <a:spcAft>
                <a:spcPts val="0"/>
              </a:spcAft>
            </a:pPr>
            <a:r>
              <a:rPr sz="1500" b="0" i="0">
                <a:solidFill>
                  <a:srgbClr val="242C38"/>
                </a:solidFill>
                <a:latin typeface="Consolas"/>
              </a:rPr>
              <a:t>    f</a:t>
            </a:r>
            <a:r>
              <a:rPr sz="1500" b="0" i="0">
                <a:solidFill>
                  <a:srgbClr val="A31515"/>
                </a:solidFill>
                <a:latin typeface="Consolas"/>
              </a:rPr>
              <a:t>"OR effective_to &gt; '{as_of_date}')"</a:t>
            </a:r>
            <a:r>
              <a:rPr sz="1500" b="0" i="0">
                <a:solidFill>
                  <a:srgbClr val="242C38"/>
                </a:solidFill>
                <a:latin typeface="Consolas"/>
              </a:rPr>
              <a:t>)</a:t>
            </a:r>
          </a:p>
        </p:txBody>
      </p:sp>
      <p:sp>
        <p:nvSpPr>
          <p:cNvPr id="7" name="TextBox 6"/>
          <p:cNvSpPr txBox="1"/>
          <p:nvPr/>
        </p:nvSpPr>
        <p:spPr>
          <a:xfrm>
            <a:off x="658368" y="3496056"/>
            <a:ext cx="10874959" cy="457200"/>
          </a:xfrm>
          <a:prstGeom prst="rect">
            <a:avLst/>
          </a:prstGeom>
          <a:noFill/>
        </p:spPr>
        <p:txBody>
          <a:bodyPr wrap="square" lIns="0" tIns="0" rIns="0" bIns="0">
            <a:spAutoFit/>
          </a:bodyPr>
          <a:lstStyle/>
          <a:p>
            <a:r>
              <a:rPr sz="1400" b="0" i="0">
                <a:solidFill>
                  <a:srgbClr val="5B6775"/>
                </a:solidFill>
                <a:latin typeface="Segoe UI"/>
              </a:rPr>
              <a:t>This is the query that answers what was true on a given date, not just right now.</a:t>
            </a:r>
          </a:p>
        </p:txBody>
      </p:sp>
      <p:sp>
        <p:nvSpPr>
          <p:cNvPr id="8" name="Rectangle 7"/>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05  ·  Data models for a lakehouse</a:t>
            </a:r>
          </a:p>
        </p:txBody>
      </p:sp>
      <p:sp>
        <p:nvSpPr>
          <p:cNvPr id="10" name="TextBox 9"/>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51</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Not every dimension earns the SCD2 treatment</a:t>
            </a:r>
          </a:p>
        </p:txBody>
      </p:sp>
      <p:graphicFrame>
        <p:nvGraphicFramePr>
          <p:cNvPr id="4" name="Table 3"/>
          <p:cNvGraphicFramePr>
            <a:graphicFrameLocks noGrp="1"/>
          </p:cNvGraphicFramePr>
          <p:nvPr/>
        </p:nvGraphicFramePr>
        <p:xfrm>
          <a:off x="658368" y="1481328"/>
          <a:ext cx="10874957" cy="2304288"/>
        </p:xfrm>
        <a:graphic>
          <a:graphicData uri="http://schemas.openxmlformats.org/drawingml/2006/table">
            <a:tbl>
              <a:tblPr firstRow="1" bandRow="1">
                <a:tableStyleId>{5C22544A-7EE6-4342-B048-85BDC9FD1C3A}</a:tableStyleId>
              </a:tblPr>
              <a:tblGrid>
                <a:gridCol w="2718739">
                  <a:extLst>
                    <a:ext uri="{9D8B030D-6E8A-4147-A177-3AD203B41FA5}">
                      <a16:colId xmlns:a16="http://schemas.microsoft.com/office/drawing/2014/main" val="20000"/>
                    </a:ext>
                  </a:extLst>
                </a:gridCol>
                <a:gridCol w="4201688">
                  <a:extLst>
                    <a:ext uri="{9D8B030D-6E8A-4147-A177-3AD203B41FA5}">
                      <a16:colId xmlns:a16="http://schemas.microsoft.com/office/drawing/2014/main" val="20001"/>
                    </a:ext>
                  </a:extLst>
                </a:gridCol>
                <a:gridCol w="3954530">
                  <a:extLst>
                    <a:ext uri="{9D8B030D-6E8A-4147-A177-3AD203B41FA5}">
                      <a16:colId xmlns:a16="http://schemas.microsoft.com/office/drawing/2014/main" val="20002"/>
                    </a:ext>
                  </a:extLst>
                </a:gridCol>
              </a:tblGrid>
              <a:tr h="402336">
                <a:tc>
                  <a:txBody>
                    <a:bodyPr/>
                    <a:lstStyle/>
                    <a:p>
                      <a:r>
                        <a:rPr sz="1450" b="1" i="0">
                          <a:solidFill>
                            <a:srgbClr val="FFFFFF"/>
                          </a:solidFill>
                          <a:latin typeface="Segoe UI Semibold"/>
                        </a:rPr>
                        <a:t>Dimension</a:t>
                      </a:r>
                    </a:p>
                  </a:txBody>
                  <a:tcPr anchor="ctr">
                    <a:solidFill>
                      <a:srgbClr val="1F4E79"/>
                    </a:solidFill>
                  </a:tcPr>
                </a:tc>
                <a:tc>
                  <a:txBody>
                    <a:bodyPr/>
                    <a:lstStyle/>
                    <a:p>
                      <a:r>
                        <a:rPr sz="1450" b="1" i="0">
                          <a:solidFill>
                            <a:srgbClr val="FFFFFF"/>
                          </a:solidFill>
                          <a:latin typeface="Segoe UI Semibold"/>
                        </a:rPr>
                        <a:t>Change frequency</a:t>
                      </a:r>
                    </a:p>
                  </a:txBody>
                  <a:tcPr anchor="ctr">
                    <a:solidFill>
                      <a:srgbClr val="1F4E79"/>
                    </a:solidFill>
                  </a:tcPr>
                </a:tc>
                <a:tc>
                  <a:txBody>
                    <a:bodyPr/>
                    <a:lstStyle/>
                    <a:p>
                      <a:r>
                        <a:rPr sz="1450" b="1" i="0">
                          <a:solidFill>
                            <a:srgbClr val="FFFFFF"/>
                          </a:solidFill>
                          <a:latin typeface="Segoe UI Semibold"/>
                        </a:rPr>
                        <a:t>Treatment</a:t>
                      </a:r>
                    </a:p>
                  </a:txBody>
                  <a:tcPr anchor="ctr">
                    <a:solidFill>
                      <a:srgbClr val="1F4E79"/>
                    </a:solidFill>
                  </a:tcPr>
                </a:tc>
                <a:extLst>
                  <a:ext uri="{0D108BD9-81ED-4DB2-BD59-A6C34878D82A}">
                    <a16:rowId xmlns:a16="http://schemas.microsoft.com/office/drawing/2014/main" val="10000"/>
                  </a:ext>
                </a:extLst>
              </a:tr>
              <a:tr h="475488">
                <a:tc>
                  <a:txBody>
                    <a:bodyPr/>
                    <a:lstStyle/>
                    <a:p>
                      <a:pPr>
                        <a:lnSpc>
                          <a:spcPct val="106000"/>
                        </a:lnSpc>
                      </a:pPr>
                      <a:r>
                        <a:rPr sz="1400" b="1" i="0">
                          <a:solidFill>
                            <a:srgbClr val="242C38"/>
                          </a:solidFill>
                          <a:latin typeface="Segoe UI"/>
                        </a:rPr>
                        <a:t>dim_customer</a:t>
                      </a:r>
                    </a:p>
                  </a:txBody>
                  <a:tcPr marT="36576" marB="36576" anchor="ctr">
                    <a:solidFill>
                      <a:srgbClr val="EEF3F8"/>
                    </a:solidFill>
                  </a:tcPr>
                </a:tc>
                <a:tc>
                  <a:txBody>
                    <a:bodyPr/>
                    <a:lstStyle/>
                    <a:p>
                      <a:pPr>
                        <a:lnSpc>
                          <a:spcPct val="106000"/>
                        </a:lnSpc>
                      </a:pPr>
                      <a:r>
                        <a:rPr sz="1400" b="0" i="0">
                          <a:solidFill>
                            <a:srgbClr val="242C38"/>
                          </a:solidFill>
                          <a:latin typeface="Segoe UI"/>
                        </a:rPr>
                        <a:t>daily, segment and risk moves</a:t>
                      </a:r>
                    </a:p>
                  </a:txBody>
                  <a:tcPr marT="36576" marB="36576" anchor="ctr">
                    <a:solidFill>
                      <a:srgbClr val="EEF3F8"/>
                    </a:solidFill>
                  </a:tcPr>
                </a:tc>
                <a:tc>
                  <a:txBody>
                    <a:bodyPr/>
                    <a:lstStyle/>
                    <a:p>
                      <a:pPr>
                        <a:lnSpc>
                          <a:spcPct val="106000"/>
                        </a:lnSpc>
                      </a:pPr>
                      <a:r>
                        <a:rPr sz="1400" b="0" i="0">
                          <a:solidFill>
                            <a:srgbClr val="242C38"/>
                          </a:solidFill>
                          <a:latin typeface="Segoe UI"/>
                        </a:rPr>
                        <a:t>SCD Type 2</a:t>
                      </a:r>
                    </a:p>
                  </a:txBody>
                  <a:tcPr marT="36576" marB="36576" anchor="ctr">
                    <a:solidFill>
                      <a:srgbClr val="EEF3F8"/>
                    </a:solidFill>
                  </a:tcPr>
                </a:tc>
                <a:extLst>
                  <a:ext uri="{0D108BD9-81ED-4DB2-BD59-A6C34878D82A}">
                    <a16:rowId xmlns:a16="http://schemas.microsoft.com/office/drawing/2014/main" val="10001"/>
                  </a:ext>
                </a:extLst>
              </a:tr>
              <a:tr h="475488">
                <a:tc>
                  <a:txBody>
                    <a:bodyPr/>
                    <a:lstStyle/>
                    <a:p>
                      <a:pPr>
                        <a:lnSpc>
                          <a:spcPct val="106000"/>
                        </a:lnSpc>
                      </a:pPr>
                      <a:r>
                        <a:rPr sz="1400" b="1" i="0">
                          <a:solidFill>
                            <a:srgbClr val="242C38"/>
                          </a:solidFill>
                          <a:latin typeface="Segoe UI"/>
                        </a:rPr>
                        <a:t>dim_account</a:t>
                      </a:r>
                    </a:p>
                  </a:txBody>
                  <a:tcPr marT="36576" marB="36576" anchor="ctr">
                    <a:solidFill>
                      <a:srgbClr val="FFFFFF"/>
                    </a:solidFill>
                  </a:tcPr>
                </a:tc>
                <a:tc>
                  <a:txBody>
                    <a:bodyPr/>
                    <a:lstStyle/>
                    <a:p>
                      <a:pPr>
                        <a:lnSpc>
                          <a:spcPct val="106000"/>
                        </a:lnSpc>
                      </a:pPr>
                      <a:r>
                        <a:rPr sz="1400" b="0" i="0">
                          <a:solidFill>
                            <a:srgbClr val="242C38"/>
                          </a:solidFill>
                          <a:latin typeface="Segoe UI"/>
                        </a:rPr>
                        <a:t>rarely, mostly status flips</a:t>
                      </a:r>
                    </a:p>
                  </a:txBody>
                  <a:tcPr marT="36576" marB="36576" anchor="ctr">
                    <a:solidFill>
                      <a:srgbClr val="FFFFFF"/>
                    </a:solidFill>
                  </a:tcPr>
                </a:tc>
                <a:tc>
                  <a:txBody>
                    <a:bodyPr/>
                    <a:lstStyle/>
                    <a:p>
                      <a:pPr>
                        <a:lnSpc>
                          <a:spcPct val="106000"/>
                        </a:lnSpc>
                      </a:pPr>
                      <a:r>
                        <a:rPr sz="1400" b="0" i="0">
                          <a:solidFill>
                            <a:srgbClr val="242C38"/>
                          </a:solidFill>
                          <a:latin typeface="Segoe UI"/>
                        </a:rPr>
                        <a:t>SCD Type 1 is usually enough</a:t>
                      </a:r>
                    </a:p>
                  </a:txBody>
                  <a:tcPr marT="36576" marB="36576" anchor="ctr">
                    <a:solidFill>
                      <a:srgbClr val="FFFFFF"/>
                    </a:solidFill>
                  </a:tcPr>
                </a:tc>
                <a:extLst>
                  <a:ext uri="{0D108BD9-81ED-4DB2-BD59-A6C34878D82A}">
                    <a16:rowId xmlns:a16="http://schemas.microsoft.com/office/drawing/2014/main" val="10002"/>
                  </a:ext>
                </a:extLst>
              </a:tr>
              <a:tr h="475488">
                <a:tc>
                  <a:txBody>
                    <a:bodyPr/>
                    <a:lstStyle/>
                    <a:p>
                      <a:pPr>
                        <a:lnSpc>
                          <a:spcPct val="106000"/>
                        </a:lnSpc>
                      </a:pPr>
                      <a:r>
                        <a:rPr sz="1400" b="1" i="0">
                          <a:solidFill>
                            <a:srgbClr val="242C38"/>
                          </a:solidFill>
                          <a:latin typeface="Segoe UI"/>
                        </a:rPr>
                        <a:t>dim_branch</a:t>
                      </a:r>
                    </a:p>
                  </a:txBody>
                  <a:tcPr marT="36576" marB="36576" anchor="ctr">
                    <a:solidFill>
                      <a:srgbClr val="EEF3F8"/>
                    </a:solidFill>
                  </a:tcPr>
                </a:tc>
                <a:tc>
                  <a:txBody>
                    <a:bodyPr/>
                    <a:lstStyle/>
                    <a:p>
                      <a:pPr>
                        <a:lnSpc>
                          <a:spcPct val="106000"/>
                        </a:lnSpc>
                      </a:pPr>
                      <a:r>
                        <a:rPr sz="1400" b="0" i="0">
                          <a:solidFill>
                            <a:srgbClr val="242C38"/>
                          </a:solidFill>
                          <a:latin typeface="Segoe UI"/>
                        </a:rPr>
                        <a:t>almost never</a:t>
                      </a:r>
                    </a:p>
                  </a:txBody>
                  <a:tcPr marT="36576" marB="36576" anchor="ctr">
                    <a:solidFill>
                      <a:srgbClr val="EEF3F8"/>
                    </a:solidFill>
                  </a:tcPr>
                </a:tc>
                <a:tc>
                  <a:txBody>
                    <a:bodyPr/>
                    <a:lstStyle/>
                    <a:p>
                      <a:pPr>
                        <a:lnSpc>
                          <a:spcPct val="106000"/>
                        </a:lnSpc>
                      </a:pPr>
                      <a:r>
                        <a:rPr sz="1400" b="0" i="0">
                          <a:solidFill>
                            <a:srgbClr val="242C38"/>
                          </a:solidFill>
                          <a:latin typeface="Segoe UI"/>
                        </a:rPr>
                        <a:t>overwrite in place</a:t>
                      </a:r>
                    </a:p>
                  </a:txBody>
                  <a:tcPr marT="36576" marB="36576" anchor="ctr">
                    <a:solidFill>
                      <a:srgbClr val="EEF3F8"/>
                    </a:solidFill>
                  </a:tcPr>
                </a:tc>
                <a:extLst>
                  <a:ext uri="{0D108BD9-81ED-4DB2-BD59-A6C34878D82A}">
                    <a16:rowId xmlns:a16="http://schemas.microsoft.com/office/drawing/2014/main" val="10003"/>
                  </a:ext>
                </a:extLst>
              </a:tr>
              <a:tr h="475488">
                <a:tc>
                  <a:txBody>
                    <a:bodyPr/>
                    <a:lstStyle/>
                    <a:p>
                      <a:pPr>
                        <a:lnSpc>
                          <a:spcPct val="106000"/>
                        </a:lnSpc>
                      </a:pPr>
                      <a:r>
                        <a:rPr sz="1400" b="1" i="0">
                          <a:solidFill>
                            <a:srgbClr val="242C38"/>
                          </a:solidFill>
                          <a:latin typeface="Segoe UI"/>
                        </a:rPr>
                        <a:t>dim_date</a:t>
                      </a:r>
                    </a:p>
                  </a:txBody>
                  <a:tcPr marT="36576" marB="36576" anchor="ctr">
                    <a:solidFill>
                      <a:srgbClr val="FFFFFF"/>
                    </a:solidFill>
                  </a:tcPr>
                </a:tc>
                <a:tc>
                  <a:txBody>
                    <a:bodyPr/>
                    <a:lstStyle/>
                    <a:p>
                      <a:pPr>
                        <a:lnSpc>
                          <a:spcPct val="106000"/>
                        </a:lnSpc>
                      </a:pPr>
                      <a:r>
                        <a:rPr sz="1400" b="0" i="0">
                          <a:solidFill>
                            <a:srgbClr val="242C38"/>
                          </a:solidFill>
                          <a:latin typeface="Segoe UI"/>
                        </a:rPr>
                        <a:t>never, generated once</a:t>
                      </a:r>
                    </a:p>
                  </a:txBody>
                  <a:tcPr marT="36576" marB="36576" anchor="ctr">
                    <a:solidFill>
                      <a:srgbClr val="FFFFFF"/>
                    </a:solidFill>
                  </a:tcPr>
                </a:tc>
                <a:tc>
                  <a:txBody>
                    <a:bodyPr/>
                    <a:lstStyle/>
                    <a:p>
                      <a:pPr>
                        <a:lnSpc>
                          <a:spcPct val="106000"/>
                        </a:lnSpc>
                      </a:pPr>
                      <a:r>
                        <a:rPr sz="1400" b="0" i="0">
                          <a:solidFill>
                            <a:srgbClr val="242C38"/>
                          </a:solidFill>
                          <a:latin typeface="Segoe UI"/>
                        </a:rPr>
                        <a:t>no SCD needed at all</a:t>
                      </a:r>
                    </a:p>
                  </a:txBody>
                  <a:tcPr marT="36576" marB="36576" anchor="ctr">
                    <a:solidFill>
                      <a:srgbClr val="FFFFFF"/>
                    </a:solidFill>
                  </a:tcPr>
                </a:tc>
                <a:extLst>
                  <a:ext uri="{0D108BD9-81ED-4DB2-BD59-A6C34878D82A}">
                    <a16:rowId xmlns:a16="http://schemas.microsoft.com/office/drawing/2014/main" val="10004"/>
                  </a:ext>
                </a:extLst>
              </a:tr>
            </a:tbl>
          </a:graphicData>
        </a:graphic>
      </p:graphicFrame>
      <p:sp>
        <p:nvSpPr>
          <p:cNvPr id="5" name="TextBox 4"/>
          <p:cNvSpPr txBox="1"/>
          <p:nvPr/>
        </p:nvSpPr>
        <p:spPr>
          <a:xfrm>
            <a:off x="658368" y="5724144"/>
            <a:ext cx="10874959" cy="502920"/>
          </a:xfrm>
          <a:prstGeom prst="rect">
            <a:avLst/>
          </a:prstGeom>
          <a:noFill/>
        </p:spPr>
        <p:txBody>
          <a:bodyPr wrap="square" lIns="0" tIns="0" rIns="0" bIns="0">
            <a:spAutoFit/>
          </a:bodyPr>
          <a:lstStyle/>
          <a:p>
            <a:r>
              <a:rPr sz="1300" b="0" i="1">
                <a:solidFill>
                  <a:srgbClr val="5B6775"/>
                </a:solidFill>
                <a:latin typeface="Segoe UI"/>
              </a:rPr>
              <a:t>Know which dimensions the business needs history for, and only pay the SCD2 cost there.</a:t>
            </a:r>
          </a:p>
        </p:txBody>
      </p:sp>
      <p:sp>
        <p:nvSpPr>
          <p:cNvPr id="6" name="Rectangle 5"/>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05  ·  Data models for a lakehouse</a:t>
            </a:r>
          </a:p>
        </p:txBody>
      </p:sp>
      <p:sp>
        <p:nvSpPr>
          <p:cNvPr id="8" name="TextBox 7"/>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52</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Joining a fact to an SCD2 dimension, the right way</a:t>
            </a:r>
          </a:p>
        </p:txBody>
      </p:sp>
      <p:sp>
        <p:nvSpPr>
          <p:cNvPr id="4" name="Rectangle 3"/>
          <p:cNvSpPr/>
          <p:nvPr/>
        </p:nvSpPr>
        <p:spPr>
          <a:xfrm>
            <a:off x="658368" y="1481328"/>
            <a:ext cx="5245455" cy="420624"/>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1581912"/>
            <a:ext cx="4971135" cy="274320"/>
          </a:xfrm>
          <a:prstGeom prst="rect">
            <a:avLst/>
          </a:prstGeom>
          <a:noFill/>
        </p:spPr>
        <p:txBody>
          <a:bodyPr wrap="square" lIns="0" tIns="0" rIns="0" bIns="0">
            <a:spAutoFit/>
          </a:bodyPr>
          <a:lstStyle/>
          <a:p>
            <a:r>
              <a:rPr sz="1450" b="1" i="0">
                <a:solidFill>
                  <a:srgbClr val="1F4E79"/>
                </a:solidFill>
                <a:latin typeface="Segoe UI Semibold"/>
              </a:rPr>
              <a:t>customer_id alone</a:t>
            </a:r>
          </a:p>
        </p:txBody>
      </p:sp>
      <p:sp>
        <p:nvSpPr>
          <p:cNvPr id="6" name="TextBox 5"/>
          <p:cNvSpPr txBox="1"/>
          <p:nvPr/>
        </p:nvSpPr>
        <p:spPr>
          <a:xfrm>
            <a:off x="704088" y="2103120"/>
            <a:ext cx="5154015" cy="3794760"/>
          </a:xfrm>
          <a:prstGeom prst="rect">
            <a:avLst/>
          </a:prstGeom>
          <a:noFill/>
        </p:spPr>
        <p:txBody>
          <a:bodyPr wrap="square" lIns="0" tIns="0" rIns="0" bIns="0">
            <a:spAutoFit/>
          </a:bodyPr>
          <a:lstStyle/>
          <a:p>
            <a:pPr marL="274320" indent="-274320">
              <a:lnSpc>
                <a:spcPct val="118000"/>
              </a:lnSpc>
              <a:spcAft>
                <a:spcPts val="900"/>
              </a:spcAft>
            </a:pPr>
            <a:r>
              <a:rPr sz="1600" b="1" i="0">
                <a:solidFill>
                  <a:srgbClr val="2E74B5"/>
                </a:solidFill>
                <a:latin typeface="Segoe UI"/>
              </a:rPr>
              <a:t>▪   </a:t>
            </a:r>
            <a:r>
              <a:rPr sz="1600" b="0" i="0">
                <a:solidFill>
                  <a:srgbClr val="242C38"/>
                </a:solidFill>
                <a:latin typeface="Segoe UI"/>
              </a:rPr>
              <a:t>Matches every version of that customer</a:t>
            </a:r>
          </a:p>
          <a:p>
            <a:pPr marL="274320" indent="-274320">
              <a:lnSpc>
                <a:spcPct val="118000"/>
              </a:lnSpc>
              <a:spcAft>
                <a:spcPts val="900"/>
              </a:spcAft>
            </a:pPr>
            <a:r>
              <a:rPr sz="1600" b="1" i="0">
                <a:solidFill>
                  <a:srgbClr val="2E74B5"/>
                </a:solidFill>
                <a:latin typeface="Segoe UI"/>
              </a:rPr>
              <a:t>▪   </a:t>
            </a:r>
            <a:r>
              <a:rPr sz="1600" b="0" i="0">
                <a:solidFill>
                  <a:srgbClr val="242C38"/>
                </a:solidFill>
                <a:latin typeface="Segoe UI"/>
              </a:rPr>
              <a:t>Silently duplicates every one of their transactions</a:t>
            </a:r>
          </a:p>
          <a:p>
            <a:pPr marL="274320" indent="-274320">
              <a:lnSpc>
                <a:spcPct val="118000"/>
              </a:lnSpc>
              <a:spcAft>
                <a:spcPts val="900"/>
              </a:spcAft>
            </a:pPr>
            <a:r>
              <a:rPr sz="1600" b="1" i="0">
                <a:solidFill>
                  <a:srgbClr val="2E74B5"/>
                </a:solidFill>
                <a:latin typeface="Segoe UI"/>
              </a:rPr>
              <a:t>▪   </a:t>
            </a:r>
            <a:r>
              <a:rPr sz="1600" b="0" i="0">
                <a:solidFill>
                  <a:srgbClr val="242C38"/>
                </a:solidFill>
                <a:latin typeface="Segoe UI"/>
              </a:rPr>
              <a:t>The most common way an SCD2 report breaks</a:t>
            </a:r>
          </a:p>
        </p:txBody>
      </p:sp>
      <p:sp>
        <p:nvSpPr>
          <p:cNvPr id="7" name="Rectangle 6"/>
          <p:cNvSpPr/>
          <p:nvPr/>
        </p:nvSpPr>
        <p:spPr>
          <a:xfrm>
            <a:off x="6287871" y="1481328"/>
            <a:ext cx="5245455" cy="420624"/>
          </a:xfrm>
          <a:prstGeom prst="rect">
            <a:avLst/>
          </a:prstGeom>
          <a:solidFill>
            <a:srgbClr val="FFFFFF"/>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52463" y="1581912"/>
            <a:ext cx="4971135" cy="274320"/>
          </a:xfrm>
          <a:prstGeom prst="rect">
            <a:avLst/>
          </a:prstGeom>
          <a:noFill/>
        </p:spPr>
        <p:txBody>
          <a:bodyPr wrap="square" lIns="0" tIns="0" rIns="0" bIns="0">
            <a:spAutoFit/>
          </a:bodyPr>
          <a:lstStyle/>
          <a:p>
            <a:r>
              <a:rPr sz="1450" b="1" i="0">
                <a:solidFill>
                  <a:srgbClr val="5B6775"/>
                </a:solidFill>
                <a:latin typeface="Segoe UI Semibold"/>
              </a:rPr>
              <a:t>customer_id + date range</a:t>
            </a:r>
          </a:p>
        </p:txBody>
      </p:sp>
      <p:sp>
        <p:nvSpPr>
          <p:cNvPr id="9" name="TextBox 8"/>
          <p:cNvSpPr txBox="1"/>
          <p:nvPr/>
        </p:nvSpPr>
        <p:spPr>
          <a:xfrm>
            <a:off x="6333591" y="2103120"/>
            <a:ext cx="5154015" cy="3794760"/>
          </a:xfrm>
          <a:prstGeom prst="rect">
            <a:avLst/>
          </a:prstGeom>
          <a:noFill/>
        </p:spPr>
        <p:txBody>
          <a:bodyPr wrap="square" lIns="0" tIns="0" rIns="0" bIns="0">
            <a:spAutoFit/>
          </a:bodyPr>
          <a:lstStyle/>
          <a:p>
            <a:pPr marL="274320" indent="-274320">
              <a:lnSpc>
                <a:spcPct val="118000"/>
              </a:lnSpc>
              <a:spcAft>
                <a:spcPts val="900"/>
              </a:spcAft>
            </a:pPr>
            <a:r>
              <a:rPr sz="1600" b="1" i="0">
                <a:solidFill>
                  <a:srgbClr val="2E74B5"/>
                </a:solidFill>
                <a:latin typeface="Segoe UI"/>
              </a:rPr>
              <a:t>▪   </a:t>
            </a:r>
            <a:r>
              <a:rPr sz="1600" b="0" i="0">
                <a:solidFill>
                  <a:srgbClr val="242C38"/>
                </a:solidFill>
                <a:latin typeface="Segoe UI"/>
              </a:rPr>
              <a:t>Matches exactly one version, the true one</a:t>
            </a:r>
          </a:p>
          <a:p>
            <a:pPr marL="274320" indent="-274320">
              <a:lnSpc>
                <a:spcPct val="118000"/>
              </a:lnSpc>
              <a:spcAft>
                <a:spcPts val="900"/>
              </a:spcAft>
            </a:pPr>
            <a:r>
              <a:rPr sz="1600" b="1" i="0">
                <a:solidFill>
                  <a:srgbClr val="2E74B5"/>
                </a:solidFill>
                <a:latin typeface="Segoe UI"/>
              </a:rPr>
              <a:t>▪   </a:t>
            </a:r>
            <a:r>
              <a:rPr sz="1600" b="0" i="0">
                <a:solidFill>
                  <a:srgbClr val="242C38"/>
                </a:solidFill>
                <a:latin typeface="Segoe UI"/>
              </a:rPr>
              <a:t>Or filter is_current = true for the live view</a:t>
            </a:r>
          </a:p>
          <a:p>
            <a:pPr marL="274320" indent="-274320">
              <a:lnSpc>
                <a:spcPct val="118000"/>
              </a:lnSpc>
              <a:spcAft>
                <a:spcPts val="900"/>
              </a:spcAft>
            </a:pPr>
            <a:r>
              <a:rPr sz="1600" b="1" i="0">
                <a:solidFill>
                  <a:srgbClr val="2E74B5"/>
                </a:solidFill>
                <a:latin typeface="Segoe UI"/>
              </a:rPr>
              <a:t>▪   </a:t>
            </a:r>
            <a:r>
              <a:rPr sz="1600" b="0" i="0">
                <a:solidFill>
                  <a:srgbClr val="242C38"/>
                </a:solidFill>
                <a:latin typeface="Segoe UI"/>
              </a:rPr>
              <a:t>Correct for both audit and current reporting</a:t>
            </a:r>
          </a:p>
        </p:txBody>
      </p:sp>
      <p:sp>
        <p:nvSpPr>
          <p:cNvPr id="10" name="Rectangle 9"/>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05  ·  Data models for a lakehouse</a:t>
            </a:r>
          </a:p>
        </p:txBody>
      </p:sp>
      <p:sp>
        <p:nvSpPr>
          <p:cNvPr id="12" name="TextBox 11"/>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53</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Module 05 in one screen</a:t>
            </a:r>
          </a:p>
        </p:txBody>
      </p:sp>
      <p:sp>
        <p:nvSpPr>
          <p:cNvPr id="4" name="TextBox 3"/>
          <p:cNvSpPr txBox="1"/>
          <p:nvPr/>
        </p:nvSpPr>
        <p:spPr>
          <a:xfrm>
            <a:off x="658368" y="1481328"/>
            <a:ext cx="10874959" cy="4526280"/>
          </a:xfrm>
          <a:prstGeom prst="rect">
            <a:avLst/>
          </a:prstGeom>
          <a:noFill/>
        </p:spPr>
        <p:txBody>
          <a:bodyPr wrap="square" lIns="0" tIns="0" rIns="0" bIns="0">
            <a:spAutoFit/>
          </a:bodyPr>
          <a:lstStyle/>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The grain is the first design decision, get it wrong and everything downstream breaks</a:t>
            </a:r>
          </a:p>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A fact table is a transaction fact, a periodic snapshot, or an accumulating snapshot</a:t>
            </a:r>
          </a:p>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SCD Type 1 overwrites history. Type 2 keeps it as a new dated row</a:t>
            </a:r>
          </a:p>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Hash only the columns the business wants tracked, not every column</a:t>
            </a:r>
          </a:p>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Join a fact to SCD2 on key plus date range, not the key alone</a:t>
            </a:r>
          </a:p>
        </p:txBody>
      </p:sp>
      <p:sp>
        <p:nvSpPr>
          <p:cNvPr id="5" name="Rectangle 4"/>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05  ·  Data models for a lakehouse</a:t>
            </a:r>
          </a:p>
        </p:txBody>
      </p:sp>
      <p:sp>
        <p:nvSpPr>
          <p:cNvPr id="7" name="TextBox 6"/>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54</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858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51560" y="2057400"/>
            <a:ext cx="9692640" cy="457200"/>
          </a:xfrm>
          <a:prstGeom prst="rect">
            <a:avLst/>
          </a:prstGeom>
          <a:noFill/>
        </p:spPr>
        <p:txBody>
          <a:bodyPr wrap="square" lIns="0" tIns="0" rIns="0" bIns="0">
            <a:spAutoFit/>
          </a:bodyPr>
          <a:lstStyle/>
          <a:p>
            <a:r>
              <a:rPr sz="1300" b="1" i="0">
                <a:solidFill>
                  <a:srgbClr val="2E74B5"/>
                </a:solidFill>
                <a:latin typeface="Segoe UI Semibold"/>
              </a:rPr>
              <a:t>MODULE 06</a:t>
            </a:r>
          </a:p>
        </p:txBody>
      </p:sp>
      <p:sp>
        <p:nvSpPr>
          <p:cNvPr id="5" name="TextBox 4"/>
          <p:cNvSpPr txBox="1"/>
          <p:nvPr/>
        </p:nvSpPr>
        <p:spPr>
          <a:xfrm>
            <a:off x="1051560" y="2578608"/>
            <a:ext cx="9692640" cy="1371600"/>
          </a:xfrm>
          <a:prstGeom prst="rect">
            <a:avLst/>
          </a:prstGeom>
          <a:noFill/>
        </p:spPr>
        <p:txBody>
          <a:bodyPr wrap="square" lIns="0" tIns="0" rIns="0" bIns="0">
            <a:spAutoFit/>
          </a:bodyPr>
          <a:lstStyle/>
          <a:p>
            <a:pPr>
              <a:lnSpc>
                <a:spcPct val="95000"/>
              </a:lnSpc>
            </a:pPr>
            <a:r>
              <a:rPr sz="4200" b="1" i="0">
                <a:solidFill>
                  <a:srgbClr val="1F4E79"/>
                </a:solidFill>
                <a:latin typeface="Segoe UI Semibold"/>
              </a:rPr>
              <a:t>RDDs and UDFs</a:t>
            </a:r>
          </a:p>
        </p:txBody>
      </p:sp>
      <p:sp>
        <p:nvSpPr>
          <p:cNvPr id="6" name="TextBox 5"/>
          <p:cNvSpPr txBox="1"/>
          <p:nvPr/>
        </p:nvSpPr>
        <p:spPr>
          <a:xfrm>
            <a:off x="1051560" y="3950208"/>
            <a:ext cx="8778240" cy="822960"/>
          </a:xfrm>
          <a:prstGeom prst="rect">
            <a:avLst/>
          </a:prstGeom>
          <a:noFill/>
        </p:spPr>
        <p:txBody>
          <a:bodyPr wrap="square" lIns="0" tIns="0" rIns="0" bIns="0">
            <a:spAutoFit/>
          </a:bodyPr>
          <a:lstStyle/>
          <a:p>
            <a:pPr>
              <a:lnSpc>
                <a:spcPct val="115000"/>
              </a:lnSpc>
            </a:pPr>
            <a:r>
              <a:rPr sz="1700" b="0" i="0">
                <a:solidFill>
                  <a:srgbClr val="5B6775"/>
                </a:solidFill>
                <a:latin typeface="Segoe UI"/>
              </a:rPr>
              <a:t>When an RDD is still the right tool, and the UDF ladder that saves a rewrite</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58368" y="2148840"/>
            <a:ext cx="82296" cy="219456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42416" y="2084831"/>
            <a:ext cx="9777679" cy="1828800"/>
          </a:xfrm>
          <a:prstGeom prst="rect">
            <a:avLst/>
          </a:prstGeom>
          <a:noFill/>
        </p:spPr>
        <p:txBody>
          <a:bodyPr wrap="square" lIns="0" tIns="0" rIns="0" bIns="0">
            <a:spAutoFit/>
          </a:bodyPr>
          <a:lstStyle/>
          <a:p>
            <a:pPr>
              <a:lnSpc>
                <a:spcPct val="112000"/>
              </a:lnSpc>
            </a:pPr>
            <a:r>
              <a:rPr sz="3000" b="1" i="0">
                <a:solidFill>
                  <a:srgbClr val="1F4E79"/>
                </a:solidFill>
                <a:latin typeface="Segoe UI Semibold"/>
              </a:rPr>
              <a:t>Know the ladder: built-in beats expr beats pandas UDF beats plain UDF.</a:t>
            </a:r>
          </a:p>
        </p:txBody>
      </p:sp>
      <p:sp>
        <p:nvSpPr>
          <p:cNvPr id="5" name="TextBox 4"/>
          <p:cNvSpPr txBox="1"/>
          <p:nvPr/>
        </p:nvSpPr>
        <p:spPr>
          <a:xfrm>
            <a:off x="1042416" y="4041648"/>
            <a:ext cx="9411919" cy="1005840"/>
          </a:xfrm>
          <a:prstGeom prst="rect">
            <a:avLst/>
          </a:prstGeom>
          <a:noFill/>
        </p:spPr>
        <p:txBody>
          <a:bodyPr wrap="square" lIns="0" tIns="0" rIns="0" bIns="0">
            <a:spAutoFit/>
          </a:bodyPr>
          <a:lstStyle/>
          <a:p>
            <a:pPr>
              <a:lnSpc>
                <a:spcPct val="120000"/>
              </a:lnSpc>
            </a:pPr>
            <a:r>
              <a:rPr sz="1700" b="0" i="0">
                <a:solidFill>
                  <a:srgbClr val="5B6775"/>
                </a:solidFill>
                <a:latin typeface="Segoe UI"/>
              </a:rPr>
              <a:t>Most PySpark code never touches an RDD or writes a UDF. But knowing this ladder is the single habit most likely to save a slow pipeline from a full rewrite.</a:t>
            </a:r>
          </a:p>
        </p:txBody>
      </p:sp>
      <p:sp>
        <p:nvSpPr>
          <p:cNvPr id="6" name="Rectangle 5"/>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06  ·  RDDs and UDFs</a:t>
            </a:r>
          </a:p>
        </p:txBody>
      </p:sp>
      <p:sp>
        <p:nvSpPr>
          <p:cNvPr id="8" name="TextBox 7"/>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55</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An RDD is a distributed list of Python objects</a:t>
            </a:r>
          </a:p>
        </p:txBody>
      </p:sp>
      <p:sp>
        <p:nvSpPr>
          <p:cNvPr id="4" name="Rectangle 3"/>
          <p:cNvSpPr/>
          <p:nvPr/>
        </p:nvSpPr>
        <p:spPr>
          <a:xfrm>
            <a:off x="658368" y="1481328"/>
            <a:ext cx="10874959" cy="1578864"/>
          </a:xfrm>
          <a:prstGeom prst="rect">
            <a:avLst/>
          </a:prstGeom>
          <a:solidFill>
            <a:srgbClr val="F5F7F9"/>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81328"/>
            <a:ext cx="43180" cy="1578864"/>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77824" y="1645920"/>
            <a:ext cx="10509199" cy="1304544"/>
          </a:xfrm>
          <a:prstGeom prst="rect">
            <a:avLst/>
          </a:prstGeom>
          <a:noFill/>
        </p:spPr>
        <p:txBody>
          <a:bodyPr wrap="square" lIns="0" tIns="0" rIns="0" bIns="0">
            <a:spAutoFit/>
          </a:bodyPr>
          <a:lstStyle/>
          <a:p>
            <a:pPr>
              <a:lnSpc>
                <a:spcPct val="116000"/>
              </a:lnSpc>
              <a:spcAft>
                <a:spcPts val="0"/>
              </a:spcAft>
            </a:pPr>
            <a:r>
              <a:rPr sz="1500" b="0" i="0">
                <a:solidFill>
                  <a:srgbClr val="242C38"/>
                </a:solidFill>
                <a:latin typeface="Consolas"/>
              </a:rPr>
              <a:t>numbers = sc.parallelize(range(</a:t>
            </a:r>
            <a:r>
              <a:rPr sz="1500" b="0" i="0">
                <a:solidFill>
                  <a:srgbClr val="098658"/>
                </a:solidFill>
                <a:latin typeface="Consolas"/>
              </a:rPr>
              <a:t>1</a:t>
            </a:r>
            <a:r>
              <a:rPr sz="1500" b="0" i="0">
                <a:solidFill>
                  <a:srgbClr val="242C38"/>
                </a:solidFill>
                <a:latin typeface="Consolas"/>
              </a:rPr>
              <a:t>, </a:t>
            </a:r>
            <a:r>
              <a:rPr sz="1500" b="0" i="0">
                <a:solidFill>
                  <a:srgbClr val="098658"/>
                </a:solidFill>
                <a:latin typeface="Consolas"/>
              </a:rPr>
              <a:t>11</a:t>
            </a:r>
            <a:r>
              <a:rPr sz="1500" b="0" i="0">
                <a:solidFill>
                  <a:srgbClr val="242C38"/>
                </a:solidFill>
                <a:latin typeface="Consolas"/>
              </a:rPr>
              <a:t>), </a:t>
            </a:r>
            <a:r>
              <a:rPr sz="1500" b="0" i="0">
                <a:solidFill>
                  <a:srgbClr val="098658"/>
                </a:solidFill>
                <a:latin typeface="Consolas"/>
              </a:rPr>
              <a:t>4</a:t>
            </a:r>
            <a:r>
              <a:rPr sz="1500" b="0" i="0">
                <a:solidFill>
                  <a:srgbClr val="242C38"/>
                </a:solidFill>
                <a:latin typeface="Consolas"/>
              </a:rPr>
              <a:t>)</a:t>
            </a:r>
          </a:p>
          <a:p>
            <a:pPr>
              <a:lnSpc>
                <a:spcPct val="116000"/>
              </a:lnSpc>
              <a:spcAft>
                <a:spcPts val="0"/>
              </a:spcAft>
            </a:pPr>
            <a:r>
              <a:rPr sz="1500" b="0" i="0">
                <a:solidFill>
                  <a:srgbClr val="242C38"/>
                </a:solidFill>
                <a:latin typeface="Consolas"/>
              </a:rPr>
              <a:t>evens = numbers.filter(</a:t>
            </a:r>
            <a:r>
              <a:rPr sz="1500" b="0" i="0">
                <a:solidFill>
                  <a:srgbClr val="0F5BA7"/>
                </a:solidFill>
                <a:latin typeface="Consolas"/>
              </a:rPr>
              <a:t>lambda</a:t>
            </a:r>
            <a:r>
              <a:rPr sz="1500" b="0" i="0">
                <a:solidFill>
                  <a:srgbClr val="242C38"/>
                </a:solidFill>
                <a:latin typeface="Consolas"/>
              </a:rPr>
              <a:t> n: n % </a:t>
            </a:r>
            <a:r>
              <a:rPr sz="1500" b="0" i="0">
                <a:solidFill>
                  <a:srgbClr val="098658"/>
                </a:solidFill>
                <a:latin typeface="Consolas"/>
              </a:rPr>
              <a:t>2</a:t>
            </a:r>
            <a:r>
              <a:rPr sz="1500" b="0" i="0">
                <a:solidFill>
                  <a:srgbClr val="242C38"/>
                </a:solidFill>
                <a:latin typeface="Consolas"/>
              </a:rPr>
              <a:t> == </a:t>
            </a:r>
            <a:r>
              <a:rPr sz="1500" b="0" i="0">
                <a:solidFill>
                  <a:srgbClr val="098658"/>
                </a:solidFill>
                <a:latin typeface="Consolas"/>
              </a:rPr>
              <a:t>0</a:t>
            </a:r>
            <a:r>
              <a:rPr sz="1500" b="0" i="0">
                <a:solidFill>
                  <a:srgbClr val="242C38"/>
                </a:solidFill>
                <a:latin typeface="Consolas"/>
              </a:rPr>
              <a:t>)</a:t>
            </a:r>
          </a:p>
          <a:p>
            <a:pPr>
              <a:lnSpc>
                <a:spcPct val="116000"/>
              </a:lnSpc>
              <a:spcAft>
                <a:spcPts val="0"/>
              </a:spcAft>
            </a:pPr>
            <a:r>
              <a:rPr sz="1500" b="0" i="0">
                <a:solidFill>
                  <a:srgbClr val="242C38"/>
                </a:solidFill>
                <a:latin typeface="Consolas"/>
              </a:rPr>
              <a:t>squared = evens.map(</a:t>
            </a:r>
            <a:r>
              <a:rPr sz="1500" b="0" i="0">
                <a:solidFill>
                  <a:srgbClr val="0F5BA7"/>
                </a:solidFill>
                <a:latin typeface="Consolas"/>
              </a:rPr>
              <a:t>lambda</a:t>
            </a:r>
            <a:r>
              <a:rPr sz="1500" b="0" i="0">
                <a:solidFill>
                  <a:srgbClr val="242C38"/>
                </a:solidFill>
                <a:latin typeface="Consolas"/>
              </a:rPr>
              <a:t> n: n * n)</a:t>
            </a:r>
          </a:p>
          <a:p>
            <a:pPr>
              <a:lnSpc>
                <a:spcPct val="116000"/>
              </a:lnSpc>
              <a:spcAft>
                <a:spcPts val="0"/>
              </a:spcAft>
            </a:pPr>
            <a:r>
              <a:rPr sz="1500" b="0" i="0">
                <a:solidFill>
                  <a:srgbClr val="242C38"/>
                </a:solidFill>
                <a:latin typeface="Consolas"/>
              </a:rPr>
              <a:t>squared.collect()                    </a:t>
            </a:r>
            <a:r>
              <a:rPr sz="1500" b="0" i="1">
                <a:solidFill>
                  <a:srgbClr val="6F865C"/>
                </a:solidFill>
                <a:latin typeface="Consolas"/>
              </a:rPr>
              <a:t># [4, 16, 36, 64, 100]</a:t>
            </a:r>
          </a:p>
        </p:txBody>
      </p:sp>
      <p:sp>
        <p:nvSpPr>
          <p:cNvPr id="7" name="TextBox 6"/>
          <p:cNvSpPr txBox="1"/>
          <p:nvPr/>
        </p:nvSpPr>
        <p:spPr>
          <a:xfrm>
            <a:off x="658368" y="3206496"/>
            <a:ext cx="10874959" cy="457200"/>
          </a:xfrm>
          <a:prstGeom prst="rect">
            <a:avLst/>
          </a:prstGeom>
          <a:noFill/>
        </p:spPr>
        <p:txBody>
          <a:bodyPr wrap="square" lIns="0" tIns="0" rIns="0" bIns="0">
            <a:spAutoFit/>
          </a:bodyPr>
          <a:lstStyle/>
          <a:p>
            <a:r>
              <a:rPr sz="1400" b="0" i="0">
                <a:solidFill>
                  <a:srgbClr val="5B6775"/>
                </a:solidFill>
                <a:latin typeface="Segoe UI"/>
              </a:rPr>
              <a:t>No columns, no schema, no optimiser. Every DataFrame is built on an RDD underneath.</a:t>
            </a:r>
          </a:p>
        </p:txBody>
      </p:sp>
      <p:sp>
        <p:nvSpPr>
          <p:cNvPr id="8" name="Rectangle 7"/>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06  ·  RDDs and UDFs</a:t>
            </a:r>
          </a:p>
        </p:txBody>
      </p:sp>
      <p:sp>
        <p:nvSpPr>
          <p:cNvPr id="10" name="TextBox 9"/>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56</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When you still genuinely reach for an RDD</a:t>
            </a:r>
          </a:p>
        </p:txBody>
      </p:sp>
      <p:sp>
        <p:nvSpPr>
          <p:cNvPr id="4" name="Rectangle 3"/>
          <p:cNvSpPr/>
          <p:nvPr/>
        </p:nvSpPr>
        <p:spPr>
          <a:xfrm>
            <a:off x="658368" y="1481328"/>
            <a:ext cx="5245455" cy="420624"/>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1581912"/>
            <a:ext cx="4971135" cy="274320"/>
          </a:xfrm>
          <a:prstGeom prst="rect">
            <a:avLst/>
          </a:prstGeom>
          <a:noFill/>
        </p:spPr>
        <p:txBody>
          <a:bodyPr wrap="square" lIns="0" tIns="0" rIns="0" bIns="0">
            <a:spAutoFit/>
          </a:bodyPr>
          <a:lstStyle/>
          <a:p>
            <a:r>
              <a:rPr sz="1450" b="1" i="0">
                <a:solidFill>
                  <a:srgbClr val="1F4E79"/>
                </a:solidFill>
                <a:latin typeface="Segoe UI Semibold"/>
              </a:rPr>
              <a:t>No delimiter to parse</a:t>
            </a:r>
          </a:p>
        </p:txBody>
      </p:sp>
      <p:sp>
        <p:nvSpPr>
          <p:cNvPr id="6" name="TextBox 5"/>
          <p:cNvSpPr txBox="1"/>
          <p:nvPr/>
        </p:nvSpPr>
        <p:spPr>
          <a:xfrm>
            <a:off x="704088" y="2103120"/>
            <a:ext cx="5154015" cy="3794760"/>
          </a:xfrm>
          <a:prstGeom prst="rect">
            <a:avLst/>
          </a:prstGeom>
          <a:noFill/>
        </p:spPr>
        <p:txBody>
          <a:bodyPr wrap="square" lIns="0" tIns="0" rIns="0" bIns="0">
            <a:spAutoFit/>
          </a:bodyPr>
          <a:lstStyle/>
          <a:p>
            <a:pPr marL="274320" indent="-274320">
              <a:lnSpc>
                <a:spcPct val="118000"/>
              </a:lnSpc>
              <a:spcAft>
                <a:spcPts val="900"/>
              </a:spcAft>
            </a:pPr>
            <a:r>
              <a:rPr sz="1600" b="1" i="0">
                <a:solidFill>
                  <a:srgbClr val="2E74B5"/>
                </a:solidFill>
                <a:latin typeface="Segoe UI"/>
              </a:rPr>
              <a:t>▪   </a:t>
            </a:r>
            <a:r>
              <a:rPr sz="1600" b="0" i="0">
                <a:solidFill>
                  <a:srgbClr val="242C38"/>
                </a:solidFill>
                <a:latin typeface="Segoe UI"/>
              </a:rPr>
              <a:t>A fixed-width mainframe extract</a:t>
            </a:r>
          </a:p>
          <a:p>
            <a:pPr marL="274320" indent="-274320">
              <a:lnSpc>
                <a:spcPct val="118000"/>
              </a:lnSpc>
              <a:spcAft>
                <a:spcPts val="900"/>
              </a:spcAft>
            </a:pPr>
            <a:r>
              <a:rPr sz="1600" b="1" i="0">
                <a:solidFill>
                  <a:srgbClr val="2E74B5"/>
                </a:solidFill>
                <a:latin typeface="Segoe UI"/>
              </a:rPr>
              <a:t>▪   </a:t>
            </a:r>
            <a:r>
              <a:rPr sz="1600" b="0" i="0">
                <a:solidFill>
                  <a:srgbClr val="242C38"/>
                </a:solidFill>
                <a:latin typeface="Segoe UI"/>
              </a:rPr>
              <a:t>sc.textFile(...).map(...) slices by character</a:t>
            </a:r>
          </a:p>
          <a:p>
            <a:pPr marL="274320" indent="-274320">
              <a:lnSpc>
                <a:spcPct val="118000"/>
              </a:lnSpc>
              <a:spcAft>
                <a:spcPts val="900"/>
              </a:spcAft>
            </a:pPr>
            <a:r>
              <a:rPr sz="1600" b="1" i="0">
                <a:solidFill>
                  <a:srgbClr val="2E74B5"/>
                </a:solidFill>
                <a:latin typeface="Segoe UI"/>
              </a:rPr>
              <a:t>▪   </a:t>
            </a:r>
            <a:r>
              <a:rPr sz="1600" b="0" i="0">
                <a:solidFill>
                  <a:srgbClr val="242C38"/>
                </a:solidFill>
                <a:latin typeface="Segoe UI"/>
              </a:rPr>
              <a:t>Only to get you to a schema Spark can use</a:t>
            </a:r>
          </a:p>
        </p:txBody>
      </p:sp>
      <p:sp>
        <p:nvSpPr>
          <p:cNvPr id="7" name="Rectangle 6"/>
          <p:cNvSpPr/>
          <p:nvPr/>
        </p:nvSpPr>
        <p:spPr>
          <a:xfrm>
            <a:off x="6287871" y="1481328"/>
            <a:ext cx="5245455" cy="420624"/>
          </a:xfrm>
          <a:prstGeom prst="rect">
            <a:avLst/>
          </a:prstGeom>
          <a:solidFill>
            <a:srgbClr val="FFFFFF"/>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52463" y="1581912"/>
            <a:ext cx="4971135" cy="274320"/>
          </a:xfrm>
          <a:prstGeom prst="rect">
            <a:avLst/>
          </a:prstGeom>
          <a:noFill/>
        </p:spPr>
        <p:txBody>
          <a:bodyPr wrap="square" lIns="0" tIns="0" rIns="0" bIns="0">
            <a:spAutoFit/>
          </a:bodyPr>
          <a:lstStyle/>
          <a:p>
            <a:r>
              <a:rPr sz="1450" b="1" i="0">
                <a:solidFill>
                  <a:srgbClr val="5B6775"/>
                </a:solidFill>
                <a:latin typeface="Segoe UI Semibold"/>
              </a:rPr>
              <a:t>Setup that must run once</a:t>
            </a:r>
          </a:p>
        </p:txBody>
      </p:sp>
      <p:sp>
        <p:nvSpPr>
          <p:cNvPr id="9" name="TextBox 8"/>
          <p:cNvSpPr txBox="1"/>
          <p:nvPr/>
        </p:nvSpPr>
        <p:spPr>
          <a:xfrm>
            <a:off x="6333591" y="2103120"/>
            <a:ext cx="5154015" cy="3794760"/>
          </a:xfrm>
          <a:prstGeom prst="rect">
            <a:avLst/>
          </a:prstGeom>
          <a:noFill/>
        </p:spPr>
        <p:txBody>
          <a:bodyPr wrap="square" lIns="0" tIns="0" rIns="0" bIns="0">
            <a:spAutoFit/>
          </a:bodyPr>
          <a:lstStyle/>
          <a:p>
            <a:pPr marL="274320" indent="-274320">
              <a:lnSpc>
                <a:spcPct val="118000"/>
              </a:lnSpc>
              <a:spcAft>
                <a:spcPts val="900"/>
              </a:spcAft>
            </a:pPr>
            <a:r>
              <a:rPr sz="1600" b="1" i="0">
                <a:solidFill>
                  <a:srgbClr val="2E74B5"/>
                </a:solidFill>
                <a:latin typeface="Segoe UI"/>
              </a:rPr>
              <a:t>▪   </a:t>
            </a:r>
            <a:r>
              <a:rPr sz="1600" b="0" i="0">
                <a:solidFill>
                  <a:srgbClr val="242C38"/>
                </a:solidFill>
                <a:latin typeface="Segoe UI"/>
              </a:rPr>
              <a:t>Opening a scoring connection per row is wasteful</a:t>
            </a:r>
          </a:p>
          <a:p>
            <a:pPr marL="274320" indent="-274320">
              <a:lnSpc>
                <a:spcPct val="118000"/>
              </a:lnSpc>
              <a:spcAft>
                <a:spcPts val="900"/>
              </a:spcAft>
            </a:pPr>
            <a:r>
              <a:rPr sz="1600" b="1" i="0">
                <a:solidFill>
                  <a:srgbClr val="2E74B5"/>
                </a:solidFill>
                <a:latin typeface="Segoe UI"/>
              </a:rPr>
              <a:t>▪   </a:t>
            </a:r>
            <a:r>
              <a:rPr sz="1600" b="0" i="0">
                <a:solidFill>
                  <a:srgbClr val="242C38"/>
                </a:solidFill>
                <a:latin typeface="Segoe UI"/>
              </a:rPr>
              <a:t>mapPartitions hands you a whole partition at once</a:t>
            </a:r>
          </a:p>
          <a:p>
            <a:pPr marL="274320" indent="-274320">
              <a:lnSpc>
                <a:spcPct val="118000"/>
              </a:lnSpc>
              <a:spcAft>
                <a:spcPts val="900"/>
              </a:spcAft>
            </a:pPr>
            <a:r>
              <a:rPr sz="1600" b="1" i="0">
                <a:solidFill>
                  <a:srgbClr val="2E74B5"/>
                </a:solidFill>
                <a:latin typeface="Segoe UI"/>
              </a:rPr>
              <a:t>▪   </a:t>
            </a:r>
            <a:r>
              <a:rPr sz="1600" b="0" i="0">
                <a:solidFill>
                  <a:srgbClr val="242C38"/>
                </a:solidFill>
                <a:latin typeface="Segoe UI"/>
              </a:rPr>
              <a:t>Setup runs once per partition, not once per row</a:t>
            </a:r>
          </a:p>
        </p:txBody>
      </p:sp>
      <p:sp>
        <p:nvSpPr>
          <p:cNvPr id="10" name="Rectangle 9"/>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06  ·  RDDs and UDFs</a:t>
            </a:r>
          </a:p>
        </p:txBody>
      </p:sp>
      <p:sp>
        <p:nvSpPr>
          <p:cNvPr id="12" name="TextBox 11"/>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57</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reduceByKey combines locally, groupByKey ships everything</a:t>
            </a:r>
          </a:p>
        </p:txBody>
      </p:sp>
      <p:graphicFrame>
        <p:nvGraphicFramePr>
          <p:cNvPr id="4" name="Table 3"/>
          <p:cNvGraphicFramePr>
            <a:graphicFrameLocks noGrp="1"/>
          </p:cNvGraphicFramePr>
          <p:nvPr/>
        </p:nvGraphicFramePr>
        <p:xfrm>
          <a:off x="658368" y="1481328"/>
          <a:ext cx="10874958" cy="1353312"/>
        </p:xfrm>
        <a:graphic>
          <a:graphicData uri="http://schemas.openxmlformats.org/drawingml/2006/table">
            <a:tbl>
              <a:tblPr firstRow="1" bandRow="1">
                <a:tableStyleId>{5C22544A-7EE6-4342-B048-85BDC9FD1C3A}</a:tableStyleId>
              </a:tblPr>
              <a:tblGrid>
                <a:gridCol w="2718739">
                  <a:extLst>
                    <a:ext uri="{9D8B030D-6E8A-4147-A177-3AD203B41FA5}">
                      <a16:colId xmlns:a16="http://schemas.microsoft.com/office/drawing/2014/main" val="20000"/>
                    </a:ext>
                  </a:extLst>
                </a:gridCol>
                <a:gridCol w="4943163">
                  <a:extLst>
                    <a:ext uri="{9D8B030D-6E8A-4147-A177-3AD203B41FA5}">
                      <a16:colId xmlns:a16="http://schemas.microsoft.com/office/drawing/2014/main" val="20001"/>
                    </a:ext>
                  </a:extLst>
                </a:gridCol>
                <a:gridCol w="3213056">
                  <a:extLst>
                    <a:ext uri="{9D8B030D-6E8A-4147-A177-3AD203B41FA5}">
                      <a16:colId xmlns:a16="http://schemas.microsoft.com/office/drawing/2014/main" val="20002"/>
                    </a:ext>
                  </a:extLst>
                </a:gridCol>
              </a:tblGrid>
              <a:tr h="402336">
                <a:tc>
                  <a:txBody>
                    <a:bodyPr/>
                    <a:lstStyle/>
                    <a:p>
                      <a:r>
                        <a:rPr sz="1450" b="1" i="0">
                          <a:solidFill>
                            <a:srgbClr val="FFFFFF"/>
                          </a:solidFill>
                          <a:latin typeface="Segoe UI Semibold"/>
                        </a:rPr>
                        <a:t>Method</a:t>
                      </a:r>
                    </a:p>
                  </a:txBody>
                  <a:tcPr anchor="ctr">
                    <a:solidFill>
                      <a:srgbClr val="1F4E79"/>
                    </a:solidFill>
                  </a:tcPr>
                </a:tc>
                <a:tc>
                  <a:txBody>
                    <a:bodyPr/>
                    <a:lstStyle/>
                    <a:p>
                      <a:r>
                        <a:rPr sz="1450" b="1" i="0">
                          <a:solidFill>
                            <a:srgbClr val="FFFFFF"/>
                          </a:solidFill>
                          <a:latin typeface="Segoe UI Semibold"/>
                        </a:rPr>
                        <a:t>On each partition first</a:t>
                      </a:r>
                    </a:p>
                  </a:txBody>
                  <a:tcPr anchor="ctr">
                    <a:solidFill>
                      <a:srgbClr val="1F4E79"/>
                    </a:solidFill>
                  </a:tcPr>
                </a:tc>
                <a:tc>
                  <a:txBody>
                    <a:bodyPr/>
                    <a:lstStyle/>
                    <a:p>
                      <a:r>
                        <a:rPr sz="1450" b="1" i="0">
                          <a:solidFill>
                            <a:srgbClr val="FFFFFF"/>
                          </a:solidFill>
                          <a:latin typeface="Segoe UI Semibold"/>
                        </a:rPr>
                        <a:t>Shuffle bytes measured</a:t>
                      </a:r>
                    </a:p>
                  </a:txBody>
                  <a:tcPr anchor="ctr">
                    <a:solidFill>
                      <a:srgbClr val="1F4E79"/>
                    </a:solidFill>
                  </a:tcPr>
                </a:tc>
                <a:extLst>
                  <a:ext uri="{0D108BD9-81ED-4DB2-BD59-A6C34878D82A}">
                    <a16:rowId xmlns:a16="http://schemas.microsoft.com/office/drawing/2014/main" val="10000"/>
                  </a:ext>
                </a:extLst>
              </a:tr>
              <a:tr h="475488">
                <a:tc>
                  <a:txBody>
                    <a:bodyPr/>
                    <a:lstStyle/>
                    <a:p>
                      <a:pPr>
                        <a:lnSpc>
                          <a:spcPct val="106000"/>
                        </a:lnSpc>
                      </a:pPr>
                      <a:r>
                        <a:rPr sz="1350" b="0" i="0">
                          <a:solidFill>
                            <a:srgbClr val="2E74B5"/>
                          </a:solidFill>
                          <a:latin typeface="Consolas"/>
                        </a:rPr>
                        <a:t>reduceByKey</a:t>
                      </a:r>
                    </a:p>
                  </a:txBody>
                  <a:tcPr marT="36576" marB="36576" anchor="ctr">
                    <a:solidFill>
                      <a:srgbClr val="EEF3F8"/>
                    </a:solidFill>
                  </a:tcPr>
                </a:tc>
                <a:tc>
                  <a:txBody>
                    <a:bodyPr/>
                    <a:lstStyle/>
                    <a:p>
                      <a:pPr>
                        <a:lnSpc>
                          <a:spcPct val="106000"/>
                        </a:lnSpc>
                      </a:pPr>
                      <a:r>
                        <a:rPr sz="1400" b="0" i="0">
                          <a:solidFill>
                            <a:srgbClr val="242C38"/>
                          </a:solidFill>
                          <a:latin typeface="Segoe UI"/>
                        </a:rPr>
                        <a:t>sums its own keys locally</a:t>
                      </a:r>
                    </a:p>
                  </a:txBody>
                  <a:tcPr marT="36576" marB="36576" anchor="ctr">
                    <a:solidFill>
                      <a:srgbClr val="EEF3F8"/>
                    </a:solidFill>
                  </a:tcPr>
                </a:tc>
                <a:tc>
                  <a:txBody>
                    <a:bodyPr/>
                    <a:lstStyle/>
                    <a:p>
                      <a:pPr>
                        <a:lnSpc>
                          <a:spcPct val="106000"/>
                        </a:lnSpc>
                      </a:pPr>
                      <a:r>
                        <a:rPr sz="1400" b="0" i="0">
                          <a:solidFill>
                            <a:srgbClr val="242C38"/>
                          </a:solidFill>
                          <a:latin typeface="Segoe UI"/>
                        </a:rPr>
                        <a:t>about 443,000</a:t>
                      </a:r>
                    </a:p>
                  </a:txBody>
                  <a:tcPr marT="36576" marB="36576" anchor="ctr">
                    <a:solidFill>
                      <a:srgbClr val="EEF3F8"/>
                    </a:solidFill>
                  </a:tcPr>
                </a:tc>
                <a:extLst>
                  <a:ext uri="{0D108BD9-81ED-4DB2-BD59-A6C34878D82A}">
                    <a16:rowId xmlns:a16="http://schemas.microsoft.com/office/drawing/2014/main" val="10001"/>
                  </a:ext>
                </a:extLst>
              </a:tr>
              <a:tr h="475488">
                <a:tc>
                  <a:txBody>
                    <a:bodyPr/>
                    <a:lstStyle/>
                    <a:p>
                      <a:pPr>
                        <a:lnSpc>
                          <a:spcPct val="106000"/>
                        </a:lnSpc>
                      </a:pPr>
                      <a:r>
                        <a:rPr sz="1350" b="0" i="0">
                          <a:solidFill>
                            <a:srgbClr val="2E74B5"/>
                          </a:solidFill>
                          <a:latin typeface="Consolas"/>
                        </a:rPr>
                        <a:t>groupByKey</a:t>
                      </a:r>
                    </a:p>
                  </a:txBody>
                  <a:tcPr marT="36576" marB="36576" anchor="ctr">
                    <a:solidFill>
                      <a:srgbClr val="FFFFFF"/>
                    </a:solidFill>
                  </a:tcPr>
                </a:tc>
                <a:tc>
                  <a:txBody>
                    <a:bodyPr/>
                    <a:lstStyle/>
                    <a:p>
                      <a:pPr>
                        <a:lnSpc>
                          <a:spcPct val="106000"/>
                        </a:lnSpc>
                      </a:pPr>
                      <a:r>
                        <a:rPr sz="1400" b="0" i="0">
                          <a:solidFill>
                            <a:srgbClr val="242C38"/>
                          </a:solidFill>
                          <a:latin typeface="Segoe UI"/>
                        </a:rPr>
                        <a:t>sends every row across the network</a:t>
                      </a:r>
                    </a:p>
                  </a:txBody>
                  <a:tcPr marT="36576" marB="36576" anchor="ctr">
                    <a:solidFill>
                      <a:srgbClr val="FFFFFF"/>
                    </a:solidFill>
                  </a:tcPr>
                </a:tc>
                <a:tc>
                  <a:txBody>
                    <a:bodyPr/>
                    <a:lstStyle/>
                    <a:p>
                      <a:pPr>
                        <a:lnSpc>
                          <a:spcPct val="106000"/>
                        </a:lnSpc>
                      </a:pPr>
                      <a:r>
                        <a:rPr sz="1400" b="0" i="0">
                          <a:solidFill>
                            <a:srgbClr val="242C38"/>
                          </a:solidFill>
                          <a:latin typeface="Segoe UI"/>
                        </a:rPr>
                        <a:t>about 1,296,000, 3x more</a:t>
                      </a:r>
                    </a:p>
                  </a:txBody>
                  <a:tcPr marT="36576" marB="36576" anchor="ctr">
                    <a:solidFill>
                      <a:srgbClr val="FFFFFF"/>
                    </a:solidFill>
                  </a:tcPr>
                </a:tc>
                <a:extLst>
                  <a:ext uri="{0D108BD9-81ED-4DB2-BD59-A6C34878D82A}">
                    <a16:rowId xmlns:a16="http://schemas.microsoft.com/office/drawing/2014/main" val="10002"/>
                  </a:ext>
                </a:extLst>
              </a:tr>
            </a:tbl>
          </a:graphicData>
        </a:graphic>
      </p:graphicFrame>
      <p:sp>
        <p:nvSpPr>
          <p:cNvPr id="5" name="TextBox 4"/>
          <p:cNvSpPr txBox="1"/>
          <p:nvPr/>
        </p:nvSpPr>
        <p:spPr>
          <a:xfrm>
            <a:off x="658368" y="5724144"/>
            <a:ext cx="10874959" cy="502920"/>
          </a:xfrm>
          <a:prstGeom prst="rect">
            <a:avLst/>
          </a:prstGeom>
          <a:noFill/>
        </p:spPr>
        <p:txBody>
          <a:bodyPr wrap="square" lIns="0" tIns="0" rIns="0" bIns="0">
            <a:spAutoFit/>
          </a:bodyPr>
          <a:lstStyle/>
          <a:p>
            <a:r>
              <a:rPr sz="1300" b="0" i="1">
                <a:solidFill>
                  <a:srgbClr val="5B6775"/>
                </a:solidFill>
                <a:latin typeface="Segoe UI"/>
              </a:rPr>
              <a:t>Measured with Spark's own UI REST API, not an estimate.</a:t>
            </a:r>
          </a:p>
        </p:txBody>
      </p:sp>
      <p:sp>
        <p:nvSpPr>
          <p:cNvPr id="6" name="Rectangle 5"/>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06  ·  RDDs and UDFs</a:t>
            </a:r>
          </a:p>
        </p:txBody>
      </p:sp>
      <p:sp>
        <p:nvSpPr>
          <p:cNvPr id="8" name="TextBox 7"/>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58</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Same total, very different shuffle</a:t>
            </a:r>
          </a:p>
        </p:txBody>
      </p:sp>
      <p:sp>
        <p:nvSpPr>
          <p:cNvPr id="4" name="Rectangle 3"/>
          <p:cNvSpPr/>
          <p:nvPr/>
        </p:nvSpPr>
        <p:spPr>
          <a:xfrm>
            <a:off x="658368" y="1481328"/>
            <a:ext cx="10874959" cy="1868424"/>
          </a:xfrm>
          <a:prstGeom prst="rect">
            <a:avLst/>
          </a:prstGeom>
          <a:solidFill>
            <a:srgbClr val="F5F7F9"/>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81328"/>
            <a:ext cx="43180" cy="1868424"/>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77824" y="1645920"/>
            <a:ext cx="10509199" cy="1594104"/>
          </a:xfrm>
          <a:prstGeom prst="rect">
            <a:avLst/>
          </a:prstGeom>
          <a:noFill/>
        </p:spPr>
        <p:txBody>
          <a:bodyPr wrap="square" lIns="0" tIns="0" rIns="0" bIns="0">
            <a:spAutoFit/>
          </a:bodyPr>
          <a:lstStyle/>
          <a:p>
            <a:pPr>
              <a:lnSpc>
                <a:spcPct val="116000"/>
              </a:lnSpc>
              <a:spcAft>
                <a:spcPts val="0"/>
              </a:spcAft>
            </a:pPr>
            <a:r>
              <a:rPr sz="1500" b="0" i="0">
                <a:solidFill>
                  <a:srgbClr val="242C38"/>
                </a:solidFill>
                <a:latin typeface="Consolas"/>
              </a:rPr>
              <a:t>pairs = rows.map(</a:t>
            </a:r>
            <a:r>
              <a:rPr sz="1500" b="0" i="0">
                <a:solidFill>
                  <a:srgbClr val="0F5BA7"/>
                </a:solidFill>
                <a:latin typeface="Consolas"/>
              </a:rPr>
              <a:t>lambda</a:t>
            </a:r>
            <a:r>
              <a:rPr sz="1500" b="0" i="0">
                <a:solidFill>
                  <a:srgbClr val="242C38"/>
                </a:solidFill>
                <a:latin typeface="Consolas"/>
              </a:rPr>
              <a:t> l: l.split(</a:t>
            </a:r>
            <a:r>
              <a:rPr sz="1500" b="0" i="0">
                <a:solidFill>
                  <a:srgbClr val="A31515"/>
                </a:solidFill>
                <a:latin typeface="Consolas"/>
              </a:rPr>
              <a:t>","</a:t>
            </a:r>
            <a:r>
              <a:rPr sz="1500" b="0" i="0">
                <a:solidFill>
                  <a:srgbClr val="242C38"/>
                </a:solidFill>
                <a:latin typeface="Consolas"/>
              </a:rPr>
              <a:t>))</a:t>
            </a:r>
          </a:p>
          <a:p>
            <a:pPr>
              <a:lnSpc>
                <a:spcPct val="116000"/>
              </a:lnSpc>
              <a:spcAft>
                <a:spcPts val="0"/>
              </a:spcAft>
            </a:pPr>
            <a:r>
              <a:rPr sz="1500" b="0" i="0">
                <a:solidFill>
                  <a:srgbClr val="242C38"/>
                </a:solidFill>
                <a:latin typeface="Consolas"/>
              </a:rPr>
              <a:t>account_amount = pairs.map(</a:t>
            </a:r>
            <a:r>
              <a:rPr sz="1500" b="0" i="0">
                <a:solidFill>
                  <a:srgbClr val="0F5BA7"/>
                </a:solidFill>
                <a:latin typeface="Consolas"/>
              </a:rPr>
              <a:t>lambda</a:t>
            </a:r>
            <a:r>
              <a:rPr sz="1500" b="0" i="0">
                <a:solidFill>
                  <a:srgbClr val="242C38"/>
                </a:solidFill>
                <a:latin typeface="Consolas"/>
              </a:rPr>
              <a:t> f: (f[</a:t>
            </a:r>
            <a:r>
              <a:rPr sz="1500" b="0" i="0">
                <a:solidFill>
                  <a:srgbClr val="098658"/>
                </a:solidFill>
                <a:latin typeface="Consolas"/>
              </a:rPr>
              <a:t>1</a:t>
            </a:r>
            <a:r>
              <a:rPr sz="1500" b="0" i="0">
                <a:solidFill>
                  <a:srgbClr val="242C38"/>
                </a:solidFill>
                <a:latin typeface="Consolas"/>
              </a:rPr>
              <a:t>], float(f[</a:t>
            </a:r>
            <a:r>
              <a:rPr sz="1500" b="0" i="0">
                <a:solidFill>
                  <a:srgbClr val="098658"/>
                </a:solidFill>
                <a:latin typeface="Consolas"/>
              </a:rPr>
              <a:t>3</a:t>
            </a:r>
            <a:r>
              <a:rPr sz="1500" b="0" i="0">
                <a:solidFill>
                  <a:srgbClr val="242C38"/>
                </a:solidFill>
                <a:latin typeface="Consolas"/>
              </a:rPr>
              <a:t>])))</a:t>
            </a:r>
          </a:p>
          <a:p>
            <a:pPr>
              <a:lnSpc>
                <a:spcPct val="116000"/>
              </a:lnSpc>
              <a:spcAft>
                <a:spcPts val="0"/>
              </a:spcAft>
            </a:pPr>
            <a:r>
              <a:rPr sz="1500" b="0" i="0">
                <a:solidFill>
                  <a:srgbClr val="242C38"/>
                </a:solidFill>
                <a:latin typeface="Consolas"/>
              </a:rPr>
              <a:t> </a:t>
            </a:r>
          </a:p>
          <a:p>
            <a:pPr>
              <a:lnSpc>
                <a:spcPct val="116000"/>
              </a:lnSpc>
              <a:spcAft>
                <a:spcPts val="0"/>
              </a:spcAft>
            </a:pPr>
            <a:r>
              <a:rPr sz="1500" b="0" i="0">
                <a:solidFill>
                  <a:srgbClr val="242C38"/>
                </a:solidFill>
                <a:latin typeface="Consolas"/>
              </a:rPr>
              <a:t>reduced = account_amount.reduceByKey(</a:t>
            </a:r>
            <a:r>
              <a:rPr sz="1500" b="0" i="0">
                <a:solidFill>
                  <a:srgbClr val="0F5BA7"/>
                </a:solidFill>
                <a:latin typeface="Consolas"/>
              </a:rPr>
              <a:t>lambda</a:t>
            </a:r>
            <a:r>
              <a:rPr sz="1500" b="0" i="0">
                <a:solidFill>
                  <a:srgbClr val="242C38"/>
                </a:solidFill>
                <a:latin typeface="Consolas"/>
              </a:rPr>
              <a:t> a, b: a + b)</a:t>
            </a:r>
          </a:p>
          <a:p>
            <a:pPr>
              <a:lnSpc>
                <a:spcPct val="116000"/>
              </a:lnSpc>
              <a:spcAft>
                <a:spcPts val="0"/>
              </a:spcAft>
            </a:pPr>
            <a:r>
              <a:rPr sz="1500" b="0" i="0">
                <a:solidFill>
                  <a:srgbClr val="242C38"/>
                </a:solidFill>
                <a:latin typeface="Consolas"/>
              </a:rPr>
              <a:t>grouped = account_amount.groupByKey().mapValues(sum)</a:t>
            </a:r>
          </a:p>
        </p:txBody>
      </p:sp>
      <p:sp>
        <p:nvSpPr>
          <p:cNvPr id="7" name="TextBox 6"/>
          <p:cNvSpPr txBox="1"/>
          <p:nvPr/>
        </p:nvSpPr>
        <p:spPr>
          <a:xfrm>
            <a:off x="658368" y="3496056"/>
            <a:ext cx="10874959" cy="457200"/>
          </a:xfrm>
          <a:prstGeom prst="rect">
            <a:avLst/>
          </a:prstGeom>
          <a:noFill/>
        </p:spPr>
        <p:txBody>
          <a:bodyPr wrap="square" lIns="0" tIns="0" rIns="0" bIns="0">
            <a:spAutoFit/>
          </a:bodyPr>
          <a:lstStyle/>
          <a:p>
            <a:r>
              <a:rPr sz="1400" b="0" i="0">
                <a:solidFill>
                  <a:srgbClr val="5B6775"/>
                </a:solidFill>
                <a:latin typeface="Segoe UI"/>
              </a:rPr>
              <a:t>Round before comparing floats, the two methods sum in a different order.</a:t>
            </a:r>
          </a:p>
        </p:txBody>
      </p:sp>
      <p:sp>
        <p:nvSpPr>
          <p:cNvPr id="8" name="Rectangle 7"/>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06  ·  RDDs and UDFs</a:t>
            </a:r>
          </a:p>
        </p:txBody>
      </p:sp>
      <p:sp>
        <p:nvSpPr>
          <p:cNvPr id="10" name="TextBox 9"/>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59</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The UDF preference ladder</a:t>
            </a:r>
          </a:p>
        </p:txBody>
      </p:sp>
      <p:graphicFrame>
        <p:nvGraphicFramePr>
          <p:cNvPr id="4" name="Table 3"/>
          <p:cNvGraphicFramePr>
            <a:graphicFrameLocks noGrp="1"/>
          </p:cNvGraphicFramePr>
          <p:nvPr/>
        </p:nvGraphicFramePr>
        <p:xfrm>
          <a:off x="658368" y="1481328"/>
          <a:ext cx="10874958" cy="2304288"/>
        </p:xfrm>
        <a:graphic>
          <a:graphicData uri="http://schemas.openxmlformats.org/drawingml/2006/table">
            <a:tbl>
              <a:tblPr firstRow="1" bandRow="1">
                <a:tableStyleId>{5C22544A-7EE6-4342-B048-85BDC9FD1C3A}</a:tableStyleId>
              </a:tblPr>
              <a:tblGrid>
                <a:gridCol w="2658323">
                  <a:extLst>
                    <a:ext uri="{9D8B030D-6E8A-4147-A177-3AD203B41FA5}">
                      <a16:colId xmlns:a16="http://schemas.microsoft.com/office/drawing/2014/main" val="20000"/>
                    </a:ext>
                  </a:extLst>
                </a:gridCol>
                <a:gridCol w="4591649">
                  <a:extLst>
                    <a:ext uri="{9D8B030D-6E8A-4147-A177-3AD203B41FA5}">
                      <a16:colId xmlns:a16="http://schemas.microsoft.com/office/drawing/2014/main" val="20001"/>
                    </a:ext>
                  </a:extLst>
                </a:gridCol>
                <a:gridCol w="3624986">
                  <a:extLst>
                    <a:ext uri="{9D8B030D-6E8A-4147-A177-3AD203B41FA5}">
                      <a16:colId xmlns:a16="http://schemas.microsoft.com/office/drawing/2014/main" val="20002"/>
                    </a:ext>
                  </a:extLst>
                </a:gridCol>
              </a:tblGrid>
              <a:tr h="402336">
                <a:tc>
                  <a:txBody>
                    <a:bodyPr/>
                    <a:lstStyle/>
                    <a:p>
                      <a:r>
                        <a:rPr sz="1450" b="1" i="0">
                          <a:solidFill>
                            <a:srgbClr val="FFFFFF"/>
                          </a:solidFill>
                          <a:latin typeface="Segoe UI Semibold"/>
                        </a:rPr>
                        <a:t>Preference</a:t>
                      </a:r>
                    </a:p>
                  </a:txBody>
                  <a:tcPr anchor="ctr">
                    <a:solidFill>
                      <a:srgbClr val="1F4E79"/>
                    </a:solidFill>
                  </a:tcPr>
                </a:tc>
                <a:tc>
                  <a:txBody>
                    <a:bodyPr/>
                    <a:lstStyle/>
                    <a:p>
                      <a:r>
                        <a:rPr sz="1450" b="1" i="0">
                          <a:solidFill>
                            <a:srgbClr val="FFFFFF"/>
                          </a:solidFill>
                          <a:latin typeface="Segoe UI Semibold"/>
                        </a:rPr>
                        <a:t>What it is</a:t>
                      </a:r>
                    </a:p>
                  </a:txBody>
                  <a:tcPr anchor="ctr">
                    <a:solidFill>
                      <a:srgbClr val="1F4E79"/>
                    </a:solidFill>
                  </a:tcPr>
                </a:tc>
                <a:tc>
                  <a:txBody>
                    <a:bodyPr/>
                    <a:lstStyle/>
                    <a:p>
                      <a:r>
                        <a:rPr sz="1450" b="1" i="0">
                          <a:solidFill>
                            <a:srgbClr val="FFFFFF"/>
                          </a:solidFill>
                          <a:latin typeface="Segoe UI Semibold"/>
                        </a:rPr>
                        <a:t>Runs where</a:t>
                      </a:r>
                    </a:p>
                  </a:txBody>
                  <a:tcPr anchor="ctr">
                    <a:solidFill>
                      <a:srgbClr val="1F4E79"/>
                    </a:solidFill>
                  </a:tcPr>
                </a:tc>
                <a:extLst>
                  <a:ext uri="{0D108BD9-81ED-4DB2-BD59-A6C34878D82A}">
                    <a16:rowId xmlns:a16="http://schemas.microsoft.com/office/drawing/2014/main" val="10000"/>
                  </a:ext>
                </a:extLst>
              </a:tr>
              <a:tr h="475488">
                <a:tc>
                  <a:txBody>
                    <a:bodyPr/>
                    <a:lstStyle/>
                    <a:p>
                      <a:pPr>
                        <a:lnSpc>
                          <a:spcPct val="106000"/>
                        </a:lnSpc>
                      </a:pPr>
                      <a:r>
                        <a:rPr sz="1400" b="1" i="0">
                          <a:solidFill>
                            <a:srgbClr val="242C38"/>
                          </a:solidFill>
                          <a:latin typeface="Segoe UI"/>
                        </a:rPr>
                        <a:t>1 built-in</a:t>
                      </a:r>
                    </a:p>
                  </a:txBody>
                  <a:tcPr marT="36576" marB="36576" anchor="ctr">
                    <a:solidFill>
                      <a:srgbClr val="EEF3F8"/>
                    </a:solidFill>
                  </a:tcPr>
                </a:tc>
                <a:tc>
                  <a:txBody>
                    <a:bodyPr/>
                    <a:lstStyle/>
                    <a:p>
                      <a:pPr>
                        <a:lnSpc>
                          <a:spcPct val="106000"/>
                        </a:lnSpc>
                      </a:pPr>
                      <a:r>
                        <a:rPr sz="1400" b="0" i="0">
                          <a:solidFill>
                            <a:srgbClr val="242C38"/>
                          </a:solidFill>
                          <a:latin typeface="Segoe UI"/>
                        </a:rPr>
                        <a:t>F.when(), F.col() and friends</a:t>
                      </a:r>
                    </a:p>
                  </a:txBody>
                  <a:tcPr marT="36576" marB="36576" anchor="ctr">
                    <a:solidFill>
                      <a:srgbClr val="EEF3F8"/>
                    </a:solidFill>
                  </a:tcPr>
                </a:tc>
                <a:tc>
                  <a:txBody>
                    <a:bodyPr/>
                    <a:lstStyle/>
                    <a:p>
                      <a:pPr>
                        <a:lnSpc>
                          <a:spcPct val="106000"/>
                        </a:lnSpc>
                      </a:pPr>
                      <a:r>
                        <a:rPr sz="1400" b="0" i="0">
                          <a:solidFill>
                            <a:srgbClr val="242C38"/>
                          </a:solidFill>
                          <a:latin typeface="Segoe UI"/>
                        </a:rPr>
                        <a:t>inside the JVM, columnar</a:t>
                      </a:r>
                    </a:p>
                  </a:txBody>
                  <a:tcPr marT="36576" marB="36576" anchor="ctr">
                    <a:solidFill>
                      <a:srgbClr val="EEF3F8"/>
                    </a:solidFill>
                  </a:tcPr>
                </a:tc>
                <a:extLst>
                  <a:ext uri="{0D108BD9-81ED-4DB2-BD59-A6C34878D82A}">
                    <a16:rowId xmlns:a16="http://schemas.microsoft.com/office/drawing/2014/main" val="10001"/>
                  </a:ext>
                </a:extLst>
              </a:tr>
              <a:tr h="475488">
                <a:tc>
                  <a:txBody>
                    <a:bodyPr/>
                    <a:lstStyle/>
                    <a:p>
                      <a:pPr>
                        <a:lnSpc>
                          <a:spcPct val="106000"/>
                        </a:lnSpc>
                      </a:pPr>
                      <a:r>
                        <a:rPr sz="1400" b="1" i="0">
                          <a:solidFill>
                            <a:srgbClr val="242C38"/>
                          </a:solidFill>
                          <a:latin typeface="Segoe UI"/>
                        </a:rPr>
                        <a:t>2 expr()</a:t>
                      </a:r>
                    </a:p>
                  </a:txBody>
                  <a:tcPr marT="36576" marB="36576" anchor="ctr">
                    <a:solidFill>
                      <a:srgbClr val="FFFFFF"/>
                    </a:solidFill>
                  </a:tcPr>
                </a:tc>
                <a:tc>
                  <a:txBody>
                    <a:bodyPr/>
                    <a:lstStyle/>
                    <a:p>
                      <a:pPr>
                        <a:lnSpc>
                          <a:spcPct val="106000"/>
                        </a:lnSpc>
                      </a:pPr>
                      <a:r>
                        <a:rPr sz="1400" b="0" i="0">
                          <a:solidFill>
                            <a:srgbClr val="242C38"/>
                          </a:solidFill>
                          <a:latin typeface="Segoe UI"/>
                        </a:rPr>
                        <a:t>the same built-ins as a SQL string</a:t>
                      </a:r>
                    </a:p>
                  </a:txBody>
                  <a:tcPr marT="36576" marB="36576" anchor="ctr">
                    <a:solidFill>
                      <a:srgbClr val="FFFFFF"/>
                    </a:solidFill>
                  </a:tcPr>
                </a:tc>
                <a:tc>
                  <a:txBody>
                    <a:bodyPr/>
                    <a:lstStyle/>
                    <a:p>
                      <a:pPr>
                        <a:lnSpc>
                          <a:spcPct val="106000"/>
                        </a:lnSpc>
                      </a:pPr>
                      <a:r>
                        <a:rPr sz="1400" b="0" i="0">
                          <a:solidFill>
                            <a:srgbClr val="242C38"/>
                          </a:solidFill>
                          <a:latin typeface="Segoe UI"/>
                        </a:rPr>
                        <a:t>inside the JVM, same plan</a:t>
                      </a:r>
                    </a:p>
                  </a:txBody>
                  <a:tcPr marT="36576" marB="36576" anchor="ctr">
                    <a:solidFill>
                      <a:srgbClr val="FFFFFF"/>
                    </a:solidFill>
                  </a:tcPr>
                </a:tc>
                <a:extLst>
                  <a:ext uri="{0D108BD9-81ED-4DB2-BD59-A6C34878D82A}">
                    <a16:rowId xmlns:a16="http://schemas.microsoft.com/office/drawing/2014/main" val="10002"/>
                  </a:ext>
                </a:extLst>
              </a:tr>
              <a:tr h="475488">
                <a:tc>
                  <a:txBody>
                    <a:bodyPr/>
                    <a:lstStyle/>
                    <a:p>
                      <a:pPr>
                        <a:lnSpc>
                          <a:spcPct val="106000"/>
                        </a:lnSpc>
                      </a:pPr>
                      <a:r>
                        <a:rPr sz="1400" b="1" i="0">
                          <a:solidFill>
                            <a:srgbClr val="242C38"/>
                          </a:solidFill>
                          <a:latin typeface="Segoe UI"/>
                        </a:rPr>
                        <a:t>3 pandas UDF</a:t>
                      </a:r>
                    </a:p>
                  </a:txBody>
                  <a:tcPr marT="36576" marB="36576" anchor="ctr">
                    <a:solidFill>
                      <a:srgbClr val="EEF3F8"/>
                    </a:solidFill>
                  </a:tcPr>
                </a:tc>
                <a:tc>
                  <a:txBody>
                    <a:bodyPr/>
                    <a:lstStyle/>
                    <a:p>
                      <a:pPr>
                        <a:lnSpc>
                          <a:spcPct val="106000"/>
                        </a:lnSpc>
                      </a:pPr>
                      <a:r>
                        <a:rPr sz="1400" b="0" i="0">
                          <a:solidFill>
                            <a:srgbClr val="242C38"/>
                          </a:solidFill>
                          <a:latin typeface="Segoe UI"/>
                        </a:rPr>
                        <a:t>a whole pandas Series per batch</a:t>
                      </a:r>
                    </a:p>
                  </a:txBody>
                  <a:tcPr marT="36576" marB="36576" anchor="ctr">
                    <a:solidFill>
                      <a:srgbClr val="EEF3F8"/>
                    </a:solidFill>
                  </a:tcPr>
                </a:tc>
                <a:tc>
                  <a:txBody>
                    <a:bodyPr/>
                    <a:lstStyle/>
                    <a:p>
                      <a:pPr>
                        <a:lnSpc>
                          <a:spcPct val="106000"/>
                        </a:lnSpc>
                      </a:pPr>
                      <a:r>
                        <a:rPr sz="1400" b="0" i="0">
                          <a:solidFill>
                            <a:srgbClr val="242C38"/>
                          </a:solidFill>
                          <a:latin typeface="Segoe UI"/>
                        </a:rPr>
                        <a:t>JVM and Python, via Arrow</a:t>
                      </a:r>
                    </a:p>
                  </a:txBody>
                  <a:tcPr marT="36576" marB="36576" anchor="ctr">
                    <a:solidFill>
                      <a:srgbClr val="EEF3F8"/>
                    </a:solidFill>
                  </a:tcPr>
                </a:tc>
                <a:extLst>
                  <a:ext uri="{0D108BD9-81ED-4DB2-BD59-A6C34878D82A}">
                    <a16:rowId xmlns:a16="http://schemas.microsoft.com/office/drawing/2014/main" val="10003"/>
                  </a:ext>
                </a:extLst>
              </a:tr>
              <a:tr h="475488">
                <a:tc>
                  <a:txBody>
                    <a:bodyPr/>
                    <a:lstStyle/>
                    <a:p>
                      <a:pPr>
                        <a:lnSpc>
                          <a:spcPct val="106000"/>
                        </a:lnSpc>
                      </a:pPr>
                      <a:r>
                        <a:rPr sz="1400" b="1" i="0">
                          <a:solidFill>
                            <a:srgbClr val="242C38"/>
                          </a:solidFill>
                          <a:latin typeface="Segoe UI"/>
                        </a:rPr>
                        <a:t>4 python UDF</a:t>
                      </a:r>
                    </a:p>
                  </a:txBody>
                  <a:tcPr marT="36576" marB="36576" anchor="ctr">
                    <a:solidFill>
                      <a:srgbClr val="FFFFFF"/>
                    </a:solidFill>
                  </a:tcPr>
                </a:tc>
                <a:tc>
                  <a:txBody>
                    <a:bodyPr/>
                    <a:lstStyle/>
                    <a:p>
                      <a:pPr>
                        <a:lnSpc>
                          <a:spcPct val="106000"/>
                        </a:lnSpc>
                      </a:pPr>
                      <a:r>
                        <a:rPr sz="1400" b="0" i="0">
                          <a:solidFill>
                            <a:srgbClr val="242C38"/>
                          </a:solidFill>
                          <a:latin typeface="Segoe UI"/>
                        </a:rPr>
                        <a:t>one row serialised at a time</a:t>
                      </a:r>
                    </a:p>
                  </a:txBody>
                  <a:tcPr marT="36576" marB="36576" anchor="ctr">
                    <a:solidFill>
                      <a:srgbClr val="FFFFFF"/>
                    </a:solidFill>
                  </a:tcPr>
                </a:tc>
                <a:tc>
                  <a:txBody>
                    <a:bodyPr/>
                    <a:lstStyle/>
                    <a:p>
                      <a:pPr>
                        <a:lnSpc>
                          <a:spcPct val="106000"/>
                        </a:lnSpc>
                      </a:pPr>
                      <a:r>
                        <a:rPr sz="1400" b="0" i="0">
                          <a:solidFill>
                            <a:srgbClr val="242C38"/>
                          </a:solidFill>
                          <a:latin typeface="Segoe UI"/>
                        </a:rPr>
                        <a:t>JVM and Python, every row</a:t>
                      </a:r>
                    </a:p>
                  </a:txBody>
                  <a:tcPr marT="36576" marB="36576" anchor="ctr">
                    <a:solidFill>
                      <a:srgbClr val="FFFFFF"/>
                    </a:solidFill>
                  </a:tcPr>
                </a:tc>
                <a:extLst>
                  <a:ext uri="{0D108BD9-81ED-4DB2-BD59-A6C34878D82A}">
                    <a16:rowId xmlns:a16="http://schemas.microsoft.com/office/drawing/2014/main" val="10004"/>
                  </a:ext>
                </a:extLst>
              </a:tr>
            </a:tbl>
          </a:graphicData>
        </a:graphic>
      </p:graphicFrame>
      <p:sp>
        <p:nvSpPr>
          <p:cNvPr id="5" name="TextBox 4"/>
          <p:cNvSpPr txBox="1"/>
          <p:nvPr/>
        </p:nvSpPr>
        <p:spPr>
          <a:xfrm>
            <a:off x="658368" y="5724144"/>
            <a:ext cx="10874959" cy="502920"/>
          </a:xfrm>
          <a:prstGeom prst="rect">
            <a:avLst/>
          </a:prstGeom>
          <a:noFill/>
        </p:spPr>
        <p:txBody>
          <a:bodyPr wrap="square" lIns="0" tIns="0" rIns="0" bIns="0">
            <a:spAutoFit/>
          </a:bodyPr>
          <a:lstStyle/>
          <a:p>
            <a:r>
              <a:rPr sz="1300" b="0" i="1">
                <a:solidFill>
                  <a:srgbClr val="5B6775"/>
                </a:solidFill>
                <a:latin typeface="Segoe UI"/>
              </a:rPr>
              <a:t>Always try built-in first. Reach for a plain Python UDF only as a last resort.</a:t>
            </a:r>
          </a:p>
        </p:txBody>
      </p:sp>
      <p:sp>
        <p:nvSpPr>
          <p:cNvPr id="6" name="Rectangle 5"/>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06  ·  RDDs and UDFs</a:t>
            </a:r>
          </a:p>
        </p:txBody>
      </p:sp>
      <p:sp>
        <p:nvSpPr>
          <p:cNvPr id="8" name="TextBox 7"/>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60</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Preference 1: a built-in function, try this first</a:t>
            </a:r>
          </a:p>
        </p:txBody>
      </p:sp>
      <p:sp>
        <p:nvSpPr>
          <p:cNvPr id="4" name="Rectangle 3"/>
          <p:cNvSpPr/>
          <p:nvPr/>
        </p:nvSpPr>
        <p:spPr>
          <a:xfrm>
            <a:off x="658368" y="1481328"/>
            <a:ext cx="10874959" cy="1868424"/>
          </a:xfrm>
          <a:prstGeom prst="rect">
            <a:avLst/>
          </a:prstGeom>
          <a:solidFill>
            <a:srgbClr val="F5F7F9"/>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81328"/>
            <a:ext cx="43180" cy="1868424"/>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77824" y="1645920"/>
            <a:ext cx="10509199" cy="1594104"/>
          </a:xfrm>
          <a:prstGeom prst="rect">
            <a:avLst/>
          </a:prstGeom>
          <a:noFill/>
        </p:spPr>
        <p:txBody>
          <a:bodyPr wrap="square" lIns="0" tIns="0" rIns="0" bIns="0">
            <a:spAutoFit/>
          </a:bodyPr>
          <a:lstStyle/>
          <a:p>
            <a:pPr>
              <a:lnSpc>
                <a:spcPct val="116000"/>
              </a:lnSpc>
              <a:spcAft>
                <a:spcPts val="0"/>
              </a:spcAft>
            </a:pPr>
            <a:r>
              <a:rPr sz="1500" b="0" i="0">
                <a:solidFill>
                  <a:srgbClr val="242C38"/>
                </a:solidFill>
                <a:latin typeface="Consolas"/>
              </a:rPr>
              <a:t>txns.withColumn(</a:t>
            </a:r>
            <a:r>
              <a:rPr sz="1500" b="0" i="0">
                <a:solidFill>
                  <a:srgbClr val="A31515"/>
                </a:solidFill>
                <a:latin typeface="Consolas"/>
              </a:rPr>
              <a:t>"risk"</a:t>
            </a:r>
            <a:r>
              <a:rPr sz="1500" b="0" i="0">
                <a:solidFill>
                  <a:srgbClr val="242C38"/>
                </a:solidFill>
                <a:latin typeface="Consolas"/>
              </a:rPr>
              <a:t>, F.when(</a:t>
            </a:r>
          </a:p>
          <a:p>
            <a:pPr>
              <a:lnSpc>
                <a:spcPct val="116000"/>
              </a:lnSpc>
              <a:spcAft>
                <a:spcPts val="0"/>
              </a:spcAft>
            </a:pPr>
            <a:r>
              <a:rPr sz="1500" b="0" i="0">
                <a:solidFill>
                  <a:srgbClr val="242C38"/>
                </a:solidFill>
                <a:latin typeface="Consolas"/>
              </a:rPr>
              <a:t>    (F.col(</a:t>
            </a:r>
            <a:r>
              <a:rPr sz="1500" b="0" i="0">
                <a:solidFill>
                  <a:srgbClr val="A31515"/>
                </a:solidFill>
                <a:latin typeface="Consolas"/>
              </a:rPr>
              <a:t>"amount"</a:t>
            </a:r>
            <a:r>
              <a:rPr sz="1500" b="0" i="0">
                <a:solidFill>
                  <a:srgbClr val="242C38"/>
                </a:solidFill>
                <a:latin typeface="Consolas"/>
              </a:rPr>
              <a:t>) &gt; </a:t>
            </a:r>
            <a:r>
              <a:rPr sz="1500" b="0" i="0">
                <a:solidFill>
                  <a:srgbClr val="098658"/>
                </a:solidFill>
                <a:latin typeface="Consolas"/>
              </a:rPr>
              <a:t>50000</a:t>
            </a:r>
            <a:r>
              <a:rPr sz="1500" b="0" i="0">
                <a:solidFill>
                  <a:srgbClr val="242C38"/>
                </a:solidFill>
                <a:latin typeface="Consolas"/>
              </a:rPr>
              <a:t>) &amp;</a:t>
            </a:r>
          </a:p>
          <a:p>
            <a:pPr>
              <a:lnSpc>
                <a:spcPct val="116000"/>
              </a:lnSpc>
              <a:spcAft>
                <a:spcPts val="0"/>
              </a:spcAft>
            </a:pPr>
            <a:r>
              <a:rPr sz="1500" b="0" i="0">
                <a:solidFill>
                  <a:srgbClr val="242C38"/>
                </a:solidFill>
                <a:latin typeface="Consolas"/>
              </a:rPr>
              <a:t>    F.col(</a:t>
            </a:r>
            <a:r>
              <a:rPr sz="1500" b="0" i="0">
                <a:solidFill>
                  <a:srgbClr val="A31515"/>
                </a:solidFill>
                <a:latin typeface="Consolas"/>
              </a:rPr>
              <a:t>"channel"</a:t>
            </a:r>
            <a:r>
              <a:rPr sz="1500" b="0" i="0">
                <a:solidFill>
                  <a:srgbClr val="242C38"/>
                </a:solidFill>
                <a:latin typeface="Consolas"/>
              </a:rPr>
              <a:t>).isin(HIGH_RISK_CHANNELS),</a:t>
            </a:r>
          </a:p>
          <a:p>
            <a:pPr>
              <a:lnSpc>
                <a:spcPct val="116000"/>
              </a:lnSpc>
              <a:spcAft>
                <a:spcPts val="0"/>
              </a:spcAft>
            </a:pPr>
            <a:r>
              <a:rPr sz="1500" b="0" i="0">
                <a:solidFill>
                  <a:srgbClr val="242C38"/>
                </a:solidFill>
                <a:latin typeface="Consolas"/>
              </a:rPr>
              <a:t>    </a:t>
            </a:r>
            <a:r>
              <a:rPr sz="1500" b="0" i="0">
                <a:solidFill>
                  <a:srgbClr val="A31515"/>
                </a:solidFill>
                <a:latin typeface="Consolas"/>
              </a:rPr>
              <a:t>"HIGH"</a:t>
            </a:r>
          </a:p>
          <a:p>
            <a:pPr>
              <a:lnSpc>
                <a:spcPct val="116000"/>
              </a:lnSpc>
              <a:spcAft>
                <a:spcPts val="0"/>
              </a:spcAft>
            </a:pPr>
            <a:r>
              <a:rPr sz="1500" b="0" i="0">
                <a:solidFill>
                  <a:srgbClr val="242C38"/>
                </a:solidFill>
                <a:latin typeface="Consolas"/>
              </a:rPr>
              <a:t>).otherwise(</a:t>
            </a:r>
            <a:r>
              <a:rPr sz="1500" b="0" i="0">
                <a:solidFill>
                  <a:srgbClr val="A31515"/>
                </a:solidFill>
                <a:latin typeface="Consolas"/>
              </a:rPr>
              <a:t>"LOW"</a:t>
            </a:r>
            <a:r>
              <a:rPr sz="1500" b="0" i="0">
                <a:solidFill>
                  <a:srgbClr val="242C38"/>
                </a:solidFill>
                <a:latin typeface="Consolas"/>
              </a:rPr>
              <a:t>))</a:t>
            </a:r>
          </a:p>
        </p:txBody>
      </p:sp>
      <p:sp>
        <p:nvSpPr>
          <p:cNvPr id="7" name="TextBox 6"/>
          <p:cNvSpPr txBox="1"/>
          <p:nvPr/>
        </p:nvSpPr>
        <p:spPr>
          <a:xfrm>
            <a:off x="658368" y="3496056"/>
            <a:ext cx="10874959" cy="457200"/>
          </a:xfrm>
          <a:prstGeom prst="rect">
            <a:avLst/>
          </a:prstGeom>
          <a:noFill/>
        </p:spPr>
        <p:txBody>
          <a:bodyPr wrap="square" lIns="0" tIns="0" rIns="0" bIns="0">
            <a:spAutoFit/>
          </a:bodyPr>
          <a:lstStyle/>
          <a:p>
            <a:r>
              <a:rPr sz="1400" b="0" i="0">
                <a:solidFill>
                  <a:srgbClr val="5B6775"/>
                </a:solidFill>
                <a:latin typeface="Segoe UI"/>
              </a:rPr>
              <a:t>No serialising, no leaving the JVM, no per-row cost. If a built-in can say it, use it.</a:t>
            </a:r>
          </a:p>
        </p:txBody>
      </p:sp>
      <p:sp>
        <p:nvSpPr>
          <p:cNvPr id="8" name="Rectangle 7"/>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06  ·  RDDs and UDFs</a:t>
            </a:r>
          </a:p>
        </p:txBody>
      </p:sp>
      <p:sp>
        <p:nvSpPr>
          <p:cNvPr id="10" name="TextBox 9"/>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61</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A plain Python UDF: correct, and the slowest</a:t>
            </a:r>
          </a:p>
        </p:txBody>
      </p:sp>
      <p:sp>
        <p:nvSpPr>
          <p:cNvPr id="4" name="Rectangle 3"/>
          <p:cNvSpPr/>
          <p:nvPr/>
        </p:nvSpPr>
        <p:spPr>
          <a:xfrm>
            <a:off x="658368" y="1481328"/>
            <a:ext cx="10874959" cy="2447544"/>
          </a:xfrm>
          <a:prstGeom prst="rect">
            <a:avLst/>
          </a:prstGeom>
          <a:solidFill>
            <a:srgbClr val="F5F7F9"/>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81328"/>
            <a:ext cx="43180" cy="2447544"/>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77824" y="1645920"/>
            <a:ext cx="10509199" cy="2173224"/>
          </a:xfrm>
          <a:prstGeom prst="rect">
            <a:avLst/>
          </a:prstGeom>
          <a:noFill/>
        </p:spPr>
        <p:txBody>
          <a:bodyPr wrap="square" lIns="0" tIns="0" rIns="0" bIns="0">
            <a:spAutoFit/>
          </a:bodyPr>
          <a:lstStyle/>
          <a:p>
            <a:pPr>
              <a:lnSpc>
                <a:spcPct val="116000"/>
              </a:lnSpc>
              <a:spcAft>
                <a:spcPts val="0"/>
              </a:spcAft>
            </a:pPr>
            <a:r>
              <a:rPr sz="1500" b="0" i="0">
                <a:solidFill>
                  <a:srgbClr val="0F5BA7"/>
                </a:solidFill>
                <a:latin typeface="Consolas"/>
              </a:rPr>
              <a:t>def</a:t>
            </a:r>
            <a:r>
              <a:rPr sz="1500" b="0" i="0">
                <a:solidFill>
                  <a:srgbClr val="242C38"/>
                </a:solidFill>
                <a:latin typeface="Consolas"/>
              </a:rPr>
              <a:t> risk_score_row(amount, channel):</a:t>
            </a:r>
          </a:p>
          <a:p>
            <a:pPr>
              <a:lnSpc>
                <a:spcPct val="116000"/>
              </a:lnSpc>
              <a:spcAft>
                <a:spcPts val="0"/>
              </a:spcAft>
            </a:pPr>
            <a:r>
              <a:rPr sz="1500" b="0" i="0">
                <a:solidFill>
                  <a:srgbClr val="242C38"/>
                </a:solidFill>
                <a:latin typeface="Consolas"/>
              </a:rPr>
              <a:t>    </a:t>
            </a:r>
            <a:r>
              <a:rPr sz="1500" b="0" i="0">
                <a:solidFill>
                  <a:srgbClr val="0F5BA7"/>
                </a:solidFill>
                <a:latin typeface="Consolas"/>
              </a:rPr>
              <a:t>if</a:t>
            </a:r>
            <a:r>
              <a:rPr sz="1500" b="0" i="0">
                <a:solidFill>
                  <a:srgbClr val="242C38"/>
                </a:solidFill>
                <a:latin typeface="Consolas"/>
              </a:rPr>
              <a:t> amount </a:t>
            </a:r>
            <a:r>
              <a:rPr sz="1500" b="0" i="0">
                <a:solidFill>
                  <a:srgbClr val="0F5BA7"/>
                </a:solidFill>
                <a:latin typeface="Consolas"/>
              </a:rPr>
              <a:t>is</a:t>
            </a:r>
            <a:r>
              <a:rPr sz="1500" b="0" i="0">
                <a:solidFill>
                  <a:srgbClr val="242C38"/>
                </a:solidFill>
                <a:latin typeface="Consolas"/>
              </a:rPr>
              <a:t> </a:t>
            </a:r>
            <a:r>
              <a:rPr sz="1500" b="0" i="0">
                <a:solidFill>
                  <a:srgbClr val="0F5BA7"/>
                </a:solidFill>
                <a:latin typeface="Consolas"/>
              </a:rPr>
              <a:t>None</a:t>
            </a:r>
            <a:r>
              <a:rPr sz="1500" b="0" i="0">
                <a:solidFill>
                  <a:srgbClr val="242C38"/>
                </a:solidFill>
                <a:latin typeface="Consolas"/>
              </a:rPr>
              <a:t>:</a:t>
            </a:r>
          </a:p>
          <a:p>
            <a:pPr>
              <a:lnSpc>
                <a:spcPct val="116000"/>
              </a:lnSpc>
              <a:spcAft>
                <a:spcPts val="0"/>
              </a:spcAft>
            </a:pPr>
            <a:r>
              <a:rPr sz="1500" b="0" i="0">
                <a:solidFill>
                  <a:srgbClr val="242C38"/>
                </a:solidFill>
                <a:latin typeface="Consolas"/>
              </a:rPr>
              <a:t>        </a:t>
            </a:r>
            <a:r>
              <a:rPr sz="1500" b="0" i="0">
                <a:solidFill>
                  <a:srgbClr val="0F5BA7"/>
                </a:solidFill>
                <a:latin typeface="Consolas"/>
              </a:rPr>
              <a:t>return</a:t>
            </a:r>
            <a:r>
              <a:rPr sz="1500" b="0" i="0">
                <a:solidFill>
                  <a:srgbClr val="242C38"/>
                </a:solidFill>
                <a:latin typeface="Consolas"/>
              </a:rPr>
              <a:t> </a:t>
            </a:r>
            <a:r>
              <a:rPr sz="1500" b="0" i="0">
                <a:solidFill>
                  <a:srgbClr val="A31515"/>
                </a:solidFill>
                <a:latin typeface="Consolas"/>
              </a:rPr>
              <a:t>"UNKNOWN"</a:t>
            </a:r>
          </a:p>
          <a:p>
            <a:pPr>
              <a:lnSpc>
                <a:spcPct val="116000"/>
              </a:lnSpc>
              <a:spcAft>
                <a:spcPts val="0"/>
              </a:spcAft>
            </a:pPr>
            <a:r>
              <a:rPr sz="1500" b="0" i="0">
                <a:solidFill>
                  <a:srgbClr val="242C38"/>
                </a:solidFill>
                <a:latin typeface="Consolas"/>
              </a:rPr>
              <a:t>    </a:t>
            </a:r>
            <a:r>
              <a:rPr sz="1500" b="0" i="0">
                <a:solidFill>
                  <a:srgbClr val="0F5BA7"/>
                </a:solidFill>
                <a:latin typeface="Consolas"/>
              </a:rPr>
              <a:t>return</a:t>
            </a:r>
            <a:r>
              <a:rPr sz="1500" b="0" i="0">
                <a:solidFill>
                  <a:srgbClr val="242C38"/>
                </a:solidFill>
                <a:latin typeface="Consolas"/>
              </a:rPr>
              <a:t> </a:t>
            </a:r>
            <a:r>
              <a:rPr sz="1500" b="0" i="0">
                <a:solidFill>
                  <a:srgbClr val="A31515"/>
                </a:solidFill>
                <a:latin typeface="Consolas"/>
              </a:rPr>
              <a:t>"HIGH"</a:t>
            </a:r>
            <a:r>
              <a:rPr sz="1500" b="0" i="0">
                <a:solidFill>
                  <a:srgbClr val="242C38"/>
                </a:solidFill>
                <a:latin typeface="Consolas"/>
              </a:rPr>
              <a:t> </a:t>
            </a:r>
            <a:r>
              <a:rPr sz="1500" b="0" i="0">
                <a:solidFill>
                  <a:srgbClr val="0F5BA7"/>
                </a:solidFill>
                <a:latin typeface="Consolas"/>
              </a:rPr>
              <a:t>if</a:t>
            </a:r>
            <a:r>
              <a:rPr sz="1500" b="0" i="0">
                <a:solidFill>
                  <a:srgbClr val="242C38"/>
                </a:solidFill>
                <a:latin typeface="Consolas"/>
              </a:rPr>
              <a:t> amount &gt; </a:t>
            </a:r>
            <a:r>
              <a:rPr sz="1500" b="0" i="0">
                <a:solidFill>
                  <a:srgbClr val="098658"/>
                </a:solidFill>
                <a:latin typeface="Consolas"/>
              </a:rPr>
              <a:t>50000</a:t>
            </a:r>
            <a:r>
              <a:rPr sz="1500" b="0" i="0">
                <a:solidFill>
                  <a:srgbClr val="242C38"/>
                </a:solidFill>
                <a:latin typeface="Consolas"/>
              </a:rPr>
              <a:t> \</a:t>
            </a:r>
          </a:p>
          <a:p>
            <a:pPr>
              <a:lnSpc>
                <a:spcPct val="116000"/>
              </a:lnSpc>
              <a:spcAft>
                <a:spcPts val="0"/>
              </a:spcAft>
            </a:pPr>
            <a:r>
              <a:rPr sz="1500" b="0" i="0">
                <a:solidFill>
                  <a:srgbClr val="242C38"/>
                </a:solidFill>
                <a:latin typeface="Consolas"/>
              </a:rPr>
              <a:t>        </a:t>
            </a:r>
            <a:r>
              <a:rPr sz="1500" b="0" i="0">
                <a:solidFill>
                  <a:srgbClr val="0F5BA7"/>
                </a:solidFill>
                <a:latin typeface="Consolas"/>
              </a:rPr>
              <a:t>and</a:t>
            </a:r>
            <a:r>
              <a:rPr sz="1500" b="0" i="0">
                <a:solidFill>
                  <a:srgbClr val="242C38"/>
                </a:solidFill>
                <a:latin typeface="Consolas"/>
              </a:rPr>
              <a:t> channel </a:t>
            </a:r>
            <a:r>
              <a:rPr sz="1500" b="0" i="0">
                <a:solidFill>
                  <a:srgbClr val="0F5BA7"/>
                </a:solidFill>
                <a:latin typeface="Consolas"/>
              </a:rPr>
              <a:t>in</a:t>
            </a:r>
            <a:r>
              <a:rPr sz="1500" b="0" i="0">
                <a:solidFill>
                  <a:srgbClr val="242C38"/>
                </a:solidFill>
                <a:latin typeface="Consolas"/>
              </a:rPr>
              <a:t> HIGH_RISK_CHANNELS </a:t>
            </a:r>
            <a:r>
              <a:rPr sz="1500" b="0" i="0">
                <a:solidFill>
                  <a:srgbClr val="0F5BA7"/>
                </a:solidFill>
                <a:latin typeface="Consolas"/>
              </a:rPr>
              <a:t>else</a:t>
            </a:r>
            <a:r>
              <a:rPr sz="1500" b="0" i="0">
                <a:solidFill>
                  <a:srgbClr val="242C38"/>
                </a:solidFill>
                <a:latin typeface="Consolas"/>
              </a:rPr>
              <a:t> </a:t>
            </a:r>
            <a:r>
              <a:rPr sz="1500" b="0" i="0">
                <a:solidFill>
                  <a:srgbClr val="A31515"/>
                </a:solidFill>
                <a:latin typeface="Consolas"/>
              </a:rPr>
              <a:t>"LOW"</a:t>
            </a:r>
          </a:p>
          <a:p>
            <a:pPr>
              <a:lnSpc>
                <a:spcPct val="116000"/>
              </a:lnSpc>
              <a:spcAft>
                <a:spcPts val="0"/>
              </a:spcAft>
            </a:pPr>
            <a:r>
              <a:rPr sz="1500" b="0" i="0">
                <a:solidFill>
                  <a:srgbClr val="242C38"/>
                </a:solidFill>
                <a:latin typeface="Consolas"/>
              </a:rPr>
              <a:t> </a:t>
            </a:r>
          </a:p>
          <a:p>
            <a:pPr>
              <a:lnSpc>
                <a:spcPct val="116000"/>
              </a:lnSpc>
              <a:spcAft>
                <a:spcPts val="0"/>
              </a:spcAft>
            </a:pPr>
            <a:r>
              <a:rPr sz="1500" b="0" i="0">
                <a:solidFill>
                  <a:srgbClr val="242C38"/>
                </a:solidFill>
                <a:latin typeface="Consolas"/>
              </a:rPr>
              <a:t>risk_score_udf = F.udf(risk_score_row, StringType())</a:t>
            </a:r>
          </a:p>
        </p:txBody>
      </p:sp>
      <p:sp>
        <p:nvSpPr>
          <p:cNvPr id="7" name="TextBox 6"/>
          <p:cNvSpPr txBox="1"/>
          <p:nvPr/>
        </p:nvSpPr>
        <p:spPr>
          <a:xfrm>
            <a:off x="658368" y="4075176"/>
            <a:ext cx="10874959" cy="457200"/>
          </a:xfrm>
          <a:prstGeom prst="rect">
            <a:avLst/>
          </a:prstGeom>
          <a:noFill/>
        </p:spPr>
        <p:txBody>
          <a:bodyPr wrap="square" lIns="0" tIns="0" rIns="0" bIns="0">
            <a:spAutoFit/>
          </a:bodyPr>
          <a:lstStyle/>
          <a:p>
            <a:r>
              <a:rPr sz="1400" b="0" i="0">
                <a:solidFill>
                  <a:srgbClr val="5B6775"/>
                </a:solidFill>
                <a:latin typeface="Segoe UI"/>
              </a:rPr>
              <a:t>An exception inside a UDF kills the whole task. Handle the edge case inside it.</a:t>
            </a:r>
          </a:p>
        </p:txBody>
      </p:sp>
      <p:sp>
        <p:nvSpPr>
          <p:cNvPr id="8" name="Rectangle 7"/>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06  ·  RDDs and UDFs</a:t>
            </a:r>
          </a:p>
        </p:txBody>
      </p:sp>
      <p:sp>
        <p:nvSpPr>
          <p:cNvPr id="10" name="TextBox 9"/>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62</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Timed on 180,720 rows, two cores</a:t>
            </a:r>
          </a:p>
        </p:txBody>
      </p:sp>
      <p:graphicFrame>
        <p:nvGraphicFramePr>
          <p:cNvPr id="4" name="Table 3"/>
          <p:cNvGraphicFramePr>
            <a:graphicFrameLocks noGrp="1"/>
          </p:cNvGraphicFramePr>
          <p:nvPr/>
        </p:nvGraphicFramePr>
        <p:xfrm>
          <a:off x="658368" y="1481328"/>
          <a:ext cx="10874958" cy="2304288"/>
        </p:xfrm>
        <a:graphic>
          <a:graphicData uri="http://schemas.openxmlformats.org/drawingml/2006/table">
            <a:tbl>
              <a:tblPr firstRow="1" bandRow="1">
                <a:tableStyleId>{5C22544A-7EE6-4342-B048-85BDC9FD1C3A}</a:tableStyleId>
              </a:tblPr>
              <a:tblGrid>
                <a:gridCol w="6692282">
                  <a:extLst>
                    <a:ext uri="{9D8B030D-6E8A-4147-A177-3AD203B41FA5}">
                      <a16:colId xmlns:a16="http://schemas.microsoft.com/office/drawing/2014/main" val="20000"/>
                    </a:ext>
                  </a:extLst>
                </a:gridCol>
                <a:gridCol w="4182676">
                  <a:extLst>
                    <a:ext uri="{9D8B030D-6E8A-4147-A177-3AD203B41FA5}">
                      <a16:colId xmlns:a16="http://schemas.microsoft.com/office/drawing/2014/main" val="20001"/>
                    </a:ext>
                  </a:extLst>
                </a:gridCol>
              </a:tblGrid>
              <a:tr h="402336">
                <a:tc>
                  <a:txBody>
                    <a:bodyPr/>
                    <a:lstStyle/>
                    <a:p>
                      <a:r>
                        <a:rPr sz="1450" b="1" i="0">
                          <a:solidFill>
                            <a:srgbClr val="FFFFFF"/>
                          </a:solidFill>
                          <a:latin typeface="Segoe UI Semibold"/>
                        </a:rPr>
                        <a:t>Preference</a:t>
                      </a:r>
                    </a:p>
                  </a:txBody>
                  <a:tcPr anchor="ctr">
                    <a:solidFill>
                      <a:srgbClr val="1F4E79"/>
                    </a:solidFill>
                  </a:tcPr>
                </a:tc>
                <a:tc>
                  <a:txBody>
                    <a:bodyPr/>
                    <a:lstStyle/>
                    <a:p>
                      <a:r>
                        <a:rPr sz="1450" b="1" i="0">
                          <a:solidFill>
                            <a:srgbClr val="FFFFFF"/>
                          </a:solidFill>
                          <a:latin typeface="Segoe UI Semibold"/>
                        </a:rPr>
                        <a:t>Seconds</a:t>
                      </a:r>
                    </a:p>
                  </a:txBody>
                  <a:tcPr anchor="ctr">
                    <a:solidFill>
                      <a:srgbClr val="1F4E79"/>
                    </a:solidFill>
                  </a:tcPr>
                </a:tc>
                <a:extLst>
                  <a:ext uri="{0D108BD9-81ED-4DB2-BD59-A6C34878D82A}">
                    <a16:rowId xmlns:a16="http://schemas.microsoft.com/office/drawing/2014/main" val="10000"/>
                  </a:ext>
                </a:extLst>
              </a:tr>
              <a:tr h="475488">
                <a:tc>
                  <a:txBody>
                    <a:bodyPr/>
                    <a:lstStyle/>
                    <a:p>
                      <a:pPr>
                        <a:lnSpc>
                          <a:spcPct val="106000"/>
                        </a:lnSpc>
                      </a:pPr>
                      <a:r>
                        <a:rPr sz="1400" b="1" i="0">
                          <a:solidFill>
                            <a:srgbClr val="242C38"/>
                          </a:solidFill>
                          <a:latin typeface="Segoe UI"/>
                        </a:rPr>
                        <a:t>1 built-in</a:t>
                      </a:r>
                    </a:p>
                  </a:txBody>
                  <a:tcPr marT="36576" marB="36576" anchor="ctr">
                    <a:solidFill>
                      <a:srgbClr val="EEF3F8"/>
                    </a:solidFill>
                  </a:tcPr>
                </a:tc>
                <a:tc>
                  <a:txBody>
                    <a:bodyPr/>
                    <a:lstStyle/>
                    <a:p>
                      <a:pPr>
                        <a:lnSpc>
                          <a:spcPct val="106000"/>
                        </a:lnSpc>
                      </a:pPr>
                      <a:r>
                        <a:rPr sz="1400" b="0" i="0">
                          <a:solidFill>
                            <a:srgbClr val="242C38"/>
                          </a:solidFill>
                          <a:latin typeface="Segoe UI"/>
                        </a:rPr>
                        <a:t>0.20</a:t>
                      </a:r>
                    </a:p>
                  </a:txBody>
                  <a:tcPr marT="36576" marB="36576" anchor="ctr">
                    <a:solidFill>
                      <a:srgbClr val="EEF3F8"/>
                    </a:solidFill>
                  </a:tcPr>
                </a:tc>
                <a:extLst>
                  <a:ext uri="{0D108BD9-81ED-4DB2-BD59-A6C34878D82A}">
                    <a16:rowId xmlns:a16="http://schemas.microsoft.com/office/drawing/2014/main" val="10001"/>
                  </a:ext>
                </a:extLst>
              </a:tr>
              <a:tr h="475488">
                <a:tc>
                  <a:txBody>
                    <a:bodyPr/>
                    <a:lstStyle/>
                    <a:p>
                      <a:pPr>
                        <a:lnSpc>
                          <a:spcPct val="106000"/>
                        </a:lnSpc>
                      </a:pPr>
                      <a:r>
                        <a:rPr sz="1400" b="1" i="0">
                          <a:solidFill>
                            <a:srgbClr val="242C38"/>
                          </a:solidFill>
                          <a:latin typeface="Segoe UI"/>
                        </a:rPr>
                        <a:t>2 expr()</a:t>
                      </a:r>
                    </a:p>
                  </a:txBody>
                  <a:tcPr marT="36576" marB="36576" anchor="ctr">
                    <a:solidFill>
                      <a:srgbClr val="FFFFFF"/>
                    </a:solidFill>
                  </a:tcPr>
                </a:tc>
                <a:tc>
                  <a:txBody>
                    <a:bodyPr/>
                    <a:lstStyle/>
                    <a:p>
                      <a:pPr>
                        <a:lnSpc>
                          <a:spcPct val="106000"/>
                        </a:lnSpc>
                      </a:pPr>
                      <a:r>
                        <a:rPr sz="1400" b="0" i="0">
                          <a:solidFill>
                            <a:srgbClr val="242C38"/>
                          </a:solidFill>
                          <a:latin typeface="Segoe UI"/>
                        </a:rPr>
                        <a:t>0.28</a:t>
                      </a:r>
                    </a:p>
                  </a:txBody>
                  <a:tcPr marT="36576" marB="36576" anchor="ctr">
                    <a:solidFill>
                      <a:srgbClr val="FFFFFF"/>
                    </a:solidFill>
                  </a:tcPr>
                </a:tc>
                <a:extLst>
                  <a:ext uri="{0D108BD9-81ED-4DB2-BD59-A6C34878D82A}">
                    <a16:rowId xmlns:a16="http://schemas.microsoft.com/office/drawing/2014/main" val="10002"/>
                  </a:ext>
                </a:extLst>
              </a:tr>
              <a:tr h="475488">
                <a:tc>
                  <a:txBody>
                    <a:bodyPr/>
                    <a:lstStyle/>
                    <a:p>
                      <a:pPr>
                        <a:lnSpc>
                          <a:spcPct val="106000"/>
                        </a:lnSpc>
                      </a:pPr>
                      <a:r>
                        <a:rPr sz="1400" b="1" i="0">
                          <a:solidFill>
                            <a:srgbClr val="242C38"/>
                          </a:solidFill>
                          <a:latin typeface="Segoe UI"/>
                        </a:rPr>
                        <a:t>3 pandas UDF</a:t>
                      </a:r>
                    </a:p>
                  </a:txBody>
                  <a:tcPr marT="36576" marB="36576" anchor="ctr">
                    <a:solidFill>
                      <a:srgbClr val="EEF3F8"/>
                    </a:solidFill>
                  </a:tcPr>
                </a:tc>
                <a:tc>
                  <a:txBody>
                    <a:bodyPr/>
                    <a:lstStyle/>
                    <a:p>
                      <a:pPr>
                        <a:lnSpc>
                          <a:spcPct val="106000"/>
                        </a:lnSpc>
                      </a:pPr>
                      <a:r>
                        <a:rPr sz="1400" b="0" i="0">
                          <a:solidFill>
                            <a:srgbClr val="242C38"/>
                          </a:solidFill>
                          <a:latin typeface="Segoe UI"/>
                        </a:rPr>
                        <a:t>0.20</a:t>
                      </a:r>
                    </a:p>
                  </a:txBody>
                  <a:tcPr marT="36576" marB="36576" anchor="ctr">
                    <a:solidFill>
                      <a:srgbClr val="EEF3F8"/>
                    </a:solidFill>
                  </a:tcPr>
                </a:tc>
                <a:extLst>
                  <a:ext uri="{0D108BD9-81ED-4DB2-BD59-A6C34878D82A}">
                    <a16:rowId xmlns:a16="http://schemas.microsoft.com/office/drawing/2014/main" val="10003"/>
                  </a:ext>
                </a:extLst>
              </a:tr>
              <a:tr h="475488">
                <a:tc>
                  <a:txBody>
                    <a:bodyPr/>
                    <a:lstStyle/>
                    <a:p>
                      <a:pPr>
                        <a:lnSpc>
                          <a:spcPct val="106000"/>
                        </a:lnSpc>
                      </a:pPr>
                      <a:r>
                        <a:rPr sz="1400" b="1" i="0">
                          <a:solidFill>
                            <a:srgbClr val="242C38"/>
                          </a:solidFill>
                          <a:latin typeface="Segoe UI"/>
                        </a:rPr>
                        <a:t>4 python UDF</a:t>
                      </a:r>
                    </a:p>
                  </a:txBody>
                  <a:tcPr marT="36576" marB="36576" anchor="ctr">
                    <a:solidFill>
                      <a:srgbClr val="FFFFFF"/>
                    </a:solidFill>
                  </a:tcPr>
                </a:tc>
                <a:tc>
                  <a:txBody>
                    <a:bodyPr/>
                    <a:lstStyle/>
                    <a:p>
                      <a:pPr>
                        <a:lnSpc>
                          <a:spcPct val="106000"/>
                        </a:lnSpc>
                      </a:pPr>
                      <a:r>
                        <a:rPr sz="1400" b="0" i="0">
                          <a:solidFill>
                            <a:srgbClr val="242C38"/>
                          </a:solidFill>
                          <a:latin typeface="Segoe UI"/>
                        </a:rPr>
                        <a:t>0.14</a:t>
                      </a:r>
                    </a:p>
                  </a:txBody>
                  <a:tcPr marT="36576" marB="36576" anchor="ctr">
                    <a:solidFill>
                      <a:srgbClr val="FFFFFF"/>
                    </a:solidFill>
                  </a:tcPr>
                </a:tc>
                <a:extLst>
                  <a:ext uri="{0D108BD9-81ED-4DB2-BD59-A6C34878D82A}">
                    <a16:rowId xmlns:a16="http://schemas.microsoft.com/office/drawing/2014/main" val="10004"/>
                  </a:ext>
                </a:extLst>
              </a:tr>
            </a:tbl>
          </a:graphicData>
        </a:graphic>
      </p:graphicFrame>
      <p:sp>
        <p:nvSpPr>
          <p:cNvPr id="5" name="TextBox 4"/>
          <p:cNvSpPr txBox="1"/>
          <p:nvPr/>
        </p:nvSpPr>
        <p:spPr>
          <a:xfrm>
            <a:off x="658368" y="5724144"/>
            <a:ext cx="10874959" cy="502920"/>
          </a:xfrm>
          <a:prstGeom prst="rect">
            <a:avLst/>
          </a:prstGeom>
          <a:noFill/>
        </p:spPr>
        <p:txBody>
          <a:bodyPr wrap="square" lIns="0" tIns="0" rIns="0" bIns="0">
            <a:spAutoFit/>
          </a:bodyPr>
          <a:lstStyle/>
          <a:p>
            <a:r>
              <a:rPr sz="1300" b="0" i="1">
                <a:solidFill>
                  <a:srgbClr val="5B6775"/>
                </a:solidFill>
                <a:latin typeface="Segoe UI"/>
              </a:rPr>
              <a:t>The gap that matters is not this laptop's number, it's how each option scales.</a:t>
            </a:r>
          </a:p>
        </p:txBody>
      </p:sp>
      <p:sp>
        <p:nvSpPr>
          <p:cNvPr id="6" name="Rectangle 5"/>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06  ·  RDDs and UDFs</a:t>
            </a:r>
          </a:p>
        </p:txBody>
      </p:sp>
      <p:sp>
        <p:nvSpPr>
          <p:cNvPr id="8" name="TextBox 7"/>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63</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Module 06 in one screen</a:t>
            </a:r>
          </a:p>
        </p:txBody>
      </p:sp>
      <p:sp>
        <p:nvSpPr>
          <p:cNvPr id="4" name="TextBox 3"/>
          <p:cNvSpPr txBox="1"/>
          <p:nvPr/>
        </p:nvSpPr>
        <p:spPr>
          <a:xfrm>
            <a:off x="658368" y="1481328"/>
            <a:ext cx="10874959" cy="4526280"/>
          </a:xfrm>
          <a:prstGeom prst="rect">
            <a:avLst/>
          </a:prstGeom>
          <a:noFill/>
        </p:spPr>
        <p:txBody>
          <a:bodyPr wrap="square" lIns="0" tIns="0" rIns="0" bIns="0">
            <a:spAutoFit/>
          </a:bodyPr>
          <a:lstStyle/>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Reach for an RDD only for formats a DataFrame reader can't parse</a:t>
            </a:r>
          </a:p>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reduceByKey combines locally before shuffling, groupByKey shuffles everything first</a:t>
            </a:r>
          </a:p>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The UDF ladder: built-in, expr(), pandas UDF, plain Python UDF last</a:t>
            </a:r>
          </a:p>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A pandas UDF needs Arrow, and Arrow is sensitive to the JDK build</a:t>
            </a:r>
          </a:p>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Time your own rule on your own data, the gap grows with size</a:t>
            </a:r>
          </a:p>
        </p:txBody>
      </p:sp>
      <p:sp>
        <p:nvSpPr>
          <p:cNvPr id="5" name="Rectangle 4"/>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06  ·  RDDs and UDFs</a:t>
            </a:r>
          </a:p>
        </p:txBody>
      </p:sp>
      <p:sp>
        <p:nvSpPr>
          <p:cNvPr id="7" name="TextBox 6"/>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64</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858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51560" y="2057400"/>
            <a:ext cx="9692640" cy="457200"/>
          </a:xfrm>
          <a:prstGeom prst="rect">
            <a:avLst/>
          </a:prstGeom>
          <a:noFill/>
        </p:spPr>
        <p:txBody>
          <a:bodyPr wrap="square" lIns="0" tIns="0" rIns="0" bIns="0">
            <a:spAutoFit/>
          </a:bodyPr>
          <a:lstStyle/>
          <a:p>
            <a:r>
              <a:rPr sz="1300" b="1" i="0">
                <a:solidFill>
                  <a:srgbClr val="2E74B5"/>
                </a:solidFill>
                <a:latin typeface="Segoe UI Semibold"/>
              </a:rPr>
              <a:t>MODULE 07</a:t>
            </a:r>
          </a:p>
        </p:txBody>
      </p:sp>
      <p:sp>
        <p:nvSpPr>
          <p:cNvPr id="5" name="TextBox 4"/>
          <p:cNvSpPr txBox="1"/>
          <p:nvPr/>
        </p:nvSpPr>
        <p:spPr>
          <a:xfrm>
            <a:off x="1051560" y="2578608"/>
            <a:ext cx="9692640" cy="1371600"/>
          </a:xfrm>
          <a:prstGeom prst="rect">
            <a:avLst/>
          </a:prstGeom>
          <a:noFill/>
        </p:spPr>
        <p:txBody>
          <a:bodyPr wrap="square" lIns="0" tIns="0" rIns="0" bIns="0">
            <a:spAutoFit/>
          </a:bodyPr>
          <a:lstStyle/>
          <a:p>
            <a:pPr>
              <a:lnSpc>
                <a:spcPct val="95000"/>
              </a:lnSpc>
            </a:pPr>
            <a:r>
              <a:rPr sz="4200" b="1" i="0">
                <a:solidFill>
                  <a:srgbClr val="1F4E79"/>
                </a:solidFill>
                <a:latin typeface="Segoe UI Semibold"/>
              </a:rPr>
              <a:t>Using pandas from PySpark</a:t>
            </a:r>
          </a:p>
        </p:txBody>
      </p:sp>
      <p:sp>
        <p:nvSpPr>
          <p:cNvPr id="6" name="TextBox 5"/>
          <p:cNvSpPr txBox="1"/>
          <p:nvPr/>
        </p:nvSpPr>
        <p:spPr>
          <a:xfrm>
            <a:off x="1051560" y="3950208"/>
            <a:ext cx="8778240" cy="822960"/>
          </a:xfrm>
          <a:prstGeom prst="rect">
            <a:avLst/>
          </a:prstGeom>
          <a:noFill/>
        </p:spPr>
        <p:txBody>
          <a:bodyPr wrap="square" lIns="0" tIns="0" rIns="0" bIns="0">
            <a:spAutoFit/>
          </a:bodyPr>
          <a:lstStyle/>
          <a:p>
            <a:pPr>
              <a:lnSpc>
                <a:spcPct val="115000"/>
              </a:lnSpc>
            </a:pPr>
            <a:r>
              <a:rPr sz="1700" b="0" i="0">
                <a:solidFill>
                  <a:srgbClr val="5B6775"/>
                </a:solidFill>
                <a:latin typeface="Segoe UI"/>
              </a:rPr>
              <a:t>Three ways to combine pandas and Spark, and knowing which job fits which</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58368" y="2148840"/>
            <a:ext cx="82296" cy="219456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42416" y="2084831"/>
            <a:ext cx="9777679" cy="1828800"/>
          </a:xfrm>
          <a:prstGeom prst="rect">
            <a:avLst/>
          </a:prstGeom>
          <a:noFill/>
        </p:spPr>
        <p:txBody>
          <a:bodyPr wrap="square" lIns="0" tIns="0" rIns="0" bIns="0">
            <a:spAutoFit/>
          </a:bodyPr>
          <a:lstStyle/>
          <a:p>
            <a:pPr>
              <a:lnSpc>
                <a:spcPct val="112000"/>
              </a:lnSpc>
            </a:pPr>
            <a:r>
              <a:rPr sz="3000" b="1" i="0">
                <a:solidFill>
                  <a:srgbClr val="1F4E79"/>
                </a:solidFill>
                <a:latin typeface="Segoe UI Semibold"/>
              </a:rPr>
              <a:t>toPandas() pulls everything to the driver. Know the row count first.</a:t>
            </a:r>
          </a:p>
        </p:txBody>
      </p:sp>
      <p:sp>
        <p:nvSpPr>
          <p:cNvPr id="5" name="TextBox 4"/>
          <p:cNvSpPr txBox="1"/>
          <p:nvPr/>
        </p:nvSpPr>
        <p:spPr>
          <a:xfrm>
            <a:off x="1042416" y="4041648"/>
            <a:ext cx="9411919" cy="1005840"/>
          </a:xfrm>
          <a:prstGeom prst="rect">
            <a:avLst/>
          </a:prstGeom>
          <a:noFill/>
        </p:spPr>
        <p:txBody>
          <a:bodyPr wrap="square" lIns="0" tIns="0" rIns="0" bIns="0">
            <a:spAutoFit/>
          </a:bodyPr>
          <a:lstStyle/>
          <a:p>
            <a:pPr>
              <a:lnSpc>
                <a:spcPct val="120000"/>
              </a:lnSpc>
            </a:pPr>
            <a:r>
              <a:rPr sz="1700" b="0" i="0">
                <a:solidFill>
                  <a:srgbClr val="5B6775"/>
                </a:solidFill>
                <a:latin typeface="Segoe UI"/>
              </a:rPr>
              <a:t>The question is not pandas or Spark, it's which of three ways to combine them fits this job. Picking wrong is how a script that worked on a sample crashes the driver on the full table.</a:t>
            </a:r>
          </a:p>
        </p:txBody>
      </p:sp>
      <p:sp>
        <p:nvSpPr>
          <p:cNvPr id="6" name="Rectangle 5"/>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07  ·  Using pandas from PySpark</a:t>
            </a:r>
          </a:p>
        </p:txBody>
      </p:sp>
      <p:sp>
        <p:nvSpPr>
          <p:cNvPr id="8" name="TextBox 7"/>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65</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toPandas() driver memory, the real arithmetic</a:t>
            </a:r>
          </a:p>
        </p:txBody>
      </p:sp>
      <p:graphicFrame>
        <p:nvGraphicFramePr>
          <p:cNvPr id="4" name="Table 3"/>
          <p:cNvGraphicFramePr>
            <a:graphicFrameLocks noGrp="1"/>
          </p:cNvGraphicFramePr>
          <p:nvPr/>
        </p:nvGraphicFramePr>
        <p:xfrm>
          <a:off x="658368" y="1481328"/>
          <a:ext cx="10874957" cy="1828800"/>
        </p:xfrm>
        <a:graphic>
          <a:graphicData uri="http://schemas.openxmlformats.org/drawingml/2006/table">
            <a:tbl>
              <a:tblPr firstRow="1" bandRow="1">
                <a:tableStyleId>{5C22544A-7EE6-4342-B048-85BDC9FD1C3A}</a:tableStyleId>
              </a:tblPr>
              <a:tblGrid>
                <a:gridCol w="3624986">
                  <a:extLst>
                    <a:ext uri="{9D8B030D-6E8A-4147-A177-3AD203B41FA5}">
                      <a16:colId xmlns:a16="http://schemas.microsoft.com/office/drawing/2014/main" val="20000"/>
                    </a:ext>
                  </a:extLst>
                </a:gridCol>
                <a:gridCol w="3141654">
                  <a:extLst>
                    <a:ext uri="{9D8B030D-6E8A-4147-A177-3AD203B41FA5}">
                      <a16:colId xmlns:a16="http://schemas.microsoft.com/office/drawing/2014/main" val="20001"/>
                    </a:ext>
                  </a:extLst>
                </a:gridCol>
                <a:gridCol w="4108317">
                  <a:extLst>
                    <a:ext uri="{9D8B030D-6E8A-4147-A177-3AD203B41FA5}">
                      <a16:colId xmlns:a16="http://schemas.microsoft.com/office/drawing/2014/main" val="20002"/>
                    </a:ext>
                  </a:extLst>
                </a:gridCol>
              </a:tblGrid>
              <a:tr h="402336">
                <a:tc>
                  <a:txBody>
                    <a:bodyPr/>
                    <a:lstStyle/>
                    <a:p>
                      <a:r>
                        <a:rPr sz="1450" b="1" i="0">
                          <a:solidFill>
                            <a:srgbClr val="FFFFFF"/>
                          </a:solidFill>
                          <a:latin typeface="Segoe UI Semibold"/>
                        </a:rPr>
                        <a:t>Rows</a:t>
                      </a:r>
                    </a:p>
                  </a:txBody>
                  <a:tcPr anchor="ctr">
                    <a:solidFill>
                      <a:srgbClr val="1F4E79"/>
                    </a:solidFill>
                  </a:tcPr>
                </a:tc>
                <a:tc>
                  <a:txBody>
                    <a:bodyPr/>
                    <a:lstStyle/>
                    <a:p>
                      <a:r>
                        <a:rPr sz="1450" b="1" i="0">
                          <a:solidFill>
                            <a:srgbClr val="FFFFFF"/>
                          </a:solidFill>
                          <a:latin typeface="Segoe UI Semibold"/>
                        </a:rPr>
                        <a:t>As pandas, roughly</a:t>
                      </a:r>
                    </a:p>
                  </a:txBody>
                  <a:tcPr anchor="ctr">
                    <a:solidFill>
                      <a:srgbClr val="1F4E79"/>
                    </a:solidFill>
                  </a:tcPr>
                </a:tc>
                <a:tc>
                  <a:txBody>
                    <a:bodyPr/>
                    <a:lstStyle/>
                    <a:p>
                      <a:r>
                        <a:rPr sz="1450" b="1" i="0">
                          <a:solidFill>
                            <a:srgbClr val="FFFFFF"/>
                          </a:solidFill>
                          <a:latin typeface="Segoe UI Semibold"/>
                        </a:rPr>
                        <a:t>Safe on a 2 GB driver?</a:t>
                      </a:r>
                    </a:p>
                  </a:txBody>
                  <a:tcPr anchor="ctr">
                    <a:solidFill>
                      <a:srgbClr val="1F4E79"/>
                    </a:solidFill>
                  </a:tcPr>
                </a:tc>
                <a:extLst>
                  <a:ext uri="{0D108BD9-81ED-4DB2-BD59-A6C34878D82A}">
                    <a16:rowId xmlns:a16="http://schemas.microsoft.com/office/drawing/2014/main" val="10000"/>
                  </a:ext>
                </a:extLst>
              </a:tr>
              <a:tr h="475488">
                <a:tc>
                  <a:txBody>
                    <a:bodyPr/>
                    <a:lstStyle/>
                    <a:p>
                      <a:pPr>
                        <a:lnSpc>
                          <a:spcPct val="106000"/>
                        </a:lnSpc>
                      </a:pPr>
                      <a:r>
                        <a:rPr sz="1400" b="1" i="0">
                          <a:solidFill>
                            <a:srgbClr val="242C38"/>
                          </a:solidFill>
                          <a:latin typeface="Segoe UI"/>
                        </a:rPr>
                        <a:t>180,720 (this course's feed)</a:t>
                      </a:r>
                    </a:p>
                  </a:txBody>
                  <a:tcPr marT="36576" marB="36576" anchor="ctr">
                    <a:solidFill>
                      <a:srgbClr val="EEF3F8"/>
                    </a:solidFill>
                  </a:tcPr>
                </a:tc>
                <a:tc>
                  <a:txBody>
                    <a:bodyPr/>
                    <a:lstStyle/>
                    <a:p>
                      <a:pPr>
                        <a:lnSpc>
                          <a:spcPct val="106000"/>
                        </a:lnSpc>
                      </a:pPr>
                      <a:r>
                        <a:rPr sz="1400" b="0" i="0">
                          <a:solidFill>
                            <a:srgbClr val="242C38"/>
                          </a:solidFill>
                          <a:latin typeface="Segoe UI"/>
                        </a:rPr>
                        <a:t>~22 MB</a:t>
                      </a:r>
                    </a:p>
                  </a:txBody>
                  <a:tcPr marT="36576" marB="36576" anchor="ctr">
                    <a:solidFill>
                      <a:srgbClr val="EEF3F8"/>
                    </a:solidFill>
                  </a:tcPr>
                </a:tc>
                <a:tc>
                  <a:txBody>
                    <a:bodyPr/>
                    <a:lstStyle/>
                    <a:p>
                      <a:pPr>
                        <a:lnSpc>
                          <a:spcPct val="106000"/>
                        </a:lnSpc>
                      </a:pPr>
                      <a:r>
                        <a:rPr sz="1400" b="0" i="0">
                          <a:solidFill>
                            <a:srgbClr val="242C38"/>
                          </a:solidFill>
                          <a:latin typeface="Segoe UI"/>
                        </a:rPr>
                        <a:t>yes</a:t>
                      </a:r>
                    </a:p>
                  </a:txBody>
                  <a:tcPr marT="36576" marB="36576" anchor="ctr">
                    <a:solidFill>
                      <a:srgbClr val="EEF3F8"/>
                    </a:solidFill>
                  </a:tcPr>
                </a:tc>
                <a:extLst>
                  <a:ext uri="{0D108BD9-81ED-4DB2-BD59-A6C34878D82A}">
                    <a16:rowId xmlns:a16="http://schemas.microsoft.com/office/drawing/2014/main" val="10001"/>
                  </a:ext>
                </a:extLst>
              </a:tr>
              <a:tr h="475488">
                <a:tc>
                  <a:txBody>
                    <a:bodyPr/>
                    <a:lstStyle/>
                    <a:p>
                      <a:pPr>
                        <a:lnSpc>
                          <a:spcPct val="106000"/>
                        </a:lnSpc>
                      </a:pPr>
                      <a:r>
                        <a:rPr sz="1400" b="1" i="0">
                          <a:solidFill>
                            <a:srgbClr val="242C38"/>
                          </a:solidFill>
                          <a:latin typeface="Segoe UI"/>
                        </a:rPr>
                        <a:t>10 million</a:t>
                      </a:r>
                    </a:p>
                  </a:txBody>
                  <a:tcPr marT="36576" marB="36576" anchor="ctr">
                    <a:solidFill>
                      <a:srgbClr val="FFFFFF"/>
                    </a:solidFill>
                  </a:tcPr>
                </a:tc>
                <a:tc>
                  <a:txBody>
                    <a:bodyPr/>
                    <a:lstStyle/>
                    <a:p>
                      <a:pPr>
                        <a:lnSpc>
                          <a:spcPct val="106000"/>
                        </a:lnSpc>
                      </a:pPr>
                      <a:r>
                        <a:rPr sz="1400" b="0" i="0">
                          <a:solidFill>
                            <a:srgbClr val="242C38"/>
                          </a:solidFill>
                          <a:latin typeface="Segoe UI"/>
                        </a:rPr>
                        <a:t>~1.2 GB</a:t>
                      </a:r>
                    </a:p>
                  </a:txBody>
                  <a:tcPr marT="36576" marB="36576" anchor="ctr">
                    <a:solidFill>
                      <a:srgbClr val="FFFFFF"/>
                    </a:solidFill>
                  </a:tcPr>
                </a:tc>
                <a:tc>
                  <a:txBody>
                    <a:bodyPr/>
                    <a:lstStyle/>
                    <a:p>
                      <a:pPr>
                        <a:lnSpc>
                          <a:spcPct val="106000"/>
                        </a:lnSpc>
                      </a:pPr>
                      <a:r>
                        <a:rPr sz="1400" b="0" i="0">
                          <a:solidFill>
                            <a:srgbClr val="242C38"/>
                          </a:solidFill>
                          <a:latin typeface="Segoe UI"/>
                        </a:rPr>
                        <a:t>risky, over half the heap</a:t>
                      </a:r>
                    </a:p>
                  </a:txBody>
                  <a:tcPr marT="36576" marB="36576" anchor="ctr">
                    <a:solidFill>
                      <a:srgbClr val="FFFFFF"/>
                    </a:solidFill>
                  </a:tcPr>
                </a:tc>
                <a:extLst>
                  <a:ext uri="{0D108BD9-81ED-4DB2-BD59-A6C34878D82A}">
                    <a16:rowId xmlns:a16="http://schemas.microsoft.com/office/drawing/2014/main" val="10002"/>
                  </a:ext>
                </a:extLst>
              </a:tr>
              <a:tr h="475488">
                <a:tc>
                  <a:txBody>
                    <a:bodyPr/>
                    <a:lstStyle/>
                    <a:p>
                      <a:pPr>
                        <a:lnSpc>
                          <a:spcPct val="106000"/>
                        </a:lnSpc>
                      </a:pPr>
                      <a:r>
                        <a:rPr sz="1400" b="1" i="0">
                          <a:solidFill>
                            <a:srgbClr val="242C38"/>
                          </a:solidFill>
                          <a:latin typeface="Segoe UI"/>
                        </a:rPr>
                        <a:t>100 million</a:t>
                      </a:r>
                    </a:p>
                  </a:txBody>
                  <a:tcPr marT="36576" marB="36576" anchor="ctr">
                    <a:solidFill>
                      <a:srgbClr val="EEF3F8"/>
                    </a:solidFill>
                  </a:tcPr>
                </a:tc>
                <a:tc>
                  <a:txBody>
                    <a:bodyPr/>
                    <a:lstStyle/>
                    <a:p>
                      <a:pPr>
                        <a:lnSpc>
                          <a:spcPct val="106000"/>
                        </a:lnSpc>
                      </a:pPr>
                      <a:r>
                        <a:rPr sz="1400" b="0" i="0">
                          <a:solidFill>
                            <a:srgbClr val="242C38"/>
                          </a:solidFill>
                          <a:latin typeface="Segoe UI"/>
                        </a:rPr>
                        <a:t>~12 GB</a:t>
                      </a:r>
                    </a:p>
                  </a:txBody>
                  <a:tcPr marT="36576" marB="36576" anchor="ctr">
                    <a:solidFill>
                      <a:srgbClr val="EEF3F8"/>
                    </a:solidFill>
                  </a:tcPr>
                </a:tc>
                <a:tc>
                  <a:txBody>
                    <a:bodyPr/>
                    <a:lstStyle/>
                    <a:p>
                      <a:pPr>
                        <a:lnSpc>
                          <a:spcPct val="106000"/>
                        </a:lnSpc>
                      </a:pPr>
                      <a:r>
                        <a:rPr sz="1400" b="0" i="0">
                          <a:solidFill>
                            <a:srgbClr val="242C38"/>
                          </a:solidFill>
                          <a:latin typeface="Segoe UI"/>
                        </a:rPr>
                        <a:t>no, do not attempt</a:t>
                      </a:r>
                    </a:p>
                  </a:txBody>
                  <a:tcPr marT="36576" marB="36576" anchor="ctr">
                    <a:solidFill>
                      <a:srgbClr val="EEF3F8"/>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658368" y="5724144"/>
            <a:ext cx="10874959" cy="502920"/>
          </a:xfrm>
          <a:prstGeom prst="rect">
            <a:avLst/>
          </a:prstGeom>
          <a:noFill/>
        </p:spPr>
        <p:txBody>
          <a:bodyPr wrap="square" lIns="0" tIns="0" rIns="0" bIns="0">
            <a:spAutoFit/>
          </a:bodyPr>
          <a:lstStyle/>
          <a:p>
            <a:r>
              <a:rPr sz="1300" b="0" i="1">
                <a:solidFill>
                  <a:srgbClr val="5B6775"/>
                </a:solidFill>
                <a:latin typeface="Segoe UI"/>
              </a:rPr>
              <a:t>The fix is never more driver memory. It's making Spark do the reduction first.</a:t>
            </a:r>
          </a:p>
        </p:txBody>
      </p:sp>
      <p:sp>
        <p:nvSpPr>
          <p:cNvPr id="6" name="Rectangle 5"/>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07  ·  Using pandas from PySpark</a:t>
            </a:r>
          </a:p>
        </p:txBody>
      </p:sp>
      <p:sp>
        <p:nvSpPr>
          <p:cNvPr id="8" name="TextBox 7"/>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66</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Aggregate first, so toPandas() is safe</a:t>
            </a:r>
          </a:p>
        </p:txBody>
      </p:sp>
      <p:sp>
        <p:nvSpPr>
          <p:cNvPr id="4" name="Rectangle 3"/>
          <p:cNvSpPr/>
          <p:nvPr/>
        </p:nvSpPr>
        <p:spPr>
          <a:xfrm>
            <a:off x="658368" y="1481328"/>
            <a:ext cx="10874959" cy="2447544"/>
          </a:xfrm>
          <a:prstGeom prst="rect">
            <a:avLst/>
          </a:prstGeom>
          <a:solidFill>
            <a:srgbClr val="F5F7F9"/>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81328"/>
            <a:ext cx="43180" cy="2447544"/>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77824" y="1645920"/>
            <a:ext cx="10509199" cy="2173224"/>
          </a:xfrm>
          <a:prstGeom prst="rect">
            <a:avLst/>
          </a:prstGeom>
          <a:noFill/>
        </p:spPr>
        <p:txBody>
          <a:bodyPr wrap="square" lIns="0" tIns="0" rIns="0" bIns="0">
            <a:spAutoFit/>
          </a:bodyPr>
          <a:lstStyle/>
          <a:p>
            <a:pPr>
              <a:lnSpc>
                <a:spcPct val="116000"/>
              </a:lnSpc>
              <a:spcAft>
                <a:spcPts val="0"/>
              </a:spcAft>
            </a:pPr>
            <a:r>
              <a:rPr sz="1500" b="0" i="0">
                <a:solidFill>
                  <a:srgbClr val="242C38"/>
                </a:solidFill>
                <a:latin typeface="Consolas"/>
              </a:rPr>
              <a:t>daily = (txns.withColumn(</a:t>
            </a:r>
            <a:r>
              <a:rPr sz="1500" b="0" i="0">
                <a:solidFill>
                  <a:srgbClr val="A31515"/>
                </a:solidFill>
                <a:latin typeface="Consolas"/>
              </a:rPr>
              <a:t>"posting_date"</a:t>
            </a:r>
            <a:r>
              <a:rPr sz="1500" b="0" i="0">
                <a:solidFill>
                  <a:srgbClr val="242C38"/>
                </a:solidFill>
                <a:latin typeface="Consolas"/>
              </a:rPr>
              <a:t>,</a:t>
            </a:r>
          </a:p>
          <a:p>
            <a:pPr>
              <a:lnSpc>
                <a:spcPct val="116000"/>
              </a:lnSpc>
              <a:spcAft>
                <a:spcPts val="0"/>
              </a:spcAft>
            </a:pPr>
            <a:r>
              <a:rPr sz="1500" b="0" i="0">
                <a:solidFill>
                  <a:srgbClr val="242C38"/>
                </a:solidFill>
                <a:latin typeface="Consolas"/>
              </a:rPr>
              <a:t>        F.to_date(</a:t>
            </a:r>
            <a:r>
              <a:rPr sz="1500" b="0" i="0">
                <a:solidFill>
                  <a:srgbClr val="A31515"/>
                </a:solidFill>
                <a:latin typeface="Consolas"/>
              </a:rPr>
              <a:t>"txn_ts"</a:t>
            </a:r>
            <a:r>
              <a:rPr sz="1500" b="0" i="0">
                <a:solidFill>
                  <a:srgbClr val="242C38"/>
                </a:solidFill>
                <a:latin typeface="Consolas"/>
              </a:rPr>
              <a:t>))</a:t>
            </a:r>
          </a:p>
          <a:p>
            <a:pPr>
              <a:lnSpc>
                <a:spcPct val="116000"/>
              </a:lnSpc>
              <a:spcAft>
                <a:spcPts val="0"/>
              </a:spcAft>
            </a:pPr>
            <a:r>
              <a:rPr sz="1500" b="0" i="0">
                <a:solidFill>
                  <a:srgbClr val="242C38"/>
                </a:solidFill>
                <a:latin typeface="Consolas"/>
              </a:rPr>
              <a:t>    .groupBy(</a:t>
            </a:r>
            <a:r>
              <a:rPr sz="1500" b="0" i="0">
                <a:solidFill>
                  <a:srgbClr val="A31515"/>
                </a:solidFill>
                <a:latin typeface="Consolas"/>
              </a:rPr>
              <a:t>"posting_date"</a:t>
            </a:r>
            <a:r>
              <a:rPr sz="1500" b="0" i="0">
                <a:solidFill>
                  <a:srgbClr val="242C38"/>
                </a:solidFill>
                <a:latin typeface="Consolas"/>
              </a:rPr>
              <a:t>)</a:t>
            </a:r>
          </a:p>
          <a:p>
            <a:pPr>
              <a:lnSpc>
                <a:spcPct val="116000"/>
              </a:lnSpc>
              <a:spcAft>
                <a:spcPts val="0"/>
              </a:spcAft>
            </a:pPr>
            <a:r>
              <a:rPr sz="1500" b="0" i="0">
                <a:solidFill>
                  <a:srgbClr val="242C38"/>
                </a:solidFill>
                <a:latin typeface="Consolas"/>
              </a:rPr>
              <a:t>    .agg(F.count(</a:t>
            </a:r>
            <a:r>
              <a:rPr sz="1500" b="0" i="0">
                <a:solidFill>
                  <a:srgbClr val="A31515"/>
                </a:solidFill>
                <a:latin typeface="Consolas"/>
              </a:rPr>
              <a:t>"*"</a:t>
            </a:r>
            <a:r>
              <a:rPr sz="1500" b="0" i="0">
                <a:solidFill>
                  <a:srgbClr val="242C38"/>
                </a:solidFill>
                <a:latin typeface="Consolas"/>
              </a:rPr>
              <a:t>).alias(</a:t>
            </a:r>
            <a:r>
              <a:rPr sz="1500" b="0" i="0">
                <a:solidFill>
                  <a:srgbClr val="A31515"/>
                </a:solidFill>
                <a:latin typeface="Consolas"/>
              </a:rPr>
              <a:t>"txn_count"</a:t>
            </a:r>
            <a:r>
              <a:rPr sz="1500" b="0" i="0">
                <a:solidFill>
                  <a:srgbClr val="242C38"/>
                </a:solidFill>
                <a:latin typeface="Consolas"/>
              </a:rPr>
              <a:t>),</a:t>
            </a:r>
          </a:p>
          <a:p>
            <a:pPr>
              <a:lnSpc>
                <a:spcPct val="116000"/>
              </a:lnSpc>
              <a:spcAft>
                <a:spcPts val="0"/>
              </a:spcAft>
            </a:pPr>
            <a:r>
              <a:rPr sz="1500" b="0" i="0">
                <a:solidFill>
                  <a:srgbClr val="242C38"/>
                </a:solidFill>
                <a:latin typeface="Consolas"/>
              </a:rPr>
              <a:t>         F.round(F.sum(</a:t>
            </a:r>
            <a:r>
              <a:rPr sz="1500" b="0" i="0">
                <a:solidFill>
                  <a:srgbClr val="A31515"/>
                </a:solidFill>
                <a:latin typeface="Consolas"/>
              </a:rPr>
              <a:t>"amount"</a:t>
            </a:r>
            <a:r>
              <a:rPr sz="1500" b="0" i="0">
                <a:solidFill>
                  <a:srgbClr val="242C38"/>
                </a:solidFill>
                <a:latin typeface="Consolas"/>
              </a:rPr>
              <a:t>), </a:t>
            </a:r>
            <a:r>
              <a:rPr sz="1500" b="0" i="0">
                <a:solidFill>
                  <a:srgbClr val="098658"/>
                </a:solidFill>
                <a:latin typeface="Consolas"/>
              </a:rPr>
              <a:t>2</a:t>
            </a:r>
            <a:r>
              <a:rPr sz="1500" b="0" i="0">
                <a:solidFill>
                  <a:srgbClr val="242C38"/>
                </a:solidFill>
                <a:latin typeface="Consolas"/>
              </a:rPr>
              <a:t>)</a:t>
            </a:r>
          </a:p>
          <a:p>
            <a:pPr>
              <a:lnSpc>
                <a:spcPct val="116000"/>
              </a:lnSpc>
              <a:spcAft>
                <a:spcPts val="0"/>
              </a:spcAft>
            </a:pPr>
            <a:r>
              <a:rPr sz="1500" b="0" i="0">
                <a:solidFill>
                  <a:srgbClr val="242C38"/>
                </a:solidFill>
                <a:latin typeface="Consolas"/>
              </a:rPr>
              <a:t>            .alias(</a:t>
            </a:r>
            <a:r>
              <a:rPr sz="1500" b="0" i="0">
                <a:solidFill>
                  <a:srgbClr val="A31515"/>
                </a:solidFill>
                <a:latin typeface="Consolas"/>
              </a:rPr>
              <a:t>"total_amount"</a:t>
            </a:r>
            <a:r>
              <a:rPr sz="1500" b="0" i="0">
                <a:solidFill>
                  <a:srgbClr val="242C38"/>
                </a:solidFill>
                <a:latin typeface="Consolas"/>
              </a:rPr>
              <a:t>)))</a:t>
            </a:r>
          </a:p>
          <a:p>
            <a:pPr>
              <a:lnSpc>
                <a:spcPct val="116000"/>
              </a:lnSpc>
              <a:spcAft>
                <a:spcPts val="0"/>
              </a:spcAft>
            </a:pPr>
            <a:r>
              <a:rPr sz="1500" b="0" i="0">
                <a:solidFill>
                  <a:srgbClr val="242C38"/>
                </a:solidFill>
                <a:latin typeface="Consolas"/>
              </a:rPr>
              <a:t>daily_pdf = daily.toPandas()   </a:t>
            </a:r>
            <a:r>
              <a:rPr sz="1500" b="0" i="1">
                <a:solidFill>
                  <a:srgbClr val="6F865C"/>
                </a:solidFill>
                <a:latin typeface="Consolas"/>
              </a:rPr>
              <a:t># 3 rows, not 180,720</a:t>
            </a:r>
          </a:p>
        </p:txBody>
      </p:sp>
      <p:sp>
        <p:nvSpPr>
          <p:cNvPr id="7" name="TextBox 6"/>
          <p:cNvSpPr txBox="1"/>
          <p:nvPr/>
        </p:nvSpPr>
        <p:spPr>
          <a:xfrm>
            <a:off x="658368" y="4075176"/>
            <a:ext cx="10874959" cy="457200"/>
          </a:xfrm>
          <a:prstGeom prst="rect">
            <a:avLst/>
          </a:prstGeom>
          <a:noFill/>
        </p:spPr>
        <p:txBody>
          <a:bodyPr wrap="square" lIns="0" tIns="0" rIns="0" bIns="0">
            <a:spAutoFit/>
          </a:bodyPr>
          <a:lstStyle/>
          <a:p>
            <a:r>
              <a:rPr sz="1400" b="0" i="0">
                <a:solidFill>
                  <a:srgbClr val="5B6775"/>
                </a:solidFill>
                <a:latin typeface="Segoe UI"/>
              </a:rPr>
              <a:t>Let Spark's distributed engine do the heavy reduction, hand pandas only what's already small.</a:t>
            </a:r>
          </a:p>
        </p:txBody>
      </p:sp>
      <p:sp>
        <p:nvSpPr>
          <p:cNvPr id="8" name="Rectangle 7"/>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07  ·  Using pandas from PySpark</a:t>
            </a:r>
          </a:p>
        </p:txBody>
      </p:sp>
      <p:sp>
        <p:nvSpPr>
          <p:cNvPr id="10" name="TextBox 9"/>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67</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Where pandas is legitimately useful</a:t>
            </a:r>
          </a:p>
        </p:txBody>
      </p:sp>
      <p:graphicFrame>
        <p:nvGraphicFramePr>
          <p:cNvPr id="4" name="Table 3"/>
          <p:cNvGraphicFramePr>
            <a:graphicFrameLocks noGrp="1"/>
          </p:cNvGraphicFramePr>
          <p:nvPr/>
        </p:nvGraphicFramePr>
        <p:xfrm>
          <a:off x="658368" y="1481328"/>
          <a:ext cx="10874958" cy="1828800"/>
        </p:xfrm>
        <a:graphic>
          <a:graphicData uri="http://schemas.openxmlformats.org/drawingml/2006/table">
            <a:tbl>
              <a:tblPr firstRow="1" bandRow="1">
                <a:tableStyleId>{5C22544A-7EE6-4342-B048-85BDC9FD1C3A}</a:tableStyleId>
              </a:tblPr>
              <a:tblGrid>
                <a:gridCol w="5437479">
                  <a:extLst>
                    <a:ext uri="{9D8B030D-6E8A-4147-A177-3AD203B41FA5}">
                      <a16:colId xmlns:a16="http://schemas.microsoft.com/office/drawing/2014/main" val="20000"/>
                    </a:ext>
                  </a:extLst>
                </a:gridCol>
                <a:gridCol w="5437479">
                  <a:extLst>
                    <a:ext uri="{9D8B030D-6E8A-4147-A177-3AD203B41FA5}">
                      <a16:colId xmlns:a16="http://schemas.microsoft.com/office/drawing/2014/main" val="20001"/>
                    </a:ext>
                  </a:extLst>
                </a:gridCol>
              </a:tblGrid>
              <a:tr h="402336">
                <a:tc>
                  <a:txBody>
                    <a:bodyPr/>
                    <a:lstStyle/>
                    <a:p>
                      <a:r>
                        <a:rPr sz="1450" b="1" i="0">
                          <a:solidFill>
                            <a:srgbClr val="FFFFFF"/>
                          </a:solidFill>
                          <a:latin typeface="Segoe UI Semibold"/>
                        </a:rPr>
                        <a:t>Legitimate use</a:t>
                      </a:r>
                    </a:p>
                  </a:txBody>
                  <a:tcPr anchor="ctr">
                    <a:solidFill>
                      <a:srgbClr val="1F4E79"/>
                    </a:solidFill>
                  </a:tcPr>
                </a:tc>
                <a:tc>
                  <a:txBody>
                    <a:bodyPr/>
                    <a:lstStyle/>
                    <a:p>
                      <a:r>
                        <a:rPr sz="1450" b="1" i="0">
                          <a:solidFill>
                            <a:srgbClr val="FFFFFF"/>
                          </a:solidFill>
                          <a:latin typeface="Segoe UI Semibold"/>
                        </a:rPr>
                        <a:t>Why it is safe</a:t>
                      </a:r>
                    </a:p>
                  </a:txBody>
                  <a:tcPr anchor="ctr">
                    <a:solidFill>
                      <a:srgbClr val="1F4E79"/>
                    </a:solidFill>
                  </a:tcPr>
                </a:tc>
                <a:extLst>
                  <a:ext uri="{0D108BD9-81ED-4DB2-BD59-A6C34878D82A}">
                    <a16:rowId xmlns:a16="http://schemas.microsoft.com/office/drawing/2014/main" val="10000"/>
                  </a:ext>
                </a:extLst>
              </a:tr>
              <a:tr h="475488">
                <a:tc>
                  <a:txBody>
                    <a:bodyPr/>
                    <a:lstStyle/>
                    <a:p>
                      <a:pPr>
                        <a:lnSpc>
                          <a:spcPct val="106000"/>
                        </a:lnSpc>
                      </a:pPr>
                      <a:r>
                        <a:rPr sz="1400" b="1" i="0">
                          <a:solidFill>
                            <a:srgbClr val="242C38"/>
                          </a:solidFill>
                          <a:latin typeface="Segoe UI"/>
                        </a:rPr>
                        <a:t>Plotting a chart from an aggregated result</a:t>
                      </a:r>
                    </a:p>
                  </a:txBody>
                  <a:tcPr marT="36576" marB="36576" anchor="ctr">
                    <a:solidFill>
                      <a:srgbClr val="EEF3F8"/>
                    </a:solidFill>
                  </a:tcPr>
                </a:tc>
                <a:tc>
                  <a:txBody>
                    <a:bodyPr/>
                    <a:lstStyle/>
                    <a:p>
                      <a:pPr>
                        <a:lnSpc>
                          <a:spcPct val="106000"/>
                        </a:lnSpc>
                      </a:pPr>
                      <a:r>
                        <a:rPr sz="1400" b="0" i="0">
                          <a:solidFill>
                            <a:srgbClr val="242C38"/>
                          </a:solidFill>
                          <a:latin typeface="Segoe UI"/>
                        </a:rPr>
                        <a:t>the aggregate is already small</a:t>
                      </a:r>
                    </a:p>
                  </a:txBody>
                  <a:tcPr marT="36576" marB="36576" anchor="ctr">
                    <a:solidFill>
                      <a:srgbClr val="EEF3F8"/>
                    </a:solidFill>
                  </a:tcPr>
                </a:tc>
                <a:extLst>
                  <a:ext uri="{0D108BD9-81ED-4DB2-BD59-A6C34878D82A}">
                    <a16:rowId xmlns:a16="http://schemas.microsoft.com/office/drawing/2014/main" val="10001"/>
                  </a:ext>
                </a:extLst>
              </a:tr>
              <a:tr h="475488">
                <a:tc>
                  <a:txBody>
                    <a:bodyPr/>
                    <a:lstStyle/>
                    <a:p>
                      <a:pPr>
                        <a:lnSpc>
                          <a:spcPct val="106000"/>
                        </a:lnSpc>
                      </a:pPr>
                      <a:r>
                        <a:rPr sz="1400" b="1" i="0">
                          <a:solidFill>
                            <a:srgbClr val="242C38"/>
                          </a:solidFill>
                          <a:latin typeface="Segoe UI"/>
                        </a:rPr>
                        <a:t>A per-group statistical test</a:t>
                      </a:r>
                    </a:p>
                  </a:txBody>
                  <a:tcPr marT="36576" marB="36576" anchor="ctr">
                    <a:solidFill>
                      <a:srgbClr val="FFFFFF"/>
                    </a:solidFill>
                  </a:tcPr>
                </a:tc>
                <a:tc>
                  <a:txBody>
                    <a:bodyPr/>
                    <a:lstStyle/>
                    <a:p>
                      <a:pPr>
                        <a:lnSpc>
                          <a:spcPct val="106000"/>
                        </a:lnSpc>
                      </a:pPr>
                      <a:r>
                        <a:rPr sz="1400" b="0" i="0">
                          <a:solidFill>
                            <a:srgbClr val="242C38"/>
                          </a:solidFill>
                          <a:latin typeface="Segoe UI"/>
                        </a:rPr>
                        <a:t>applyInPandas keeps the DATA distributed</a:t>
                      </a:r>
                    </a:p>
                  </a:txBody>
                  <a:tcPr marT="36576" marB="36576" anchor="ctr">
                    <a:solidFill>
                      <a:srgbClr val="FFFFFF"/>
                    </a:solidFill>
                  </a:tcPr>
                </a:tc>
                <a:extLst>
                  <a:ext uri="{0D108BD9-81ED-4DB2-BD59-A6C34878D82A}">
                    <a16:rowId xmlns:a16="http://schemas.microsoft.com/office/drawing/2014/main" val="10002"/>
                  </a:ext>
                </a:extLst>
              </a:tr>
              <a:tr h="475488">
                <a:tc>
                  <a:txBody>
                    <a:bodyPr/>
                    <a:lstStyle/>
                    <a:p>
                      <a:pPr>
                        <a:lnSpc>
                          <a:spcPct val="106000"/>
                        </a:lnSpc>
                      </a:pPr>
                      <a:r>
                        <a:rPr sz="1400" b="1" i="0">
                          <a:solidFill>
                            <a:srgbClr val="242C38"/>
                          </a:solidFill>
                          <a:latin typeface="Segoe UI"/>
                        </a:rPr>
                        <a:t>Formatting a final table for a report</a:t>
                      </a:r>
                    </a:p>
                  </a:txBody>
                  <a:tcPr marT="36576" marB="36576" anchor="ctr">
                    <a:solidFill>
                      <a:srgbClr val="EEF3F8"/>
                    </a:solidFill>
                  </a:tcPr>
                </a:tc>
                <a:tc>
                  <a:txBody>
                    <a:bodyPr/>
                    <a:lstStyle/>
                    <a:p>
                      <a:pPr>
                        <a:lnSpc>
                          <a:spcPct val="106000"/>
                        </a:lnSpc>
                      </a:pPr>
                      <a:r>
                        <a:rPr sz="1400" b="0" i="0">
                          <a:solidFill>
                            <a:srgbClr val="242C38"/>
                          </a:solidFill>
                          <a:latin typeface="Segoe UI"/>
                        </a:rPr>
                        <a:t>happens after the heavy computation is done</a:t>
                      </a:r>
                    </a:p>
                  </a:txBody>
                  <a:tcPr marT="36576" marB="36576" anchor="ctr">
                    <a:solidFill>
                      <a:srgbClr val="EEF3F8"/>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658368" y="5724144"/>
            <a:ext cx="10874959" cy="502920"/>
          </a:xfrm>
          <a:prstGeom prst="rect">
            <a:avLst/>
          </a:prstGeom>
          <a:noFill/>
        </p:spPr>
        <p:txBody>
          <a:bodyPr wrap="square" lIns="0" tIns="0" rIns="0" bIns="0">
            <a:spAutoFit/>
          </a:bodyPr>
          <a:lstStyle/>
          <a:p>
            <a:r>
              <a:rPr sz="1300" b="0" i="1">
                <a:solidFill>
                  <a:srgbClr val="5B6775"/>
                </a:solidFill>
                <a:latin typeface="Segoe UI"/>
              </a:rPr>
              <a:t>The moment pandas would touch the FULL, unaggregated table, the tool is wrong.</a:t>
            </a:r>
          </a:p>
        </p:txBody>
      </p:sp>
      <p:sp>
        <p:nvSpPr>
          <p:cNvPr id="6" name="Rectangle 5"/>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07  ·  Using pandas from PySpark</a:t>
            </a:r>
          </a:p>
        </p:txBody>
      </p:sp>
      <p:sp>
        <p:nvSpPr>
          <p:cNvPr id="8" name="TextBox 7"/>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68</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applyInPandas: the data stays distributed</a:t>
            </a:r>
          </a:p>
        </p:txBody>
      </p:sp>
      <p:sp>
        <p:nvSpPr>
          <p:cNvPr id="4" name="Rectangle 3"/>
          <p:cNvSpPr/>
          <p:nvPr/>
        </p:nvSpPr>
        <p:spPr>
          <a:xfrm>
            <a:off x="658368" y="1481328"/>
            <a:ext cx="10874959" cy="2737104"/>
          </a:xfrm>
          <a:prstGeom prst="rect">
            <a:avLst/>
          </a:prstGeom>
          <a:solidFill>
            <a:srgbClr val="F5F7F9"/>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81328"/>
            <a:ext cx="43180" cy="2737104"/>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77824" y="1645920"/>
            <a:ext cx="10509199" cy="2462784"/>
          </a:xfrm>
          <a:prstGeom prst="rect">
            <a:avLst/>
          </a:prstGeom>
          <a:noFill/>
        </p:spPr>
        <p:txBody>
          <a:bodyPr wrap="square" lIns="0" tIns="0" rIns="0" bIns="0">
            <a:spAutoFit/>
          </a:bodyPr>
          <a:lstStyle/>
          <a:p>
            <a:pPr>
              <a:lnSpc>
                <a:spcPct val="116000"/>
              </a:lnSpc>
              <a:spcAft>
                <a:spcPts val="0"/>
              </a:spcAft>
            </a:pPr>
            <a:r>
              <a:rPr sz="1500" b="0" i="0">
                <a:solidFill>
                  <a:srgbClr val="0F5BA7"/>
                </a:solidFill>
                <a:latin typeface="Consolas"/>
              </a:rPr>
              <a:t>def</a:t>
            </a:r>
            <a:r>
              <a:rPr sz="1500" b="0" i="0">
                <a:solidFill>
                  <a:srgbClr val="242C38"/>
                </a:solidFill>
                <a:latin typeface="Consolas"/>
              </a:rPr>
              <a:t> reconcile_branch(pdf: pd.DataFrame) -&gt; pd.DataFrame:</a:t>
            </a:r>
          </a:p>
          <a:p>
            <a:pPr>
              <a:lnSpc>
                <a:spcPct val="116000"/>
              </a:lnSpc>
              <a:spcAft>
                <a:spcPts val="0"/>
              </a:spcAft>
            </a:pPr>
            <a:r>
              <a:rPr sz="1500" b="0" i="0">
                <a:solidFill>
                  <a:srgbClr val="242C38"/>
                </a:solidFill>
                <a:latin typeface="Consolas"/>
              </a:rPr>
              <a:t>    </a:t>
            </a:r>
            <a:r>
              <a:rPr sz="1500" b="0" i="0">
                <a:solidFill>
                  <a:srgbClr val="0F5BA7"/>
                </a:solidFill>
                <a:latin typeface="Consolas"/>
              </a:rPr>
              <a:t>return</a:t>
            </a:r>
            <a:r>
              <a:rPr sz="1500" b="0" i="0">
                <a:solidFill>
                  <a:srgbClr val="242C38"/>
                </a:solidFill>
                <a:latin typeface="Consolas"/>
              </a:rPr>
              <a:t> pd.DataFrame([{</a:t>
            </a:r>
          </a:p>
          <a:p>
            <a:pPr>
              <a:lnSpc>
                <a:spcPct val="116000"/>
              </a:lnSpc>
              <a:spcAft>
                <a:spcPts val="0"/>
              </a:spcAft>
            </a:pPr>
            <a:r>
              <a:rPr sz="1500" b="0" i="0">
                <a:solidFill>
                  <a:srgbClr val="242C38"/>
                </a:solidFill>
                <a:latin typeface="Consolas"/>
              </a:rPr>
              <a:t>        </a:t>
            </a:r>
            <a:r>
              <a:rPr sz="1500" b="0" i="0">
                <a:solidFill>
                  <a:srgbClr val="A31515"/>
                </a:solidFill>
                <a:latin typeface="Consolas"/>
              </a:rPr>
              <a:t>"branch_code"</a:t>
            </a:r>
            <a:r>
              <a:rPr sz="1500" b="0" i="0">
                <a:solidFill>
                  <a:srgbClr val="242C38"/>
                </a:solidFill>
                <a:latin typeface="Consolas"/>
              </a:rPr>
              <a:t>: pdf[</a:t>
            </a:r>
            <a:r>
              <a:rPr sz="1500" b="0" i="0">
                <a:solidFill>
                  <a:srgbClr val="A31515"/>
                </a:solidFill>
                <a:latin typeface="Consolas"/>
              </a:rPr>
              <a:t>"branch_code"</a:t>
            </a:r>
            <a:r>
              <a:rPr sz="1500" b="0" i="0">
                <a:solidFill>
                  <a:srgbClr val="242C38"/>
                </a:solidFill>
                <a:latin typeface="Consolas"/>
              </a:rPr>
              <a:t>].iloc[</a:t>
            </a:r>
            <a:r>
              <a:rPr sz="1500" b="0" i="0">
                <a:solidFill>
                  <a:srgbClr val="098658"/>
                </a:solidFill>
                <a:latin typeface="Consolas"/>
              </a:rPr>
              <a:t>0</a:t>
            </a:r>
            <a:r>
              <a:rPr sz="1500" b="0" i="0">
                <a:solidFill>
                  <a:srgbClr val="242C38"/>
                </a:solidFill>
                <a:latin typeface="Consolas"/>
              </a:rPr>
              <a:t>],</a:t>
            </a:r>
          </a:p>
          <a:p>
            <a:pPr>
              <a:lnSpc>
                <a:spcPct val="116000"/>
              </a:lnSpc>
              <a:spcAft>
                <a:spcPts val="0"/>
              </a:spcAft>
            </a:pPr>
            <a:r>
              <a:rPr sz="1500" b="0" i="0">
                <a:solidFill>
                  <a:srgbClr val="242C38"/>
                </a:solidFill>
                <a:latin typeface="Consolas"/>
              </a:rPr>
              <a:t>        </a:t>
            </a:r>
            <a:r>
              <a:rPr sz="1500" b="0" i="0">
                <a:solidFill>
                  <a:srgbClr val="A31515"/>
                </a:solidFill>
                <a:latin typeface="Consolas"/>
              </a:rPr>
              <a:t>"txn_count"</a:t>
            </a:r>
            <a:r>
              <a:rPr sz="1500" b="0" i="0">
                <a:solidFill>
                  <a:srgbClr val="242C38"/>
                </a:solidFill>
                <a:latin typeface="Consolas"/>
              </a:rPr>
              <a:t>: len(pdf),</a:t>
            </a:r>
          </a:p>
          <a:p>
            <a:pPr>
              <a:lnSpc>
                <a:spcPct val="116000"/>
              </a:lnSpc>
              <a:spcAft>
                <a:spcPts val="0"/>
              </a:spcAft>
            </a:pPr>
            <a:r>
              <a:rPr sz="1500" b="0" i="0">
                <a:solidFill>
                  <a:srgbClr val="242C38"/>
                </a:solidFill>
                <a:latin typeface="Consolas"/>
              </a:rPr>
              <a:t>        </a:t>
            </a:r>
            <a:r>
              <a:rPr sz="1500" b="0" i="0">
                <a:solidFill>
                  <a:srgbClr val="A31515"/>
                </a:solidFill>
                <a:latin typeface="Consolas"/>
              </a:rPr>
              <a:t>"total_amount"</a:t>
            </a:r>
            <a:r>
              <a:rPr sz="1500" b="0" i="0">
                <a:solidFill>
                  <a:srgbClr val="242C38"/>
                </a:solidFill>
                <a:latin typeface="Consolas"/>
              </a:rPr>
              <a:t>: round(pdf[</a:t>
            </a:r>
            <a:r>
              <a:rPr sz="1500" b="0" i="0">
                <a:solidFill>
                  <a:srgbClr val="A31515"/>
                </a:solidFill>
                <a:latin typeface="Consolas"/>
              </a:rPr>
              <a:t>"amount"</a:t>
            </a:r>
            <a:r>
              <a:rPr sz="1500" b="0" i="0">
                <a:solidFill>
                  <a:srgbClr val="242C38"/>
                </a:solidFill>
                <a:latin typeface="Consolas"/>
              </a:rPr>
              <a:t>].sum(), </a:t>
            </a:r>
            <a:r>
              <a:rPr sz="1500" b="0" i="0">
                <a:solidFill>
                  <a:srgbClr val="098658"/>
                </a:solidFill>
                <a:latin typeface="Consolas"/>
              </a:rPr>
              <a:t>2</a:t>
            </a:r>
            <a:r>
              <a:rPr sz="1500" b="0" i="0">
                <a:solidFill>
                  <a:srgbClr val="242C38"/>
                </a:solidFill>
                <a:latin typeface="Consolas"/>
              </a:rPr>
              <a:t>)}])</a:t>
            </a:r>
          </a:p>
          <a:p>
            <a:pPr>
              <a:lnSpc>
                <a:spcPct val="116000"/>
              </a:lnSpc>
              <a:spcAft>
                <a:spcPts val="0"/>
              </a:spcAft>
            </a:pPr>
            <a:r>
              <a:rPr sz="1500" b="0" i="0">
                <a:solidFill>
                  <a:srgbClr val="242C38"/>
                </a:solidFill>
                <a:latin typeface="Consolas"/>
              </a:rPr>
              <a:t> </a:t>
            </a:r>
          </a:p>
          <a:p>
            <a:pPr>
              <a:lnSpc>
                <a:spcPct val="116000"/>
              </a:lnSpc>
              <a:spcAft>
                <a:spcPts val="0"/>
              </a:spcAft>
            </a:pPr>
            <a:r>
              <a:rPr sz="1500" b="0" i="0">
                <a:solidFill>
                  <a:srgbClr val="242C38"/>
                </a:solidFill>
                <a:latin typeface="Consolas"/>
              </a:rPr>
              <a:t>by_branch.groupBy(</a:t>
            </a:r>
            <a:r>
              <a:rPr sz="1500" b="0" i="0">
                <a:solidFill>
                  <a:srgbClr val="A31515"/>
                </a:solidFill>
                <a:latin typeface="Consolas"/>
              </a:rPr>
              <a:t>"branch_code"</a:t>
            </a:r>
            <a:r>
              <a:rPr sz="1500" b="0" i="0">
                <a:solidFill>
                  <a:srgbClr val="242C38"/>
                </a:solidFill>
                <a:latin typeface="Consolas"/>
              </a:rPr>
              <a:t>) \</a:t>
            </a:r>
          </a:p>
          <a:p>
            <a:pPr>
              <a:lnSpc>
                <a:spcPct val="116000"/>
              </a:lnSpc>
              <a:spcAft>
                <a:spcPts val="0"/>
              </a:spcAft>
            </a:pPr>
            <a:r>
              <a:rPr sz="1500" b="0" i="0">
                <a:solidFill>
                  <a:srgbClr val="242C38"/>
                </a:solidFill>
                <a:latin typeface="Consolas"/>
              </a:rPr>
              <a:t>    .applyInPandas(reconcile_branch, schema=result_schema)</a:t>
            </a:r>
          </a:p>
        </p:txBody>
      </p:sp>
      <p:sp>
        <p:nvSpPr>
          <p:cNvPr id="7" name="TextBox 6"/>
          <p:cNvSpPr txBox="1"/>
          <p:nvPr/>
        </p:nvSpPr>
        <p:spPr>
          <a:xfrm>
            <a:off x="658368" y="4364736"/>
            <a:ext cx="10874959" cy="457200"/>
          </a:xfrm>
          <a:prstGeom prst="rect">
            <a:avLst/>
          </a:prstGeom>
          <a:noFill/>
        </p:spPr>
        <p:txBody>
          <a:bodyPr wrap="square" lIns="0" tIns="0" rIns="0" bIns="0">
            <a:spAutoFit/>
          </a:bodyPr>
          <a:lstStyle/>
          <a:p>
            <a:r>
              <a:rPr sz="1400" b="0" i="0">
                <a:solidFill>
                  <a:srgbClr val="5B6775"/>
                </a:solidFill>
                <a:latin typeface="Segoe UI"/>
              </a:rPr>
              <a:t>Spark hands each GROUP to a worker as pandas. Nothing large ever lands on the driver.</a:t>
            </a:r>
          </a:p>
        </p:txBody>
      </p:sp>
      <p:sp>
        <p:nvSpPr>
          <p:cNvPr id="8" name="Rectangle 7"/>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07  ·  Using pandas from PySpark</a:t>
            </a:r>
          </a:p>
        </p:txBody>
      </p:sp>
      <p:sp>
        <p:nvSpPr>
          <p:cNvPr id="10" name="TextBox 9"/>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69</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toPandas() versus collect()</a:t>
            </a:r>
          </a:p>
        </p:txBody>
      </p:sp>
      <p:graphicFrame>
        <p:nvGraphicFramePr>
          <p:cNvPr id="4" name="Table 3"/>
          <p:cNvGraphicFramePr>
            <a:graphicFrameLocks noGrp="1"/>
          </p:cNvGraphicFramePr>
          <p:nvPr/>
        </p:nvGraphicFramePr>
        <p:xfrm>
          <a:off x="658368" y="1481328"/>
          <a:ext cx="10874958" cy="1828800"/>
        </p:xfrm>
        <a:graphic>
          <a:graphicData uri="http://schemas.openxmlformats.org/drawingml/2006/table">
            <a:tbl>
              <a:tblPr firstRow="1" bandRow="1">
                <a:tableStyleId>{5C22544A-7EE6-4342-B048-85BDC9FD1C3A}</a:tableStyleId>
              </a:tblPr>
              <a:tblGrid>
                <a:gridCol w="2276154">
                  <a:extLst>
                    <a:ext uri="{9D8B030D-6E8A-4147-A177-3AD203B41FA5}">
                      <a16:colId xmlns:a16="http://schemas.microsoft.com/office/drawing/2014/main" val="20000"/>
                    </a:ext>
                  </a:extLst>
                </a:gridCol>
                <a:gridCol w="4299402">
                  <a:extLst>
                    <a:ext uri="{9D8B030D-6E8A-4147-A177-3AD203B41FA5}">
                      <a16:colId xmlns:a16="http://schemas.microsoft.com/office/drawing/2014/main" val="20001"/>
                    </a:ext>
                  </a:extLst>
                </a:gridCol>
                <a:gridCol w="4299402">
                  <a:extLst>
                    <a:ext uri="{9D8B030D-6E8A-4147-A177-3AD203B41FA5}">
                      <a16:colId xmlns:a16="http://schemas.microsoft.com/office/drawing/2014/main" val="20002"/>
                    </a:ext>
                  </a:extLst>
                </a:gridCol>
              </a:tblGrid>
              <a:tr h="402336">
                <a:tc>
                  <a:txBody>
                    <a:bodyPr/>
                    <a:lstStyle/>
                    <a:p>
                      <a:endParaRPr/>
                    </a:p>
                  </a:txBody>
                  <a:tcPr anchor="ctr">
                    <a:solidFill>
                      <a:srgbClr val="1F4E79"/>
                    </a:solidFill>
                  </a:tcPr>
                </a:tc>
                <a:tc>
                  <a:txBody>
                    <a:bodyPr/>
                    <a:lstStyle/>
                    <a:p>
                      <a:r>
                        <a:rPr sz="1450" b="1" i="0">
                          <a:solidFill>
                            <a:srgbClr val="FFFFFF"/>
                          </a:solidFill>
                          <a:latin typeface="Segoe UI Semibold"/>
                        </a:rPr>
                        <a:t>`.collect()`</a:t>
                      </a:r>
                    </a:p>
                  </a:txBody>
                  <a:tcPr anchor="ctr">
                    <a:solidFill>
                      <a:srgbClr val="1F4E79"/>
                    </a:solidFill>
                  </a:tcPr>
                </a:tc>
                <a:tc>
                  <a:txBody>
                    <a:bodyPr/>
                    <a:lstStyle/>
                    <a:p>
                      <a:r>
                        <a:rPr sz="1450" b="1" i="0">
                          <a:solidFill>
                            <a:srgbClr val="FFFFFF"/>
                          </a:solidFill>
                          <a:latin typeface="Segoe UI Semibold"/>
                        </a:rPr>
                        <a:t>`.toPandas()`</a:t>
                      </a:r>
                    </a:p>
                  </a:txBody>
                  <a:tcPr anchor="ctr">
                    <a:solidFill>
                      <a:srgbClr val="1F4E79"/>
                    </a:solidFill>
                  </a:tcPr>
                </a:tc>
                <a:extLst>
                  <a:ext uri="{0D108BD9-81ED-4DB2-BD59-A6C34878D82A}">
                    <a16:rowId xmlns:a16="http://schemas.microsoft.com/office/drawing/2014/main" val="10000"/>
                  </a:ext>
                </a:extLst>
              </a:tr>
              <a:tr h="475488">
                <a:tc>
                  <a:txBody>
                    <a:bodyPr/>
                    <a:lstStyle/>
                    <a:p>
                      <a:pPr>
                        <a:lnSpc>
                          <a:spcPct val="106000"/>
                        </a:lnSpc>
                      </a:pPr>
                      <a:r>
                        <a:rPr sz="1400" b="1" i="0">
                          <a:solidFill>
                            <a:srgbClr val="242C38"/>
                          </a:solidFill>
                          <a:latin typeface="Segoe UI"/>
                        </a:rPr>
                        <a:t>Returns</a:t>
                      </a:r>
                    </a:p>
                  </a:txBody>
                  <a:tcPr marT="36576" marB="36576" anchor="ctr">
                    <a:solidFill>
                      <a:srgbClr val="EEF3F8"/>
                    </a:solidFill>
                  </a:tcPr>
                </a:tc>
                <a:tc>
                  <a:txBody>
                    <a:bodyPr/>
                    <a:lstStyle/>
                    <a:p>
                      <a:pPr>
                        <a:lnSpc>
                          <a:spcPct val="106000"/>
                        </a:lnSpc>
                      </a:pPr>
                      <a:r>
                        <a:rPr sz="1400" b="0" i="0">
                          <a:solidFill>
                            <a:srgbClr val="242C38"/>
                          </a:solidFill>
                          <a:latin typeface="Segoe UI"/>
                        </a:rPr>
                        <a:t>a Python list of Row objects</a:t>
                      </a:r>
                    </a:p>
                  </a:txBody>
                  <a:tcPr marT="36576" marB="36576" anchor="ctr">
                    <a:solidFill>
                      <a:srgbClr val="EEF3F8"/>
                    </a:solidFill>
                  </a:tcPr>
                </a:tc>
                <a:tc>
                  <a:txBody>
                    <a:bodyPr/>
                    <a:lstStyle/>
                    <a:p>
                      <a:pPr>
                        <a:lnSpc>
                          <a:spcPct val="106000"/>
                        </a:lnSpc>
                      </a:pPr>
                      <a:r>
                        <a:rPr sz="1400" b="0" i="0">
                          <a:solidFill>
                            <a:srgbClr val="242C38"/>
                          </a:solidFill>
                          <a:latin typeface="Segoe UI"/>
                        </a:rPr>
                        <a:t>one pandas DataFrame</a:t>
                      </a:r>
                    </a:p>
                  </a:txBody>
                  <a:tcPr marT="36576" marB="36576" anchor="ctr">
                    <a:solidFill>
                      <a:srgbClr val="EEF3F8"/>
                    </a:solidFill>
                  </a:tcPr>
                </a:tc>
                <a:extLst>
                  <a:ext uri="{0D108BD9-81ED-4DB2-BD59-A6C34878D82A}">
                    <a16:rowId xmlns:a16="http://schemas.microsoft.com/office/drawing/2014/main" val="10001"/>
                  </a:ext>
                </a:extLst>
              </a:tr>
              <a:tr h="475488">
                <a:tc>
                  <a:txBody>
                    <a:bodyPr/>
                    <a:lstStyle/>
                    <a:p>
                      <a:pPr>
                        <a:lnSpc>
                          <a:spcPct val="106000"/>
                        </a:lnSpc>
                      </a:pPr>
                      <a:r>
                        <a:rPr sz="1400" b="1" i="0">
                          <a:solidFill>
                            <a:srgbClr val="242C38"/>
                          </a:solidFill>
                          <a:latin typeface="Segoe UI"/>
                        </a:rPr>
                        <a:t>Needs Arrow</a:t>
                      </a:r>
                    </a:p>
                  </a:txBody>
                  <a:tcPr marT="36576" marB="36576" anchor="ctr">
                    <a:solidFill>
                      <a:srgbClr val="FFFFFF"/>
                    </a:solidFill>
                  </a:tcPr>
                </a:tc>
                <a:tc>
                  <a:txBody>
                    <a:bodyPr/>
                    <a:lstStyle/>
                    <a:p>
                      <a:pPr>
                        <a:lnSpc>
                          <a:spcPct val="106000"/>
                        </a:lnSpc>
                      </a:pPr>
                      <a:r>
                        <a:rPr sz="1400" b="0" i="0">
                          <a:solidFill>
                            <a:srgbClr val="242C38"/>
                          </a:solidFill>
                          <a:latin typeface="Segoe UI"/>
                        </a:rPr>
                        <a:t>no</a:t>
                      </a:r>
                    </a:p>
                  </a:txBody>
                  <a:tcPr marT="36576" marB="36576" anchor="ctr">
                    <a:solidFill>
                      <a:srgbClr val="FFFFFF"/>
                    </a:solidFill>
                  </a:tcPr>
                </a:tc>
                <a:tc>
                  <a:txBody>
                    <a:bodyPr/>
                    <a:lstStyle/>
                    <a:p>
                      <a:pPr>
                        <a:lnSpc>
                          <a:spcPct val="106000"/>
                        </a:lnSpc>
                      </a:pPr>
                      <a:r>
                        <a:rPr sz="1400" b="0" i="0">
                          <a:solidFill>
                            <a:srgbClr val="242C38"/>
                          </a:solidFill>
                          <a:latin typeface="Segoe UI"/>
                        </a:rPr>
                        <a:t>only if enabled, else just slower</a:t>
                      </a:r>
                    </a:p>
                  </a:txBody>
                  <a:tcPr marT="36576" marB="36576" anchor="ctr">
                    <a:solidFill>
                      <a:srgbClr val="FFFFFF"/>
                    </a:solidFill>
                  </a:tcPr>
                </a:tc>
                <a:extLst>
                  <a:ext uri="{0D108BD9-81ED-4DB2-BD59-A6C34878D82A}">
                    <a16:rowId xmlns:a16="http://schemas.microsoft.com/office/drawing/2014/main" val="10002"/>
                  </a:ext>
                </a:extLst>
              </a:tr>
              <a:tr h="475488">
                <a:tc>
                  <a:txBody>
                    <a:bodyPr/>
                    <a:lstStyle/>
                    <a:p>
                      <a:pPr>
                        <a:lnSpc>
                          <a:spcPct val="106000"/>
                        </a:lnSpc>
                      </a:pPr>
                      <a:r>
                        <a:rPr sz="1400" b="1" i="0">
                          <a:solidFill>
                            <a:srgbClr val="242C38"/>
                          </a:solidFill>
                          <a:latin typeface="Segoe UI"/>
                        </a:rPr>
                        <a:t>Memory shape</a:t>
                      </a:r>
                    </a:p>
                  </a:txBody>
                  <a:tcPr marT="36576" marB="36576" anchor="ctr">
                    <a:solidFill>
                      <a:srgbClr val="EEF3F8"/>
                    </a:solidFill>
                  </a:tcPr>
                </a:tc>
                <a:tc>
                  <a:txBody>
                    <a:bodyPr/>
                    <a:lstStyle/>
                    <a:p>
                      <a:pPr>
                        <a:lnSpc>
                          <a:spcPct val="106000"/>
                        </a:lnSpc>
                      </a:pPr>
                      <a:r>
                        <a:rPr sz="1400" b="0" i="0">
                          <a:solidFill>
                            <a:srgbClr val="242C38"/>
                          </a:solidFill>
                          <a:latin typeface="Segoe UI"/>
                        </a:rPr>
                        <a:t>one object per row, on the driver</a:t>
                      </a:r>
                    </a:p>
                  </a:txBody>
                  <a:tcPr marT="36576" marB="36576" anchor="ctr">
                    <a:solidFill>
                      <a:srgbClr val="EEF3F8"/>
                    </a:solidFill>
                  </a:tcPr>
                </a:tc>
                <a:tc>
                  <a:txBody>
                    <a:bodyPr/>
                    <a:lstStyle/>
                    <a:p>
                      <a:pPr>
                        <a:lnSpc>
                          <a:spcPct val="106000"/>
                        </a:lnSpc>
                      </a:pPr>
                      <a:r>
                        <a:rPr sz="1400" b="0" i="0">
                          <a:solidFill>
                            <a:srgbClr val="242C38"/>
                          </a:solidFill>
                          <a:latin typeface="Segoe UI"/>
                        </a:rPr>
                        <a:t>one DataFrame, all on the driver</a:t>
                      </a:r>
                    </a:p>
                  </a:txBody>
                  <a:tcPr marT="36576" marB="36576" anchor="ctr">
                    <a:solidFill>
                      <a:srgbClr val="EEF3F8"/>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658368" y="5724144"/>
            <a:ext cx="10874959" cy="502920"/>
          </a:xfrm>
          <a:prstGeom prst="rect">
            <a:avLst/>
          </a:prstGeom>
          <a:noFill/>
        </p:spPr>
        <p:txBody>
          <a:bodyPr wrap="square" lIns="0" tIns="0" rIns="0" bIns="0">
            <a:spAutoFit/>
          </a:bodyPr>
          <a:lstStyle/>
          <a:p>
            <a:r>
              <a:rPr sz="1300" b="0" i="1">
                <a:solidFill>
                  <a:srgbClr val="5B6775"/>
                </a:solidFill>
                <a:latin typeface="Segoe UI"/>
              </a:rPr>
              <a:t>Neither is the safe one. Know the row count and size before calling either.</a:t>
            </a:r>
          </a:p>
        </p:txBody>
      </p:sp>
      <p:sp>
        <p:nvSpPr>
          <p:cNvPr id="6" name="Rectangle 5"/>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07  ·  Using pandas from PySpark</a:t>
            </a:r>
          </a:p>
        </p:txBody>
      </p:sp>
      <p:sp>
        <p:nvSpPr>
          <p:cNvPr id="8" name="TextBox 7"/>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70</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pandas to Spark: a schema trap</a:t>
            </a:r>
          </a:p>
        </p:txBody>
      </p:sp>
      <p:sp>
        <p:nvSpPr>
          <p:cNvPr id="4" name="Rectangle 3"/>
          <p:cNvSpPr/>
          <p:nvPr/>
        </p:nvSpPr>
        <p:spPr>
          <a:xfrm>
            <a:off x="658368" y="1481328"/>
            <a:ext cx="10874959" cy="2737104"/>
          </a:xfrm>
          <a:prstGeom prst="rect">
            <a:avLst/>
          </a:prstGeom>
          <a:solidFill>
            <a:srgbClr val="F5F7F9"/>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81328"/>
            <a:ext cx="43180" cy="2737104"/>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77824" y="1645920"/>
            <a:ext cx="10509199" cy="2462784"/>
          </a:xfrm>
          <a:prstGeom prst="rect">
            <a:avLst/>
          </a:prstGeom>
          <a:noFill/>
        </p:spPr>
        <p:txBody>
          <a:bodyPr wrap="square" lIns="0" tIns="0" rIns="0" bIns="0">
            <a:spAutoFit/>
          </a:bodyPr>
          <a:lstStyle/>
          <a:p>
            <a:pPr>
              <a:lnSpc>
                <a:spcPct val="116000"/>
              </a:lnSpc>
              <a:spcAft>
                <a:spcPts val="0"/>
              </a:spcAft>
            </a:pPr>
            <a:r>
              <a:rPr sz="1500" b="0" i="0">
                <a:solidFill>
                  <a:srgbClr val="242C38"/>
                </a:solidFill>
                <a:latin typeface="Consolas"/>
              </a:rPr>
              <a:t>pdf = pd.DataFrame({</a:t>
            </a:r>
            <a:r>
              <a:rPr sz="1500" b="0" i="0">
                <a:solidFill>
                  <a:srgbClr val="A31515"/>
                </a:solidFill>
                <a:latin typeface="Consolas"/>
              </a:rPr>
              <a:t>"count"</a:t>
            </a:r>
            <a:r>
              <a:rPr sz="1500" b="0" i="0">
                <a:solidFill>
                  <a:srgbClr val="242C38"/>
                </a:solidFill>
                <a:latin typeface="Consolas"/>
              </a:rPr>
              <a:t>: [</a:t>
            </a:r>
            <a:r>
              <a:rPr sz="1500" b="0" i="0">
                <a:solidFill>
                  <a:srgbClr val="098658"/>
                </a:solidFill>
                <a:latin typeface="Consolas"/>
              </a:rPr>
              <a:t>3</a:t>
            </a:r>
            <a:r>
              <a:rPr sz="1500" b="0" i="0">
                <a:solidFill>
                  <a:srgbClr val="242C38"/>
                </a:solidFill>
                <a:latin typeface="Consolas"/>
              </a:rPr>
              <a:t>.</a:t>
            </a:r>
            <a:r>
              <a:rPr sz="1500" b="0" i="0">
                <a:solidFill>
                  <a:srgbClr val="098658"/>
                </a:solidFill>
                <a:latin typeface="Consolas"/>
              </a:rPr>
              <a:t>0</a:t>
            </a:r>
            <a:r>
              <a:rPr sz="1500" b="0" i="0">
                <a:solidFill>
                  <a:srgbClr val="242C38"/>
                </a:solidFill>
                <a:latin typeface="Consolas"/>
              </a:rPr>
              <a:t>, </a:t>
            </a:r>
            <a:r>
              <a:rPr sz="1500" b="0" i="0">
                <a:solidFill>
                  <a:srgbClr val="098658"/>
                </a:solidFill>
                <a:latin typeface="Consolas"/>
              </a:rPr>
              <a:t>5</a:t>
            </a:r>
            <a:r>
              <a:rPr sz="1500" b="0" i="0">
                <a:solidFill>
                  <a:srgbClr val="242C38"/>
                </a:solidFill>
                <a:latin typeface="Consolas"/>
              </a:rPr>
              <a:t>.</a:t>
            </a:r>
            <a:r>
              <a:rPr sz="1500" b="0" i="0">
                <a:solidFill>
                  <a:srgbClr val="098658"/>
                </a:solidFill>
                <a:latin typeface="Consolas"/>
              </a:rPr>
              <a:t>0</a:t>
            </a:r>
            <a:r>
              <a:rPr sz="1500" b="0" i="0">
                <a:solidFill>
                  <a:srgbClr val="242C38"/>
                </a:solidFill>
                <a:latin typeface="Consolas"/>
              </a:rPr>
              <a:t>]})</a:t>
            </a:r>
          </a:p>
          <a:p>
            <a:pPr>
              <a:lnSpc>
                <a:spcPct val="116000"/>
              </a:lnSpc>
              <a:spcAft>
                <a:spcPts val="0"/>
              </a:spcAft>
            </a:pPr>
            <a:r>
              <a:rPr sz="1500" b="0" i="0">
                <a:solidFill>
                  <a:srgbClr val="242C38"/>
                </a:solidFill>
                <a:latin typeface="Consolas"/>
              </a:rPr>
              <a:t> </a:t>
            </a:r>
          </a:p>
          <a:p>
            <a:pPr>
              <a:lnSpc>
                <a:spcPct val="116000"/>
              </a:lnSpc>
              <a:spcAft>
                <a:spcPts val="0"/>
              </a:spcAft>
            </a:pPr>
            <a:r>
              <a:rPr sz="1500" b="0" i="1">
                <a:solidFill>
                  <a:srgbClr val="6F865C"/>
                </a:solidFill>
                <a:latin typeface="Consolas"/>
              </a:rPr>
              <a:t># fails: verifier rejects a float for a declared int</a:t>
            </a:r>
          </a:p>
          <a:p>
            <a:pPr>
              <a:lnSpc>
                <a:spcPct val="116000"/>
              </a:lnSpc>
              <a:spcAft>
                <a:spcPts val="0"/>
              </a:spcAft>
            </a:pPr>
            <a:r>
              <a:rPr sz="1500" b="0" i="0">
                <a:solidFill>
                  <a:srgbClr val="242C38"/>
                </a:solidFill>
                <a:latin typeface="Consolas"/>
              </a:rPr>
              <a:t>bad = spark.createDataFrame(pdf, schema=</a:t>
            </a:r>
            <a:r>
              <a:rPr sz="1500" b="0" i="0">
                <a:solidFill>
                  <a:srgbClr val="A31515"/>
                </a:solidFill>
                <a:latin typeface="Consolas"/>
              </a:rPr>
              <a:t>"count int"</a:t>
            </a:r>
            <a:r>
              <a:rPr sz="1500" b="0" i="0">
                <a:solidFill>
                  <a:srgbClr val="242C38"/>
                </a:solidFill>
                <a:latin typeface="Consolas"/>
              </a:rPr>
              <a:t>)</a:t>
            </a:r>
          </a:p>
          <a:p>
            <a:pPr>
              <a:lnSpc>
                <a:spcPct val="116000"/>
              </a:lnSpc>
              <a:spcAft>
                <a:spcPts val="0"/>
              </a:spcAft>
            </a:pPr>
            <a:r>
              <a:rPr sz="1500" b="0" i="0">
                <a:solidFill>
                  <a:srgbClr val="242C38"/>
                </a:solidFill>
                <a:latin typeface="Consolas"/>
              </a:rPr>
              <a:t> </a:t>
            </a:r>
          </a:p>
          <a:p>
            <a:pPr>
              <a:lnSpc>
                <a:spcPct val="116000"/>
              </a:lnSpc>
              <a:spcAft>
                <a:spcPts val="0"/>
              </a:spcAft>
            </a:pPr>
            <a:r>
              <a:rPr sz="1500" b="0" i="1">
                <a:solidFill>
                  <a:srgbClr val="6F865C"/>
                </a:solidFill>
                <a:latin typeface="Consolas"/>
              </a:rPr>
              <a:t># works: infer first, then cast</a:t>
            </a:r>
          </a:p>
          <a:p>
            <a:pPr>
              <a:lnSpc>
                <a:spcPct val="116000"/>
              </a:lnSpc>
              <a:spcAft>
                <a:spcPts val="0"/>
              </a:spcAft>
            </a:pPr>
            <a:r>
              <a:rPr sz="1500" b="0" i="0">
                <a:solidFill>
                  <a:srgbClr val="242C38"/>
                </a:solidFill>
                <a:latin typeface="Consolas"/>
              </a:rPr>
              <a:t>good = spark.createDataFrame(pdf) \</a:t>
            </a:r>
          </a:p>
          <a:p>
            <a:pPr>
              <a:lnSpc>
                <a:spcPct val="116000"/>
              </a:lnSpc>
              <a:spcAft>
                <a:spcPts val="0"/>
              </a:spcAft>
            </a:pPr>
            <a:r>
              <a:rPr sz="1500" b="0" i="0">
                <a:solidFill>
                  <a:srgbClr val="242C38"/>
                </a:solidFill>
                <a:latin typeface="Consolas"/>
              </a:rPr>
              <a:t>    .withColumn(</a:t>
            </a:r>
            <a:r>
              <a:rPr sz="1500" b="0" i="0">
                <a:solidFill>
                  <a:srgbClr val="A31515"/>
                </a:solidFill>
                <a:latin typeface="Consolas"/>
              </a:rPr>
              <a:t>"count"</a:t>
            </a:r>
            <a:r>
              <a:rPr sz="1500" b="0" i="0">
                <a:solidFill>
                  <a:srgbClr val="242C38"/>
                </a:solidFill>
                <a:latin typeface="Consolas"/>
              </a:rPr>
              <a:t>, F.col(</a:t>
            </a:r>
            <a:r>
              <a:rPr sz="1500" b="0" i="0">
                <a:solidFill>
                  <a:srgbClr val="A31515"/>
                </a:solidFill>
                <a:latin typeface="Consolas"/>
              </a:rPr>
              <a:t>"count"</a:t>
            </a:r>
            <a:r>
              <a:rPr sz="1500" b="0" i="0">
                <a:solidFill>
                  <a:srgbClr val="242C38"/>
                </a:solidFill>
                <a:latin typeface="Consolas"/>
              </a:rPr>
              <a:t>).cast(</a:t>
            </a:r>
            <a:r>
              <a:rPr sz="1500" b="0" i="0">
                <a:solidFill>
                  <a:srgbClr val="A31515"/>
                </a:solidFill>
                <a:latin typeface="Consolas"/>
              </a:rPr>
              <a:t>"int"</a:t>
            </a:r>
            <a:r>
              <a:rPr sz="1500" b="0" i="0">
                <a:solidFill>
                  <a:srgbClr val="242C38"/>
                </a:solidFill>
                <a:latin typeface="Consolas"/>
              </a:rPr>
              <a:t>))</a:t>
            </a:r>
          </a:p>
        </p:txBody>
      </p:sp>
      <p:sp>
        <p:nvSpPr>
          <p:cNvPr id="7" name="TextBox 6"/>
          <p:cNvSpPr txBox="1"/>
          <p:nvPr/>
        </p:nvSpPr>
        <p:spPr>
          <a:xfrm>
            <a:off x="658368" y="4364736"/>
            <a:ext cx="10874959" cy="457200"/>
          </a:xfrm>
          <a:prstGeom prst="rect">
            <a:avLst/>
          </a:prstGeom>
          <a:noFill/>
        </p:spPr>
        <p:txBody>
          <a:bodyPr wrap="square" lIns="0" tIns="0" rIns="0" bIns="0">
            <a:spAutoFit/>
          </a:bodyPr>
          <a:lstStyle/>
          <a:p>
            <a:r>
              <a:rPr sz="1400" b="0" i="0">
                <a:solidFill>
                  <a:srgbClr val="5B6775"/>
                </a:solidFill>
                <a:latin typeface="Segoe UI"/>
              </a:rPr>
              <a:t>Spark's type verifier is stricter than Python. It won't silently truncate 3.0 to 3.</a:t>
            </a:r>
          </a:p>
        </p:txBody>
      </p:sp>
      <p:sp>
        <p:nvSpPr>
          <p:cNvPr id="8" name="Rectangle 7"/>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07  ·  Using pandas from PySpark</a:t>
            </a:r>
          </a:p>
        </p:txBody>
      </p:sp>
      <p:sp>
        <p:nvSpPr>
          <p:cNvPr id="10" name="TextBox 9"/>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71</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Pandas habits that do not translate</a:t>
            </a:r>
          </a:p>
        </p:txBody>
      </p:sp>
      <p:sp>
        <p:nvSpPr>
          <p:cNvPr id="4" name="Rectangle 3"/>
          <p:cNvSpPr/>
          <p:nvPr/>
        </p:nvSpPr>
        <p:spPr>
          <a:xfrm>
            <a:off x="658368" y="1481328"/>
            <a:ext cx="5245455" cy="420624"/>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1581912"/>
            <a:ext cx="4971135" cy="274320"/>
          </a:xfrm>
          <a:prstGeom prst="rect">
            <a:avLst/>
          </a:prstGeom>
          <a:noFill/>
        </p:spPr>
        <p:txBody>
          <a:bodyPr wrap="square" lIns="0" tIns="0" rIns="0" bIns="0">
            <a:spAutoFit/>
          </a:bodyPr>
          <a:lstStyle/>
          <a:p>
            <a:r>
              <a:rPr sz="1450" b="1" i="0">
                <a:solidFill>
                  <a:srgbClr val="1F4E79"/>
                </a:solidFill>
                <a:latin typeface="Segoe UI Semibold"/>
              </a:rPr>
              <a:t>The pandas reflex</a:t>
            </a:r>
          </a:p>
        </p:txBody>
      </p:sp>
      <p:sp>
        <p:nvSpPr>
          <p:cNvPr id="6" name="TextBox 5"/>
          <p:cNvSpPr txBox="1"/>
          <p:nvPr/>
        </p:nvSpPr>
        <p:spPr>
          <a:xfrm>
            <a:off x="704088" y="2103120"/>
            <a:ext cx="5154015" cy="3794760"/>
          </a:xfrm>
          <a:prstGeom prst="rect">
            <a:avLst/>
          </a:prstGeom>
          <a:noFill/>
        </p:spPr>
        <p:txBody>
          <a:bodyPr wrap="square" lIns="0" tIns="0" rIns="0" bIns="0">
            <a:spAutoFit/>
          </a:bodyPr>
          <a:lstStyle/>
          <a:p>
            <a:pPr marL="274320" indent="-274320">
              <a:lnSpc>
                <a:spcPct val="118000"/>
              </a:lnSpc>
              <a:spcAft>
                <a:spcPts val="900"/>
              </a:spcAft>
            </a:pPr>
            <a:r>
              <a:rPr sz="1600" b="1" i="0">
                <a:solidFill>
                  <a:srgbClr val="2E74B5"/>
                </a:solidFill>
                <a:latin typeface="Segoe UI"/>
              </a:rPr>
              <a:t>▪   </a:t>
            </a:r>
            <a:r>
              <a:rPr sz="1600" b="0" i="0">
                <a:solidFill>
                  <a:srgbClr val="242C38"/>
                </a:solidFill>
                <a:latin typeface="Segoe UI"/>
              </a:rPr>
              <a:t>df.iloc[3], positional row access</a:t>
            </a:r>
          </a:p>
          <a:p>
            <a:pPr marL="274320" indent="-274320">
              <a:lnSpc>
                <a:spcPct val="118000"/>
              </a:lnSpc>
              <a:spcAft>
                <a:spcPts val="900"/>
              </a:spcAft>
            </a:pPr>
            <a:r>
              <a:rPr sz="1600" b="1" i="0">
                <a:solidFill>
                  <a:srgbClr val="2E74B5"/>
                </a:solidFill>
                <a:latin typeface="Segoe UI"/>
              </a:rPr>
              <a:t>▪   </a:t>
            </a:r>
            <a:r>
              <a:rPr sz="1600" b="0" i="0">
                <a:solidFill>
                  <a:srgbClr val="242C38"/>
                </a:solidFill>
                <a:latin typeface="Segoe UI"/>
              </a:rPr>
              <a:t>df.sort_values(inplace=True)</a:t>
            </a:r>
          </a:p>
          <a:p>
            <a:pPr marL="274320" indent="-274320">
              <a:lnSpc>
                <a:spcPct val="118000"/>
              </a:lnSpc>
              <a:spcAft>
                <a:spcPts val="900"/>
              </a:spcAft>
            </a:pPr>
            <a:r>
              <a:rPr sz="1600" b="1" i="0">
                <a:solidFill>
                  <a:srgbClr val="2E74B5"/>
                </a:solidFill>
                <a:latin typeface="Segoe UI"/>
              </a:rPr>
              <a:t>▪   </a:t>
            </a:r>
            <a:r>
              <a:rPr sz="1600" b="0" i="0">
                <a:solidFill>
                  <a:srgbClr val="242C38"/>
                </a:solidFill>
                <a:latin typeface="Segoe UI"/>
              </a:rPr>
              <a:t>looping over df.iterrows()</a:t>
            </a:r>
          </a:p>
        </p:txBody>
      </p:sp>
      <p:sp>
        <p:nvSpPr>
          <p:cNvPr id="7" name="Rectangle 6"/>
          <p:cNvSpPr/>
          <p:nvPr/>
        </p:nvSpPr>
        <p:spPr>
          <a:xfrm>
            <a:off x="6287871" y="1481328"/>
            <a:ext cx="5245455" cy="420624"/>
          </a:xfrm>
          <a:prstGeom prst="rect">
            <a:avLst/>
          </a:prstGeom>
          <a:solidFill>
            <a:srgbClr val="FFFFFF"/>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52463" y="1581912"/>
            <a:ext cx="4971135" cy="274320"/>
          </a:xfrm>
          <a:prstGeom prst="rect">
            <a:avLst/>
          </a:prstGeom>
          <a:noFill/>
        </p:spPr>
        <p:txBody>
          <a:bodyPr wrap="square" lIns="0" tIns="0" rIns="0" bIns="0">
            <a:spAutoFit/>
          </a:bodyPr>
          <a:lstStyle/>
          <a:p>
            <a:r>
              <a:rPr sz="1450" b="1" i="0">
                <a:solidFill>
                  <a:srgbClr val="5B6775"/>
                </a:solidFill>
                <a:latin typeface="Segoe UI Semibold"/>
              </a:rPr>
              <a:t>Why it's different here</a:t>
            </a:r>
          </a:p>
        </p:txBody>
      </p:sp>
      <p:sp>
        <p:nvSpPr>
          <p:cNvPr id="9" name="TextBox 8"/>
          <p:cNvSpPr txBox="1"/>
          <p:nvPr/>
        </p:nvSpPr>
        <p:spPr>
          <a:xfrm>
            <a:off x="6333591" y="2103120"/>
            <a:ext cx="5154015" cy="3794760"/>
          </a:xfrm>
          <a:prstGeom prst="rect">
            <a:avLst/>
          </a:prstGeom>
          <a:noFill/>
        </p:spPr>
        <p:txBody>
          <a:bodyPr wrap="square" lIns="0" tIns="0" rIns="0" bIns="0">
            <a:spAutoFit/>
          </a:bodyPr>
          <a:lstStyle/>
          <a:p>
            <a:pPr marL="274320" indent="-274320">
              <a:lnSpc>
                <a:spcPct val="118000"/>
              </a:lnSpc>
              <a:spcAft>
                <a:spcPts val="900"/>
              </a:spcAft>
            </a:pPr>
            <a:r>
              <a:rPr sz="1600" b="1" i="0">
                <a:solidFill>
                  <a:srgbClr val="2E74B5"/>
                </a:solidFill>
                <a:latin typeface="Segoe UI"/>
              </a:rPr>
              <a:t>▪   </a:t>
            </a:r>
            <a:r>
              <a:rPr sz="1600" b="0" i="0">
                <a:solidFill>
                  <a:srgbClr val="242C38"/>
                </a:solidFill>
                <a:latin typeface="Segoe UI"/>
              </a:rPr>
              <a:t>Spark has no guaranteed row order across partitions</a:t>
            </a:r>
          </a:p>
          <a:p>
            <a:pPr marL="274320" indent="-274320">
              <a:lnSpc>
                <a:spcPct val="118000"/>
              </a:lnSpc>
              <a:spcAft>
                <a:spcPts val="900"/>
              </a:spcAft>
            </a:pPr>
            <a:r>
              <a:rPr sz="1600" b="1" i="0">
                <a:solidFill>
                  <a:srgbClr val="2E74B5"/>
                </a:solidFill>
                <a:latin typeface="Segoe UI"/>
              </a:rPr>
              <a:t>▪   </a:t>
            </a:r>
            <a:r>
              <a:rPr sz="1600" b="0" i="0">
                <a:solidFill>
                  <a:srgbClr val="242C38"/>
                </a:solidFill>
                <a:latin typeface="Segoe UI"/>
              </a:rPr>
              <a:t>there is no inplace, every op returns a new DataFrame</a:t>
            </a:r>
          </a:p>
          <a:p>
            <a:pPr marL="274320" indent="-274320">
              <a:lnSpc>
                <a:spcPct val="118000"/>
              </a:lnSpc>
              <a:spcAft>
                <a:spcPts val="900"/>
              </a:spcAft>
            </a:pPr>
            <a:r>
              <a:rPr sz="1600" b="1" i="0">
                <a:solidFill>
                  <a:srgbClr val="2E74B5"/>
                </a:solidFill>
                <a:latin typeface="Segoe UI"/>
              </a:rPr>
              <a:t>▪   </a:t>
            </a:r>
            <a:r>
              <a:rPr sz="1600" b="0" i="0">
                <a:solidFill>
                  <a:srgbClr val="242C38"/>
                </a:solidFill>
                <a:latin typeface="Segoe UI"/>
              </a:rPr>
              <a:t>pulls everything through Python row by row, slow</a:t>
            </a:r>
          </a:p>
        </p:txBody>
      </p:sp>
      <p:sp>
        <p:nvSpPr>
          <p:cNvPr id="10" name="Rectangle 9"/>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07  ·  Using pandas from PySpark</a:t>
            </a:r>
          </a:p>
        </p:txBody>
      </p:sp>
      <p:sp>
        <p:nvSpPr>
          <p:cNvPr id="12" name="TextBox 11"/>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72</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Decision guide: which tool, for which job</a:t>
            </a:r>
          </a:p>
        </p:txBody>
      </p:sp>
      <p:graphicFrame>
        <p:nvGraphicFramePr>
          <p:cNvPr id="4" name="Table 3"/>
          <p:cNvGraphicFramePr>
            <a:graphicFrameLocks noGrp="1"/>
          </p:cNvGraphicFramePr>
          <p:nvPr/>
        </p:nvGraphicFramePr>
        <p:xfrm>
          <a:off x="658368" y="1481328"/>
          <a:ext cx="10874958" cy="2304288"/>
        </p:xfrm>
        <a:graphic>
          <a:graphicData uri="http://schemas.openxmlformats.org/drawingml/2006/table">
            <a:tbl>
              <a:tblPr firstRow="1" bandRow="1">
                <a:tableStyleId>{5C22544A-7EE6-4342-B048-85BDC9FD1C3A}</a:tableStyleId>
              </a:tblPr>
              <a:tblGrid>
                <a:gridCol w="5739561">
                  <a:extLst>
                    <a:ext uri="{9D8B030D-6E8A-4147-A177-3AD203B41FA5}">
                      <a16:colId xmlns:a16="http://schemas.microsoft.com/office/drawing/2014/main" val="20000"/>
                    </a:ext>
                  </a:extLst>
                </a:gridCol>
                <a:gridCol w="5135397">
                  <a:extLst>
                    <a:ext uri="{9D8B030D-6E8A-4147-A177-3AD203B41FA5}">
                      <a16:colId xmlns:a16="http://schemas.microsoft.com/office/drawing/2014/main" val="20001"/>
                    </a:ext>
                  </a:extLst>
                </a:gridCol>
              </a:tblGrid>
              <a:tr h="402336">
                <a:tc>
                  <a:txBody>
                    <a:bodyPr/>
                    <a:lstStyle/>
                    <a:p>
                      <a:r>
                        <a:rPr sz="1450" b="1" i="0">
                          <a:solidFill>
                            <a:srgbClr val="FFFFFF"/>
                          </a:solidFill>
                          <a:latin typeface="Segoe UI Semibold"/>
                        </a:rPr>
                        <a:t>Need</a:t>
                      </a:r>
                    </a:p>
                  </a:txBody>
                  <a:tcPr anchor="ctr">
                    <a:solidFill>
                      <a:srgbClr val="1F4E79"/>
                    </a:solidFill>
                  </a:tcPr>
                </a:tc>
                <a:tc>
                  <a:txBody>
                    <a:bodyPr/>
                    <a:lstStyle/>
                    <a:p>
                      <a:r>
                        <a:rPr sz="1450" b="1" i="0">
                          <a:solidFill>
                            <a:srgbClr val="FFFFFF"/>
                          </a:solidFill>
                          <a:latin typeface="Segoe UI Semibold"/>
                        </a:rPr>
                        <a:t>Use</a:t>
                      </a:r>
                    </a:p>
                  </a:txBody>
                  <a:tcPr anchor="ctr">
                    <a:solidFill>
                      <a:srgbClr val="1F4E79"/>
                    </a:solidFill>
                  </a:tcPr>
                </a:tc>
                <a:extLst>
                  <a:ext uri="{0D108BD9-81ED-4DB2-BD59-A6C34878D82A}">
                    <a16:rowId xmlns:a16="http://schemas.microsoft.com/office/drawing/2014/main" val="10000"/>
                  </a:ext>
                </a:extLst>
              </a:tr>
              <a:tr h="475488">
                <a:tc>
                  <a:txBody>
                    <a:bodyPr/>
                    <a:lstStyle/>
                    <a:p>
                      <a:pPr>
                        <a:lnSpc>
                          <a:spcPct val="106000"/>
                        </a:lnSpc>
                      </a:pPr>
                      <a:r>
                        <a:rPr sz="1400" b="1" i="0">
                          <a:solidFill>
                            <a:srgbClr val="242C38"/>
                          </a:solidFill>
                          <a:latin typeface="Segoe UI"/>
                        </a:rPr>
                        <a:t>A small final result, already aggregated</a:t>
                      </a:r>
                    </a:p>
                  </a:txBody>
                  <a:tcPr marT="36576" marB="36576" anchor="ctr">
                    <a:solidFill>
                      <a:srgbClr val="EEF3F8"/>
                    </a:solidFill>
                  </a:tcPr>
                </a:tc>
                <a:tc>
                  <a:txBody>
                    <a:bodyPr/>
                    <a:lstStyle/>
                    <a:p>
                      <a:pPr>
                        <a:lnSpc>
                          <a:spcPct val="106000"/>
                        </a:lnSpc>
                      </a:pPr>
                      <a:r>
                        <a:rPr sz="1400" b="0" i="0">
                          <a:solidFill>
                            <a:srgbClr val="242C38"/>
                          </a:solidFill>
                          <a:latin typeface="Segoe UI"/>
                        </a:rPr>
                        <a:t>toPandas(), after aggregating</a:t>
                      </a:r>
                    </a:p>
                  </a:txBody>
                  <a:tcPr marT="36576" marB="36576" anchor="ctr">
                    <a:solidFill>
                      <a:srgbClr val="EEF3F8"/>
                    </a:solidFill>
                  </a:tcPr>
                </a:tc>
                <a:extLst>
                  <a:ext uri="{0D108BD9-81ED-4DB2-BD59-A6C34878D82A}">
                    <a16:rowId xmlns:a16="http://schemas.microsoft.com/office/drawing/2014/main" val="10001"/>
                  </a:ext>
                </a:extLst>
              </a:tr>
              <a:tr h="475488">
                <a:tc>
                  <a:txBody>
                    <a:bodyPr/>
                    <a:lstStyle/>
                    <a:p>
                      <a:pPr>
                        <a:lnSpc>
                          <a:spcPct val="106000"/>
                        </a:lnSpc>
                      </a:pPr>
                      <a:r>
                        <a:rPr sz="1400" b="1" i="0">
                          <a:solidFill>
                            <a:srgbClr val="242C38"/>
                          </a:solidFill>
                          <a:latin typeface="Segoe UI"/>
                        </a:rPr>
                        <a:t>A pandas-only calculation, per group, at scale</a:t>
                      </a:r>
                    </a:p>
                  </a:txBody>
                  <a:tcPr marT="36576" marB="36576" anchor="ctr">
                    <a:solidFill>
                      <a:srgbClr val="FFFFFF"/>
                    </a:solidFill>
                  </a:tcPr>
                </a:tc>
                <a:tc>
                  <a:txBody>
                    <a:bodyPr/>
                    <a:lstStyle/>
                    <a:p>
                      <a:pPr>
                        <a:lnSpc>
                          <a:spcPct val="106000"/>
                        </a:lnSpc>
                      </a:pPr>
                      <a:r>
                        <a:rPr sz="1400" b="0" i="0">
                          <a:solidFill>
                            <a:srgbClr val="242C38"/>
                          </a:solidFill>
                          <a:latin typeface="Segoe UI"/>
                        </a:rPr>
                        <a:t>applyInPandas</a:t>
                      </a:r>
                    </a:p>
                  </a:txBody>
                  <a:tcPr marT="36576" marB="36576" anchor="ctr">
                    <a:solidFill>
                      <a:srgbClr val="FFFFFF"/>
                    </a:solidFill>
                  </a:tcPr>
                </a:tc>
                <a:extLst>
                  <a:ext uri="{0D108BD9-81ED-4DB2-BD59-A6C34878D82A}">
                    <a16:rowId xmlns:a16="http://schemas.microsoft.com/office/drawing/2014/main" val="10002"/>
                  </a:ext>
                </a:extLst>
              </a:tr>
              <a:tr h="475488">
                <a:tc>
                  <a:txBody>
                    <a:bodyPr/>
                    <a:lstStyle/>
                    <a:p>
                      <a:pPr>
                        <a:lnSpc>
                          <a:spcPct val="106000"/>
                        </a:lnSpc>
                      </a:pPr>
                      <a:r>
                        <a:rPr sz="1400" b="1" i="0">
                          <a:solidFill>
                            <a:srgbClr val="242C38"/>
                          </a:solidFill>
                          <a:latin typeface="Segoe UI"/>
                        </a:rPr>
                        <a:t>pandas syntax, migrating existing code</a:t>
                      </a:r>
                    </a:p>
                  </a:txBody>
                  <a:tcPr marT="36576" marB="36576" anchor="ctr">
                    <a:solidFill>
                      <a:srgbClr val="EEF3F8"/>
                    </a:solidFill>
                  </a:tcPr>
                </a:tc>
                <a:tc>
                  <a:txBody>
                    <a:bodyPr/>
                    <a:lstStyle/>
                    <a:p>
                      <a:pPr>
                        <a:lnSpc>
                          <a:spcPct val="106000"/>
                        </a:lnSpc>
                      </a:pPr>
                      <a:r>
                        <a:rPr sz="1400" b="0" i="0">
                          <a:solidFill>
                            <a:srgbClr val="242C38"/>
                          </a:solidFill>
                          <a:latin typeface="Segoe UI"/>
                        </a:rPr>
                        <a:t>pyspark.pandas</a:t>
                      </a:r>
                    </a:p>
                  </a:txBody>
                  <a:tcPr marT="36576" marB="36576" anchor="ctr">
                    <a:solidFill>
                      <a:srgbClr val="EEF3F8"/>
                    </a:solidFill>
                  </a:tcPr>
                </a:tc>
                <a:extLst>
                  <a:ext uri="{0D108BD9-81ED-4DB2-BD59-A6C34878D82A}">
                    <a16:rowId xmlns:a16="http://schemas.microsoft.com/office/drawing/2014/main" val="10003"/>
                  </a:ext>
                </a:extLst>
              </a:tr>
              <a:tr h="475488">
                <a:tc>
                  <a:txBody>
                    <a:bodyPr/>
                    <a:lstStyle/>
                    <a:p>
                      <a:pPr>
                        <a:lnSpc>
                          <a:spcPct val="106000"/>
                        </a:lnSpc>
                      </a:pPr>
                      <a:r>
                        <a:rPr sz="1400" b="1" i="0">
                          <a:solidFill>
                            <a:srgbClr val="242C38"/>
                          </a:solidFill>
                          <a:latin typeface="Segoe UI"/>
                        </a:rPr>
                        <a:t>everything else</a:t>
                      </a:r>
                    </a:p>
                  </a:txBody>
                  <a:tcPr marT="36576" marB="36576" anchor="ctr">
                    <a:solidFill>
                      <a:srgbClr val="FFFFFF"/>
                    </a:solidFill>
                  </a:tcPr>
                </a:tc>
                <a:tc>
                  <a:txBody>
                    <a:bodyPr/>
                    <a:lstStyle/>
                    <a:p>
                      <a:pPr>
                        <a:lnSpc>
                          <a:spcPct val="106000"/>
                        </a:lnSpc>
                      </a:pPr>
                      <a:r>
                        <a:rPr sz="1400" b="0" i="0">
                          <a:solidFill>
                            <a:srgbClr val="242C38"/>
                          </a:solidFill>
                          <a:latin typeface="Segoe UI"/>
                        </a:rPr>
                        <a:t>the native DataFrame API, almost always fastest</a:t>
                      </a:r>
                    </a:p>
                  </a:txBody>
                  <a:tcPr marT="36576" marB="36576" anchor="ctr">
                    <a:solidFill>
                      <a:srgbClr val="FFFFFF"/>
                    </a:solidFill>
                  </a:tcPr>
                </a:tc>
                <a:extLst>
                  <a:ext uri="{0D108BD9-81ED-4DB2-BD59-A6C34878D82A}">
                    <a16:rowId xmlns:a16="http://schemas.microsoft.com/office/drawing/2014/main" val="10004"/>
                  </a:ext>
                </a:extLst>
              </a:tr>
            </a:tbl>
          </a:graphicData>
        </a:graphic>
      </p:graphicFrame>
      <p:sp>
        <p:nvSpPr>
          <p:cNvPr id="5" name="Rectangle 4"/>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07  ·  Using pandas from PySpark</a:t>
            </a:r>
          </a:p>
        </p:txBody>
      </p:sp>
      <p:sp>
        <p:nvSpPr>
          <p:cNvPr id="7" name="TextBox 6"/>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73</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Module 07 in one screen</a:t>
            </a:r>
          </a:p>
        </p:txBody>
      </p:sp>
      <p:sp>
        <p:nvSpPr>
          <p:cNvPr id="4" name="TextBox 3"/>
          <p:cNvSpPr txBox="1"/>
          <p:nvPr/>
        </p:nvSpPr>
        <p:spPr>
          <a:xfrm>
            <a:off x="658368" y="1481328"/>
            <a:ext cx="10874959" cy="4526280"/>
          </a:xfrm>
          <a:prstGeom prst="rect">
            <a:avLst/>
          </a:prstGeom>
          <a:noFill/>
        </p:spPr>
        <p:txBody>
          <a:bodyPr wrap="square" lIns="0" tIns="0" rIns="0" bIns="0">
            <a:spAutoFit/>
          </a:bodyPr>
          <a:lstStyle/>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toPandas() pulls everything to the driver's memory, aggregate first</a:t>
            </a:r>
          </a:p>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applyInPandas keeps the data distributed, hands pandas one group at a time</a:t>
            </a:r>
          </a:p>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pyspark.pandas gives pandas syntax at Spark scale, mainly for migrating code</a:t>
            </a:r>
          </a:p>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Both applyInPandas and pandas UDFs need Arrow, sensitive to the JDK build</a:t>
            </a:r>
          </a:p>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The native DataFrame API is the default, use others only for a real reason</a:t>
            </a:r>
          </a:p>
        </p:txBody>
      </p:sp>
      <p:sp>
        <p:nvSpPr>
          <p:cNvPr id="5" name="Rectangle 4"/>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07  ·  Using pandas from PySpark</a:t>
            </a:r>
          </a:p>
        </p:txBody>
      </p:sp>
      <p:sp>
        <p:nvSpPr>
          <p:cNvPr id="7" name="TextBox 6"/>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74</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858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51560" y="2057400"/>
            <a:ext cx="9692640" cy="457200"/>
          </a:xfrm>
          <a:prstGeom prst="rect">
            <a:avLst/>
          </a:prstGeom>
          <a:noFill/>
        </p:spPr>
        <p:txBody>
          <a:bodyPr wrap="square" lIns="0" tIns="0" rIns="0" bIns="0">
            <a:spAutoFit/>
          </a:bodyPr>
          <a:lstStyle/>
          <a:p>
            <a:r>
              <a:rPr sz="1300" b="1" i="0">
                <a:solidFill>
                  <a:srgbClr val="2E74B5"/>
                </a:solidFill>
                <a:latin typeface="Segoe UI Semibold"/>
              </a:rPr>
              <a:t>MODULE 08</a:t>
            </a:r>
          </a:p>
        </p:txBody>
      </p:sp>
      <p:sp>
        <p:nvSpPr>
          <p:cNvPr id="5" name="TextBox 4"/>
          <p:cNvSpPr txBox="1"/>
          <p:nvPr/>
        </p:nvSpPr>
        <p:spPr>
          <a:xfrm>
            <a:off x="1051560" y="2578608"/>
            <a:ext cx="9692640" cy="1371600"/>
          </a:xfrm>
          <a:prstGeom prst="rect">
            <a:avLst/>
          </a:prstGeom>
          <a:noFill/>
        </p:spPr>
        <p:txBody>
          <a:bodyPr wrap="square" lIns="0" tIns="0" rIns="0" bIns="0">
            <a:spAutoFit/>
          </a:bodyPr>
          <a:lstStyle/>
          <a:p>
            <a:pPr>
              <a:lnSpc>
                <a:spcPct val="95000"/>
              </a:lnSpc>
            </a:pPr>
            <a:r>
              <a:rPr sz="4200" b="1" i="0">
                <a:solidFill>
                  <a:srgbClr val="1F4E79"/>
                </a:solidFill>
                <a:latin typeface="Segoe UI Semibold"/>
              </a:rPr>
              <a:t>Data quality and profiling</a:t>
            </a:r>
          </a:p>
        </p:txBody>
      </p:sp>
      <p:sp>
        <p:nvSpPr>
          <p:cNvPr id="6" name="TextBox 5"/>
          <p:cNvSpPr txBox="1"/>
          <p:nvPr/>
        </p:nvSpPr>
        <p:spPr>
          <a:xfrm>
            <a:off x="1051560" y="3950208"/>
            <a:ext cx="8778240" cy="822960"/>
          </a:xfrm>
          <a:prstGeom prst="rect">
            <a:avLst/>
          </a:prstGeom>
          <a:noFill/>
        </p:spPr>
        <p:txBody>
          <a:bodyPr wrap="square" lIns="0" tIns="0" rIns="0" bIns="0">
            <a:spAutoFit/>
          </a:bodyPr>
          <a:lstStyle/>
          <a:p>
            <a:pPr>
              <a:lnSpc>
                <a:spcPct val="115000"/>
              </a:lnSpc>
            </a:pPr>
            <a:r>
              <a:rPr sz="1700" b="0" i="0">
                <a:solidFill>
                  <a:srgbClr val="5B6775"/>
                </a:solidFill>
                <a:latin typeface="Segoe UI"/>
              </a:rPr>
              <a:t>Turn a dirty feed into real numbers, a rule table, and a reconciliation that ties</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58368" y="2148840"/>
            <a:ext cx="82296" cy="219456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42416" y="2084831"/>
            <a:ext cx="9777679" cy="1828800"/>
          </a:xfrm>
          <a:prstGeom prst="rect">
            <a:avLst/>
          </a:prstGeom>
          <a:noFill/>
        </p:spPr>
        <p:txBody>
          <a:bodyPr wrap="square" lIns="0" tIns="0" rIns="0" bIns="0">
            <a:spAutoFit/>
          </a:bodyPr>
          <a:lstStyle/>
          <a:p>
            <a:pPr>
              <a:lnSpc>
                <a:spcPct val="112000"/>
              </a:lnSpc>
            </a:pPr>
            <a:r>
              <a:rPr sz="3000" b="1" i="0">
                <a:solidFill>
                  <a:srgbClr val="1F4E79"/>
                </a:solidFill>
                <a:latin typeface="Segoe UI Semibold"/>
              </a:rPr>
              <a:t>A number is actionable. A feeling that data looks dirty is not.</a:t>
            </a:r>
          </a:p>
        </p:txBody>
      </p:sp>
      <p:sp>
        <p:nvSpPr>
          <p:cNvPr id="5" name="TextBox 4"/>
          <p:cNvSpPr txBox="1"/>
          <p:nvPr/>
        </p:nvSpPr>
        <p:spPr>
          <a:xfrm>
            <a:off x="1042416" y="4041648"/>
            <a:ext cx="9411919" cy="1005840"/>
          </a:xfrm>
          <a:prstGeom prst="rect">
            <a:avLst/>
          </a:prstGeom>
          <a:noFill/>
        </p:spPr>
        <p:txBody>
          <a:bodyPr wrap="square" lIns="0" tIns="0" rIns="0" bIns="0">
            <a:spAutoFit/>
          </a:bodyPr>
          <a:lstStyle/>
          <a:p>
            <a:pPr>
              <a:lnSpc>
                <a:spcPct val="120000"/>
              </a:lnSpc>
            </a:pPr>
            <a:r>
              <a:rPr sz="1700" b="0" i="0">
                <a:solidFill>
                  <a:srgbClr val="5B6775"/>
                </a:solidFill>
                <a:latin typeface="Segoe UI"/>
              </a:rPr>
              <a:t>This module turns the feed looks dirty into 0.40% of rows are exact duplicates, 7.07% have no merchant category. That is the difference between a guess and something you can act on.</a:t>
            </a:r>
          </a:p>
        </p:txBody>
      </p:sp>
      <p:sp>
        <p:nvSpPr>
          <p:cNvPr id="6" name="Rectangle 5"/>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08  ·  Data quality and profiling</a:t>
            </a:r>
          </a:p>
        </p:txBody>
      </p:sp>
      <p:sp>
        <p:nvSpPr>
          <p:cNvPr id="8" name="TextBox 7"/>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75</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Profile before writing a single rule</a:t>
            </a:r>
          </a:p>
        </p:txBody>
      </p:sp>
      <p:sp>
        <p:nvSpPr>
          <p:cNvPr id="4" name="Rectangle 3"/>
          <p:cNvSpPr/>
          <p:nvPr/>
        </p:nvSpPr>
        <p:spPr>
          <a:xfrm>
            <a:off x="658368" y="1481328"/>
            <a:ext cx="10874959" cy="2447544"/>
          </a:xfrm>
          <a:prstGeom prst="rect">
            <a:avLst/>
          </a:prstGeom>
          <a:solidFill>
            <a:srgbClr val="F5F7F9"/>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81328"/>
            <a:ext cx="43180" cy="2447544"/>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77824" y="1645920"/>
            <a:ext cx="10509199" cy="2173224"/>
          </a:xfrm>
          <a:prstGeom prst="rect">
            <a:avLst/>
          </a:prstGeom>
          <a:noFill/>
        </p:spPr>
        <p:txBody>
          <a:bodyPr wrap="square" lIns="0" tIns="0" rIns="0" bIns="0">
            <a:spAutoFit/>
          </a:bodyPr>
          <a:lstStyle/>
          <a:p>
            <a:pPr>
              <a:lnSpc>
                <a:spcPct val="116000"/>
              </a:lnSpc>
              <a:spcAft>
                <a:spcPts val="0"/>
              </a:spcAft>
            </a:pPr>
            <a:r>
              <a:rPr sz="1500" b="0" i="0">
                <a:solidFill>
                  <a:srgbClr val="242C38"/>
                </a:solidFill>
                <a:latin typeface="Consolas"/>
              </a:rPr>
              <a:t>total = txns.count()</a:t>
            </a:r>
          </a:p>
          <a:p>
            <a:pPr>
              <a:lnSpc>
                <a:spcPct val="116000"/>
              </a:lnSpc>
              <a:spcAft>
                <a:spcPts val="0"/>
              </a:spcAft>
            </a:pPr>
            <a:r>
              <a:rPr sz="1500" b="0" i="0">
                <a:solidFill>
                  <a:srgbClr val="242C38"/>
                </a:solidFill>
                <a:latin typeface="Consolas"/>
              </a:rPr>
              <a:t>blanks = txns.filter(</a:t>
            </a:r>
          </a:p>
          <a:p>
            <a:pPr>
              <a:lnSpc>
                <a:spcPct val="116000"/>
              </a:lnSpc>
              <a:spcAft>
                <a:spcPts val="0"/>
              </a:spcAft>
            </a:pPr>
            <a:r>
              <a:rPr sz="1500" b="0" i="0">
                <a:solidFill>
                  <a:srgbClr val="242C38"/>
                </a:solidFill>
                <a:latin typeface="Consolas"/>
              </a:rPr>
              <a:t>    F.col(</a:t>
            </a:r>
            <a:r>
              <a:rPr sz="1500" b="0" i="0">
                <a:solidFill>
                  <a:srgbClr val="A31515"/>
                </a:solidFill>
                <a:latin typeface="Consolas"/>
              </a:rPr>
              <a:t>"merchant_category"</a:t>
            </a:r>
            <a:r>
              <a:rPr sz="1500" b="0" i="0">
                <a:solidFill>
                  <a:srgbClr val="242C38"/>
                </a:solidFill>
                <a:latin typeface="Consolas"/>
              </a:rPr>
              <a:t>).isNull() |</a:t>
            </a:r>
          </a:p>
          <a:p>
            <a:pPr>
              <a:lnSpc>
                <a:spcPct val="116000"/>
              </a:lnSpc>
              <a:spcAft>
                <a:spcPts val="0"/>
              </a:spcAft>
            </a:pPr>
            <a:r>
              <a:rPr sz="1500" b="0" i="0">
                <a:solidFill>
                  <a:srgbClr val="242C38"/>
                </a:solidFill>
                <a:latin typeface="Consolas"/>
              </a:rPr>
              <a:t>    (F.col(</a:t>
            </a:r>
            <a:r>
              <a:rPr sz="1500" b="0" i="0">
                <a:solidFill>
                  <a:srgbClr val="A31515"/>
                </a:solidFill>
                <a:latin typeface="Consolas"/>
              </a:rPr>
              <a:t>"merchant_category"</a:t>
            </a:r>
            <a:r>
              <a:rPr sz="1500" b="0" i="0">
                <a:solidFill>
                  <a:srgbClr val="242C38"/>
                </a:solidFill>
                <a:latin typeface="Consolas"/>
              </a:rPr>
              <a:t>) == </a:t>
            </a:r>
            <a:r>
              <a:rPr sz="1500" b="0" i="0">
                <a:solidFill>
                  <a:srgbClr val="A31515"/>
                </a:solidFill>
                <a:latin typeface="Consolas"/>
              </a:rPr>
              <a:t>""</a:t>
            </a:r>
            <a:r>
              <a:rPr sz="1500" b="0" i="0">
                <a:solidFill>
                  <a:srgbClr val="242C38"/>
                </a:solidFill>
                <a:latin typeface="Consolas"/>
              </a:rPr>
              <a:t>)).count()</a:t>
            </a:r>
          </a:p>
          <a:p>
            <a:pPr>
              <a:lnSpc>
                <a:spcPct val="116000"/>
              </a:lnSpc>
              <a:spcAft>
                <a:spcPts val="0"/>
              </a:spcAft>
            </a:pPr>
            <a:r>
              <a:rPr sz="1500" b="0" i="0">
                <a:solidFill>
                  <a:srgbClr val="242C38"/>
                </a:solidFill>
                <a:latin typeface="Consolas"/>
              </a:rPr>
              <a:t>distinct_channels = txns.select(</a:t>
            </a:r>
            <a:r>
              <a:rPr sz="1500" b="0" i="0">
                <a:solidFill>
                  <a:srgbClr val="A31515"/>
                </a:solidFill>
                <a:latin typeface="Consolas"/>
              </a:rPr>
              <a:t>"channel"</a:t>
            </a:r>
            <a:r>
              <a:rPr sz="1500" b="0" i="0">
                <a:solidFill>
                  <a:srgbClr val="242C38"/>
                </a:solidFill>
                <a:latin typeface="Consolas"/>
              </a:rPr>
              <a:t>).distinct().count()</a:t>
            </a:r>
          </a:p>
          <a:p>
            <a:pPr>
              <a:lnSpc>
                <a:spcPct val="116000"/>
              </a:lnSpc>
              <a:spcAft>
                <a:spcPts val="0"/>
              </a:spcAft>
            </a:pPr>
            <a:r>
              <a:rPr sz="1500" b="0" i="0">
                <a:solidFill>
                  <a:srgbClr val="242C38"/>
                </a:solidFill>
                <a:latin typeface="Consolas"/>
              </a:rPr>
              <a:t>date_min, date_max = txns.select(</a:t>
            </a:r>
          </a:p>
          <a:p>
            <a:pPr>
              <a:lnSpc>
                <a:spcPct val="116000"/>
              </a:lnSpc>
              <a:spcAft>
                <a:spcPts val="0"/>
              </a:spcAft>
            </a:pPr>
            <a:r>
              <a:rPr sz="1500" b="0" i="0">
                <a:solidFill>
                  <a:srgbClr val="242C38"/>
                </a:solidFill>
                <a:latin typeface="Consolas"/>
              </a:rPr>
              <a:t>    F.min(</a:t>
            </a:r>
            <a:r>
              <a:rPr sz="1500" b="0" i="0">
                <a:solidFill>
                  <a:srgbClr val="A31515"/>
                </a:solidFill>
                <a:latin typeface="Consolas"/>
              </a:rPr>
              <a:t>"txn_ts"</a:t>
            </a:r>
            <a:r>
              <a:rPr sz="1500" b="0" i="0">
                <a:solidFill>
                  <a:srgbClr val="242C38"/>
                </a:solidFill>
                <a:latin typeface="Consolas"/>
              </a:rPr>
              <a:t>), F.max(</a:t>
            </a:r>
            <a:r>
              <a:rPr sz="1500" b="0" i="0">
                <a:solidFill>
                  <a:srgbClr val="A31515"/>
                </a:solidFill>
                <a:latin typeface="Consolas"/>
              </a:rPr>
              <a:t>"txn_ts"</a:t>
            </a:r>
            <a:r>
              <a:rPr sz="1500" b="0" i="0">
                <a:solidFill>
                  <a:srgbClr val="242C38"/>
                </a:solidFill>
                <a:latin typeface="Consolas"/>
              </a:rPr>
              <a:t>)).first()</a:t>
            </a:r>
          </a:p>
        </p:txBody>
      </p:sp>
      <p:sp>
        <p:nvSpPr>
          <p:cNvPr id="7" name="TextBox 6"/>
          <p:cNvSpPr txBox="1"/>
          <p:nvPr/>
        </p:nvSpPr>
        <p:spPr>
          <a:xfrm>
            <a:off x="658368" y="4075176"/>
            <a:ext cx="10874959" cy="457200"/>
          </a:xfrm>
          <a:prstGeom prst="rect">
            <a:avLst/>
          </a:prstGeom>
          <a:noFill/>
        </p:spPr>
        <p:txBody>
          <a:bodyPr wrap="square" lIns="0" tIns="0" rIns="0" bIns="0">
            <a:spAutoFit/>
          </a:bodyPr>
          <a:lstStyle/>
          <a:p>
            <a:r>
              <a:rPr sz="1400" b="0" i="0">
                <a:solidFill>
                  <a:srgbClr val="5B6775"/>
                </a:solidFill>
                <a:latin typeface="Segoe UI"/>
              </a:rPr>
              <a:t>Four questions: row count, blank rates, distinct values, and the date range.</a:t>
            </a:r>
          </a:p>
        </p:txBody>
      </p:sp>
      <p:sp>
        <p:nvSpPr>
          <p:cNvPr id="8" name="Rectangle 7"/>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08  ·  Data quality and profiling</a:t>
            </a:r>
          </a:p>
        </p:txBody>
      </p:sp>
      <p:sp>
        <p:nvSpPr>
          <p:cNvPr id="10" name="TextBox 9"/>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76</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NULL and blank are two different defects</a:t>
            </a:r>
          </a:p>
        </p:txBody>
      </p:sp>
      <p:graphicFrame>
        <p:nvGraphicFramePr>
          <p:cNvPr id="4" name="Table 3"/>
          <p:cNvGraphicFramePr>
            <a:graphicFrameLocks noGrp="1"/>
          </p:cNvGraphicFramePr>
          <p:nvPr/>
        </p:nvGraphicFramePr>
        <p:xfrm>
          <a:off x="658368" y="1481328"/>
          <a:ext cx="10874958" cy="1353312"/>
        </p:xfrm>
        <a:graphic>
          <a:graphicData uri="http://schemas.openxmlformats.org/drawingml/2006/table">
            <a:tbl>
              <a:tblPr firstRow="1" bandRow="1">
                <a:tableStyleId>{5C22544A-7EE6-4342-B048-85BDC9FD1C3A}</a:tableStyleId>
              </a:tblPr>
              <a:tblGrid>
                <a:gridCol w="2718739">
                  <a:extLst>
                    <a:ext uri="{9D8B030D-6E8A-4147-A177-3AD203B41FA5}">
                      <a16:colId xmlns:a16="http://schemas.microsoft.com/office/drawing/2014/main" val="20000"/>
                    </a:ext>
                  </a:extLst>
                </a:gridCol>
                <a:gridCol w="4943163">
                  <a:extLst>
                    <a:ext uri="{9D8B030D-6E8A-4147-A177-3AD203B41FA5}">
                      <a16:colId xmlns:a16="http://schemas.microsoft.com/office/drawing/2014/main" val="20001"/>
                    </a:ext>
                  </a:extLst>
                </a:gridCol>
                <a:gridCol w="3213056">
                  <a:extLst>
                    <a:ext uri="{9D8B030D-6E8A-4147-A177-3AD203B41FA5}">
                      <a16:colId xmlns:a16="http://schemas.microsoft.com/office/drawing/2014/main" val="20002"/>
                    </a:ext>
                  </a:extLst>
                </a:gridCol>
              </a:tblGrid>
              <a:tr h="402336">
                <a:tc>
                  <a:txBody>
                    <a:bodyPr/>
                    <a:lstStyle/>
                    <a:p>
                      <a:r>
                        <a:rPr sz="1450" b="1" i="0">
                          <a:solidFill>
                            <a:srgbClr val="FFFFFF"/>
                          </a:solidFill>
                          <a:latin typeface="Segoe UI Semibold"/>
                        </a:rPr>
                        <a:t>Check</a:t>
                      </a:r>
                    </a:p>
                  </a:txBody>
                  <a:tcPr anchor="ctr">
                    <a:solidFill>
                      <a:srgbClr val="1F4E79"/>
                    </a:solidFill>
                  </a:tcPr>
                </a:tc>
                <a:tc>
                  <a:txBody>
                    <a:bodyPr/>
                    <a:lstStyle/>
                    <a:p>
                      <a:r>
                        <a:rPr sz="1450" b="1" i="0">
                          <a:solidFill>
                            <a:srgbClr val="FFFFFF"/>
                          </a:solidFill>
                          <a:latin typeface="Segoe UI Semibold"/>
                        </a:rPr>
                        <a:t>Catches</a:t>
                      </a:r>
                    </a:p>
                  </a:txBody>
                  <a:tcPr anchor="ctr">
                    <a:solidFill>
                      <a:srgbClr val="1F4E79"/>
                    </a:solidFill>
                  </a:tcPr>
                </a:tc>
                <a:tc>
                  <a:txBody>
                    <a:bodyPr/>
                    <a:lstStyle/>
                    <a:p>
                      <a:r>
                        <a:rPr sz="1450" b="1" i="0">
                          <a:solidFill>
                            <a:srgbClr val="FFFFFF"/>
                          </a:solidFill>
                          <a:latin typeface="Segoe UI Semibold"/>
                        </a:rPr>
                        <a:t>On this feed</a:t>
                      </a:r>
                    </a:p>
                  </a:txBody>
                  <a:tcPr anchor="ctr">
                    <a:solidFill>
                      <a:srgbClr val="1F4E79"/>
                    </a:solidFill>
                  </a:tcPr>
                </a:tc>
                <a:extLst>
                  <a:ext uri="{0D108BD9-81ED-4DB2-BD59-A6C34878D82A}">
                    <a16:rowId xmlns:a16="http://schemas.microsoft.com/office/drawing/2014/main" val="10000"/>
                  </a:ext>
                </a:extLst>
              </a:tr>
              <a:tr h="475488">
                <a:tc>
                  <a:txBody>
                    <a:bodyPr/>
                    <a:lstStyle/>
                    <a:p>
                      <a:pPr>
                        <a:lnSpc>
                          <a:spcPct val="106000"/>
                        </a:lnSpc>
                      </a:pPr>
                      <a:r>
                        <a:rPr sz="1350" b="0" i="0">
                          <a:solidFill>
                            <a:srgbClr val="2E74B5"/>
                          </a:solidFill>
                          <a:latin typeface="Consolas"/>
                        </a:rPr>
                        <a:t>isNull()</a:t>
                      </a:r>
                    </a:p>
                  </a:txBody>
                  <a:tcPr marT="36576" marB="36576" anchor="ctr">
                    <a:solidFill>
                      <a:srgbClr val="EEF3F8"/>
                    </a:solidFill>
                  </a:tcPr>
                </a:tc>
                <a:tc>
                  <a:txBody>
                    <a:bodyPr/>
                    <a:lstStyle/>
                    <a:p>
                      <a:pPr>
                        <a:lnSpc>
                          <a:spcPct val="106000"/>
                        </a:lnSpc>
                      </a:pPr>
                      <a:r>
                        <a:rPr sz="1400" b="0" i="0">
                          <a:solidFill>
                            <a:srgbClr val="242C38"/>
                          </a:solidFill>
                          <a:latin typeface="Segoe UI"/>
                        </a:rPr>
                        <a:t>the source system sent nothing</a:t>
                      </a:r>
                    </a:p>
                  </a:txBody>
                  <a:tcPr marT="36576" marB="36576" anchor="ctr">
                    <a:solidFill>
                      <a:srgbClr val="EEF3F8"/>
                    </a:solidFill>
                  </a:tcPr>
                </a:tc>
                <a:tc>
                  <a:txBody>
                    <a:bodyPr/>
                    <a:lstStyle/>
                    <a:p>
                      <a:pPr>
                        <a:lnSpc>
                          <a:spcPct val="106000"/>
                        </a:lnSpc>
                      </a:pPr>
                      <a:r>
                        <a:rPr sz="1400" b="0" i="0">
                          <a:solidFill>
                            <a:srgbClr val="242C38"/>
                          </a:solidFill>
                          <a:latin typeface="Segoe UI"/>
                        </a:rPr>
                        <a:t>zero, for merchant_category</a:t>
                      </a:r>
                    </a:p>
                  </a:txBody>
                  <a:tcPr marT="36576" marB="36576" anchor="ctr">
                    <a:solidFill>
                      <a:srgbClr val="EEF3F8"/>
                    </a:solidFill>
                  </a:tcPr>
                </a:tc>
                <a:extLst>
                  <a:ext uri="{0D108BD9-81ED-4DB2-BD59-A6C34878D82A}">
                    <a16:rowId xmlns:a16="http://schemas.microsoft.com/office/drawing/2014/main" val="10001"/>
                  </a:ext>
                </a:extLst>
              </a:tr>
              <a:tr h="475488">
                <a:tc>
                  <a:txBody>
                    <a:bodyPr/>
                    <a:lstStyle/>
                    <a:p>
                      <a:pPr>
                        <a:lnSpc>
                          <a:spcPct val="106000"/>
                        </a:lnSpc>
                      </a:pPr>
                      <a:r>
                        <a:rPr sz="1350" b="0" i="0">
                          <a:solidFill>
                            <a:srgbClr val="2E74B5"/>
                          </a:solidFill>
                          <a:latin typeface="Consolas"/>
                        </a:rPr>
                        <a:t>== ""</a:t>
                      </a:r>
                    </a:p>
                  </a:txBody>
                  <a:tcPr marT="36576" marB="36576" anchor="ctr">
                    <a:solidFill>
                      <a:srgbClr val="FFFFFF"/>
                    </a:solidFill>
                  </a:tcPr>
                </a:tc>
                <a:tc>
                  <a:txBody>
                    <a:bodyPr/>
                    <a:lstStyle/>
                    <a:p>
                      <a:pPr>
                        <a:lnSpc>
                          <a:spcPct val="106000"/>
                        </a:lnSpc>
                      </a:pPr>
                      <a:r>
                        <a:rPr sz="1400" b="0" i="0">
                          <a:solidFill>
                            <a:srgbClr val="242C38"/>
                          </a:solidFill>
                          <a:latin typeface="Segoe UI"/>
                        </a:rPr>
                        <a:t>the source sent something, and it was empty</a:t>
                      </a:r>
                    </a:p>
                  </a:txBody>
                  <a:tcPr marT="36576" marB="36576" anchor="ctr">
                    <a:solidFill>
                      <a:srgbClr val="FFFFFF"/>
                    </a:solidFill>
                  </a:tcPr>
                </a:tc>
                <a:tc>
                  <a:txBody>
                    <a:bodyPr/>
                    <a:lstStyle/>
                    <a:p>
                      <a:pPr>
                        <a:lnSpc>
                          <a:spcPct val="106000"/>
                        </a:lnSpc>
                      </a:pPr>
                      <a:r>
                        <a:rPr sz="1400" b="0" i="0">
                          <a:solidFill>
                            <a:srgbClr val="242C38"/>
                          </a:solidFill>
                          <a:latin typeface="Segoe UI"/>
                        </a:rPr>
                        <a:t>7.07% of rows</a:t>
                      </a:r>
                    </a:p>
                  </a:txBody>
                  <a:tcPr marT="36576" marB="36576" anchor="ctr">
                    <a:solidFill>
                      <a:srgbClr val="FFFFFF"/>
                    </a:solidFill>
                  </a:tcPr>
                </a:tc>
                <a:extLst>
                  <a:ext uri="{0D108BD9-81ED-4DB2-BD59-A6C34878D82A}">
                    <a16:rowId xmlns:a16="http://schemas.microsoft.com/office/drawing/2014/main" val="10002"/>
                  </a:ext>
                </a:extLst>
              </a:tr>
            </a:tbl>
          </a:graphicData>
        </a:graphic>
      </p:graphicFrame>
      <p:sp>
        <p:nvSpPr>
          <p:cNvPr id="5" name="TextBox 4"/>
          <p:cNvSpPr txBox="1"/>
          <p:nvPr/>
        </p:nvSpPr>
        <p:spPr>
          <a:xfrm>
            <a:off x="658368" y="5724144"/>
            <a:ext cx="10874959" cy="502920"/>
          </a:xfrm>
          <a:prstGeom prst="rect">
            <a:avLst/>
          </a:prstGeom>
          <a:noFill/>
        </p:spPr>
        <p:txBody>
          <a:bodyPr wrap="square" lIns="0" tIns="0" rIns="0" bIns="0">
            <a:spAutoFit/>
          </a:bodyPr>
          <a:lstStyle/>
          <a:p>
            <a:r>
              <a:rPr sz="1300" b="0" i="1">
                <a:solidFill>
                  <a:srgbClr val="5B6775"/>
                </a:solidFill>
                <a:latin typeface="Segoe UI"/>
              </a:rPr>
              <a:t>A check that only tests IS NULL reports zero problems and misses the entire defect.</a:t>
            </a:r>
          </a:p>
        </p:txBody>
      </p:sp>
      <p:sp>
        <p:nvSpPr>
          <p:cNvPr id="6" name="Rectangle 5"/>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08  ·  Data quality and profiling</a:t>
            </a:r>
          </a:p>
        </p:txBody>
      </p:sp>
      <p:sp>
        <p:nvSpPr>
          <p:cNvPr id="8" name="TextBox 7"/>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77</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This feed's five deliberate defects, quantified</a:t>
            </a:r>
          </a:p>
        </p:txBody>
      </p:sp>
      <p:graphicFrame>
        <p:nvGraphicFramePr>
          <p:cNvPr id="4" name="Table 3"/>
          <p:cNvGraphicFramePr>
            <a:graphicFrameLocks noGrp="1"/>
          </p:cNvGraphicFramePr>
          <p:nvPr/>
        </p:nvGraphicFramePr>
        <p:xfrm>
          <a:off x="658368" y="1481328"/>
          <a:ext cx="10874957" cy="2779776"/>
        </p:xfrm>
        <a:graphic>
          <a:graphicData uri="http://schemas.openxmlformats.org/drawingml/2006/table">
            <a:tbl>
              <a:tblPr firstRow="1" bandRow="1">
                <a:tableStyleId>{5C22544A-7EE6-4342-B048-85BDC9FD1C3A}</a:tableStyleId>
              </a:tblPr>
              <a:tblGrid>
                <a:gridCol w="4621857">
                  <a:extLst>
                    <a:ext uri="{9D8B030D-6E8A-4147-A177-3AD203B41FA5}">
                      <a16:colId xmlns:a16="http://schemas.microsoft.com/office/drawing/2014/main" val="20000"/>
                    </a:ext>
                  </a:extLst>
                </a:gridCol>
                <a:gridCol w="2718739">
                  <a:extLst>
                    <a:ext uri="{9D8B030D-6E8A-4147-A177-3AD203B41FA5}">
                      <a16:colId xmlns:a16="http://schemas.microsoft.com/office/drawing/2014/main" val="20001"/>
                    </a:ext>
                  </a:extLst>
                </a:gridCol>
                <a:gridCol w="3534361">
                  <a:extLst>
                    <a:ext uri="{9D8B030D-6E8A-4147-A177-3AD203B41FA5}">
                      <a16:colId xmlns:a16="http://schemas.microsoft.com/office/drawing/2014/main" val="20002"/>
                    </a:ext>
                  </a:extLst>
                </a:gridCol>
              </a:tblGrid>
              <a:tr h="402336">
                <a:tc>
                  <a:txBody>
                    <a:bodyPr/>
                    <a:lstStyle/>
                    <a:p>
                      <a:r>
                        <a:rPr sz="1450" b="1" i="0">
                          <a:solidFill>
                            <a:srgbClr val="FFFFFF"/>
                          </a:solidFill>
                          <a:latin typeface="Segoe UI Semibold"/>
                        </a:rPr>
                        <a:t>Defect</a:t>
                      </a:r>
                    </a:p>
                  </a:txBody>
                  <a:tcPr anchor="ctr">
                    <a:solidFill>
                      <a:srgbClr val="1F4E79"/>
                    </a:solidFill>
                  </a:tcPr>
                </a:tc>
                <a:tc>
                  <a:txBody>
                    <a:bodyPr/>
                    <a:lstStyle/>
                    <a:p>
                      <a:r>
                        <a:rPr sz="1450" b="1" i="0">
                          <a:solidFill>
                            <a:srgbClr val="FFFFFF"/>
                          </a:solidFill>
                          <a:latin typeface="Segoe UI Semibold"/>
                        </a:rPr>
                        <a:t>Rows</a:t>
                      </a:r>
                    </a:p>
                  </a:txBody>
                  <a:tcPr anchor="ctr">
                    <a:solidFill>
                      <a:srgbClr val="1F4E79"/>
                    </a:solidFill>
                  </a:tcPr>
                </a:tc>
                <a:tc>
                  <a:txBody>
                    <a:bodyPr/>
                    <a:lstStyle/>
                    <a:p>
                      <a:r>
                        <a:rPr sz="1450" b="1" i="0">
                          <a:solidFill>
                            <a:srgbClr val="FFFFFF"/>
                          </a:solidFill>
                          <a:latin typeface="Segoe UI Semibold"/>
                        </a:rPr>
                        <a:t>Percent of feed</a:t>
                      </a:r>
                    </a:p>
                  </a:txBody>
                  <a:tcPr anchor="ctr">
                    <a:solidFill>
                      <a:srgbClr val="1F4E79"/>
                    </a:solidFill>
                  </a:tcPr>
                </a:tc>
                <a:extLst>
                  <a:ext uri="{0D108BD9-81ED-4DB2-BD59-A6C34878D82A}">
                    <a16:rowId xmlns:a16="http://schemas.microsoft.com/office/drawing/2014/main" val="10000"/>
                  </a:ext>
                </a:extLst>
              </a:tr>
              <a:tr h="475488">
                <a:tc>
                  <a:txBody>
                    <a:bodyPr/>
                    <a:lstStyle/>
                    <a:p>
                      <a:pPr>
                        <a:lnSpc>
                          <a:spcPct val="106000"/>
                        </a:lnSpc>
                      </a:pPr>
                      <a:r>
                        <a:rPr sz="1400" b="1" i="0">
                          <a:solidFill>
                            <a:srgbClr val="242C38"/>
                          </a:solidFill>
                          <a:latin typeface="Segoe UI"/>
                        </a:rPr>
                        <a:t>duplicate txn_id</a:t>
                      </a:r>
                    </a:p>
                  </a:txBody>
                  <a:tcPr marT="36576" marB="36576" anchor="ctr">
                    <a:solidFill>
                      <a:srgbClr val="EEF3F8"/>
                    </a:solidFill>
                  </a:tcPr>
                </a:tc>
                <a:tc>
                  <a:txBody>
                    <a:bodyPr/>
                    <a:lstStyle/>
                    <a:p>
                      <a:pPr>
                        <a:lnSpc>
                          <a:spcPct val="106000"/>
                        </a:lnSpc>
                      </a:pPr>
                      <a:r>
                        <a:rPr sz="1400" b="0" i="0">
                          <a:solidFill>
                            <a:srgbClr val="242C38"/>
                          </a:solidFill>
                          <a:latin typeface="Segoe UI"/>
                        </a:rPr>
                        <a:t>720</a:t>
                      </a:r>
                    </a:p>
                  </a:txBody>
                  <a:tcPr marT="36576" marB="36576" anchor="ctr">
                    <a:solidFill>
                      <a:srgbClr val="EEF3F8"/>
                    </a:solidFill>
                  </a:tcPr>
                </a:tc>
                <a:tc>
                  <a:txBody>
                    <a:bodyPr/>
                    <a:lstStyle/>
                    <a:p>
                      <a:pPr>
                        <a:lnSpc>
                          <a:spcPct val="106000"/>
                        </a:lnSpc>
                      </a:pPr>
                      <a:r>
                        <a:rPr sz="1400" b="0" i="0">
                          <a:solidFill>
                            <a:srgbClr val="242C38"/>
                          </a:solidFill>
                          <a:latin typeface="Segoe UI"/>
                        </a:rPr>
                        <a:t>0.40%</a:t>
                      </a:r>
                    </a:p>
                  </a:txBody>
                  <a:tcPr marT="36576" marB="36576" anchor="ctr">
                    <a:solidFill>
                      <a:srgbClr val="EEF3F8"/>
                    </a:solidFill>
                  </a:tcPr>
                </a:tc>
                <a:extLst>
                  <a:ext uri="{0D108BD9-81ED-4DB2-BD59-A6C34878D82A}">
                    <a16:rowId xmlns:a16="http://schemas.microsoft.com/office/drawing/2014/main" val="10001"/>
                  </a:ext>
                </a:extLst>
              </a:tr>
              <a:tr h="475488">
                <a:tc>
                  <a:txBody>
                    <a:bodyPr/>
                    <a:lstStyle/>
                    <a:p>
                      <a:pPr>
                        <a:lnSpc>
                          <a:spcPct val="106000"/>
                        </a:lnSpc>
                      </a:pPr>
                      <a:r>
                        <a:rPr sz="1400" b="1" i="0">
                          <a:solidFill>
                            <a:srgbClr val="242C38"/>
                          </a:solidFill>
                          <a:latin typeface="Segoe UI"/>
                        </a:rPr>
                        <a:t>orphan account_id</a:t>
                      </a:r>
                    </a:p>
                  </a:txBody>
                  <a:tcPr marT="36576" marB="36576" anchor="ctr">
                    <a:solidFill>
                      <a:srgbClr val="FFFFFF"/>
                    </a:solidFill>
                  </a:tcPr>
                </a:tc>
                <a:tc>
                  <a:txBody>
                    <a:bodyPr/>
                    <a:lstStyle/>
                    <a:p>
                      <a:pPr>
                        <a:lnSpc>
                          <a:spcPct val="106000"/>
                        </a:lnSpc>
                      </a:pPr>
                      <a:r>
                        <a:rPr sz="1400" b="0" i="0">
                          <a:solidFill>
                            <a:srgbClr val="242C38"/>
                          </a:solidFill>
                          <a:latin typeface="Segoe UI"/>
                        </a:rPr>
                        <a:t>904</a:t>
                      </a:r>
                    </a:p>
                  </a:txBody>
                  <a:tcPr marT="36576" marB="36576" anchor="ctr">
                    <a:solidFill>
                      <a:srgbClr val="FFFFFF"/>
                    </a:solidFill>
                  </a:tcPr>
                </a:tc>
                <a:tc>
                  <a:txBody>
                    <a:bodyPr/>
                    <a:lstStyle/>
                    <a:p>
                      <a:pPr>
                        <a:lnSpc>
                          <a:spcPct val="106000"/>
                        </a:lnSpc>
                      </a:pPr>
                      <a:r>
                        <a:rPr sz="1400" b="0" i="0">
                          <a:solidFill>
                            <a:srgbClr val="242C38"/>
                          </a:solidFill>
                          <a:latin typeface="Segoe UI"/>
                        </a:rPr>
                        <a:t>0.50%</a:t>
                      </a:r>
                    </a:p>
                  </a:txBody>
                  <a:tcPr marT="36576" marB="36576" anchor="ctr">
                    <a:solidFill>
                      <a:srgbClr val="FFFFFF"/>
                    </a:solidFill>
                  </a:tcPr>
                </a:tc>
                <a:extLst>
                  <a:ext uri="{0D108BD9-81ED-4DB2-BD59-A6C34878D82A}">
                    <a16:rowId xmlns:a16="http://schemas.microsoft.com/office/drawing/2014/main" val="10002"/>
                  </a:ext>
                </a:extLst>
              </a:tr>
              <a:tr h="475488">
                <a:tc>
                  <a:txBody>
                    <a:bodyPr/>
                    <a:lstStyle/>
                    <a:p>
                      <a:pPr>
                        <a:lnSpc>
                          <a:spcPct val="106000"/>
                        </a:lnSpc>
                      </a:pPr>
                      <a:r>
                        <a:rPr sz="1400" b="1" i="0">
                          <a:solidFill>
                            <a:srgbClr val="242C38"/>
                          </a:solidFill>
                          <a:latin typeface="Segoe UI"/>
                        </a:rPr>
                        <a:t>negative amount</a:t>
                      </a:r>
                    </a:p>
                  </a:txBody>
                  <a:tcPr marT="36576" marB="36576" anchor="ctr">
                    <a:solidFill>
                      <a:srgbClr val="EEF3F8"/>
                    </a:solidFill>
                  </a:tcPr>
                </a:tc>
                <a:tc>
                  <a:txBody>
                    <a:bodyPr/>
                    <a:lstStyle/>
                    <a:p>
                      <a:pPr>
                        <a:lnSpc>
                          <a:spcPct val="106000"/>
                        </a:lnSpc>
                      </a:pPr>
                      <a:r>
                        <a:rPr sz="1400" b="0" i="0">
                          <a:solidFill>
                            <a:srgbClr val="242C38"/>
                          </a:solidFill>
                          <a:latin typeface="Segoe UI"/>
                        </a:rPr>
                        <a:t>383</a:t>
                      </a:r>
                    </a:p>
                  </a:txBody>
                  <a:tcPr marT="36576" marB="36576" anchor="ctr">
                    <a:solidFill>
                      <a:srgbClr val="EEF3F8"/>
                    </a:solidFill>
                  </a:tcPr>
                </a:tc>
                <a:tc>
                  <a:txBody>
                    <a:bodyPr/>
                    <a:lstStyle/>
                    <a:p>
                      <a:pPr>
                        <a:lnSpc>
                          <a:spcPct val="106000"/>
                        </a:lnSpc>
                      </a:pPr>
                      <a:r>
                        <a:rPr sz="1400" b="0" i="0">
                          <a:solidFill>
                            <a:srgbClr val="242C38"/>
                          </a:solidFill>
                          <a:latin typeface="Segoe UI"/>
                        </a:rPr>
                        <a:t>0.21%</a:t>
                      </a:r>
                    </a:p>
                  </a:txBody>
                  <a:tcPr marT="36576" marB="36576" anchor="ctr">
                    <a:solidFill>
                      <a:srgbClr val="EEF3F8"/>
                    </a:solidFill>
                  </a:tcPr>
                </a:tc>
                <a:extLst>
                  <a:ext uri="{0D108BD9-81ED-4DB2-BD59-A6C34878D82A}">
                    <a16:rowId xmlns:a16="http://schemas.microsoft.com/office/drawing/2014/main" val="10003"/>
                  </a:ext>
                </a:extLst>
              </a:tr>
              <a:tr h="475488">
                <a:tc>
                  <a:txBody>
                    <a:bodyPr/>
                    <a:lstStyle/>
                    <a:p>
                      <a:pPr>
                        <a:lnSpc>
                          <a:spcPct val="106000"/>
                        </a:lnSpc>
                      </a:pPr>
                      <a:r>
                        <a:rPr sz="1400" b="1" i="0">
                          <a:solidFill>
                            <a:srgbClr val="242C38"/>
                          </a:solidFill>
                          <a:latin typeface="Segoe UI"/>
                        </a:rPr>
                        <a:t>dirty channel</a:t>
                      </a:r>
                    </a:p>
                  </a:txBody>
                  <a:tcPr marT="36576" marB="36576" anchor="ctr">
                    <a:solidFill>
                      <a:srgbClr val="FFFFFF"/>
                    </a:solidFill>
                  </a:tcPr>
                </a:tc>
                <a:tc>
                  <a:txBody>
                    <a:bodyPr/>
                    <a:lstStyle/>
                    <a:p>
                      <a:pPr>
                        <a:lnSpc>
                          <a:spcPct val="106000"/>
                        </a:lnSpc>
                      </a:pPr>
                      <a:r>
                        <a:rPr sz="1400" b="0" i="0">
                          <a:solidFill>
                            <a:srgbClr val="242C38"/>
                          </a:solidFill>
                          <a:latin typeface="Segoe UI"/>
                        </a:rPr>
                        <a:t>10,778</a:t>
                      </a:r>
                    </a:p>
                  </a:txBody>
                  <a:tcPr marT="36576" marB="36576" anchor="ctr">
                    <a:solidFill>
                      <a:srgbClr val="FFFFFF"/>
                    </a:solidFill>
                  </a:tcPr>
                </a:tc>
                <a:tc>
                  <a:txBody>
                    <a:bodyPr/>
                    <a:lstStyle/>
                    <a:p>
                      <a:pPr>
                        <a:lnSpc>
                          <a:spcPct val="106000"/>
                        </a:lnSpc>
                      </a:pPr>
                      <a:r>
                        <a:rPr sz="1400" b="0" i="0">
                          <a:solidFill>
                            <a:srgbClr val="242C38"/>
                          </a:solidFill>
                          <a:latin typeface="Segoe UI"/>
                        </a:rPr>
                        <a:t>5.96%</a:t>
                      </a:r>
                    </a:p>
                  </a:txBody>
                  <a:tcPr marT="36576" marB="36576" anchor="ctr">
                    <a:solidFill>
                      <a:srgbClr val="FFFFFF"/>
                    </a:solidFill>
                  </a:tcPr>
                </a:tc>
                <a:extLst>
                  <a:ext uri="{0D108BD9-81ED-4DB2-BD59-A6C34878D82A}">
                    <a16:rowId xmlns:a16="http://schemas.microsoft.com/office/drawing/2014/main" val="10004"/>
                  </a:ext>
                </a:extLst>
              </a:tr>
              <a:tr h="475488">
                <a:tc>
                  <a:txBody>
                    <a:bodyPr/>
                    <a:lstStyle/>
                    <a:p>
                      <a:pPr>
                        <a:lnSpc>
                          <a:spcPct val="106000"/>
                        </a:lnSpc>
                      </a:pPr>
                      <a:r>
                        <a:rPr sz="1400" b="1" i="0">
                          <a:solidFill>
                            <a:srgbClr val="242C38"/>
                          </a:solidFill>
                          <a:latin typeface="Segoe UI"/>
                        </a:rPr>
                        <a:t>empty merchant_category</a:t>
                      </a:r>
                    </a:p>
                  </a:txBody>
                  <a:tcPr marT="36576" marB="36576" anchor="ctr">
                    <a:solidFill>
                      <a:srgbClr val="EEF3F8"/>
                    </a:solidFill>
                  </a:tcPr>
                </a:tc>
                <a:tc>
                  <a:txBody>
                    <a:bodyPr/>
                    <a:lstStyle/>
                    <a:p>
                      <a:pPr>
                        <a:lnSpc>
                          <a:spcPct val="106000"/>
                        </a:lnSpc>
                      </a:pPr>
                      <a:r>
                        <a:rPr sz="1400" b="0" i="0">
                          <a:solidFill>
                            <a:srgbClr val="242C38"/>
                          </a:solidFill>
                          <a:latin typeface="Segoe UI"/>
                        </a:rPr>
                        <a:t>12,783</a:t>
                      </a:r>
                    </a:p>
                  </a:txBody>
                  <a:tcPr marT="36576" marB="36576" anchor="ctr">
                    <a:solidFill>
                      <a:srgbClr val="EEF3F8"/>
                    </a:solidFill>
                  </a:tcPr>
                </a:tc>
                <a:tc>
                  <a:txBody>
                    <a:bodyPr/>
                    <a:lstStyle/>
                    <a:p>
                      <a:pPr>
                        <a:lnSpc>
                          <a:spcPct val="106000"/>
                        </a:lnSpc>
                      </a:pPr>
                      <a:r>
                        <a:rPr sz="1400" b="0" i="0">
                          <a:solidFill>
                            <a:srgbClr val="242C38"/>
                          </a:solidFill>
                          <a:latin typeface="Segoe UI"/>
                        </a:rPr>
                        <a:t>7.07%</a:t>
                      </a:r>
                    </a:p>
                  </a:txBody>
                  <a:tcPr marT="36576" marB="36576" anchor="ctr">
                    <a:solidFill>
                      <a:srgbClr val="EEF3F8"/>
                    </a:solidFill>
                  </a:tcPr>
                </a:tc>
                <a:extLst>
                  <a:ext uri="{0D108BD9-81ED-4DB2-BD59-A6C34878D82A}">
                    <a16:rowId xmlns:a16="http://schemas.microsoft.com/office/drawing/2014/main" val="10005"/>
                  </a:ext>
                </a:extLst>
              </a:tr>
            </a:tbl>
          </a:graphicData>
        </a:graphic>
      </p:graphicFrame>
      <p:sp>
        <p:nvSpPr>
          <p:cNvPr id="5" name="TextBox 4"/>
          <p:cNvSpPr txBox="1"/>
          <p:nvPr/>
        </p:nvSpPr>
        <p:spPr>
          <a:xfrm>
            <a:off x="658368" y="5724144"/>
            <a:ext cx="10874959" cy="502920"/>
          </a:xfrm>
          <a:prstGeom prst="rect">
            <a:avLst/>
          </a:prstGeom>
          <a:noFill/>
        </p:spPr>
        <p:txBody>
          <a:bodyPr wrap="square" lIns="0" tIns="0" rIns="0" bIns="0">
            <a:spAutoFit/>
          </a:bodyPr>
          <a:lstStyle/>
          <a:p>
            <a:r>
              <a:rPr sz="1300" b="0" i="1">
                <a:solidFill>
                  <a:srgbClr val="5B6775"/>
                </a:solidFill>
                <a:latin typeface="Segoe UI"/>
              </a:rPr>
              <a:t>The percentages matter more than the raw counts, for deciding what's worth stopping over.</a:t>
            </a:r>
          </a:p>
        </p:txBody>
      </p:sp>
      <p:sp>
        <p:nvSpPr>
          <p:cNvPr id="6" name="Rectangle 5"/>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08  ·  Data quality and profiling</a:t>
            </a:r>
          </a:p>
        </p:txBody>
      </p:sp>
      <p:sp>
        <p:nvSpPr>
          <p:cNvPr id="8" name="TextBox 7"/>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78</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Exact versus approximate distinct counts</a:t>
            </a:r>
          </a:p>
        </p:txBody>
      </p:sp>
      <p:graphicFrame>
        <p:nvGraphicFramePr>
          <p:cNvPr id="4" name="Table 3"/>
          <p:cNvGraphicFramePr>
            <a:graphicFrameLocks noGrp="1"/>
          </p:cNvGraphicFramePr>
          <p:nvPr/>
        </p:nvGraphicFramePr>
        <p:xfrm>
          <a:off x="658368" y="1481328"/>
          <a:ext cx="10874958" cy="1828800"/>
        </p:xfrm>
        <a:graphic>
          <a:graphicData uri="http://schemas.openxmlformats.org/drawingml/2006/table">
            <a:tbl>
              <a:tblPr firstRow="1" bandRow="1">
                <a:tableStyleId>{5C22544A-7EE6-4342-B048-85BDC9FD1C3A}</a:tableStyleId>
              </a:tblPr>
              <a:tblGrid>
                <a:gridCol w="2781966">
                  <a:extLst>
                    <a:ext uri="{9D8B030D-6E8A-4147-A177-3AD203B41FA5}">
                      <a16:colId xmlns:a16="http://schemas.microsoft.com/office/drawing/2014/main" val="20000"/>
                    </a:ext>
                  </a:extLst>
                </a:gridCol>
                <a:gridCol w="4299402">
                  <a:extLst>
                    <a:ext uri="{9D8B030D-6E8A-4147-A177-3AD203B41FA5}">
                      <a16:colId xmlns:a16="http://schemas.microsoft.com/office/drawing/2014/main" val="20001"/>
                    </a:ext>
                  </a:extLst>
                </a:gridCol>
                <a:gridCol w="3793590">
                  <a:extLst>
                    <a:ext uri="{9D8B030D-6E8A-4147-A177-3AD203B41FA5}">
                      <a16:colId xmlns:a16="http://schemas.microsoft.com/office/drawing/2014/main" val="20002"/>
                    </a:ext>
                  </a:extLst>
                </a:gridCol>
              </a:tblGrid>
              <a:tr h="402336">
                <a:tc>
                  <a:txBody>
                    <a:bodyPr/>
                    <a:lstStyle/>
                    <a:p>
                      <a:endParaRPr/>
                    </a:p>
                  </a:txBody>
                  <a:tcPr anchor="ctr">
                    <a:solidFill>
                      <a:srgbClr val="1F4E79"/>
                    </a:solidFill>
                  </a:tcPr>
                </a:tc>
                <a:tc>
                  <a:txBody>
                    <a:bodyPr/>
                    <a:lstStyle/>
                    <a:p>
                      <a:r>
                        <a:rPr sz="1450" b="1" i="0">
                          <a:solidFill>
                            <a:srgbClr val="FFFFFF"/>
                          </a:solidFill>
                          <a:latin typeface="Segoe UI Semibold"/>
                        </a:rPr>
                        <a:t>`countDistinct`</a:t>
                      </a:r>
                    </a:p>
                  </a:txBody>
                  <a:tcPr anchor="ctr">
                    <a:solidFill>
                      <a:srgbClr val="1F4E79"/>
                    </a:solidFill>
                  </a:tcPr>
                </a:tc>
                <a:tc>
                  <a:txBody>
                    <a:bodyPr/>
                    <a:lstStyle/>
                    <a:p>
                      <a:r>
                        <a:rPr sz="1450" b="1" i="0">
                          <a:solidFill>
                            <a:srgbClr val="FFFFFF"/>
                          </a:solidFill>
                          <a:latin typeface="Segoe UI Semibold"/>
                        </a:rPr>
                        <a:t>`approx_count_distinct`</a:t>
                      </a:r>
                    </a:p>
                  </a:txBody>
                  <a:tcPr anchor="ctr">
                    <a:solidFill>
                      <a:srgbClr val="1F4E79"/>
                    </a:solidFill>
                  </a:tcPr>
                </a:tc>
                <a:extLst>
                  <a:ext uri="{0D108BD9-81ED-4DB2-BD59-A6C34878D82A}">
                    <a16:rowId xmlns:a16="http://schemas.microsoft.com/office/drawing/2014/main" val="10000"/>
                  </a:ext>
                </a:extLst>
              </a:tr>
              <a:tr h="475488">
                <a:tc>
                  <a:txBody>
                    <a:bodyPr/>
                    <a:lstStyle/>
                    <a:p>
                      <a:pPr>
                        <a:lnSpc>
                          <a:spcPct val="106000"/>
                        </a:lnSpc>
                      </a:pPr>
                      <a:r>
                        <a:rPr sz="1400" b="1" i="0">
                          <a:solidFill>
                            <a:srgbClr val="242C38"/>
                          </a:solidFill>
                          <a:latin typeface="Segoe UI"/>
                        </a:rPr>
                        <a:t>Accuracy</a:t>
                      </a:r>
                    </a:p>
                  </a:txBody>
                  <a:tcPr marT="36576" marB="36576" anchor="ctr">
                    <a:solidFill>
                      <a:srgbClr val="EEF3F8"/>
                    </a:solidFill>
                  </a:tcPr>
                </a:tc>
                <a:tc>
                  <a:txBody>
                    <a:bodyPr/>
                    <a:lstStyle/>
                    <a:p>
                      <a:pPr>
                        <a:lnSpc>
                          <a:spcPct val="106000"/>
                        </a:lnSpc>
                      </a:pPr>
                      <a:r>
                        <a:rPr sz="1400" b="0" i="0">
                          <a:solidFill>
                            <a:srgbClr val="242C38"/>
                          </a:solidFill>
                          <a:latin typeface="Segoe UI"/>
                        </a:rPr>
                        <a:t>exact</a:t>
                      </a:r>
                    </a:p>
                  </a:txBody>
                  <a:tcPr marT="36576" marB="36576" anchor="ctr">
                    <a:solidFill>
                      <a:srgbClr val="EEF3F8"/>
                    </a:solidFill>
                  </a:tcPr>
                </a:tc>
                <a:tc>
                  <a:txBody>
                    <a:bodyPr/>
                    <a:lstStyle/>
                    <a:p>
                      <a:pPr>
                        <a:lnSpc>
                          <a:spcPct val="106000"/>
                        </a:lnSpc>
                      </a:pPr>
                      <a:r>
                        <a:rPr sz="1400" b="0" i="0">
                          <a:solidFill>
                            <a:srgbClr val="242C38"/>
                          </a:solidFill>
                          <a:latin typeface="Segoe UI"/>
                        </a:rPr>
                        <a:t>within about 5% by default</a:t>
                      </a:r>
                    </a:p>
                  </a:txBody>
                  <a:tcPr marT="36576" marB="36576" anchor="ctr">
                    <a:solidFill>
                      <a:srgbClr val="EEF3F8"/>
                    </a:solidFill>
                  </a:tcPr>
                </a:tc>
                <a:extLst>
                  <a:ext uri="{0D108BD9-81ED-4DB2-BD59-A6C34878D82A}">
                    <a16:rowId xmlns:a16="http://schemas.microsoft.com/office/drawing/2014/main" val="10001"/>
                  </a:ext>
                </a:extLst>
              </a:tr>
              <a:tr h="475488">
                <a:tc>
                  <a:txBody>
                    <a:bodyPr/>
                    <a:lstStyle/>
                    <a:p>
                      <a:pPr>
                        <a:lnSpc>
                          <a:spcPct val="106000"/>
                        </a:lnSpc>
                      </a:pPr>
                      <a:r>
                        <a:rPr sz="1400" b="1" i="0">
                          <a:solidFill>
                            <a:srgbClr val="242C38"/>
                          </a:solidFill>
                          <a:latin typeface="Segoe UI"/>
                        </a:rPr>
                        <a:t>Cost on a huge column</a:t>
                      </a:r>
                    </a:p>
                  </a:txBody>
                  <a:tcPr marT="36576" marB="36576" anchor="ctr">
                    <a:solidFill>
                      <a:srgbClr val="FFFFFF"/>
                    </a:solidFill>
                  </a:tcPr>
                </a:tc>
                <a:tc>
                  <a:txBody>
                    <a:bodyPr/>
                    <a:lstStyle/>
                    <a:p>
                      <a:pPr>
                        <a:lnSpc>
                          <a:spcPct val="106000"/>
                        </a:lnSpc>
                      </a:pPr>
                      <a:r>
                        <a:rPr sz="1400" b="0" i="0">
                          <a:solidFill>
                            <a:srgbClr val="242C38"/>
                          </a:solidFill>
                          <a:latin typeface="Segoe UI"/>
                        </a:rPr>
                        <a:t>expensive, shuffles every value</a:t>
                      </a:r>
                    </a:p>
                  </a:txBody>
                  <a:tcPr marT="36576" marB="36576" anchor="ctr">
                    <a:solidFill>
                      <a:srgbClr val="FFFFFF"/>
                    </a:solidFill>
                  </a:tcPr>
                </a:tc>
                <a:tc>
                  <a:txBody>
                    <a:bodyPr/>
                    <a:lstStyle/>
                    <a:p>
                      <a:pPr>
                        <a:lnSpc>
                          <a:spcPct val="106000"/>
                        </a:lnSpc>
                      </a:pPr>
                      <a:r>
                        <a:rPr sz="1400" b="0" i="0">
                          <a:solidFill>
                            <a:srgbClr val="242C38"/>
                          </a:solidFill>
                          <a:latin typeface="Segoe UI"/>
                        </a:rPr>
                        <a:t>much cheaper</a:t>
                      </a:r>
                    </a:p>
                  </a:txBody>
                  <a:tcPr marT="36576" marB="36576" anchor="ctr">
                    <a:solidFill>
                      <a:srgbClr val="FFFFFF"/>
                    </a:solidFill>
                  </a:tcPr>
                </a:tc>
                <a:extLst>
                  <a:ext uri="{0D108BD9-81ED-4DB2-BD59-A6C34878D82A}">
                    <a16:rowId xmlns:a16="http://schemas.microsoft.com/office/drawing/2014/main" val="10002"/>
                  </a:ext>
                </a:extLst>
              </a:tr>
              <a:tr h="475488">
                <a:tc>
                  <a:txBody>
                    <a:bodyPr/>
                    <a:lstStyle/>
                    <a:p>
                      <a:pPr>
                        <a:lnSpc>
                          <a:spcPct val="106000"/>
                        </a:lnSpc>
                      </a:pPr>
                      <a:r>
                        <a:rPr sz="1400" b="1" i="0">
                          <a:solidFill>
                            <a:srgbClr val="242C38"/>
                          </a:solidFill>
                          <a:latin typeface="Segoe UI"/>
                        </a:rPr>
                        <a:t>Use it for</a:t>
                      </a:r>
                    </a:p>
                  </a:txBody>
                  <a:tcPr marT="36576" marB="36576" anchor="ctr">
                    <a:solidFill>
                      <a:srgbClr val="EEF3F8"/>
                    </a:solidFill>
                  </a:tcPr>
                </a:tc>
                <a:tc>
                  <a:txBody>
                    <a:bodyPr/>
                    <a:lstStyle/>
                    <a:p>
                      <a:pPr>
                        <a:lnSpc>
                          <a:spcPct val="106000"/>
                        </a:lnSpc>
                      </a:pPr>
                      <a:r>
                        <a:rPr sz="1400" b="0" i="0">
                          <a:solidFill>
                            <a:srgbClr val="242C38"/>
                          </a:solidFill>
                          <a:latin typeface="Segoe UI"/>
                        </a:rPr>
                        <a:t>a number someone signs off on</a:t>
                      </a:r>
                    </a:p>
                  </a:txBody>
                  <a:tcPr marT="36576" marB="36576" anchor="ctr">
                    <a:solidFill>
                      <a:srgbClr val="EEF3F8"/>
                    </a:solidFill>
                  </a:tcPr>
                </a:tc>
                <a:tc>
                  <a:txBody>
                    <a:bodyPr/>
                    <a:lstStyle/>
                    <a:p>
                      <a:pPr>
                        <a:lnSpc>
                          <a:spcPct val="106000"/>
                        </a:lnSpc>
                      </a:pPr>
                      <a:r>
                        <a:rPr sz="1400" b="0" i="0">
                          <a:solidFill>
                            <a:srgbClr val="242C38"/>
                          </a:solidFill>
                          <a:latin typeface="Segoe UI"/>
                        </a:rPr>
                        <a:t>deciding whether to keep looking</a:t>
                      </a:r>
                    </a:p>
                  </a:txBody>
                  <a:tcPr marT="36576" marB="36576" anchor="ctr">
                    <a:solidFill>
                      <a:srgbClr val="EEF3F8"/>
                    </a:solidFill>
                  </a:tcPr>
                </a:tc>
                <a:extLst>
                  <a:ext uri="{0D108BD9-81ED-4DB2-BD59-A6C34878D82A}">
                    <a16:rowId xmlns:a16="http://schemas.microsoft.com/office/drawing/2014/main" val="10003"/>
                  </a:ext>
                </a:extLst>
              </a:tr>
            </a:tbl>
          </a:graphicData>
        </a:graphic>
      </p:graphicFrame>
      <p:sp>
        <p:nvSpPr>
          <p:cNvPr id="5" name="Rectangle 4"/>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08  ·  Data quality and profiling</a:t>
            </a:r>
          </a:p>
        </p:txBody>
      </p:sp>
      <p:sp>
        <p:nvSpPr>
          <p:cNvPr id="7" name="TextBox 6"/>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79</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A small, copyable data quality rule table</a:t>
            </a:r>
          </a:p>
        </p:txBody>
      </p:sp>
      <p:sp>
        <p:nvSpPr>
          <p:cNvPr id="4" name="Rectangle 3"/>
          <p:cNvSpPr/>
          <p:nvPr/>
        </p:nvSpPr>
        <p:spPr>
          <a:xfrm>
            <a:off x="658368" y="1481328"/>
            <a:ext cx="10874959" cy="2447544"/>
          </a:xfrm>
          <a:prstGeom prst="rect">
            <a:avLst/>
          </a:prstGeom>
          <a:solidFill>
            <a:srgbClr val="F5F7F9"/>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81328"/>
            <a:ext cx="43180" cy="2447544"/>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77824" y="1645920"/>
            <a:ext cx="10509199" cy="2173224"/>
          </a:xfrm>
          <a:prstGeom prst="rect">
            <a:avLst/>
          </a:prstGeom>
          <a:noFill/>
        </p:spPr>
        <p:txBody>
          <a:bodyPr wrap="square" lIns="0" tIns="0" rIns="0" bIns="0">
            <a:spAutoFit/>
          </a:bodyPr>
          <a:lstStyle/>
          <a:p>
            <a:pPr>
              <a:lnSpc>
                <a:spcPct val="116000"/>
              </a:lnSpc>
              <a:spcAft>
                <a:spcPts val="0"/>
              </a:spcAft>
            </a:pPr>
            <a:r>
              <a:rPr sz="1500" b="0" i="0">
                <a:solidFill>
                  <a:srgbClr val="242C38"/>
                </a:solidFill>
                <a:latin typeface="Consolas"/>
              </a:rPr>
              <a:t>RULES = [</a:t>
            </a:r>
          </a:p>
          <a:p>
            <a:pPr>
              <a:lnSpc>
                <a:spcPct val="116000"/>
              </a:lnSpc>
              <a:spcAft>
                <a:spcPts val="0"/>
              </a:spcAft>
            </a:pPr>
            <a:r>
              <a:rPr sz="1500" b="0" i="0">
                <a:solidFill>
                  <a:srgbClr val="242C38"/>
                </a:solidFill>
                <a:latin typeface="Consolas"/>
              </a:rPr>
              <a:t>    (</a:t>
            </a:r>
            <a:r>
              <a:rPr sz="1500" b="0" i="0">
                <a:solidFill>
                  <a:srgbClr val="A31515"/>
                </a:solidFill>
                <a:latin typeface="Consolas"/>
              </a:rPr>
              <a:t>"no_negative_amount"</a:t>
            </a:r>
            <a:r>
              <a:rPr sz="1500" b="0" i="0">
                <a:solidFill>
                  <a:srgbClr val="242C38"/>
                </a:solidFill>
                <a:latin typeface="Consolas"/>
              </a:rPr>
              <a:t>, </a:t>
            </a:r>
            <a:r>
              <a:rPr sz="1500" b="0" i="0">
                <a:solidFill>
                  <a:srgbClr val="A31515"/>
                </a:solidFill>
                <a:latin typeface="Consolas"/>
              </a:rPr>
              <a:t>"amount &gt;= 0"</a:t>
            </a:r>
            <a:r>
              <a:rPr sz="1500" b="0" i="0">
                <a:solidFill>
                  <a:srgbClr val="242C38"/>
                </a:solidFill>
                <a:latin typeface="Consolas"/>
              </a:rPr>
              <a:t>),</a:t>
            </a:r>
          </a:p>
          <a:p>
            <a:pPr>
              <a:lnSpc>
                <a:spcPct val="116000"/>
              </a:lnSpc>
              <a:spcAft>
                <a:spcPts val="0"/>
              </a:spcAft>
            </a:pPr>
            <a:r>
              <a:rPr sz="1500" b="0" i="0">
                <a:solidFill>
                  <a:srgbClr val="242C38"/>
                </a:solidFill>
                <a:latin typeface="Consolas"/>
              </a:rPr>
              <a:t>    (</a:t>
            </a:r>
            <a:r>
              <a:rPr sz="1500" b="0" i="0">
                <a:solidFill>
                  <a:srgbClr val="A31515"/>
                </a:solidFill>
                <a:latin typeface="Consolas"/>
              </a:rPr>
              <a:t>"account_is_known"</a:t>
            </a:r>
            <a:r>
              <a:rPr sz="1500" b="0" i="0">
                <a:solidFill>
                  <a:srgbClr val="242C38"/>
                </a:solidFill>
                <a:latin typeface="Consolas"/>
              </a:rPr>
              <a:t>, </a:t>
            </a:r>
            <a:r>
              <a:rPr sz="1500" b="0" i="0">
                <a:solidFill>
                  <a:srgbClr val="A31515"/>
                </a:solidFill>
                <a:latin typeface="Consolas"/>
              </a:rPr>
              <a:t>"account_known"</a:t>
            </a:r>
            <a:r>
              <a:rPr sz="1500" b="0" i="0">
                <a:solidFill>
                  <a:srgbClr val="242C38"/>
                </a:solidFill>
                <a:latin typeface="Consolas"/>
              </a:rPr>
              <a:t>),</a:t>
            </a:r>
          </a:p>
          <a:p>
            <a:pPr>
              <a:lnSpc>
                <a:spcPct val="116000"/>
              </a:lnSpc>
              <a:spcAft>
                <a:spcPts val="0"/>
              </a:spcAft>
            </a:pPr>
            <a:r>
              <a:rPr sz="1500" b="0" i="0">
                <a:solidFill>
                  <a:srgbClr val="242C38"/>
                </a:solidFill>
                <a:latin typeface="Consolas"/>
              </a:rPr>
              <a:t>    (</a:t>
            </a:r>
            <a:r>
              <a:rPr sz="1500" b="0" i="0">
                <a:solidFill>
                  <a:srgbClr val="A31515"/>
                </a:solidFill>
                <a:latin typeface="Consolas"/>
              </a:rPr>
              <a:t>"channel_is_clean"</a:t>
            </a:r>
            <a:r>
              <a:rPr sz="1500" b="0" i="0">
                <a:solidFill>
                  <a:srgbClr val="242C38"/>
                </a:solidFill>
                <a:latin typeface="Consolas"/>
              </a:rPr>
              <a:t>, </a:t>
            </a:r>
            <a:r>
              <a:rPr sz="1500" b="0" i="0">
                <a:solidFill>
                  <a:srgbClr val="A31515"/>
                </a:solidFill>
                <a:latin typeface="Consolas"/>
              </a:rPr>
              <a:t>"channel = upper(trim(channel))"</a:t>
            </a:r>
            <a:r>
              <a:rPr sz="1500" b="0" i="0">
                <a:solidFill>
                  <a:srgbClr val="242C38"/>
                </a:solidFill>
                <a:latin typeface="Consolas"/>
              </a:rPr>
              <a:t>),</a:t>
            </a:r>
          </a:p>
          <a:p>
            <a:pPr>
              <a:lnSpc>
                <a:spcPct val="116000"/>
              </a:lnSpc>
              <a:spcAft>
                <a:spcPts val="0"/>
              </a:spcAft>
            </a:pPr>
            <a:r>
              <a:rPr sz="1500" b="0" i="0">
                <a:solidFill>
                  <a:srgbClr val="242C38"/>
                </a:solidFill>
                <a:latin typeface="Consolas"/>
              </a:rPr>
              <a:t>    (</a:t>
            </a:r>
            <a:r>
              <a:rPr sz="1500" b="0" i="0">
                <a:solidFill>
                  <a:srgbClr val="A31515"/>
                </a:solidFill>
                <a:latin typeface="Consolas"/>
              </a:rPr>
              <a:t>"category_not_empty"</a:t>
            </a:r>
            <a:r>
              <a:rPr sz="1500" b="0" i="0">
                <a:solidFill>
                  <a:srgbClr val="242C38"/>
                </a:solidFill>
                <a:latin typeface="Consolas"/>
              </a:rPr>
              <a:t>,</a:t>
            </a:r>
          </a:p>
          <a:p>
            <a:pPr>
              <a:lnSpc>
                <a:spcPct val="116000"/>
              </a:lnSpc>
              <a:spcAft>
                <a:spcPts val="0"/>
              </a:spcAft>
            </a:pPr>
            <a:r>
              <a:rPr sz="1500" b="0" i="0">
                <a:solidFill>
                  <a:srgbClr val="242C38"/>
                </a:solidFill>
                <a:latin typeface="Consolas"/>
              </a:rPr>
              <a:t>     </a:t>
            </a:r>
            <a:r>
              <a:rPr sz="1500" b="0" i="0">
                <a:solidFill>
                  <a:srgbClr val="A31515"/>
                </a:solidFill>
                <a:latin typeface="Consolas"/>
              </a:rPr>
              <a:t>"merchant_category IS NOT NULL AND merchant_category != ''"</a:t>
            </a:r>
            <a:r>
              <a:rPr sz="1500" b="0" i="0">
                <a:solidFill>
                  <a:srgbClr val="242C38"/>
                </a:solidFill>
                <a:latin typeface="Consolas"/>
              </a:rPr>
              <a:t>),</a:t>
            </a:r>
          </a:p>
          <a:p>
            <a:pPr>
              <a:lnSpc>
                <a:spcPct val="116000"/>
              </a:lnSpc>
              <a:spcAft>
                <a:spcPts val="0"/>
              </a:spcAft>
            </a:pPr>
            <a:r>
              <a:rPr sz="1500" b="0" i="0">
                <a:solidFill>
                  <a:srgbClr val="242C38"/>
                </a:solidFill>
                <a:latin typeface="Consolas"/>
              </a:rPr>
              <a:t>]</a:t>
            </a:r>
          </a:p>
        </p:txBody>
      </p:sp>
      <p:sp>
        <p:nvSpPr>
          <p:cNvPr id="7" name="TextBox 6"/>
          <p:cNvSpPr txBox="1"/>
          <p:nvPr/>
        </p:nvSpPr>
        <p:spPr>
          <a:xfrm>
            <a:off x="658368" y="4075176"/>
            <a:ext cx="10874959" cy="457200"/>
          </a:xfrm>
          <a:prstGeom prst="rect">
            <a:avLst/>
          </a:prstGeom>
          <a:noFill/>
        </p:spPr>
        <p:txBody>
          <a:bodyPr wrap="square" lIns="0" tIns="0" rIns="0" bIns="0">
            <a:spAutoFit/>
          </a:bodyPr>
          <a:lstStyle/>
          <a:p>
            <a:r>
              <a:rPr sz="1400" b="0" i="0">
                <a:solidFill>
                  <a:srgbClr val="5B6775"/>
                </a:solidFill>
                <a:latin typeface="Segoe UI"/>
              </a:rPr>
              <a:t>GOOD rows satisfy the condition. Adding a bank rule means adding one tuple.</a:t>
            </a:r>
          </a:p>
        </p:txBody>
      </p:sp>
      <p:sp>
        <p:nvSpPr>
          <p:cNvPr id="8" name="Rectangle 7"/>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08  ·  Data quality and profiling</a:t>
            </a:r>
          </a:p>
        </p:txBody>
      </p:sp>
      <p:sp>
        <p:nvSpPr>
          <p:cNvPr id="10" name="TextBox 9"/>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80</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Run every rule in one pass, not one scan per rule</a:t>
            </a:r>
          </a:p>
        </p:txBody>
      </p:sp>
      <p:sp>
        <p:nvSpPr>
          <p:cNvPr id="4" name="Rectangle 3"/>
          <p:cNvSpPr/>
          <p:nvPr/>
        </p:nvSpPr>
        <p:spPr>
          <a:xfrm>
            <a:off x="658368" y="1481328"/>
            <a:ext cx="10874959" cy="1868424"/>
          </a:xfrm>
          <a:prstGeom prst="rect">
            <a:avLst/>
          </a:prstGeom>
          <a:solidFill>
            <a:srgbClr val="F5F7F9"/>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81328"/>
            <a:ext cx="43180" cy="1868424"/>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77824" y="1645920"/>
            <a:ext cx="10509199" cy="1594104"/>
          </a:xfrm>
          <a:prstGeom prst="rect">
            <a:avLst/>
          </a:prstGeom>
          <a:noFill/>
        </p:spPr>
        <p:txBody>
          <a:bodyPr wrap="square" lIns="0" tIns="0" rIns="0" bIns="0">
            <a:spAutoFit/>
          </a:bodyPr>
          <a:lstStyle/>
          <a:p>
            <a:pPr>
              <a:lnSpc>
                <a:spcPct val="116000"/>
              </a:lnSpc>
              <a:spcAft>
                <a:spcPts val="0"/>
              </a:spcAft>
            </a:pPr>
            <a:r>
              <a:rPr sz="1500" b="0" i="0">
                <a:solidFill>
                  <a:srgbClr val="242C38"/>
                </a:solidFill>
                <a:latin typeface="Consolas"/>
              </a:rPr>
              <a:t>fail_exprs = [F.sum(F.when(~F.expr(cond), </a:t>
            </a:r>
            <a:r>
              <a:rPr sz="1500" b="0" i="0">
                <a:solidFill>
                  <a:srgbClr val="098658"/>
                </a:solidFill>
                <a:latin typeface="Consolas"/>
              </a:rPr>
              <a:t>1</a:t>
            </a:r>
            <a:r>
              <a:rPr sz="1500" b="0" i="0">
                <a:solidFill>
                  <a:srgbClr val="242C38"/>
                </a:solidFill>
                <a:latin typeface="Consolas"/>
              </a:rPr>
              <a:t>)</a:t>
            </a:r>
          </a:p>
          <a:p>
            <a:pPr>
              <a:lnSpc>
                <a:spcPct val="116000"/>
              </a:lnSpc>
              <a:spcAft>
                <a:spcPts val="0"/>
              </a:spcAft>
            </a:pPr>
            <a:r>
              <a:rPr sz="1500" b="0" i="0">
                <a:solidFill>
                  <a:srgbClr val="242C38"/>
                </a:solidFill>
                <a:latin typeface="Consolas"/>
              </a:rPr>
              <a:t>    .otherwise(</a:t>
            </a:r>
            <a:r>
              <a:rPr sz="1500" b="0" i="0">
                <a:solidFill>
                  <a:srgbClr val="098658"/>
                </a:solidFill>
                <a:latin typeface="Consolas"/>
              </a:rPr>
              <a:t>0</a:t>
            </a:r>
            <a:r>
              <a:rPr sz="1500" b="0" i="0">
                <a:solidFill>
                  <a:srgbClr val="242C38"/>
                </a:solidFill>
                <a:latin typeface="Consolas"/>
              </a:rPr>
              <a:t>)).alias(name) </a:t>
            </a:r>
            <a:r>
              <a:rPr sz="1500" b="0" i="0">
                <a:solidFill>
                  <a:srgbClr val="0F5BA7"/>
                </a:solidFill>
                <a:latin typeface="Consolas"/>
              </a:rPr>
              <a:t>for</a:t>
            </a:r>
            <a:r>
              <a:rPr sz="1500" b="0" i="0">
                <a:solidFill>
                  <a:srgbClr val="242C38"/>
                </a:solidFill>
                <a:latin typeface="Consolas"/>
              </a:rPr>
              <a:t> name, cond </a:t>
            </a:r>
            <a:r>
              <a:rPr sz="1500" b="0" i="0">
                <a:solidFill>
                  <a:srgbClr val="0F5BA7"/>
                </a:solidFill>
                <a:latin typeface="Consolas"/>
              </a:rPr>
              <a:t>in</a:t>
            </a:r>
            <a:r>
              <a:rPr sz="1500" b="0" i="0">
                <a:solidFill>
                  <a:srgbClr val="242C38"/>
                </a:solidFill>
                <a:latin typeface="Consolas"/>
              </a:rPr>
              <a:t> RULES]</a:t>
            </a:r>
          </a:p>
          <a:p>
            <a:pPr>
              <a:lnSpc>
                <a:spcPct val="116000"/>
              </a:lnSpc>
              <a:spcAft>
                <a:spcPts val="0"/>
              </a:spcAft>
            </a:pPr>
            <a:r>
              <a:rPr sz="1500" b="0" i="0">
                <a:solidFill>
                  <a:srgbClr val="242C38"/>
                </a:solidFill>
                <a:latin typeface="Consolas"/>
              </a:rPr>
              <a:t> </a:t>
            </a:r>
          </a:p>
          <a:p>
            <a:pPr>
              <a:lnSpc>
                <a:spcPct val="116000"/>
              </a:lnSpc>
              <a:spcAft>
                <a:spcPts val="0"/>
              </a:spcAft>
            </a:pPr>
            <a:r>
              <a:rPr sz="1500" b="0" i="0">
                <a:solidFill>
                  <a:srgbClr val="242C38"/>
                </a:solidFill>
                <a:latin typeface="Consolas"/>
              </a:rPr>
              <a:t>totals = tagged.agg(</a:t>
            </a:r>
          </a:p>
          <a:p>
            <a:pPr>
              <a:lnSpc>
                <a:spcPct val="116000"/>
              </a:lnSpc>
              <a:spcAft>
                <a:spcPts val="0"/>
              </a:spcAft>
            </a:pPr>
            <a:r>
              <a:rPr sz="1500" b="0" i="0">
                <a:solidFill>
                  <a:srgbClr val="242C38"/>
                </a:solidFill>
                <a:latin typeface="Consolas"/>
              </a:rPr>
              <a:t>    F.count(</a:t>
            </a:r>
            <a:r>
              <a:rPr sz="1500" b="0" i="0">
                <a:solidFill>
                  <a:srgbClr val="A31515"/>
                </a:solidFill>
                <a:latin typeface="Consolas"/>
              </a:rPr>
              <a:t>"*"</a:t>
            </a:r>
            <a:r>
              <a:rPr sz="1500" b="0" i="0">
                <a:solidFill>
                  <a:srgbClr val="242C38"/>
                </a:solidFill>
                <a:latin typeface="Consolas"/>
              </a:rPr>
              <a:t>).alias(</a:t>
            </a:r>
            <a:r>
              <a:rPr sz="1500" b="0" i="0">
                <a:solidFill>
                  <a:srgbClr val="A31515"/>
                </a:solidFill>
                <a:latin typeface="Consolas"/>
              </a:rPr>
              <a:t>"total_rows"</a:t>
            </a:r>
            <a:r>
              <a:rPr sz="1500" b="0" i="0">
                <a:solidFill>
                  <a:srgbClr val="242C38"/>
                </a:solidFill>
                <a:latin typeface="Consolas"/>
              </a:rPr>
              <a:t>), *fail_exprs).first()</a:t>
            </a:r>
          </a:p>
        </p:txBody>
      </p:sp>
      <p:sp>
        <p:nvSpPr>
          <p:cNvPr id="7" name="TextBox 6"/>
          <p:cNvSpPr txBox="1"/>
          <p:nvPr/>
        </p:nvSpPr>
        <p:spPr>
          <a:xfrm>
            <a:off x="658368" y="3496056"/>
            <a:ext cx="10874959" cy="457200"/>
          </a:xfrm>
          <a:prstGeom prst="rect">
            <a:avLst/>
          </a:prstGeom>
          <a:noFill/>
        </p:spPr>
        <p:txBody>
          <a:bodyPr wrap="square" lIns="0" tIns="0" rIns="0" bIns="0">
            <a:spAutoFit/>
          </a:bodyPr>
          <a:lstStyle/>
          <a:p>
            <a:r>
              <a:rPr sz="1400" b="0" i="0">
                <a:solidFill>
                  <a:srgbClr val="5B6775"/>
                </a:solidFill>
                <a:latin typeface="Segoe UI"/>
              </a:rPr>
              <a:t>One pass means Spark reads the data once, not once per rule.</a:t>
            </a:r>
          </a:p>
        </p:txBody>
      </p:sp>
      <p:sp>
        <p:nvSpPr>
          <p:cNvPr id="8" name="Rectangle 7"/>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08  ·  Data quality and profiling</a:t>
            </a:r>
          </a:p>
        </p:txBody>
      </p:sp>
      <p:sp>
        <p:nvSpPr>
          <p:cNvPr id="10" name="TextBox 9"/>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81</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A starting point for setting thresholds</a:t>
            </a:r>
          </a:p>
        </p:txBody>
      </p:sp>
      <p:graphicFrame>
        <p:nvGraphicFramePr>
          <p:cNvPr id="4" name="Table 3"/>
          <p:cNvGraphicFramePr>
            <a:graphicFrameLocks noGrp="1"/>
          </p:cNvGraphicFramePr>
          <p:nvPr/>
        </p:nvGraphicFramePr>
        <p:xfrm>
          <a:off x="658368" y="1481328"/>
          <a:ext cx="10874957" cy="1828800"/>
        </p:xfrm>
        <a:graphic>
          <a:graphicData uri="http://schemas.openxmlformats.org/drawingml/2006/table">
            <a:tbl>
              <a:tblPr firstRow="1" bandRow="1">
                <a:tableStyleId>{5C22544A-7EE6-4342-B048-85BDC9FD1C3A}</a:tableStyleId>
              </a:tblPr>
              <a:tblGrid>
                <a:gridCol w="3782594">
                  <a:extLst>
                    <a:ext uri="{9D8B030D-6E8A-4147-A177-3AD203B41FA5}">
                      <a16:colId xmlns:a16="http://schemas.microsoft.com/office/drawing/2014/main" val="20000"/>
                    </a:ext>
                  </a:extLst>
                </a:gridCol>
                <a:gridCol w="3073357">
                  <a:extLst>
                    <a:ext uri="{9D8B030D-6E8A-4147-A177-3AD203B41FA5}">
                      <a16:colId xmlns:a16="http://schemas.microsoft.com/office/drawing/2014/main" val="20001"/>
                    </a:ext>
                  </a:extLst>
                </a:gridCol>
                <a:gridCol w="4019006">
                  <a:extLst>
                    <a:ext uri="{9D8B030D-6E8A-4147-A177-3AD203B41FA5}">
                      <a16:colId xmlns:a16="http://schemas.microsoft.com/office/drawing/2014/main" val="20002"/>
                    </a:ext>
                  </a:extLst>
                </a:gridCol>
              </a:tblGrid>
              <a:tr h="402336">
                <a:tc>
                  <a:txBody>
                    <a:bodyPr/>
                    <a:lstStyle/>
                    <a:p>
                      <a:r>
                        <a:rPr sz="1450" b="1" i="0">
                          <a:solidFill>
                            <a:srgbClr val="FFFFFF"/>
                          </a:solidFill>
                          <a:latin typeface="Segoe UI Semibold"/>
                        </a:rPr>
                        <a:t>Kind of rule</a:t>
                      </a:r>
                    </a:p>
                  </a:txBody>
                  <a:tcPr anchor="ctr">
                    <a:solidFill>
                      <a:srgbClr val="1F4E79"/>
                    </a:solidFill>
                  </a:tcPr>
                </a:tc>
                <a:tc>
                  <a:txBody>
                    <a:bodyPr/>
                    <a:lstStyle/>
                    <a:p>
                      <a:r>
                        <a:rPr sz="1450" b="1" i="0">
                          <a:solidFill>
                            <a:srgbClr val="FFFFFF"/>
                          </a:solidFill>
                          <a:latin typeface="Segoe UI Semibold"/>
                        </a:rPr>
                        <a:t>Starting threshold</a:t>
                      </a:r>
                    </a:p>
                  </a:txBody>
                  <a:tcPr anchor="ctr">
                    <a:solidFill>
                      <a:srgbClr val="1F4E79"/>
                    </a:solidFill>
                  </a:tcPr>
                </a:tc>
                <a:tc>
                  <a:txBody>
                    <a:bodyPr/>
                    <a:lstStyle/>
                    <a:p>
                      <a:r>
                        <a:rPr sz="1450" b="1" i="0">
                          <a:solidFill>
                            <a:srgbClr val="FFFFFF"/>
                          </a:solidFill>
                          <a:latin typeface="Segoe UI Semibold"/>
                        </a:rPr>
                        <a:t>Why</a:t>
                      </a:r>
                    </a:p>
                  </a:txBody>
                  <a:tcPr anchor="ctr">
                    <a:solidFill>
                      <a:srgbClr val="1F4E79"/>
                    </a:solidFill>
                  </a:tcPr>
                </a:tc>
                <a:extLst>
                  <a:ext uri="{0D108BD9-81ED-4DB2-BD59-A6C34878D82A}">
                    <a16:rowId xmlns:a16="http://schemas.microsoft.com/office/drawing/2014/main" val="10000"/>
                  </a:ext>
                </a:extLst>
              </a:tr>
              <a:tr h="475488">
                <a:tc>
                  <a:txBody>
                    <a:bodyPr/>
                    <a:lstStyle/>
                    <a:p>
                      <a:pPr>
                        <a:lnSpc>
                          <a:spcPct val="106000"/>
                        </a:lnSpc>
                      </a:pPr>
                      <a:r>
                        <a:rPr sz="1400" b="1" i="0">
                          <a:solidFill>
                            <a:srgbClr val="242C38"/>
                          </a:solidFill>
                          <a:latin typeface="Segoe UI"/>
                        </a:rPr>
                        <a:t>Referential integrity, e.g. orphan account</a:t>
                      </a:r>
                    </a:p>
                  </a:txBody>
                  <a:tcPr marT="36576" marB="36576" anchor="ctr">
                    <a:solidFill>
                      <a:srgbClr val="EEF3F8"/>
                    </a:solidFill>
                  </a:tcPr>
                </a:tc>
                <a:tc>
                  <a:txBody>
                    <a:bodyPr/>
                    <a:lstStyle/>
                    <a:p>
                      <a:pPr>
                        <a:lnSpc>
                          <a:spcPct val="106000"/>
                        </a:lnSpc>
                      </a:pPr>
                      <a:r>
                        <a:rPr sz="1400" b="0" i="0">
                          <a:solidFill>
                            <a:srgbClr val="242C38"/>
                          </a:solidFill>
                          <a:latin typeface="Segoe UI"/>
                        </a:rPr>
                        <a:t>fail on any occurrence</a:t>
                      </a:r>
                    </a:p>
                  </a:txBody>
                  <a:tcPr marT="36576" marB="36576" anchor="ctr">
                    <a:solidFill>
                      <a:srgbClr val="EEF3F8"/>
                    </a:solidFill>
                  </a:tcPr>
                </a:tc>
                <a:tc>
                  <a:txBody>
                    <a:bodyPr/>
                    <a:lstStyle/>
                    <a:p>
                      <a:pPr>
                        <a:lnSpc>
                          <a:spcPct val="106000"/>
                        </a:lnSpc>
                      </a:pPr>
                      <a:r>
                        <a:rPr sz="1400" b="0" i="0">
                          <a:solidFill>
                            <a:srgbClr val="242C38"/>
                          </a:solidFill>
                          <a:latin typeface="Segoe UI"/>
                        </a:rPr>
                        <a:t>money shouldn't move against a fake account</a:t>
                      </a:r>
                    </a:p>
                  </a:txBody>
                  <a:tcPr marT="36576" marB="36576" anchor="ctr">
                    <a:solidFill>
                      <a:srgbClr val="EEF3F8"/>
                    </a:solidFill>
                  </a:tcPr>
                </a:tc>
                <a:extLst>
                  <a:ext uri="{0D108BD9-81ED-4DB2-BD59-A6C34878D82A}">
                    <a16:rowId xmlns:a16="http://schemas.microsoft.com/office/drawing/2014/main" val="10001"/>
                  </a:ext>
                </a:extLst>
              </a:tr>
              <a:tr h="475488">
                <a:tc>
                  <a:txBody>
                    <a:bodyPr/>
                    <a:lstStyle/>
                    <a:p>
                      <a:pPr>
                        <a:lnSpc>
                          <a:spcPct val="106000"/>
                        </a:lnSpc>
                      </a:pPr>
                      <a:r>
                        <a:rPr sz="1400" b="1" i="0">
                          <a:solidFill>
                            <a:srgbClr val="242C38"/>
                          </a:solidFill>
                          <a:latin typeface="Segoe UI"/>
                        </a:rPr>
                        <a:t>A hard business rule, e.g. negative amount</a:t>
                      </a:r>
                    </a:p>
                  </a:txBody>
                  <a:tcPr marT="36576" marB="36576" anchor="ctr">
                    <a:solidFill>
                      <a:srgbClr val="FFFFFF"/>
                    </a:solidFill>
                  </a:tcPr>
                </a:tc>
                <a:tc>
                  <a:txBody>
                    <a:bodyPr/>
                    <a:lstStyle/>
                    <a:p>
                      <a:pPr>
                        <a:lnSpc>
                          <a:spcPct val="106000"/>
                        </a:lnSpc>
                      </a:pPr>
                      <a:r>
                        <a:rPr sz="1400" b="0" i="0">
                          <a:solidFill>
                            <a:srgbClr val="242C38"/>
                          </a:solidFill>
                          <a:latin typeface="Segoe UI"/>
                        </a:rPr>
                        <a:t>fail on any occurrence</a:t>
                      </a:r>
                    </a:p>
                  </a:txBody>
                  <a:tcPr marT="36576" marB="36576" anchor="ctr">
                    <a:solidFill>
                      <a:srgbClr val="FFFFFF"/>
                    </a:solidFill>
                  </a:tcPr>
                </a:tc>
                <a:tc>
                  <a:txBody>
                    <a:bodyPr/>
                    <a:lstStyle/>
                    <a:p>
                      <a:pPr>
                        <a:lnSpc>
                          <a:spcPct val="106000"/>
                        </a:lnSpc>
                      </a:pPr>
                      <a:r>
                        <a:rPr sz="1400" b="0" i="0">
                          <a:solidFill>
                            <a:srgbClr val="242C38"/>
                          </a:solidFill>
                          <a:latin typeface="Segoe UI"/>
                        </a:rPr>
                        <a:t>usually an upstream bug, not variation</a:t>
                      </a:r>
                    </a:p>
                  </a:txBody>
                  <a:tcPr marT="36576" marB="36576" anchor="ctr">
                    <a:solidFill>
                      <a:srgbClr val="FFFFFF"/>
                    </a:solidFill>
                  </a:tcPr>
                </a:tc>
                <a:extLst>
                  <a:ext uri="{0D108BD9-81ED-4DB2-BD59-A6C34878D82A}">
                    <a16:rowId xmlns:a16="http://schemas.microsoft.com/office/drawing/2014/main" val="10002"/>
                  </a:ext>
                </a:extLst>
              </a:tr>
              <a:tr h="475488">
                <a:tc>
                  <a:txBody>
                    <a:bodyPr/>
                    <a:lstStyle/>
                    <a:p>
                      <a:pPr>
                        <a:lnSpc>
                          <a:spcPct val="106000"/>
                        </a:lnSpc>
                      </a:pPr>
                      <a:r>
                        <a:rPr sz="1400" b="1" i="0">
                          <a:solidFill>
                            <a:srgbClr val="242C38"/>
                          </a:solidFill>
                          <a:latin typeface="Segoe UI"/>
                        </a:rPr>
                        <a:t>Formatting, e.g. dirty channel casing</a:t>
                      </a:r>
                    </a:p>
                  </a:txBody>
                  <a:tcPr marT="36576" marB="36576" anchor="ctr">
                    <a:solidFill>
                      <a:srgbClr val="EEF3F8"/>
                    </a:solidFill>
                  </a:tcPr>
                </a:tc>
                <a:tc>
                  <a:txBody>
                    <a:bodyPr/>
                    <a:lstStyle/>
                    <a:p>
                      <a:pPr>
                        <a:lnSpc>
                          <a:spcPct val="106000"/>
                        </a:lnSpc>
                      </a:pPr>
                      <a:r>
                        <a:rPr sz="1400" b="0" i="0">
                          <a:solidFill>
                            <a:srgbClr val="242C38"/>
                          </a:solidFill>
                          <a:latin typeface="Segoe UI"/>
                        </a:rPr>
                        <a:t>a generous percentage</a:t>
                      </a:r>
                    </a:p>
                  </a:txBody>
                  <a:tcPr marT="36576" marB="36576" anchor="ctr">
                    <a:solidFill>
                      <a:srgbClr val="EEF3F8"/>
                    </a:solidFill>
                  </a:tcPr>
                </a:tc>
                <a:tc>
                  <a:txBody>
                    <a:bodyPr/>
                    <a:lstStyle/>
                    <a:p>
                      <a:pPr>
                        <a:lnSpc>
                          <a:spcPct val="106000"/>
                        </a:lnSpc>
                      </a:pPr>
                      <a:r>
                        <a:rPr sz="1400" b="0" i="0">
                          <a:solidFill>
                            <a:srgbClr val="242C38"/>
                          </a:solidFill>
                          <a:latin typeface="Segoe UI"/>
                        </a:rPr>
                        <a:t>annoying, not dangerous, easy to clean</a:t>
                      </a:r>
                    </a:p>
                  </a:txBody>
                  <a:tcPr marT="36576" marB="36576" anchor="ctr">
                    <a:solidFill>
                      <a:srgbClr val="EEF3F8"/>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658368" y="5724144"/>
            <a:ext cx="10874959" cy="502920"/>
          </a:xfrm>
          <a:prstGeom prst="rect">
            <a:avLst/>
          </a:prstGeom>
          <a:noFill/>
        </p:spPr>
        <p:txBody>
          <a:bodyPr wrap="square" lIns="0" tIns="0" rIns="0" bIns="0">
            <a:spAutoFit/>
          </a:bodyPr>
          <a:lstStyle/>
          <a:p>
            <a:r>
              <a:rPr sz="1300" b="0" i="1">
                <a:solidFill>
                  <a:srgbClr val="5B6775"/>
                </a:solidFill>
                <a:latin typeface="Segoe UI"/>
              </a:rPr>
              <a:t>Rules about money and identity get a strict threshold. Formatting rules get a loose one.</a:t>
            </a:r>
          </a:p>
        </p:txBody>
      </p:sp>
      <p:sp>
        <p:nvSpPr>
          <p:cNvPr id="6" name="Rectangle 5"/>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08  ·  Data quality and profiling</a:t>
            </a:r>
          </a:p>
        </p:txBody>
      </p:sp>
      <p:sp>
        <p:nvSpPr>
          <p:cNvPr id="8" name="TextBox 7"/>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82</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Reconciliation: an identity that must hold</a:t>
            </a:r>
          </a:p>
        </p:txBody>
      </p:sp>
      <p:sp>
        <p:nvSpPr>
          <p:cNvPr id="4" name="Rectangle 3"/>
          <p:cNvSpPr/>
          <p:nvPr/>
        </p:nvSpPr>
        <p:spPr>
          <a:xfrm>
            <a:off x="658368" y="1481328"/>
            <a:ext cx="10874959" cy="2157984"/>
          </a:xfrm>
          <a:prstGeom prst="rect">
            <a:avLst/>
          </a:prstGeom>
          <a:solidFill>
            <a:srgbClr val="F5F7F9"/>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81328"/>
            <a:ext cx="43180" cy="2157984"/>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77824" y="1645920"/>
            <a:ext cx="10509199" cy="1883664"/>
          </a:xfrm>
          <a:prstGeom prst="rect">
            <a:avLst/>
          </a:prstGeom>
          <a:noFill/>
        </p:spPr>
        <p:txBody>
          <a:bodyPr wrap="square" lIns="0" tIns="0" rIns="0" bIns="0">
            <a:spAutoFit/>
          </a:bodyPr>
          <a:lstStyle/>
          <a:p>
            <a:pPr>
              <a:lnSpc>
                <a:spcPct val="116000"/>
              </a:lnSpc>
              <a:spcAft>
                <a:spcPts val="0"/>
              </a:spcAft>
            </a:pPr>
            <a:r>
              <a:rPr sz="1500" b="0" i="0">
                <a:solidFill>
                  <a:srgbClr val="242C38"/>
                </a:solidFill>
                <a:latin typeface="Consolas"/>
              </a:rPr>
              <a:t>bronze_n = bronze.count()</a:t>
            </a:r>
          </a:p>
          <a:p>
            <a:pPr>
              <a:lnSpc>
                <a:spcPct val="116000"/>
              </a:lnSpc>
              <a:spcAft>
                <a:spcPts val="0"/>
              </a:spcAft>
            </a:pPr>
            <a:r>
              <a:rPr sz="1500" b="0" i="0">
                <a:solidFill>
                  <a:srgbClr val="242C38"/>
                </a:solidFill>
                <a:latin typeface="Consolas"/>
              </a:rPr>
              <a:t>duplicates_removed = bronze_n - \</a:t>
            </a:r>
          </a:p>
          <a:p>
            <a:pPr>
              <a:lnSpc>
                <a:spcPct val="116000"/>
              </a:lnSpc>
              <a:spcAft>
                <a:spcPts val="0"/>
              </a:spcAft>
            </a:pPr>
            <a:r>
              <a:rPr sz="1500" b="0" i="0">
                <a:solidFill>
                  <a:srgbClr val="242C38"/>
                </a:solidFill>
                <a:latin typeface="Consolas"/>
              </a:rPr>
              <a:t>    bronze.dropDuplicates([</a:t>
            </a:r>
            <a:r>
              <a:rPr sz="1500" b="0" i="0">
                <a:solidFill>
                  <a:srgbClr val="A31515"/>
                </a:solidFill>
                <a:latin typeface="Consolas"/>
              </a:rPr>
              <a:t>"txn_id"</a:t>
            </a:r>
            <a:r>
              <a:rPr sz="1500" b="0" i="0">
                <a:solidFill>
                  <a:srgbClr val="242C38"/>
                </a:solidFill>
                <a:latin typeface="Consolas"/>
              </a:rPr>
              <a:t>]).count()</a:t>
            </a:r>
          </a:p>
          <a:p>
            <a:pPr>
              <a:lnSpc>
                <a:spcPct val="116000"/>
              </a:lnSpc>
              <a:spcAft>
                <a:spcPts val="0"/>
              </a:spcAft>
            </a:pPr>
            <a:r>
              <a:rPr sz="1500" b="0" i="0">
                <a:solidFill>
                  <a:srgbClr val="242C38"/>
                </a:solidFill>
                <a:latin typeface="Consolas"/>
              </a:rPr>
              <a:t> </a:t>
            </a:r>
          </a:p>
          <a:p>
            <a:pPr>
              <a:lnSpc>
                <a:spcPct val="116000"/>
              </a:lnSpc>
              <a:spcAft>
                <a:spcPts val="0"/>
              </a:spcAft>
            </a:pPr>
            <a:r>
              <a:rPr sz="1500" b="0" i="0">
                <a:solidFill>
                  <a:srgbClr val="242C38"/>
                </a:solidFill>
                <a:latin typeface="Consolas"/>
              </a:rPr>
              <a:t>tie = (bronze_n - duplicates_removed) == \</a:t>
            </a:r>
          </a:p>
          <a:p>
            <a:pPr>
              <a:lnSpc>
                <a:spcPct val="116000"/>
              </a:lnSpc>
              <a:spcAft>
                <a:spcPts val="0"/>
              </a:spcAft>
            </a:pPr>
            <a:r>
              <a:rPr sz="1500" b="0" i="0">
                <a:solidFill>
                  <a:srgbClr val="242C38"/>
                </a:solidFill>
                <a:latin typeface="Consolas"/>
              </a:rPr>
              <a:t>    (silver.count() + quarantine.count())</a:t>
            </a:r>
          </a:p>
        </p:txBody>
      </p:sp>
      <p:sp>
        <p:nvSpPr>
          <p:cNvPr id="7" name="TextBox 6"/>
          <p:cNvSpPr txBox="1"/>
          <p:nvPr/>
        </p:nvSpPr>
        <p:spPr>
          <a:xfrm>
            <a:off x="658368" y="3785616"/>
            <a:ext cx="10874959" cy="457200"/>
          </a:xfrm>
          <a:prstGeom prst="rect">
            <a:avLst/>
          </a:prstGeom>
          <a:noFill/>
        </p:spPr>
        <p:txBody>
          <a:bodyPr wrap="square" lIns="0" tIns="0" rIns="0" bIns="0">
            <a:spAutoFit/>
          </a:bodyPr>
          <a:lstStyle/>
          <a:p>
            <a:r>
              <a:rPr sz="1400" b="0" i="0">
                <a:solidFill>
                  <a:srgbClr val="5B6775"/>
                </a:solidFill>
                <a:latin typeface="Segoe UI"/>
              </a:rPr>
              <a:t>Every row that entered bronze lands in EXACTLY ONE of silver or quarantine.</a:t>
            </a:r>
          </a:p>
        </p:txBody>
      </p:sp>
      <p:sp>
        <p:nvSpPr>
          <p:cNvPr id="8" name="Rectangle 7"/>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08  ·  Data quality and profiling</a:t>
            </a:r>
          </a:p>
        </p:txBody>
      </p:sp>
      <p:sp>
        <p:nvSpPr>
          <p:cNvPr id="10" name="TextBox 9"/>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83</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Ties proves rows weren't lost. Not that they're right.</a:t>
            </a:r>
          </a:p>
        </p:txBody>
      </p:sp>
      <p:sp>
        <p:nvSpPr>
          <p:cNvPr id="4" name="Rectangle 3"/>
          <p:cNvSpPr/>
          <p:nvPr/>
        </p:nvSpPr>
        <p:spPr>
          <a:xfrm>
            <a:off x="658368" y="1481328"/>
            <a:ext cx="5245455" cy="420624"/>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1581912"/>
            <a:ext cx="4971135" cy="274320"/>
          </a:xfrm>
          <a:prstGeom prst="rect">
            <a:avLst/>
          </a:prstGeom>
          <a:noFill/>
        </p:spPr>
        <p:txBody>
          <a:bodyPr wrap="square" lIns="0" tIns="0" rIns="0" bIns="0">
            <a:spAutoFit/>
          </a:bodyPr>
          <a:lstStyle/>
          <a:p>
            <a:r>
              <a:rPr sz="1450" b="1" i="0">
                <a:solidFill>
                  <a:srgbClr val="1F4E79"/>
                </a:solidFill>
                <a:latin typeface="Segoe UI Semibold"/>
              </a:rPr>
              <a:t>What reconciliation catches</a:t>
            </a:r>
          </a:p>
        </p:txBody>
      </p:sp>
      <p:sp>
        <p:nvSpPr>
          <p:cNvPr id="6" name="TextBox 5"/>
          <p:cNvSpPr txBox="1"/>
          <p:nvPr/>
        </p:nvSpPr>
        <p:spPr>
          <a:xfrm>
            <a:off x="704088" y="2103120"/>
            <a:ext cx="5154015" cy="3794760"/>
          </a:xfrm>
          <a:prstGeom prst="rect">
            <a:avLst/>
          </a:prstGeom>
          <a:noFill/>
        </p:spPr>
        <p:txBody>
          <a:bodyPr wrap="square" lIns="0" tIns="0" rIns="0" bIns="0">
            <a:spAutoFit/>
          </a:bodyPr>
          <a:lstStyle/>
          <a:p>
            <a:pPr marL="274320" indent="-274320">
              <a:lnSpc>
                <a:spcPct val="118000"/>
              </a:lnSpc>
              <a:spcAft>
                <a:spcPts val="900"/>
              </a:spcAft>
            </a:pPr>
            <a:r>
              <a:rPr sz="1600" b="1" i="0">
                <a:solidFill>
                  <a:srgbClr val="2E74B5"/>
                </a:solidFill>
                <a:latin typeface="Segoe UI"/>
              </a:rPr>
              <a:t>▪   </a:t>
            </a:r>
            <a:r>
              <a:rPr sz="1600" b="0" i="0">
                <a:solidFill>
                  <a:srgbClr val="242C38"/>
                </a:solidFill>
                <a:latin typeface="Segoe UI"/>
              </a:rPr>
              <a:t>A row silently dropped between layers</a:t>
            </a:r>
          </a:p>
          <a:p>
            <a:pPr marL="274320" indent="-274320">
              <a:lnSpc>
                <a:spcPct val="118000"/>
              </a:lnSpc>
              <a:spcAft>
                <a:spcPts val="900"/>
              </a:spcAft>
            </a:pPr>
            <a:r>
              <a:rPr sz="1600" b="1" i="0">
                <a:solidFill>
                  <a:srgbClr val="2E74B5"/>
                </a:solidFill>
                <a:latin typeface="Segoe UI"/>
              </a:rPr>
              <a:t>▪   </a:t>
            </a:r>
            <a:r>
              <a:rPr sz="1600" b="0" i="0">
                <a:solidFill>
                  <a:srgbClr val="242C38"/>
                </a:solidFill>
                <a:latin typeface="Segoe UI"/>
              </a:rPr>
              <a:t>A row silently double-counted</a:t>
            </a:r>
          </a:p>
          <a:p>
            <a:pPr marL="274320" indent="-274320">
              <a:lnSpc>
                <a:spcPct val="118000"/>
              </a:lnSpc>
              <a:spcAft>
                <a:spcPts val="900"/>
              </a:spcAft>
            </a:pPr>
            <a:r>
              <a:rPr sz="1600" b="1" i="0">
                <a:solidFill>
                  <a:srgbClr val="2E74B5"/>
                </a:solidFill>
                <a:latin typeface="Segoe UI"/>
              </a:rPr>
              <a:t>▪   </a:t>
            </a:r>
            <a:r>
              <a:rPr sz="1600" b="0" i="0">
                <a:solidFill>
                  <a:srgbClr val="242C38"/>
                </a:solidFill>
                <a:latin typeface="Segoe UI"/>
              </a:rPr>
              <a:t>Missing and duplicated rows, always</a:t>
            </a:r>
          </a:p>
        </p:txBody>
      </p:sp>
      <p:sp>
        <p:nvSpPr>
          <p:cNvPr id="7" name="Rectangle 6"/>
          <p:cNvSpPr/>
          <p:nvPr/>
        </p:nvSpPr>
        <p:spPr>
          <a:xfrm>
            <a:off x="6287871" y="1481328"/>
            <a:ext cx="5245455" cy="420624"/>
          </a:xfrm>
          <a:prstGeom prst="rect">
            <a:avLst/>
          </a:prstGeom>
          <a:solidFill>
            <a:srgbClr val="FFFFFF"/>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52463" y="1581912"/>
            <a:ext cx="4971135" cy="274320"/>
          </a:xfrm>
          <a:prstGeom prst="rect">
            <a:avLst/>
          </a:prstGeom>
          <a:noFill/>
        </p:spPr>
        <p:txBody>
          <a:bodyPr wrap="square" lIns="0" tIns="0" rIns="0" bIns="0">
            <a:spAutoFit/>
          </a:bodyPr>
          <a:lstStyle/>
          <a:p>
            <a:r>
              <a:rPr sz="1450" b="1" i="0">
                <a:solidFill>
                  <a:srgbClr val="5B6775"/>
                </a:solidFill>
                <a:latin typeface="Segoe UI Semibold"/>
              </a:rPr>
              <a:t>What it does NOT catch</a:t>
            </a:r>
          </a:p>
        </p:txBody>
      </p:sp>
      <p:sp>
        <p:nvSpPr>
          <p:cNvPr id="9" name="TextBox 8"/>
          <p:cNvSpPr txBox="1"/>
          <p:nvPr/>
        </p:nvSpPr>
        <p:spPr>
          <a:xfrm>
            <a:off x="6333591" y="2103120"/>
            <a:ext cx="5154015" cy="3794760"/>
          </a:xfrm>
          <a:prstGeom prst="rect">
            <a:avLst/>
          </a:prstGeom>
          <a:noFill/>
        </p:spPr>
        <p:txBody>
          <a:bodyPr wrap="square" lIns="0" tIns="0" rIns="0" bIns="0">
            <a:spAutoFit/>
          </a:bodyPr>
          <a:lstStyle/>
          <a:p>
            <a:pPr marL="274320" indent="-274320">
              <a:lnSpc>
                <a:spcPct val="118000"/>
              </a:lnSpc>
              <a:spcAft>
                <a:spcPts val="900"/>
              </a:spcAft>
            </a:pPr>
            <a:r>
              <a:rPr sz="1600" b="1" i="0">
                <a:solidFill>
                  <a:srgbClr val="2E74B5"/>
                </a:solidFill>
                <a:latin typeface="Segoe UI"/>
              </a:rPr>
              <a:t>▪   </a:t>
            </a:r>
            <a:r>
              <a:rPr sz="1600" b="0" i="0">
                <a:solidFill>
                  <a:srgbClr val="242C38"/>
                </a:solidFill>
                <a:latin typeface="Segoe UI"/>
              </a:rPr>
              <a:t>A silver table with an inverted condition</a:t>
            </a:r>
          </a:p>
          <a:p>
            <a:pPr marL="274320" indent="-274320">
              <a:lnSpc>
                <a:spcPct val="118000"/>
              </a:lnSpc>
              <a:spcAft>
                <a:spcPts val="900"/>
              </a:spcAft>
            </a:pPr>
            <a:r>
              <a:rPr sz="1600" b="1" i="0">
                <a:solidFill>
                  <a:srgbClr val="2E74B5"/>
                </a:solidFill>
                <a:latin typeface="Segoe UI"/>
              </a:rPr>
              <a:t>▪   </a:t>
            </a:r>
            <a:r>
              <a:rPr sz="1600" b="0" i="0">
                <a:solidFill>
                  <a:srgbClr val="242C38"/>
                </a:solidFill>
                <a:latin typeface="Segoe UI"/>
              </a:rPr>
              <a:t>Bad rows kept, good rows quarantined</a:t>
            </a:r>
          </a:p>
          <a:p>
            <a:pPr marL="274320" indent="-274320">
              <a:lnSpc>
                <a:spcPct val="118000"/>
              </a:lnSpc>
              <a:spcAft>
                <a:spcPts val="900"/>
              </a:spcAft>
            </a:pPr>
            <a:r>
              <a:rPr sz="1600" b="1" i="0">
                <a:solidFill>
                  <a:srgbClr val="2E74B5"/>
                </a:solidFill>
                <a:latin typeface="Segoe UI"/>
              </a:rPr>
              <a:t>▪   </a:t>
            </a:r>
            <a:r>
              <a:rPr sz="1600" b="0" i="0">
                <a:solidFill>
                  <a:srgbClr val="242C38"/>
                </a:solidFill>
                <a:latin typeface="Segoe UI"/>
              </a:rPr>
              <a:t>Wrong rows. The rule table catches those</a:t>
            </a:r>
          </a:p>
        </p:txBody>
      </p:sp>
      <p:sp>
        <p:nvSpPr>
          <p:cNvPr id="10" name="Rectangle 9"/>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08  ·  Data quality and profiling</a:t>
            </a:r>
          </a:p>
        </p:txBody>
      </p:sp>
      <p:sp>
        <p:nvSpPr>
          <p:cNvPr id="12" name="TextBox 11"/>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84</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Off-the-shelf alternatives for a larger rule set</a:t>
            </a:r>
          </a:p>
        </p:txBody>
      </p:sp>
      <p:graphicFrame>
        <p:nvGraphicFramePr>
          <p:cNvPr id="4" name="Table 3"/>
          <p:cNvGraphicFramePr>
            <a:graphicFrameLocks noGrp="1"/>
          </p:cNvGraphicFramePr>
          <p:nvPr/>
        </p:nvGraphicFramePr>
        <p:xfrm>
          <a:off x="658368" y="1481328"/>
          <a:ext cx="10874958" cy="2304288"/>
        </p:xfrm>
        <a:graphic>
          <a:graphicData uri="http://schemas.openxmlformats.org/drawingml/2006/table">
            <a:tbl>
              <a:tblPr firstRow="1" bandRow="1">
                <a:tableStyleId>{5C22544A-7EE6-4342-B048-85BDC9FD1C3A}</a:tableStyleId>
              </a:tblPr>
              <a:tblGrid>
                <a:gridCol w="4158072">
                  <a:extLst>
                    <a:ext uri="{9D8B030D-6E8A-4147-A177-3AD203B41FA5}">
                      <a16:colId xmlns:a16="http://schemas.microsoft.com/office/drawing/2014/main" val="20000"/>
                    </a:ext>
                  </a:extLst>
                </a:gridCol>
                <a:gridCol w="6716886">
                  <a:extLst>
                    <a:ext uri="{9D8B030D-6E8A-4147-A177-3AD203B41FA5}">
                      <a16:colId xmlns:a16="http://schemas.microsoft.com/office/drawing/2014/main" val="20001"/>
                    </a:ext>
                  </a:extLst>
                </a:gridCol>
              </a:tblGrid>
              <a:tr h="402336">
                <a:tc>
                  <a:txBody>
                    <a:bodyPr/>
                    <a:lstStyle/>
                    <a:p>
                      <a:r>
                        <a:rPr sz="1450" b="1" i="0">
                          <a:solidFill>
                            <a:srgbClr val="FFFFFF"/>
                          </a:solidFill>
                          <a:latin typeface="Segoe UI Semibold"/>
                        </a:rPr>
                        <a:t>Tool</a:t>
                      </a:r>
                    </a:p>
                  </a:txBody>
                  <a:tcPr anchor="ctr">
                    <a:solidFill>
                      <a:srgbClr val="1F4E79"/>
                    </a:solidFill>
                  </a:tcPr>
                </a:tc>
                <a:tc>
                  <a:txBody>
                    <a:bodyPr/>
                    <a:lstStyle/>
                    <a:p>
                      <a:r>
                        <a:rPr sz="1450" b="1" i="0">
                          <a:solidFill>
                            <a:srgbClr val="FFFFFF"/>
                          </a:solidFill>
                          <a:latin typeface="Segoe UI Semibold"/>
                        </a:rPr>
                        <a:t>What it adds</a:t>
                      </a:r>
                    </a:p>
                  </a:txBody>
                  <a:tcPr anchor="ctr">
                    <a:solidFill>
                      <a:srgbClr val="1F4E79"/>
                    </a:solidFill>
                  </a:tcPr>
                </a:tc>
                <a:extLst>
                  <a:ext uri="{0D108BD9-81ED-4DB2-BD59-A6C34878D82A}">
                    <a16:rowId xmlns:a16="http://schemas.microsoft.com/office/drawing/2014/main" val="10000"/>
                  </a:ext>
                </a:extLst>
              </a:tr>
              <a:tr h="475488">
                <a:tc>
                  <a:txBody>
                    <a:bodyPr/>
                    <a:lstStyle/>
                    <a:p>
                      <a:pPr>
                        <a:lnSpc>
                          <a:spcPct val="106000"/>
                        </a:lnSpc>
                      </a:pPr>
                      <a:r>
                        <a:rPr sz="1400" b="1" i="0">
                          <a:solidFill>
                            <a:srgbClr val="242C38"/>
                          </a:solidFill>
                          <a:latin typeface="Segoe UI"/>
                        </a:rPr>
                        <a:t>Great Expectations</a:t>
                      </a:r>
                    </a:p>
                  </a:txBody>
                  <a:tcPr marT="36576" marB="36576" anchor="ctr">
                    <a:solidFill>
                      <a:srgbClr val="EEF3F8"/>
                    </a:solidFill>
                  </a:tcPr>
                </a:tc>
                <a:tc>
                  <a:txBody>
                    <a:bodyPr/>
                    <a:lstStyle/>
                    <a:p>
                      <a:pPr>
                        <a:lnSpc>
                          <a:spcPct val="106000"/>
                        </a:lnSpc>
                      </a:pPr>
                      <a:r>
                        <a:rPr sz="1400" b="0" i="0">
                          <a:solidFill>
                            <a:srgbClr val="242C38"/>
                          </a:solidFill>
                          <a:latin typeface="Segoe UI"/>
                        </a:rPr>
                        <a:t>pre-built rule types, a standard report format</a:t>
                      </a:r>
                    </a:p>
                  </a:txBody>
                  <a:tcPr marT="36576" marB="36576" anchor="ctr">
                    <a:solidFill>
                      <a:srgbClr val="EEF3F8"/>
                    </a:solidFill>
                  </a:tcPr>
                </a:tc>
                <a:extLst>
                  <a:ext uri="{0D108BD9-81ED-4DB2-BD59-A6C34878D82A}">
                    <a16:rowId xmlns:a16="http://schemas.microsoft.com/office/drawing/2014/main" val="10001"/>
                  </a:ext>
                </a:extLst>
              </a:tr>
              <a:tr h="475488">
                <a:tc>
                  <a:txBody>
                    <a:bodyPr/>
                    <a:lstStyle/>
                    <a:p>
                      <a:pPr>
                        <a:lnSpc>
                          <a:spcPct val="106000"/>
                        </a:lnSpc>
                      </a:pPr>
                      <a:r>
                        <a:rPr sz="1400" b="1" i="0">
                          <a:solidFill>
                            <a:srgbClr val="242C38"/>
                          </a:solidFill>
                          <a:latin typeface="Segoe UI"/>
                        </a:rPr>
                        <a:t>Deequ (on Spark)</a:t>
                      </a:r>
                    </a:p>
                  </a:txBody>
                  <a:tcPr marT="36576" marB="36576" anchor="ctr">
                    <a:solidFill>
                      <a:srgbClr val="FFFFFF"/>
                    </a:solidFill>
                  </a:tcPr>
                </a:tc>
                <a:tc>
                  <a:txBody>
                    <a:bodyPr/>
                    <a:lstStyle/>
                    <a:p>
                      <a:pPr>
                        <a:lnSpc>
                          <a:spcPct val="106000"/>
                        </a:lnSpc>
                      </a:pPr>
                      <a:r>
                        <a:rPr sz="1400" b="0" i="0">
                          <a:solidFill>
                            <a:srgbClr val="242C38"/>
                          </a:solidFill>
                          <a:latin typeface="Segoe UI"/>
                        </a:rPr>
                        <a:t>rules that estimate their own statistical confidence</a:t>
                      </a:r>
                    </a:p>
                  </a:txBody>
                  <a:tcPr marT="36576" marB="36576" anchor="ctr">
                    <a:solidFill>
                      <a:srgbClr val="FFFFFF"/>
                    </a:solidFill>
                  </a:tcPr>
                </a:tc>
                <a:extLst>
                  <a:ext uri="{0D108BD9-81ED-4DB2-BD59-A6C34878D82A}">
                    <a16:rowId xmlns:a16="http://schemas.microsoft.com/office/drawing/2014/main" val="10002"/>
                  </a:ext>
                </a:extLst>
              </a:tr>
              <a:tr h="475488">
                <a:tc>
                  <a:txBody>
                    <a:bodyPr/>
                    <a:lstStyle/>
                    <a:p>
                      <a:pPr>
                        <a:lnSpc>
                          <a:spcPct val="106000"/>
                        </a:lnSpc>
                      </a:pPr>
                      <a:r>
                        <a:rPr sz="1400" b="1" i="0">
                          <a:solidFill>
                            <a:srgbClr val="242C38"/>
                          </a:solidFill>
                          <a:latin typeface="Segoe UI"/>
                        </a:rPr>
                        <a:t>dbt tests</a:t>
                      </a:r>
                    </a:p>
                  </a:txBody>
                  <a:tcPr marT="36576" marB="36576" anchor="ctr">
                    <a:solidFill>
                      <a:srgbClr val="EEF3F8"/>
                    </a:solidFill>
                  </a:tcPr>
                </a:tc>
                <a:tc>
                  <a:txBody>
                    <a:bodyPr/>
                    <a:lstStyle/>
                    <a:p>
                      <a:pPr>
                        <a:lnSpc>
                          <a:spcPct val="106000"/>
                        </a:lnSpc>
                      </a:pPr>
                      <a:r>
                        <a:rPr sz="1400" b="0" i="0">
                          <a:solidFill>
                            <a:srgbClr val="242C38"/>
                          </a:solidFill>
                          <a:latin typeface="Segoe UI"/>
                        </a:rPr>
                        <a:t>rules defined next to the SQL models they check</a:t>
                      </a:r>
                    </a:p>
                  </a:txBody>
                  <a:tcPr marT="36576" marB="36576" anchor="ctr">
                    <a:solidFill>
                      <a:srgbClr val="EEF3F8"/>
                    </a:solidFill>
                  </a:tcPr>
                </a:tc>
                <a:extLst>
                  <a:ext uri="{0D108BD9-81ED-4DB2-BD59-A6C34878D82A}">
                    <a16:rowId xmlns:a16="http://schemas.microsoft.com/office/drawing/2014/main" val="10003"/>
                  </a:ext>
                </a:extLst>
              </a:tr>
              <a:tr h="475488">
                <a:tc>
                  <a:txBody>
                    <a:bodyPr/>
                    <a:lstStyle/>
                    <a:p>
                      <a:pPr>
                        <a:lnSpc>
                          <a:spcPct val="106000"/>
                        </a:lnSpc>
                      </a:pPr>
                      <a:r>
                        <a:rPr sz="1400" b="1" i="0">
                          <a:solidFill>
                            <a:srgbClr val="242C38"/>
                          </a:solidFill>
                          <a:latin typeface="Segoe UI"/>
                        </a:rPr>
                        <a:t>Soda Core</a:t>
                      </a:r>
                    </a:p>
                  </a:txBody>
                  <a:tcPr marT="36576" marB="36576" anchor="ctr">
                    <a:solidFill>
                      <a:srgbClr val="FFFFFF"/>
                    </a:solidFill>
                  </a:tcPr>
                </a:tc>
                <a:tc>
                  <a:txBody>
                    <a:bodyPr/>
                    <a:lstStyle/>
                    <a:p>
                      <a:pPr>
                        <a:lnSpc>
                          <a:spcPct val="106000"/>
                        </a:lnSpc>
                      </a:pPr>
                      <a:r>
                        <a:rPr sz="1400" b="0" i="0">
                          <a:solidFill>
                            <a:srgbClr val="242C38"/>
                          </a:solidFill>
                          <a:latin typeface="Segoe UI"/>
                        </a:rPr>
                        <a:t>a YAML-based rule language outside Python code</a:t>
                      </a:r>
                    </a:p>
                  </a:txBody>
                  <a:tcPr marT="36576" marB="36576" anchor="ctr">
                    <a:solidFill>
                      <a:srgbClr val="FFFFFF"/>
                    </a:solidFill>
                  </a:tcPr>
                </a:tc>
                <a:extLst>
                  <a:ext uri="{0D108BD9-81ED-4DB2-BD59-A6C34878D82A}">
                    <a16:rowId xmlns:a16="http://schemas.microsoft.com/office/drawing/2014/main" val="10004"/>
                  </a:ext>
                </a:extLst>
              </a:tr>
            </a:tbl>
          </a:graphicData>
        </a:graphic>
      </p:graphicFrame>
      <p:sp>
        <p:nvSpPr>
          <p:cNvPr id="5" name="TextBox 4"/>
          <p:cNvSpPr txBox="1"/>
          <p:nvPr/>
        </p:nvSpPr>
        <p:spPr>
          <a:xfrm>
            <a:off x="658368" y="5724144"/>
            <a:ext cx="10874959" cy="502920"/>
          </a:xfrm>
          <a:prstGeom prst="rect">
            <a:avLst/>
          </a:prstGeom>
          <a:noFill/>
        </p:spPr>
        <p:txBody>
          <a:bodyPr wrap="square" lIns="0" tIns="0" rIns="0" bIns="0">
            <a:spAutoFit/>
          </a:bodyPr>
          <a:lstStyle/>
          <a:p>
            <a:r>
              <a:rPr sz="1300" b="0" i="1">
                <a:solidFill>
                  <a:srgbClr val="5B6775"/>
                </a:solidFill>
                <a:latin typeface="Segoe UI"/>
              </a:rPr>
              <a:t>Every one is built on the same idea: a condition per rule, a pass or fail count.</a:t>
            </a:r>
          </a:p>
        </p:txBody>
      </p:sp>
      <p:sp>
        <p:nvSpPr>
          <p:cNvPr id="6" name="Rectangle 5"/>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08  ·  Data quality and profiling</a:t>
            </a:r>
          </a:p>
        </p:txBody>
      </p:sp>
      <p:sp>
        <p:nvSpPr>
          <p:cNvPr id="8" name="TextBox 7"/>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85</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Module 08 in one screen</a:t>
            </a:r>
          </a:p>
        </p:txBody>
      </p:sp>
      <p:sp>
        <p:nvSpPr>
          <p:cNvPr id="4" name="TextBox 3"/>
          <p:cNvSpPr txBox="1"/>
          <p:nvPr/>
        </p:nvSpPr>
        <p:spPr>
          <a:xfrm>
            <a:off x="658368" y="1481328"/>
            <a:ext cx="10874959" cy="4526280"/>
          </a:xfrm>
          <a:prstGeom prst="rect">
            <a:avLst/>
          </a:prstGeom>
          <a:noFill/>
        </p:spPr>
        <p:txBody>
          <a:bodyPr wrap="square" lIns="0" tIns="0" rIns="0" bIns="0">
            <a:spAutoFit/>
          </a:bodyPr>
          <a:lstStyle/>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Profile first: know row count, blank rates, and date range before any rule</a:t>
            </a:r>
          </a:p>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Turn every deliberate defect into a real percentage, not a suspicion</a:t>
            </a:r>
          </a:p>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A rule table is a list of conditions good rows satisfy, keep it copyable</a:t>
            </a:r>
          </a:p>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Run all rules in one pass, one aggregate expression per rule</a:t>
            </a:r>
          </a:p>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Reconciliation catches missing and duplicated rows, not wrong ones, use both</a:t>
            </a:r>
          </a:p>
        </p:txBody>
      </p:sp>
      <p:sp>
        <p:nvSpPr>
          <p:cNvPr id="5" name="Rectangle 4"/>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08  ·  Data quality and profiling</a:t>
            </a:r>
          </a:p>
        </p:txBody>
      </p:sp>
      <p:sp>
        <p:nvSpPr>
          <p:cNvPr id="7" name="TextBox 6"/>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86</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858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51560" y="2057400"/>
            <a:ext cx="9692640" cy="457200"/>
          </a:xfrm>
          <a:prstGeom prst="rect">
            <a:avLst/>
          </a:prstGeom>
          <a:noFill/>
        </p:spPr>
        <p:txBody>
          <a:bodyPr wrap="square" lIns="0" tIns="0" rIns="0" bIns="0">
            <a:spAutoFit/>
          </a:bodyPr>
          <a:lstStyle/>
          <a:p>
            <a:r>
              <a:rPr sz="1300" b="1" i="0">
                <a:solidFill>
                  <a:srgbClr val="2E74B5"/>
                </a:solidFill>
                <a:latin typeface="Segoe UI Semibold"/>
              </a:rPr>
              <a:t>MODULE 09</a:t>
            </a:r>
          </a:p>
        </p:txBody>
      </p:sp>
      <p:sp>
        <p:nvSpPr>
          <p:cNvPr id="5" name="TextBox 4"/>
          <p:cNvSpPr txBox="1"/>
          <p:nvPr/>
        </p:nvSpPr>
        <p:spPr>
          <a:xfrm>
            <a:off x="1051560" y="2578608"/>
            <a:ext cx="9692640" cy="1371600"/>
          </a:xfrm>
          <a:prstGeom prst="rect">
            <a:avLst/>
          </a:prstGeom>
          <a:noFill/>
        </p:spPr>
        <p:txBody>
          <a:bodyPr wrap="square" lIns="0" tIns="0" rIns="0" bIns="0">
            <a:spAutoFit/>
          </a:bodyPr>
          <a:lstStyle/>
          <a:p>
            <a:pPr>
              <a:lnSpc>
                <a:spcPct val="95000"/>
              </a:lnSpc>
            </a:pPr>
            <a:r>
              <a:rPr sz="4200" b="1" i="0">
                <a:solidFill>
                  <a:srgbClr val="1F4E79"/>
                </a:solidFill>
                <a:latin typeface="Segoe UI Semibold"/>
              </a:rPr>
              <a:t>SQL, Python and Spark</a:t>
            </a:r>
          </a:p>
        </p:txBody>
      </p:sp>
      <p:sp>
        <p:nvSpPr>
          <p:cNvPr id="6" name="TextBox 5"/>
          <p:cNvSpPr txBox="1"/>
          <p:nvPr/>
        </p:nvSpPr>
        <p:spPr>
          <a:xfrm>
            <a:off x="1051560" y="3950208"/>
            <a:ext cx="8778240" cy="822960"/>
          </a:xfrm>
          <a:prstGeom prst="rect">
            <a:avLst/>
          </a:prstGeom>
          <a:noFill/>
        </p:spPr>
        <p:txBody>
          <a:bodyPr wrap="square" lIns="0" tIns="0" rIns="0" bIns="0">
            <a:spAutoFit/>
          </a:bodyPr>
          <a:lstStyle/>
          <a:p>
            <a:pPr>
              <a:lnSpc>
                <a:spcPct val="115000"/>
              </a:lnSpc>
            </a:pPr>
            <a:r>
              <a:rPr sz="1700" b="0" i="0">
                <a:solidFill>
                  <a:srgbClr val="5B6775"/>
                </a:solidFill>
                <a:latin typeface="Segoe UI"/>
              </a:rPr>
              <a:t>Proof they compile to the same plan, and the patterns Teradata and Oracle lack</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58368" y="2148840"/>
            <a:ext cx="82296" cy="219456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42416" y="2084831"/>
            <a:ext cx="9777679" cy="1828800"/>
          </a:xfrm>
          <a:prstGeom prst="rect">
            <a:avLst/>
          </a:prstGeom>
          <a:noFill/>
        </p:spPr>
        <p:txBody>
          <a:bodyPr wrap="square" lIns="0" tIns="0" rIns="0" bIns="0">
            <a:spAutoFit/>
          </a:bodyPr>
          <a:lstStyle/>
          <a:p>
            <a:pPr>
              <a:lnSpc>
                <a:spcPct val="112000"/>
              </a:lnSpc>
            </a:pPr>
            <a:r>
              <a:rPr sz="3000" b="1" i="0">
                <a:solidFill>
                  <a:srgbClr val="1F4E79"/>
                </a:solidFill>
                <a:latin typeface="Segoe UI Semibold"/>
              </a:rPr>
              <a:t>The DataFrame API and SQL compile to the exact same plan.</a:t>
            </a:r>
          </a:p>
        </p:txBody>
      </p:sp>
      <p:sp>
        <p:nvSpPr>
          <p:cNvPr id="5" name="TextBox 4"/>
          <p:cNvSpPr txBox="1"/>
          <p:nvPr/>
        </p:nvSpPr>
        <p:spPr>
          <a:xfrm>
            <a:off x="1042416" y="4041648"/>
            <a:ext cx="9411919" cy="1005840"/>
          </a:xfrm>
          <a:prstGeom prst="rect">
            <a:avLst/>
          </a:prstGeom>
          <a:noFill/>
        </p:spPr>
        <p:txBody>
          <a:bodyPr wrap="square" lIns="0" tIns="0" rIns="0" bIns="0">
            <a:spAutoFit/>
          </a:bodyPr>
          <a:lstStyle/>
          <a:p>
            <a:pPr>
              <a:lnSpc>
                <a:spcPct val="120000"/>
              </a:lnSpc>
            </a:pPr>
            <a:r>
              <a:rPr sz="1700" b="0" i="0">
                <a:solidFill>
                  <a:srgbClr val="5B6775"/>
                </a:solidFill>
                <a:latin typeface="Segoe UI"/>
              </a:rPr>
              <a:t>There is no DataFrame version is faster. Picking between them is a team style question, not a performance one, and mixing both inside one pipeline is completely normal.</a:t>
            </a:r>
          </a:p>
        </p:txBody>
      </p:sp>
      <p:sp>
        <p:nvSpPr>
          <p:cNvPr id="6" name="Rectangle 5"/>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09  ·  SQL, Python and Spark</a:t>
            </a:r>
          </a:p>
        </p:txBody>
      </p:sp>
      <p:sp>
        <p:nvSpPr>
          <p:cNvPr id="8" name="TextBox 7"/>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87</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Proof: same plan, two different ways to write it</a:t>
            </a:r>
          </a:p>
        </p:txBody>
      </p:sp>
      <p:sp>
        <p:nvSpPr>
          <p:cNvPr id="4" name="Rectangle 3"/>
          <p:cNvSpPr/>
          <p:nvPr/>
        </p:nvSpPr>
        <p:spPr>
          <a:xfrm>
            <a:off x="658368" y="1481328"/>
            <a:ext cx="10874959" cy="2447544"/>
          </a:xfrm>
          <a:prstGeom prst="rect">
            <a:avLst/>
          </a:prstGeom>
          <a:solidFill>
            <a:srgbClr val="F5F7F9"/>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81328"/>
            <a:ext cx="43180" cy="2447544"/>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77824" y="1645920"/>
            <a:ext cx="10509199" cy="2173224"/>
          </a:xfrm>
          <a:prstGeom prst="rect">
            <a:avLst/>
          </a:prstGeom>
          <a:noFill/>
        </p:spPr>
        <p:txBody>
          <a:bodyPr wrap="square" lIns="0" tIns="0" rIns="0" bIns="0">
            <a:spAutoFit/>
          </a:bodyPr>
          <a:lstStyle/>
          <a:p>
            <a:pPr>
              <a:lnSpc>
                <a:spcPct val="116000"/>
              </a:lnSpc>
              <a:spcAft>
                <a:spcPts val="0"/>
              </a:spcAft>
            </a:pPr>
            <a:r>
              <a:rPr sz="1500" b="0" i="0">
                <a:solidFill>
                  <a:srgbClr val="242C38"/>
                </a:solidFill>
                <a:latin typeface="Consolas"/>
              </a:rPr>
              <a:t>df_way = txns.groupBy(</a:t>
            </a:r>
            <a:r>
              <a:rPr sz="1500" b="0" i="0">
                <a:solidFill>
                  <a:srgbClr val="A31515"/>
                </a:solidFill>
                <a:latin typeface="Consolas"/>
              </a:rPr>
              <a:t>"channel"</a:t>
            </a:r>
            <a:r>
              <a:rPr sz="1500" b="0" i="0">
                <a:solidFill>
                  <a:srgbClr val="242C38"/>
                </a:solidFill>
                <a:latin typeface="Consolas"/>
              </a:rPr>
              <a:t>).agg(</a:t>
            </a:r>
          </a:p>
          <a:p>
            <a:pPr>
              <a:lnSpc>
                <a:spcPct val="116000"/>
              </a:lnSpc>
              <a:spcAft>
                <a:spcPts val="0"/>
              </a:spcAft>
            </a:pPr>
            <a:r>
              <a:rPr sz="1500" b="0" i="0">
                <a:solidFill>
                  <a:srgbClr val="242C38"/>
                </a:solidFill>
                <a:latin typeface="Consolas"/>
              </a:rPr>
              <a:t>    F.count(</a:t>
            </a:r>
            <a:r>
              <a:rPr sz="1500" b="0" i="0">
                <a:solidFill>
                  <a:srgbClr val="A31515"/>
                </a:solidFill>
                <a:latin typeface="Consolas"/>
              </a:rPr>
              <a:t>"*"</a:t>
            </a:r>
            <a:r>
              <a:rPr sz="1500" b="0" i="0">
                <a:solidFill>
                  <a:srgbClr val="242C38"/>
                </a:solidFill>
                <a:latin typeface="Consolas"/>
              </a:rPr>
              <a:t>).alias(</a:t>
            </a:r>
            <a:r>
              <a:rPr sz="1500" b="0" i="0">
                <a:solidFill>
                  <a:srgbClr val="A31515"/>
                </a:solidFill>
                <a:latin typeface="Consolas"/>
              </a:rPr>
              <a:t>"n"</a:t>
            </a:r>
            <a:r>
              <a:rPr sz="1500" b="0" i="0">
                <a:solidFill>
                  <a:srgbClr val="242C38"/>
                </a:solidFill>
                <a:latin typeface="Consolas"/>
              </a:rPr>
              <a:t>))</a:t>
            </a:r>
          </a:p>
          <a:p>
            <a:pPr>
              <a:lnSpc>
                <a:spcPct val="116000"/>
              </a:lnSpc>
              <a:spcAft>
                <a:spcPts val="0"/>
              </a:spcAft>
            </a:pPr>
            <a:r>
              <a:rPr sz="1500" b="0" i="0">
                <a:solidFill>
                  <a:srgbClr val="242C38"/>
                </a:solidFill>
                <a:latin typeface="Consolas"/>
              </a:rPr>
              <a:t>sql_way = spark.sql(</a:t>
            </a:r>
          </a:p>
          <a:p>
            <a:pPr>
              <a:lnSpc>
                <a:spcPct val="116000"/>
              </a:lnSpc>
              <a:spcAft>
                <a:spcPts val="0"/>
              </a:spcAft>
            </a:pPr>
            <a:r>
              <a:rPr sz="1500" b="0" i="0">
                <a:solidFill>
                  <a:srgbClr val="242C38"/>
                </a:solidFill>
                <a:latin typeface="Consolas"/>
              </a:rPr>
              <a:t>    </a:t>
            </a:r>
            <a:r>
              <a:rPr sz="1500" b="0" i="0">
                <a:solidFill>
                  <a:srgbClr val="A31515"/>
                </a:solidFill>
                <a:latin typeface="Consolas"/>
              </a:rPr>
              <a:t>"SELECT channel, COUNT(*) AS n "</a:t>
            </a:r>
          </a:p>
          <a:p>
            <a:pPr>
              <a:lnSpc>
                <a:spcPct val="116000"/>
              </a:lnSpc>
              <a:spcAft>
                <a:spcPts val="0"/>
              </a:spcAft>
            </a:pPr>
            <a:r>
              <a:rPr sz="1500" b="0" i="0">
                <a:solidFill>
                  <a:srgbClr val="242C38"/>
                </a:solidFill>
                <a:latin typeface="Consolas"/>
              </a:rPr>
              <a:t>    </a:t>
            </a:r>
            <a:r>
              <a:rPr sz="1500" b="0" i="0">
                <a:solidFill>
                  <a:srgbClr val="A31515"/>
                </a:solidFill>
                <a:latin typeface="Consolas"/>
              </a:rPr>
              <a:t>"FROM v_txns GROUP BY channel"</a:t>
            </a:r>
            <a:r>
              <a:rPr sz="1500" b="0" i="0">
                <a:solidFill>
                  <a:srgbClr val="242C38"/>
                </a:solidFill>
                <a:latin typeface="Consolas"/>
              </a:rPr>
              <a:t>)</a:t>
            </a:r>
          </a:p>
          <a:p>
            <a:pPr>
              <a:lnSpc>
                <a:spcPct val="116000"/>
              </a:lnSpc>
              <a:spcAft>
                <a:spcPts val="0"/>
              </a:spcAft>
            </a:pPr>
            <a:r>
              <a:rPr sz="1500" b="0" i="0">
                <a:solidFill>
                  <a:srgbClr val="242C38"/>
                </a:solidFill>
                <a:latin typeface="Consolas"/>
              </a:rPr>
              <a:t> </a:t>
            </a:r>
          </a:p>
          <a:p>
            <a:pPr>
              <a:lnSpc>
                <a:spcPct val="116000"/>
              </a:lnSpc>
              <a:spcAft>
                <a:spcPts val="0"/>
              </a:spcAft>
            </a:pPr>
            <a:r>
              <a:rPr sz="1500" b="0" i="0">
                <a:solidFill>
                  <a:srgbClr val="242C38"/>
                </a:solidFill>
                <a:latin typeface="Consolas"/>
              </a:rPr>
              <a:t>df_plan == sql_plan   </a:t>
            </a:r>
            <a:r>
              <a:rPr sz="1500" b="0" i="1">
                <a:solidFill>
                  <a:srgbClr val="6F865C"/>
                </a:solidFill>
                <a:latin typeface="Consolas"/>
              </a:rPr>
              <a:t># True, once ids are stripped</a:t>
            </a:r>
          </a:p>
        </p:txBody>
      </p:sp>
      <p:sp>
        <p:nvSpPr>
          <p:cNvPr id="7" name="TextBox 6"/>
          <p:cNvSpPr txBox="1"/>
          <p:nvPr/>
        </p:nvSpPr>
        <p:spPr>
          <a:xfrm>
            <a:off x="658368" y="4075176"/>
            <a:ext cx="10874959" cy="457200"/>
          </a:xfrm>
          <a:prstGeom prst="rect">
            <a:avLst/>
          </a:prstGeom>
          <a:noFill/>
        </p:spPr>
        <p:txBody>
          <a:bodyPr wrap="square" lIns="0" tIns="0" rIns="0" bIns="0">
            <a:spAutoFit/>
          </a:bodyPr>
          <a:lstStyle/>
          <a:p>
            <a:r>
              <a:rPr sz="1400" b="0" i="0">
                <a:solidFill>
                  <a:srgbClr val="5B6775"/>
                </a:solidFill>
                <a:latin typeface="Segoe UI"/>
              </a:rPr>
              <a:t>Both go through the same Catalyst optimiser, from the same internal logical plan.</a:t>
            </a:r>
          </a:p>
        </p:txBody>
      </p:sp>
      <p:sp>
        <p:nvSpPr>
          <p:cNvPr id="8" name="Rectangle 7"/>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09  ·  SQL, Python and Spark</a:t>
            </a:r>
          </a:p>
        </p:txBody>
      </p:sp>
      <p:sp>
        <p:nvSpPr>
          <p:cNvPr id="10" name="TextBox 9"/>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88</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Temp views: queryable with SQL, nothing on disk</a:t>
            </a:r>
          </a:p>
        </p:txBody>
      </p:sp>
      <p:sp>
        <p:nvSpPr>
          <p:cNvPr id="4" name="Rectangle 3"/>
          <p:cNvSpPr/>
          <p:nvPr/>
        </p:nvSpPr>
        <p:spPr>
          <a:xfrm>
            <a:off x="658368" y="1481328"/>
            <a:ext cx="10874959" cy="2737104"/>
          </a:xfrm>
          <a:prstGeom prst="rect">
            <a:avLst/>
          </a:prstGeom>
          <a:solidFill>
            <a:srgbClr val="F5F7F9"/>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81328"/>
            <a:ext cx="43180" cy="2737104"/>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77824" y="1645920"/>
            <a:ext cx="10509199" cy="2462784"/>
          </a:xfrm>
          <a:prstGeom prst="rect">
            <a:avLst/>
          </a:prstGeom>
          <a:noFill/>
        </p:spPr>
        <p:txBody>
          <a:bodyPr wrap="square" lIns="0" tIns="0" rIns="0" bIns="0">
            <a:spAutoFit/>
          </a:bodyPr>
          <a:lstStyle/>
          <a:p>
            <a:pPr>
              <a:lnSpc>
                <a:spcPct val="116000"/>
              </a:lnSpc>
              <a:spcAft>
                <a:spcPts val="0"/>
              </a:spcAft>
            </a:pPr>
            <a:r>
              <a:rPr sz="1500" b="0" i="0">
                <a:solidFill>
                  <a:srgbClr val="242C38"/>
                </a:solidFill>
                <a:latin typeface="Consolas"/>
              </a:rPr>
              <a:t>txns.createOrReplaceTempView(</a:t>
            </a:r>
            <a:r>
              <a:rPr sz="1500" b="0" i="0">
                <a:solidFill>
                  <a:srgbClr val="A31515"/>
                </a:solidFill>
                <a:latin typeface="Consolas"/>
              </a:rPr>
              <a:t>"v_txns"</a:t>
            </a:r>
            <a:r>
              <a:rPr sz="1500" b="0" i="0">
                <a:solidFill>
                  <a:srgbClr val="242C38"/>
                </a:solidFill>
                <a:latin typeface="Consolas"/>
              </a:rPr>
              <a:t>)</a:t>
            </a:r>
          </a:p>
          <a:p>
            <a:pPr>
              <a:lnSpc>
                <a:spcPct val="116000"/>
              </a:lnSpc>
              <a:spcAft>
                <a:spcPts val="0"/>
              </a:spcAft>
            </a:pPr>
            <a:r>
              <a:rPr sz="1500" b="0" i="0">
                <a:solidFill>
                  <a:srgbClr val="242C38"/>
                </a:solidFill>
                <a:latin typeface="Consolas"/>
              </a:rPr>
              <a:t> </a:t>
            </a:r>
          </a:p>
          <a:p>
            <a:pPr>
              <a:lnSpc>
                <a:spcPct val="116000"/>
              </a:lnSpc>
              <a:spcAft>
                <a:spcPts val="0"/>
              </a:spcAft>
            </a:pPr>
            <a:r>
              <a:rPr sz="1500" b="0" i="0">
                <a:solidFill>
                  <a:srgbClr val="242C38"/>
                </a:solidFill>
                <a:latin typeface="Consolas"/>
              </a:rPr>
              <a:t>spark.sql(</a:t>
            </a:r>
          </a:p>
          <a:p>
            <a:pPr>
              <a:lnSpc>
                <a:spcPct val="116000"/>
              </a:lnSpc>
              <a:spcAft>
                <a:spcPts val="0"/>
              </a:spcAft>
            </a:pPr>
            <a:r>
              <a:rPr sz="1500" b="0" i="0">
                <a:solidFill>
                  <a:srgbClr val="242C38"/>
                </a:solidFill>
                <a:latin typeface="Consolas"/>
              </a:rPr>
              <a:t>    </a:t>
            </a:r>
            <a:r>
              <a:rPr sz="1500" b="0" i="0">
                <a:solidFill>
                  <a:srgbClr val="A31515"/>
                </a:solidFill>
                <a:latin typeface="Consolas"/>
              </a:rPr>
              <a:t>"SELECT channel, COUNT(*) AS n "</a:t>
            </a:r>
          </a:p>
          <a:p>
            <a:pPr>
              <a:lnSpc>
                <a:spcPct val="116000"/>
              </a:lnSpc>
              <a:spcAft>
                <a:spcPts val="0"/>
              </a:spcAft>
            </a:pPr>
            <a:r>
              <a:rPr sz="1500" b="0" i="0">
                <a:solidFill>
                  <a:srgbClr val="242C38"/>
                </a:solidFill>
                <a:latin typeface="Consolas"/>
              </a:rPr>
              <a:t>    </a:t>
            </a:r>
            <a:r>
              <a:rPr sz="1500" b="0" i="0">
                <a:solidFill>
                  <a:srgbClr val="A31515"/>
                </a:solidFill>
                <a:latin typeface="Consolas"/>
              </a:rPr>
              <a:t>"FROM v_txns GROUP BY channel"</a:t>
            </a:r>
            <a:r>
              <a:rPr sz="1500" b="0" i="0">
                <a:solidFill>
                  <a:srgbClr val="242C38"/>
                </a:solidFill>
                <a:latin typeface="Consolas"/>
              </a:rPr>
              <a:t>).show(</a:t>
            </a:r>
            <a:r>
              <a:rPr sz="1500" b="0" i="0">
                <a:solidFill>
                  <a:srgbClr val="098658"/>
                </a:solidFill>
                <a:latin typeface="Consolas"/>
              </a:rPr>
              <a:t>5</a:t>
            </a:r>
            <a:r>
              <a:rPr sz="1500" b="0" i="0">
                <a:solidFill>
                  <a:srgbClr val="242C38"/>
                </a:solidFill>
                <a:latin typeface="Consolas"/>
              </a:rPr>
              <a:t>)</a:t>
            </a:r>
          </a:p>
          <a:p>
            <a:pPr>
              <a:lnSpc>
                <a:spcPct val="116000"/>
              </a:lnSpc>
              <a:spcAft>
                <a:spcPts val="0"/>
              </a:spcAft>
            </a:pPr>
            <a:r>
              <a:rPr sz="1500" b="0" i="0">
                <a:solidFill>
                  <a:srgbClr val="242C38"/>
                </a:solidFill>
                <a:latin typeface="Consolas"/>
              </a:rPr>
              <a:t> </a:t>
            </a:r>
          </a:p>
          <a:p>
            <a:pPr>
              <a:lnSpc>
                <a:spcPct val="116000"/>
              </a:lnSpc>
              <a:spcAft>
                <a:spcPts val="0"/>
              </a:spcAft>
            </a:pPr>
            <a:r>
              <a:rPr sz="1500" b="0" i="0">
                <a:solidFill>
                  <a:srgbClr val="0F5BA7"/>
                </a:solidFill>
                <a:latin typeface="Consolas"/>
              </a:rPr>
              <a:t>for</a:t>
            </a:r>
            <a:r>
              <a:rPr sz="1500" b="0" i="0">
                <a:solidFill>
                  <a:srgbClr val="242C38"/>
                </a:solidFill>
                <a:latin typeface="Consolas"/>
              </a:rPr>
              <a:t> t </a:t>
            </a:r>
            <a:r>
              <a:rPr sz="1500" b="0" i="0">
                <a:solidFill>
                  <a:srgbClr val="0F5BA7"/>
                </a:solidFill>
                <a:latin typeface="Consolas"/>
              </a:rPr>
              <a:t>in</a:t>
            </a:r>
            <a:r>
              <a:rPr sz="1500" b="0" i="0">
                <a:solidFill>
                  <a:srgbClr val="242C38"/>
                </a:solidFill>
                <a:latin typeface="Consolas"/>
              </a:rPr>
              <a:t> spark.catalog.listTables():</a:t>
            </a:r>
          </a:p>
          <a:p>
            <a:pPr>
              <a:lnSpc>
                <a:spcPct val="116000"/>
              </a:lnSpc>
              <a:spcAft>
                <a:spcPts val="0"/>
              </a:spcAft>
            </a:pPr>
            <a:r>
              <a:rPr sz="1500" b="0" i="0">
                <a:solidFill>
                  <a:srgbClr val="242C38"/>
                </a:solidFill>
                <a:latin typeface="Consolas"/>
              </a:rPr>
              <a:t>    print(t.name, t.isTemporary)</a:t>
            </a:r>
          </a:p>
        </p:txBody>
      </p:sp>
      <p:sp>
        <p:nvSpPr>
          <p:cNvPr id="7" name="TextBox 6"/>
          <p:cNvSpPr txBox="1"/>
          <p:nvPr/>
        </p:nvSpPr>
        <p:spPr>
          <a:xfrm>
            <a:off x="658368" y="4364736"/>
            <a:ext cx="10874959" cy="457200"/>
          </a:xfrm>
          <a:prstGeom prst="rect">
            <a:avLst/>
          </a:prstGeom>
          <a:noFill/>
        </p:spPr>
        <p:txBody>
          <a:bodyPr wrap="square" lIns="0" tIns="0" rIns="0" bIns="0">
            <a:spAutoFit/>
          </a:bodyPr>
          <a:lstStyle/>
          <a:p>
            <a:r>
              <a:rPr sz="1400" b="0" i="0">
                <a:solidFill>
                  <a:srgbClr val="5B6775"/>
                </a:solidFill>
                <a:latin typeface="Segoe UI"/>
              </a:rPr>
              <a:t>A temp view lives for this SparkSession only. Close Spark and it is gone.</a:t>
            </a:r>
          </a:p>
        </p:txBody>
      </p:sp>
      <p:sp>
        <p:nvSpPr>
          <p:cNvPr id="8" name="Rectangle 7"/>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09  ·  SQL, Python and Spark</a:t>
            </a:r>
          </a:p>
        </p:txBody>
      </p:sp>
      <p:sp>
        <p:nvSpPr>
          <p:cNvPr id="10" name="TextBox 9"/>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89</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Managed versus external tables</a:t>
            </a:r>
          </a:p>
        </p:txBody>
      </p:sp>
      <p:graphicFrame>
        <p:nvGraphicFramePr>
          <p:cNvPr id="4" name="Table 3"/>
          <p:cNvGraphicFramePr>
            <a:graphicFrameLocks noGrp="1"/>
          </p:cNvGraphicFramePr>
          <p:nvPr/>
        </p:nvGraphicFramePr>
        <p:xfrm>
          <a:off x="658368" y="1481328"/>
          <a:ext cx="10874958" cy="1828800"/>
        </p:xfrm>
        <a:graphic>
          <a:graphicData uri="http://schemas.openxmlformats.org/drawingml/2006/table">
            <a:tbl>
              <a:tblPr firstRow="1" bandRow="1">
                <a:tableStyleId>{5C22544A-7EE6-4342-B048-85BDC9FD1C3A}</a:tableStyleId>
              </a:tblPr>
              <a:tblGrid>
                <a:gridCol w="2781966">
                  <a:extLst>
                    <a:ext uri="{9D8B030D-6E8A-4147-A177-3AD203B41FA5}">
                      <a16:colId xmlns:a16="http://schemas.microsoft.com/office/drawing/2014/main" val="20000"/>
                    </a:ext>
                  </a:extLst>
                </a:gridCol>
                <a:gridCol w="3793590">
                  <a:extLst>
                    <a:ext uri="{9D8B030D-6E8A-4147-A177-3AD203B41FA5}">
                      <a16:colId xmlns:a16="http://schemas.microsoft.com/office/drawing/2014/main" val="20001"/>
                    </a:ext>
                  </a:extLst>
                </a:gridCol>
                <a:gridCol w="4299402">
                  <a:extLst>
                    <a:ext uri="{9D8B030D-6E8A-4147-A177-3AD203B41FA5}">
                      <a16:colId xmlns:a16="http://schemas.microsoft.com/office/drawing/2014/main" val="20002"/>
                    </a:ext>
                  </a:extLst>
                </a:gridCol>
              </a:tblGrid>
              <a:tr h="402336">
                <a:tc>
                  <a:txBody>
                    <a:bodyPr/>
                    <a:lstStyle/>
                    <a:p>
                      <a:endParaRPr/>
                    </a:p>
                  </a:txBody>
                  <a:tcPr anchor="ctr">
                    <a:solidFill>
                      <a:srgbClr val="1F4E79"/>
                    </a:solidFill>
                  </a:tcPr>
                </a:tc>
                <a:tc>
                  <a:txBody>
                    <a:bodyPr/>
                    <a:lstStyle/>
                    <a:p>
                      <a:r>
                        <a:rPr sz="1450" b="1" i="0">
                          <a:solidFill>
                            <a:srgbClr val="FFFFFF"/>
                          </a:solidFill>
                          <a:latin typeface="Segoe UI Semibold"/>
                        </a:rPr>
                        <a:t>Managed table</a:t>
                      </a:r>
                    </a:p>
                  </a:txBody>
                  <a:tcPr anchor="ctr">
                    <a:solidFill>
                      <a:srgbClr val="1F4E79"/>
                    </a:solidFill>
                  </a:tcPr>
                </a:tc>
                <a:tc>
                  <a:txBody>
                    <a:bodyPr/>
                    <a:lstStyle/>
                    <a:p>
                      <a:r>
                        <a:rPr sz="1450" b="1" i="0">
                          <a:solidFill>
                            <a:srgbClr val="FFFFFF"/>
                          </a:solidFill>
                          <a:latin typeface="Segoe UI Semibold"/>
                        </a:rPr>
                        <a:t>External table</a:t>
                      </a:r>
                    </a:p>
                  </a:txBody>
                  <a:tcPr anchor="ctr">
                    <a:solidFill>
                      <a:srgbClr val="1F4E79"/>
                    </a:solidFill>
                  </a:tcPr>
                </a:tc>
                <a:extLst>
                  <a:ext uri="{0D108BD9-81ED-4DB2-BD59-A6C34878D82A}">
                    <a16:rowId xmlns:a16="http://schemas.microsoft.com/office/drawing/2014/main" val="10000"/>
                  </a:ext>
                </a:extLst>
              </a:tr>
              <a:tr h="475488">
                <a:tc>
                  <a:txBody>
                    <a:bodyPr/>
                    <a:lstStyle/>
                    <a:p>
                      <a:pPr>
                        <a:lnSpc>
                          <a:spcPct val="106000"/>
                        </a:lnSpc>
                      </a:pPr>
                      <a:r>
                        <a:rPr sz="1400" b="1" i="0">
                          <a:solidFill>
                            <a:srgbClr val="242C38"/>
                          </a:solidFill>
                          <a:latin typeface="Segoe UI"/>
                        </a:rPr>
                        <a:t>Who picks the location</a:t>
                      </a:r>
                    </a:p>
                  </a:txBody>
                  <a:tcPr marT="36576" marB="36576" anchor="ctr">
                    <a:solidFill>
                      <a:srgbClr val="EEF3F8"/>
                    </a:solidFill>
                  </a:tcPr>
                </a:tc>
                <a:tc>
                  <a:txBody>
                    <a:bodyPr/>
                    <a:lstStyle/>
                    <a:p>
                      <a:pPr>
                        <a:lnSpc>
                          <a:spcPct val="106000"/>
                        </a:lnSpc>
                      </a:pPr>
                      <a:r>
                        <a:rPr sz="1400" b="0" i="0">
                          <a:solidFill>
                            <a:srgbClr val="242C38"/>
                          </a:solidFill>
                          <a:latin typeface="Segoe UI"/>
                        </a:rPr>
                        <a:t>Spark</a:t>
                      </a:r>
                    </a:p>
                  </a:txBody>
                  <a:tcPr marT="36576" marB="36576" anchor="ctr">
                    <a:solidFill>
                      <a:srgbClr val="EEF3F8"/>
                    </a:solidFill>
                  </a:tcPr>
                </a:tc>
                <a:tc>
                  <a:txBody>
                    <a:bodyPr/>
                    <a:lstStyle/>
                    <a:p>
                      <a:pPr>
                        <a:lnSpc>
                          <a:spcPct val="106000"/>
                        </a:lnSpc>
                      </a:pPr>
                      <a:r>
                        <a:rPr sz="1400" b="0" i="0">
                          <a:solidFill>
                            <a:srgbClr val="242C38"/>
                          </a:solidFill>
                          <a:latin typeface="Segoe UI"/>
                        </a:rPr>
                        <a:t>you</a:t>
                      </a:r>
                    </a:p>
                  </a:txBody>
                  <a:tcPr marT="36576" marB="36576" anchor="ctr">
                    <a:solidFill>
                      <a:srgbClr val="EEF3F8"/>
                    </a:solidFill>
                  </a:tcPr>
                </a:tc>
                <a:extLst>
                  <a:ext uri="{0D108BD9-81ED-4DB2-BD59-A6C34878D82A}">
                    <a16:rowId xmlns:a16="http://schemas.microsoft.com/office/drawing/2014/main" val="10001"/>
                  </a:ext>
                </a:extLst>
              </a:tr>
              <a:tr h="475488">
                <a:tc>
                  <a:txBody>
                    <a:bodyPr/>
                    <a:lstStyle/>
                    <a:p>
                      <a:pPr>
                        <a:lnSpc>
                          <a:spcPct val="106000"/>
                        </a:lnSpc>
                      </a:pPr>
                      <a:r>
                        <a:rPr sz="1350" b="0" i="0">
                          <a:solidFill>
                            <a:srgbClr val="2E74B5"/>
                          </a:solidFill>
                          <a:latin typeface="Consolas"/>
                        </a:rPr>
                        <a:t>DROP TABLE</a:t>
                      </a:r>
                      <a:r>
                        <a:rPr sz="1400" b="1" i="0">
                          <a:solidFill>
                            <a:srgbClr val="242C38"/>
                          </a:solidFill>
                          <a:latin typeface="Segoe UI"/>
                        </a:rPr>
                        <a:t> deletes</a:t>
                      </a:r>
                    </a:p>
                  </a:txBody>
                  <a:tcPr marT="36576" marB="36576" anchor="ctr">
                    <a:solidFill>
                      <a:srgbClr val="FFFFFF"/>
                    </a:solidFill>
                  </a:tcPr>
                </a:tc>
                <a:tc>
                  <a:txBody>
                    <a:bodyPr/>
                    <a:lstStyle/>
                    <a:p>
                      <a:pPr>
                        <a:lnSpc>
                          <a:spcPct val="106000"/>
                        </a:lnSpc>
                      </a:pPr>
                      <a:r>
                        <a:rPr sz="1400" b="0" i="0">
                          <a:solidFill>
                            <a:srgbClr val="242C38"/>
                          </a:solidFill>
                          <a:latin typeface="Segoe UI"/>
                        </a:rPr>
                        <a:t>metadata AND data files</a:t>
                      </a:r>
                    </a:p>
                  </a:txBody>
                  <a:tcPr marT="36576" marB="36576" anchor="ctr">
                    <a:solidFill>
                      <a:srgbClr val="FFFFFF"/>
                    </a:solidFill>
                  </a:tcPr>
                </a:tc>
                <a:tc>
                  <a:txBody>
                    <a:bodyPr/>
                    <a:lstStyle/>
                    <a:p>
                      <a:pPr>
                        <a:lnSpc>
                          <a:spcPct val="106000"/>
                        </a:lnSpc>
                      </a:pPr>
                      <a:r>
                        <a:rPr sz="1400" b="0" i="0">
                          <a:solidFill>
                            <a:srgbClr val="242C38"/>
                          </a:solidFill>
                          <a:latin typeface="Segoe UI"/>
                        </a:rPr>
                        <a:t>metadata only</a:t>
                      </a:r>
                    </a:p>
                  </a:txBody>
                  <a:tcPr marT="36576" marB="36576" anchor="ctr">
                    <a:solidFill>
                      <a:srgbClr val="FFFFFF"/>
                    </a:solidFill>
                  </a:tcPr>
                </a:tc>
                <a:extLst>
                  <a:ext uri="{0D108BD9-81ED-4DB2-BD59-A6C34878D82A}">
                    <a16:rowId xmlns:a16="http://schemas.microsoft.com/office/drawing/2014/main" val="10002"/>
                  </a:ext>
                </a:extLst>
              </a:tr>
              <a:tr h="475488">
                <a:tc>
                  <a:txBody>
                    <a:bodyPr/>
                    <a:lstStyle/>
                    <a:p>
                      <a:pPr>
                        <a:lnSpc>
                          <a:spcPct val="106000"/>
                        </a:lnSpc>
                      </a:pPr>
                      <a:r>
                        <a:rPr sz="1400" b="1" i="0">
                          <a:solidFill>
                            <a:srgbClr val="242C38"/>
                          </a:solidFill>
                          <a:latin typeface="Segoe UI"/>
                        </a:rPr>
                        <a:t>Right choice when</a:t>
                      </a:r>
                    </a:p>
                  </a:txBody>
                  <a:tcPr marT="36576" marB="36576" anchor="ctr">
                    <a:solidFill>
                      <a:srgbClr val="EEF3F8"/>
                    </a:solidFill>
                  </a:tcPr>
                </a:tc>
                <a:tc>
                  <a:txBody>
                    <a:bodyPr/>
                    <a:lstStyle/>
                    <a:p>
                      <a:pPr>
                        <a:lnSpc>
                          <a:spcPct val="106000"/>
                        </a:lnSpc>
                      </a:pPr>
                      <a:r>
                        <a:rPr sz="1400" b="0" i="0">
                          <a:solidFill>
                            <a:srgbClr val="242C38"/>
                          </a:solidFill>
                          <a:latin typeface="Segoe UI"/>
                        </a:rPr>
                        <a:t>Spark owns the whole lifecycle</a:t>
                      </a:r>
                    </a:p>
                  </a:txBody>
                  <a:tcPr marT="36576" marB="36576" anchor="ctr">
                    <a:solidFill>
                      <a:srgbClr val="EEF3F8"/>
                    </a:solidFill>
                  </a:tcPr>
                </a:tc>
                <a:tc>
                  <a:txBody>
                    <a:bodyPr/>
                    <a:lstStyle/>
                    <a:p>
                      <a:pPr>
                        <a:lnSpc>
                          <a:spcPct val="106000"/>
                        </a:lnSpc>
                      </a:pPr>
                      <a:r>
                        <a:rPr sz="1400" b="0" i="0">
                          <a:solidFill>
                            <a:srgbClr val="242C38"/>
                          </a:solidFill>
                          <a:latin typeface="Segoe UI"/>
                        </a:rPr>
                        <a:t>another job also reads these files</a:t>
                      </a:r>
                    </a:p>
                  </a:txBody>
                  <a:tcPr marT="36576" marB="36576" anchor="ctr">
                    <a:solidFill>
                      <a:srgbClr val="EEF3F8"/>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658368" y="5724144"/>
            <a:ext cx="10874959" cy="502920"/>
          </a:xfrm>
          <a:prstGeom prst="rect">
            <a:avLst/>
          </a:prstGeom>
          <a:noFill/>
        </p:spPr>
        <p:txBody>
          <a:bodyPr wrap="square" lIns="0" tIns="0" rIns="0" bIns="0">
            <a:spAutoFit/>
          </a:bodyPr>
          <a:lstStyle/>
          <a:p>
            <a:r>
              <a:rPr sz="1300" b="0" i="1">
                <a:solidFill>
                  <a:srgbClr val="5B6775"/>
                </a:solidFill>
                <a:latin typeface="Segoe UI"/>
              </a:rPr>
              <a:t>Dropping a managed table another pipeline depends on is an expensive first mistake.</a:t>
            </a:r>
          </a:p>
        </p:txBody>
      </p:sp>
      <p:sp>
        <p:nvSpPr>
          <p:cNvPr id="6" name="Rectangle 5"/>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09  ·  SQL, Python and Spark</a:t>
            </a:r>
          </a:p>
        </p:txBody>
      </p:sp>
      <p:sp>
        <p:nvSpPr>
          <p:cNvPr id="8" name="TextBox 7"/>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90</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No QUALIFY: wrap it in a subquery instead</a:t>
            </a:r>
          </a:p>
        </p:txBody>
      </p:sp>
      <p:sp>
        <p:nvSpPr>
          <p:cNvPr id="4" name="Rectangle 3"/>
          <p:cNvSpPr/>
          <p:nvPr/>
        </p:nvSpPr>
        <p:spPr>
          <a:xfrm>
            <a:off x="658368" y="1481328"/>
            <a:ext cx="10874959" cy="2737104"/>
          </a:xfrm>
          <a:prstGeom prst="rect">
            <a:avLst/>
          </a:prstGeom>
          <a:solidFill>
            <a:srgbClr val="F5F7F9"/>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81328"/>
            <a:ext cx="43180" cy="2737104"/>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77824" y="1645920"/>
            <a:ext cx="10509199" cy="2462784"/>
          </a:xfrm>
          <a:prstGeom prst="rect">
            <a:avLst/>
          </a:prstGeom>
          <a:noFill/>
        </p:spPr>
        <p:txBody>
          <a:bodyPr wrap="square" lIns="0" tIns="0" rIns="0" bIns="0">
            <a:spAutoFit/>
          </a:bodyPr>
          <a:lstStyle/>
          <a:p>
            <a:pPr>
              <a:lnSpc>
                <a:spcPct val="116000"/>
              </a:lnSpc>
              <a:spcAft>
                <a:spcPts val="0"/>
              </a:spcAft>
            </a:pPr>
            <a:r>
              <a:rPr sz="1500" b="0" i="0">
                <a:solidFill>
                  <a:srgbClr val="0F5BA7"/>
                </a:solidFill>
                <a:latin typeface="Consolas"/>
              </a:rPr>
              <a:t>SELECT</a:t>
            </a:r>
            <a:r>
              <a:rPr sz="1500" b="0" i="0">
                <a:solidFill>
                  <a:srgbClr val="242C38"/>
                </a:solidFill>
                <a:latin typeface="Consolas"/>
              </a:rPr>
              <a:t> account_id, amount, channel, rn</a:t>
            </a:r>
          </a:p>
          <a:p>
            <a:pPr>
              <a:lnSpc>
                <a:spcPct val="116000"/>
              </a:lnSpc>
              <a:spcAft>
                <a:spcPts val="0"/>
              </a:spcAft>
            </a:pPr>
            <a:r>
              <a:rPr sz="1500" b="0" i="0">
                <a:solidFill>
                  <a:srgbClr val="0F5BA7"/>
                </a:solidFill>
                <a:latin typeface="Consolas"/>
              </a:rPr>
              <a:t>FROM</a:t>
            </a:r>
            <a:r>
              <a:rPr sz="1500" b="0" i="0">
                <a:solidFill>
                  <a:srgbClr val="242C38"/>
                </a:solidFill>
                <a:latin typeface="Consolas"/>
              </a:rPr>
              <a:t> (</a:t>
            </a:r>
          </a:p>
          <a:p>
            <a:pPr>
              <a:lnSpc>
                <a:spcPct val="116000"/>
              </a:lnSpc>
              <a:spcAft>
                <a:spcPts val="0"/>
              </a:spcAft>
            </a:pPr>
            <a:r>
              <a:rPr sz="1500" b="0" i="0">
                <a:solidFill>
                  <a:srgbClr val="242C38"/>
                </a:solidFill>
                <a:latin typeface="Consolas"/>
              </a:rPr>
              <a:t>    </a:t>
            </a:r>
            <a:r>
              <a:rPr sz="1500" b="0" i="0">
                <a:solidFill>
                  <a:srgbClr val="0F5BA7"/>
                </a:solidFill>
                <a:latin typeface="Consolas"/>
              </a:rPr>
              <a:t>SELECT</a:t>
            </a:r>
            <a:r>
              <a:rPr sz="1500" b="0" i="0">
                <a:solidFill>
                  <a:srgbClr val="242C38"/>
                </a:solidFill>
                <a:latin typeface="Consolas"/>
              </a:rPr>
              <a:t> account_id, amount, channel,</a:t>
            </a:r>
          </a:p>
          <a:p>
            <a:pPr>
              <a:lnSpc>
                <a:spcPct val="116000"/>
              </a:lnSpc>
              <a:spcAft>
                <a:spcPts val="0"/>
              </a:spcAft>
            </a:pPr>
            <a:r>
              <a:rPr sz="1500" b="0" i="0">
                <a:solidFill>
                  <a:srgbClr val="242C38"/>
                </a:solidFill>
                <a:latin typeface="Consolas"/>
              </a:rPr>
              <a:t>           ROW_NUMBER() </a:t>
            </a:r>
            <a:r>
              <a:rPr sz="1500" b="0" i="0">
                <a:solidFill>
                  <a:srgbClr val="0F5BA7"/>
                </a:solidFill>
                <a:latin typeface="Consolas"/>
              </a:rPr>
              <a:t>OVER</a:t>
            </a:r>
            <a:r>
              <a:rPr sz="1500" b="0" i="0">
                <a:solidFill>
                  <a:srgbClr val="242C38"/>
                </a:solidFill>
                <a:latin typeface="Consolas"/>
              </a:rPr>
              <a:t> (</a:t>
            </a:r>
          </a:p>
          <a:p>
            <a:pPr>
              <a:lnSpc>
                <a:spcPct val="116000"/>
              </a:lnSpc>
              <a:spcAft>
                <a:spcPts val="0"/>
              </a:spcAft>
            </a:pPr>
            <a:r>
              <a:rPr sz="1500" b="0" i="0">
                <a:solidFill>
                  <a:srgbClr val="242C38"/>
                </a:solidFill>
                <a:latin typeface="Consolas"/>
              </a:rPr>
              <a:t>               </a:t>
            </a:r>
            <a:r>
              <a:rPr sz="1500" b="0" i="0">
                <a:solidFill>
                  <a:srgbClr val="0F5BA7"/>
                </a:solidFill>
                <a:latin typeface="Consolas"/>
              </a:rPr>
              <a:t>PARTITION</a:t>
            </a:r>
            <a:r>
              <a:rPr sz="1500" b="0" i="0">
                <a:solidFill>
                  <a:srgbClr val="242C38"/>
                </a:solidFill>
                <a:latin typeface="Consolas"/>
              </a:rPr>
              <a:t> </a:t>
            </a:r>
            <a:r>
              <a:rPr sz="1500" b="0" i="0">
                <a:solidFill>
                  <a:srgbClr val="0F5BA7"/>
                </a:solidFill>
                <a:latin typeface="Consolas"/>
              </a:rPr>
              <a:t>BY</a:t>
            </a:r>
            <a:r>
              <a:rPr sz="1500" b="0" i="0">
                <a:solidFill>
                  <a:srgbClr val="242C38"/>
                </a:solidFill>
                <a:latin typeface="Consolas"/>
              </a:rPr>
              <a:t> account_id</a:t>
            </a:r>
          </a:p>
          <a:p>
            <a:pPr>
              <a:lnSpc>
                <a:spcPct val="116000"/>
              </a:lnSpc>
              <a:spcAft>
                <a:spcPts val="0"/>
              </a:spcAft>
            </a:pPr>
            <a:r>
              <a:rPr sz="1500" b="0" i="0">
                <a:solidFill>
                  <a:srgbClr val="242C38"/>
                </a:solidFill>
                <a:latin typeface="Consolas"/>
              </a:rPr>
              <a:t>               </a:t>
            </a:r>
            <a:r>
              <a:rPr sz="1500" b="0" i="0">
                <a:solidFill>
                  <a:srgbClr val="0F5BA7"/>
                </a:solidFill>
                <a:latin typeface="Consolas"/>
              </a:rPr>
              <a:t>ORDER</a:t>
            </a:r>
            <a:r>
              <a:rPr sz="1500" b="0" i="0">
                <a:solidFill>
                  <a:srgbClr val="242C38"/>
                </a:solidFill>
                <a:latin typeface="Consolas"/>
              </a:rPr>
              <a:t> </a:t>
            </a:r>
            <a:r>
              <a:rPr sz="1500" b="0" i="0">
                <a:solidFill>
                  <a:srgbClr val="0F5BA7"/>
                </a:solidFill>
                <a:latin typeface="Consolas"/>
              </a:rPr>
              <a:t>BY</a:t>
            </a:r>
            <a:r>
              <a:rPr sz="1500" b="0" i="0">
                <a:solidFill>
                  <a:srgbClr val="242C38"/>
                </a:solidFill>
                <a:latin typeface="Consolas"/>
              </a:rPr>
              <a:t> amount </a:t>
            </a:r>
            <a:r>
              <a:rPr sz="1500" b="0" i="0">
                <a:solidFill>
                  <a:srgbClr val="0F5BA7"/>
                </a:solidFill>
                <a:latin typeface="Consolas"/>
              </a:rPr>
              <a:t>DESC</a:t>
            </a:r>
            <a:r>
              <a:rPr sz="1500" b="0" i="0">
                <a:solidFill>
                  <a:srgbClr val="242C38"/>
                </a:solidFill>
                <a:latin typeface="Consolas"/>
              </a:rPr>
              <a:t>) </a:t>
            </a:r>
            <a:r>
              <a:rPr sz="1500" b="0" i="0">
                <a:solidFill>
                  <a:srgbClr val="0F5BA7"/>
                </a:solidFill>
                <a:latin typeface="Consolas"/>
              </a:rPr>
              <a:t>AS</a:t>
            </a:r>
            <a:r>
              <a:rPr sz="1500" b="0" i="0">
                <a:solidFill>
                  <a:srgbClr val="242C38"/>
                </a:solidFill>
                <a:latin typeface="Consolas"/>
              </a:rPr>
              <a:t> rn</a:t>
            </a:r>
          </a:p>
          <a:p>
            <a:pPr>
              <a:lnSpc>
                <a:spcPct val="116000"/>
              </a:lnSpc>
              <a:spcAft>
                <a:spcPts val="0"/>
              </a:spcAft>
            </a:pPr>
            <a:r>
              <a:rPr sz="1500" b="0" i="0">
                <a:solidFill>
                  <a:srgbClr val="242C38"/>
                </a:solidFill>
                <a:latin typeface="Consolas"/>
              </a:rPr>
              <a:t>    </a:t>
            </a:r>
            <a:r>
              <a:rPr sz="1500" b="0" i="0">
                <a:solidFill>
                  <a:srgbClr val="0F5BA7"/>
                </a:solidFill>
                <a:latin typeface="Consolas"/>
              </a:rPr>
              <a:t>FROM</a:t>
            </a:r>
            <a:r>
              <a:rPr sz="1500" b="0" i="0">
                <a:solidFill>
                  <a:srgbClr val="242C38"/>
                </a:solidFill>
                <a:latin typeface="Consolas"/>
              </a:rPr>
              <a:t> v_txns</a:t>
            </a:r>
          </a:p>
          <a:p>
            <a:pPr>
              <a:lnSpc>
                <a:spcPct val="116000"/>
              </a:lnSpc>
              <a:spcAft>
                <a:spcPts val="0"/>
              </a:spcAft>
            </a:pPr>
            <a:r>
              <a:rPr sz="1500" b="0" i="0">
                <a:solidFill>
                  <a:srgbClr val="242C38"/>
                </a:solidFill>
                <a:latin typeface="Consolas"/>
              </a:rPr>
              <a:t>) </a:t>
            </a:r>
            <a:r>
              <a:rPr sz="1500" b="0" i="0">
                <a:solidFill>
                  <a:srgbClr val="0F5BA7"/>
                </a:solidFill>
                <a:latin typeface="Consolas"/>
              </a:rPr>
              <a:t>WHERE</a:t>
            </a:r>
            <a:r>
              <a:rPr sz="1500" b="0" i="0">
                <a:solidFill>
                  <a:srgbClr val="242C38"/>
                </a:solidFill>
                <a:latin typeface="Consolas"/>
              </a:rPr>
              <a:t> rn = </a:t>
            </a:r>
            <a:r>
              <a:rPr sz="1500" b="0" i="0">
                <a:solidFill>
                  <a:srgbClr val="098658"/>
                </a:solidFill>
                <a:latin typeface="Consolas"/>
              </a:rPr>
              <a:t>1</a:t>
            </a:r>
          </a:p>
        </p:txBody>
      </p:sp>
      <p:sp>
        <p:nvSpPr>
          <p:cNvPr id="7" name="TextBox 6"/>
          <p:cNvSpPr txBox="1"/>
          <p:nvPr/>
        </p:nvSpPr>
        <p:spPr>
          <a:xfrm>
            <a:off x="658368" y="4364736"/>
            <a:ext cx="10874959" cy="457200"/>
          </a:xfrm>
          <a:prstGeom prst="rect">
            <a:avLst/>
          </a:prstGeom>
          <a:noFill/>
        </p:spPr>
        <p:txBody>
          <a:bodyPr wrap="square" lIns="0" tIns="0" rIns="0" bIns="0">
            <a:spAutoFit/>
          </a:bodyPr>
          <a:lstStyle/>
          <a:p>
            <a:r>
              <a:rPr sz="1400" b="0" i="0">
                <a:solidFill>
                  <a:srgbClr val="5B6775"/>
                </a:solidFill>
                <a:latin typeface="Segoe UI"/>
              </a:rPr>
              <a:t>Open source Spark SQL has no QUALIFY keyword at all. This pattern replaces every use.</a:t>
            </a:r>
          </a:p>
        </p:txBody>
      </p:sp>
      <p:sp>
        <p:nvSpPr>
          <p:cNvPr id="8" name="Rectangle 7"/>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09  ·  SQL, Python and Spark</a:t>
            </a:r>
          </a:p>
        </p:txBody>
      </p:sp>
      <p:sp>
        <p:nvSpPr>
          <p:cNvPr id="10" name="TextBox 9"/>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91</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GROUPING SETS: three breakdowns, one scan</a:t>
            </a:r>
          </a:p>
        </p:txBody>
      </p:sp>
      <p:sp>
        <p:nvSpPr>
          <p:cNvPr id="4" name="Rectangle 3"/>
          <p:cNvSpPr/>
          <p:nvPr/>
        </p:nvSpPr>
        <p:spPr>
          <a:xfrm>
            <a:off x="658368" y="1481328"/>
            <a:ext cx="10874959" cy="1868424"/>
          </a:xfrm>
          <a:prstGeom prst="rect">
            <a:avLst/>
          </a:prstGeom>
          <a:solidFill>
            <a:srgbClr val="F5F7F9"/>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81328"/>
            <a:ext cx="43180" cy="1868424"/>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77824" y="1645920"/>
            <a:ext cx="10509199" cy="1594104"/>
          </a:xfrm>
          <a:prstGeom prst="rect">
            <a:avLst/>
          </a:prstGeom>
          <a:noFill/>
        </p:spPr>
        <p:txBody>
          <a:bodyPr wrap="square" lIns="0" tIns="0" rIns="0" bIns="0">
            <a:spAutoFit/>
          </a:bodyPr>
          <a:lstStyle/>
          <a:p>
            <a:pPr>
              <a:lnSpc>
                <a:spcPct val="116000"/>
              </a:lnSpc>
              <a:spcAft>
                <a:spcPts val="0"/>
              </a:spcAft>
            </a:pPr>
            <a:r>
              <a:rPr sz="1500" b="0" i="0">
                <a:solidFill>
                  <a:srgbClr val="0F5BA7"/>
                </a:solidFill>
                <a:latin typeface="Consolas"/>
              </a:rPr>
              <a:t>SELECT</a:t>
            </a:r>
            <a:r>
              <a:rPr sz="1500" b="0" i="0">
                <a:solidFill>
                  <a:srgbClr val="242C38"/>
                </a:solidFill>
                <a:latin typeface="Consolas"/>
              </a:rPr>
              <a:t> COALESCE(channel, </a:t>
            </a:r>
            <a:r>
              <a:rPr sz="1500" b="0" i="0">
                <a:solidFill>
                  <a:srgbClr val="A31515"/>
                </a:solidFill>
                <a:latin typeface="Consolas"/>
              </a:rPr>
              <a:t>'(all channels)'</a:t>
            </a:r>
            <a:r>
              <a:rPr sz="1500" b="0" i="0">
                <a:solidFill>
                  <a:srgbClr val="242C38"/>
                </a:solidFill>
                <a:latin typeface="Consolas"/>
              </a:rPr>
              <a:t>) </a:t>
            </a:r>
            <a:r>
              <a:rPr sz="1500" b="0" i="0">
                <a:solidFill>
                  <a:srgbClr val="0F5BA7"/>
                </a:solidFill>
                <a:latin typeface="Consolas"/>
              </a:rPr>
              <a:t>AS</a:t>
            </a:r>
            <a:r>
              <a:rPr sz="1500" b="0" i="0">
                <a:solidFill>
                  <a:srgbClr val="242C38"/>
                </a:solidFill>
                <a:latin typeface="Consolas"/>
              </a:rPr>
              <a:t> channel,</a:t>
            </a:r>
          </a:p>
          <a:p>
            <a:pPr>
              <a:lnSpc>
                <a:spcPct val="116000"/>
              </a:lnSpc>
              <a:spcAft>
                <a:spcPts val="0"/>
              </a:spcAft>
            </a:pPr>
            <a:r>
              <a:rPr sz="1500" b="0" i="0">
                <a:solidFill>
                  <a:srgbClr val="242C38"/>
                </a:solidFill>
                <a:latin typeface="Consolas"/>
              </a:rPr>
              <a:t>       COALESCE(txn_type, </a:t>
            </a:r>
            <a:r>
              <a:rPr sz="1500" b="0" i="0">
                <a:solidFill>
                  <a:srgbClr val="A31515"/>
                </a:solidFill>
                <a:latin typeface="Consolas"/>
              </a:rPr>
              <a:t>'(all types)'</a:t>
            </a:r>
            <a:r>
              <a:rPr sz="1500" b="0" i="0">
                <a:solidFill>
                  <a:srgbClr val="242C38"/>
                </a:solidFill>
                <a:latin typeface="Consolas"/>
              </a:rPr>
              <a:t>) </a:t>
            </a:r>
            <a:r>
              <a:rPr sz="1500" b="0" i="0">
                <a:solidFill>
                  <a:srgbClr val="0F5BA7"/>
                </a:solidFill>
                <a:latin typeface="Consolas"/>
              </a:rPr>
              <a:t>AS</a:t>
            </a:r>
            <a:r>
              <a:rPr sz="1500" b="0" i="0">
                <a:solidFill>
                  <a:srgbClr val="242C38"/>
                </a:solidFill>
                <a:latin typeface="Consolas"/>
              </a:rPr>
              <a:t> txn_type,</a:t>
            </a:r>
          </a:p>
          <a:p>
            <a:pPr>
              <a:lnSpc>
                <a:spcPct val="116000"/>
              </a:lnSpc>
              <a:spcAft>
                <a:spcPts val="0"/>
              </a:spcAft>
            </a:pPr>
            <a:r>
              <a:rPr sz="1500" b="0" i="0">
                <a:solidFill>
                  <a:srgbClr val="242C38"/>
                </a:solidFill>
                <a:latin typeface="Consolas"/>
              </a:rPr>
              <a:t>       COUNT(*) </a:t>
            </a:r>
            <a:r>
              <a:rPr sz="1500" b="0" i="0">
                <a:solidFill>
                  <a:srgbClr val="0F5BA7"/>
                </a:solidFill>
                <a:latin typeface="Consolas"/>
              </a:rPr>
              <a:t>AS</a:t>
            </a:r>
            <a:r>
              <a:rPr sz="1500" b="0" i="0">
                <a:solidFill>
                  <a:srgbClr val="242C38"/>
                </a:solidFill>
                <a:latin typeface="Consolas"/>
              </a:rPr>
              <a:t> n, SUM(amount) </a:t>
            </a:r>
            <a:r>
              <a:rPr sz="1500" b="0" i="0">
                <a:solidFill>
                  <a:srgbClr val="0F5BA7"/>
                </a:solidFill>
                <a:latin typeface="Consolas"/>
              </a:rPr>
              <a:t>AS</a:t>
            </a:r>
            <a:r>
              <a:rPr sz="1500" b="0" i="0">
                <a:solidFill>
                  <a:srgbClr val="242C38"/>
                </a:solidFill>
                <a:latin typeface="Consolas"/>
              </a:rPr>
              <a:t> total</a:t>
            </a:r>
          </a:p>
          <a:p>
            <a:pPr>
              <a:lnSpc>
                <a:spcPct val="116000"/>
              </a:lnSpc>
              <a:spcAft>
                <a:spcPts val="0"/>
              </a:spcAft>
            </a:pPr>
            <a:r>
              <a:rPr sz="1500" b="0" i="0">
                <a:solidFill>
                  <a:srgbClr val="0F5BA7"/>
                </a:solidFill>
                <a:latin typeface="Consolas"/>
              </a:rPr>
              <a:t>FROM</a:t>
            </a:r>
            <a:r>
              <a:rPr sz="1500" b="0" i="0">
                <a:solidFill>
                  <a:srgbClr val="242C38"/>
                </a:solidFill>
                <a:latin typeface="Consolas"/>
              </a:rPr>
              <a:t> v_txns</a:t>
            </a:r>
          </a:p>
          <a:p>
            <a:pPr>
              <a:lnSpc>
                <a:spcPct val="116000"/>
              </a:lnSpc>
              <a:spcAft>
                <a:spcPts val="0"/>
              </a:spcAft>
            </a:pPr>
            <a:r>
              <a:rPr sz="1500" b="0" i="0">
                <a:solidFill>
                  <a:srgbClr val="0F5BA7"/>
                </a:solidFill>
                <a:latin typeface="Consolas"/>
              </a:rPr>
              <a:t>GROUP</a:t>
            </a:r>
            <a:r>
              <a:rPr sz="1500" b="0" i="0">
                <a:solidFill>
                  <a:srgbClr val="242C38"/>
                </a:solidFill>
                <a:latin typeface="Consolas"/>
              </a:rPr>
              <a:t> </a:t>
            </a:r>
            <a:r>
              <a:rPr sz="1500" b="0" i="0">
                <a:solidFill>
                  <a:srgbClr val="0F5BA7"/>
                </a:solidFill>
                <a:latin typeface="Consolas"/>
              </a:rPr>
              <a:t>BY</a:t>
            </a:r>
            <a:r>
              <a:rPr sz="1500" b="0" i="0">
                <a:solidFill>
                  <a:srgbClr val="242C38"/>
                </a:solidFill>
                <a:latin typeface="Consolas"/>
              </a:rPr>
              <a:t> GROUPING SETS ((channel), (txn_type), ())</a:t>
            </a:r>
          </a:p>
        </p:txBody>
      </p:sp>
      <p:sp>
        <p:nvSpPr>
          <p:cNvPr id="7" name="TextBox 6"/>
          <p:cNvSpPr txBox="1"/>
          <p:nvPr/>
        </p:nvSpPr>
        <p:spPr>
          <a:xfrm>
            <a:off x="658368" y="3496056"/>
            <a:ext cx="10874959" cy="457200"/>
          </a:xfrm>
          <a:prstGeom prst="rect">
            <a:avLst/>
          </a:prstGeom>
          <a:noFill/>
        </p:spPr>
        <p:txBody>
          <a:bodyPr wrap="square" lIns="0" tIns="0" rIns="0" bIns="0">
            <a:spAutoFit/>
          </a:bodyPr>
          <a:lstStyle/>
          <a:p>
            <a:r>
              <a:rPr sz="1400" b="0" i="0">
                <a:solidFill>
                  <a:srgbClr val="5B6775"/>
                </a:solidFill>
                <a:latin typeface="Segoe UI"/>
              </a:rPr>
              <a:t>COALESCE turns the NULL grouping sets leaves behind into a readable label.</a:t>
            </a:r>
          </a:p>
        </p:txBody>
      </p:sp>
      <p:sp>
        <p:nvSpPr>
          <p:cNvPr id="8" name="Rectangle 7"/>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09  ·  SQL, Python and Spark</a:t>
            </a:r>
          </a:p>
        </p:txBody>
      </p:sp>
      <p:sp>
        <p:nvSpPr>
          <p:cNvPr id="10" name="TextBox 9"/>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92</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GROUPING SETS, ROLLUP and CUBE</a:t>
            </a:r>
          </a:p>
        </p:txBody>
      </p:sp>
      <p:graphicFrame>
        <p:nvGraphicFramePr>
          <p:cNvPr id="4" name="Table 3"/>
          <p:cNvGraphicFramePr>
            <a:graphicFrameLocks noGrp="1"/>
          </p:cNvGraphicFramePr>
          <p:nvPr/>
        </p:nvGraphicFramePr>
        <p:xfrm>
          <a:off x="658368" y="1481328"/>
          <a:ext cx="10874958" cy="1828800"/>
        </p:xfrm>
        <a:graphic>
          <a:graphicData uri="http://schemas.openxmlformats.org/drawingml/2006/table">
            <a:tbl>
              <a:tblPr firstRow="1" bandRow="1">
                <a:tableStyleId>{5C22544A-7EE6-4342-B048-85BDC9FD1C3A}</a:tableStyleId>
              </a:tblPr>
              <a:tblGrid>
                <a:gridCol w="5437479">
                  <a:extLst>
                    <a:ext uri="{9D8B030D-6E8A-4147-A177-3AD203B41FA5}">
                      <a16:colId xmlns:a16="http://schemas.microsoft.com/office/drawing/2014/main" val="20000"/>
                    </a:ext>
                  </a:extLst>
                </a:gridCol>
                <a:gridCol w="5437479">
                  <a:extLst>
                    <a:ext uri="{9D8B030D-6E8A-4147-A177-3AD203B41FA5}">
                      <a16:colId xmlns:a16="http://schemas.microsoft.com/office/drawing/2014/main" val="20001"/>
                    </a:ext>
                  </a:extLst>
                </a:gridCol>
              </a:tblGrid>
              <a:tr h="402336">
                <a:tc>
                  <a:txBody>
                    <a:bodyPr/>
                    <a:lstStyle/>
                    <a:p>
                      <a:r>
                        <a:rPr sz="1450" b="1" i="0">
                          <a:solidFill>
                            <a:srgbClr val="FFFFFF"/>
                          </a:solidFill>
                          <a:latin typeface="Segoe UI Semibold"/>
                        </a:rPr>
                        <a:t>Pattern</a:t>
                      </a:r>
                    </a:p>
                  </a:txBody>
                  <a:tcPr anchor="ctr">
                    <a:solidFill>
                      <a:srgbClr val="1F4E79"/>
                    </a:solidFill>
                  </a:tcPr>
                </a:tc>
                <a:tc>
                  <a:txBody>
                    <a:bodyPr/>
                    <a:lstStyle/>
                    <a:p>
                      <a:r>
                        <a:rPr sz="1450" b="1" i="0">
                          <a:solidFill>
                            <a:srgbClr val="FFFFFF"/>
                          </a:solidFill>
                          <a:latin typeface="Segoe UI Semibold"/>
                        </a:rPr>
                        <a:t>Produces</a:t>
                      </a:r>
                    </a:p>
                  </a:txBody>
                  <a:tcPr anchor="ctr">
                    <a:solidFill>
                      <a:srgbClr val="1F4E79"/>
                    </a:solidFill>
                  </a:tcPr>
                </a:tc>
                <a:extLst>
                  <a:ext uri="{0D108BD9-81ED-4DB2-BD59-A6C34878D82A}">
                    <a16:rowId xmlns:a16="http://schemas.microsoft.com/office/drawing/2014/main" val="10000"/>
                  </a:ext>
                </a:extLst>
              </a:tr>
              <a:tr h="475488">
                <a:tc>
                  <a:txBody>
                    <a:bodyPr/>
                    <a:lstStyle/>
                    <a:p>
                      <a:pPr>
                        <a:lnSpc>
                          <a:spcPct val="106000"/>
                        </a:lnSpc>
                      </a:pPr>
                      <a:r>
                        <a:rPr sz="1350" b="0" i="0">
                          <a:solidFill>
                            <a:srgbClr val="2E74B5"/>
                          </a:solidFill>
                          <a:latin typeface="Consolas"/>
                        </a:rPr>
                        <a:t>GROUPING SETS ((a), (b), ())</a:t>
                      </a:r>
                    </a:p>
                  </a:txBody>
                  <a:tcPr marT="36576" marB="36576" anchor="ctr">
                    <a:solidFill>
                      <a:srgbClr val="EEF3F8"/>
                    </a:solidFill>
                  </a:tcPr>
                </a:tc>
                <a:tc>
                  <a:txBody>
                    <a:bodyPr/>
                    <a:lstStyle/>
                    <a:p>
                      <a:pPr>
                        <a:lnSpc>
                          <a:spcPct val="106000"/>
                        </a:lnSpc>
                      </a:pPr>
                      <a:r>
                        <a:rPr sz="1400" b="0" i="0">
                          <a:solidFill>
                            <a:srgbClr val="242C38"/>
                          </a:solidFill>
                          <a:latin typeface="Segoe UI"/>
                        </a:rPr>
                        <a:t>totals by a, totals by b, grand total</a:t>
                      </a:r>
                    </a:p>
                  </a:txBody>
                  <a:tcPr marT="36576" marB="36576" anchor="ctr">
                    <a:solidFill>
                      <a:srgbClr val="EEF3F8"/>
                    </a:solidFill>
                  </a:tcPr>
                </a:tc>
                <a:extLst>
                  <a:ext uri="{0D108BD9-81ED-4DB2-BD59-A6C34878D82A}">
                    <a16:rowId xmlns:a16="http://schemas.microsoft.com/office/drawing/2014/main" val="10001"/>
                  </a:ext>
                </a:extLst>
              </a:tr>
              <a:tr h="475488">
                <a:tc>
                  <a:txBody>
                    <a:bodyPr/>
                    <a:lstStyle/>
                    <a:p>
                      <a:pPr>
                        <a:lnSpc>
                          <a:spcPct val="106000"/>
                        </a:lnSpc>
                      </a:pPr>
                      <a:r>
                        <a:rPr sz="1350" b="0" i="0">
                          <a:solidFill>
                            <a:srgbClr val="2E74B5"/>
                          </a:solidFill>
                          <a:latin typeface="Consolas"/>
                        </a:rPr>
                        <a:t>ROLLUP(a, b)</a:t>
                      </a:r>
                    </a:p>
                  </a:txBody>
                  <a:tcPr marT="36576" marB="36576" anchor="ctr">
                    <a:solidFill>
                      <a:srgbClr val="FFFFFF"/>
                    </a:solidFill>
                  </a:tcPr>
                </a:tc>
                <a:tc>
                  <a:txBody>
                    <a:bodyPr/>
                    <a:lstStyle/>
                    <a:p>
                      <a:pPr>
                        <a:lnSpc>
                          <a:spcPct val="106000"/>
                        </a:lnSpc>
                      </a:pPr>
                      <a:r>
                        <a:rPr sz="1400" b="0" i="0">
                          <a:solidFill>
                            <a:srgbClr val="242C38"/>
                          </a:solidFill>
                          <a:latin typeface="Segoe UI"/>
                        </a:rPr>
                        <a:t>totals by (a,b), totals by a, grand total</a:t>
                      </a:r>
                    </a:p>
                  </a:txBody>
                  <a:tcPr marT="36576" marB="36576" anchor="ctr">
                    <a:solidFill>
                      <a:srgbClr val="FFFFFF"/>
                    </a:solidFill>
                  </a:tcPr>
                </a:tc>
                <a:extLst>
                  <a:ext uri="{0D108BD9-81ED-4DB2-BD59-A6C34878D82A}">
                    <a16:rowId xmlns:a16="http://schemas.microsoft.com/office/drawing/2014/main" val="10002"/>
                  </a:ext>
                </a:extLst>
              </a:tr>
              <a:tr h="475488">
                <a:tc>
                  <a:txBody>
                    <a:bodyPr/>
                    <a:lstStyle/>
                    <a:p>
                      <a:pPr>
                        <a:lnSpc>
                          <a:spcPct val="106000"/>
                        </a:lnSpc>
                      </a:pPr>
                      <a:r>
                        <a:rPr sz="1350" b="0" i="0">
                          <a:solidFill>
                            <a:srgbClr val="2E74B5"/>
                          </a:solidFill>
                          <a:latin typeface="Consolas"/>
                        </a:rPr>
                        <a:t>CUBE(a, b)</a:t>
                      </a:r>
                    </a:p>
                  </a:txBody>
                  <a:tcPr marT="36576" marB="36576" anchor="ctr">
                    <a:solidFill>
                      <a:srgbClr val="EEF3F8"/>
                    </a:solidFill>
                  </a:tcPr>
                </a:tc>
                <a:tc>
                  <a:txBody>
                    <a:bodyPr/>
                    <a:lstStyle/>
                    <a:p>
                      <a:pPr>
                        <a:lnSpc>
                          <a:spcPct val="106000"/>
                        </a:lnSpc>
                      </a:pPr>
                      <a:r>
                        <a:rPr sz="1400" b="0" i="0">
                          <a:solidFill>
                            <a:srgbClr val="242C38"/>
                          </a:solidFill>
                          <a:latin typeface="Segoe UI"/>
                        </a:rPr>
                        <a:t>every combination: (a,b), (a), (b), grand total</a:t>
                      </a:r>
                    </a:p>
                  </a:txBody>
                  <a:tcPr marT="36576" marB="36576" anchor="ctr">
                    <a:solidFill>
                      <a:srgbClr val="EEF3F8"/>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658368" y="5724144"/>
            <a:ext cx="10874959" cy="502920"/>
          </a:xfrm>
          <a:prstGeom prst="rect">
            <a:avLst/>
          </a:prstGeom>
          <a:noFill/>
        </p:spPr>
        <p:txBody>
          <a:bodyPr wrap="square" lIns="0" tIns="0" rIns="0" bIns="0">
            <a:spAutoFit/>
          </a:bodyPr>
          <a:lstStyle/>
          <a:p>
            <a:r>
              <a:rPr sz="1300" b="0" i="1">
                <a:solidFill>
                  <a:srgbClr val="5B6775"/>
                </a:solidFill>
                <a:latin typeface="Segoe UI"/>
              </a:rPr>
              <a:t>Reach for GROUPING SETS directly when the breakdowns aren't a simple prefix or cube.</a:t>
            </a:r>
          </a:p>
        </p:txBody>
      </p:sp>
      <p:sp>
        <p:nvSpPr>
          <p:cNvPr id="6" name="Rectangle 5"/>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09  ·  SQL, Python and Spark</a:t>
            </a:r>
          </a:p>
        </p:txBody>
      </p:sp>
      <p:sp>
        <p:nvSpPr>
          <p:cNvPr id="8" name="TextBox 7"/>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93</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TRY_CAST never fails, NULL means unknown</a:t>
            </a:r>
          </a:p>
        </p:txBody>
      </p:sp>
      <p:sp>
        <p:nvSpPr>
          <p:cNvPr id="4" name="Rectangle 3"/>
          <p:cNvSpPr/>
          <p:nvPr/>
        </p:nvSpPr>
        <p:spPr>
          <a:xfrm>
            <a:off x="658368" y="1481328"/>
            <a:ext cx="10874959" cy="1868424"/>
          </a:xfrm>
          <a:prstGeom prst="rect">
            <a:avLst/>
          </a:prstGeom>
          <a:solidFill>
            <a:srgbClr val="F5F7F9"/>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81328"/>
            <a:ext cx="43180" cy="1868424"/>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77824" y="1645920"/>
            <a:ext cx="10509199" cy="1594104"/>
          </a:xfrm>
          <a:prstGeom prst="rect">
            <a:avLst/>
          </a:prstGeom>
          <a:noFill/>
        </p:spPr>
        <p:txBody>
          <a:bodyPr wrap="square" lIns="0" tIns="0" rIns="0" bIns="0">
            <a:spAutoFit/>
          </a:bodyPr>
          <a:lstStyle/>
          <a:p>
            <a:pPr>
              <a:lnSpc>
                <a:spcPct val="116000"/>
              </a:lnSpc>
              <a:spcAft>
                <a:spcPts val="0"/>
              </a:spcAft>
            </a:pPr>
            <a:r>
              <a:rPr sz="1500" b="0" i="0">
                <a:solidFill>
                  <a:srgbClr val="0F5BA7"/>
                </a:solidFill>
                <a:latin typeface="Consolas"/>
              </a:rPr>
              <a:t>SELECT</a:t>
            </a:r>
            <a:r>
              <a:rPr sz="1500" b="0" i="0">
                <a:solidFill>
                  <a:srgbClr val="242C38"/>
                </a:solidFill>
                <a:latin typeface="Consolas"/>
              </a:rPr>
              <a:t> TRY_CAST(</a:t>
            </a:r>
            <a:r>
              <a:rPr sz="1500" b="0" i="0">
                <a:solidFill>
                  <a:srgbClr val="A31515"/>
                </a:solidFill>
                <a:latin typeface="Consolas"/>
              </a:rPr>
              <a:t>'12.5'</a:t>
            </a:r>
            <a:r>
              <a:rPr sz="1500" b="0" i="0">
                <a:solidFill>
                  <a:srgbClr val="242C38"/>
                </a:solidFill>
                <a:latin typeface="Consolas"/>
              </a:rPr>
              <a:t> </a:t>
            </a:r>
            <a:r>
              <a:rPr sz="1500" b="0" i="0">
                <a:solidFill>
                  <a:srgbClr val="0F5BA7"/>
                </a:solidFill>
                <a:latin typeface="Consolas"/>
              </a:rPr>
              <a:t>AS</a:t>
            </a:r>
            <a:r>
              <a:rPr sz="1500" b="0" i="0">
                <a:solidFill>
                  <a:srgbClr val="242C38"/>
                </a:solidFill>
                <a:latin typeface="Consolas"/>
              </a:rPr>
              <a:t> DOUBLE) </a:t>
            </a:r>
            <a:r>
              <a:rPr sz="1500" b="0" i="0">
                <a:solidFill>
                  <a:srgbClr val="0F5BA7"/>
                </a:solidFill>
                <a:latin typeface="Consolas"/>
              </a:rPr>
              <a:t>AS</a:t>
            </a:r>
            <a:r>
              <a:rPr sz="1500" b="0" i="0">
                <a:solidFill>
                  <a:srgbClr val="242C38"/>
                </a:solidFill>
                <a:latin typeface="Consolas"/>
              </a:rPr>
              <a:t> good,   </a:t>
            </a:r>
            <a:r>
              <a:rPr sz="1500" b="0" i="1">
                <a:solidFill>
                  <a:srgbClr val="6F865C"/>
                </a:solidFill>
                <a:latin typeface="Consolas"/>
              </a:rPr>
              <a:t>-- 12.5</a:t>
            </a:r>
          </a:p>
          <a:p>
            <a:pPr>
              <a:lnSpc>
                <a:spcPct val="116000"/>
              </a:lnSpc>
              <a:spcAft>
                <a:spcPts val="0"/>
              </a:spcAft>
            </a:pPr>
            <a:r>
              <a:rPr sz="1500" b="0" i="0">
                <a:solidFill>
                  <a:srgbClr val="242C38"/>
                </a:solidFill>
                <a:latin typeface="Consolas"/>
              </a:rPr>
              <a:t>       TRY_CAST(</a:t>
            </a:r>
            <a:r>
              <a:rPr sz="1500" b="0" i="0">
                <a:solidFill>
                  <a:srgbClr val="A31515"/>
                </a:solidFill>
                <a:latin typeface="Consolas"/>
              </a:rPr>
              <a:t>'abc'</a:t>
            </a:r>
            <a:r>
              <a:rPr sz="1500" b="0" i="0">
                <a:solidFill>
                  <a:srgbClr val="242C38"/>
                </a:solidFill>
                <a:latin typeface="Consolas"/>
              </a:rPr>
              <a:t> </a:t>
            </a:r>
            <a:r>
              <a:rPr sz="1500" b="0" i="0">
                <a:solidFill>
                  <a:srgbClr val="0F5BA7"/>
                </a:solidFill>
                <a:latin typeface="Consolas"/>
              </a:rPr>
              <a:t>AS</a:t>
            </a:r>
            <a:r>
              <a:rPr sz="1500" b="0" i="0">
                <a:solidFill>
                  <a:srgbClr val="242C38"/>
                </a:solidFill>
                <a:latin typeface="Consolas"/>
              </a:rPr>
              <a:t> DOUBLE) </a:t>
            </a:r>
            <a:r>
              <a:rPr sz="1500" b="0" i="0">
                <a:solidFill>
                  <a:srgbClr val="0F5BA7"/>
                </a:solidFill>
                <a:latin typeface="Consolas"/>
              </a:rPr>
              <a:t>AS</a:t>
            </a:r>
            <a:r>
              <a:rPr sz="1500" b="0" i="0">
                <a:solidFill>
                  <a:srgbClr val="242C38"/>
                </a:solidFill>
                <a:latin typeface="Consolas"/>
              </a:rPr>
              <a:t> bad      </a:t>
            </a:r>
            <a:r>
              <a:rPr sz="1500" b="0" i="1">
                <a:solidFill>
                  <a:srgbClr val="6F865C"/>
                </a:solidFill>
                <a:latin typeface="Consolas"/>
              </a:rPr>
              <a:t>-- NULL</a:t>
            </a:r>
          </a:p>
          <a:p>
            <a:pPr>
              <a:lnSpc>
                <a:spcPct val="116000"/>
              </a:lnSpc>
              <a:spcAft>
                <a:spcPts val="0"/>
              </a:spcAft>
            </a:pPr>
            <a:r>
              <a:rPr sz="1500" b="0" i="0">
                <a:solidFill>
                  <a:srgbClr val="242C38"/>
                </a:solidFill>
                <a:latin typeface="Consolas"/>
              </a:rPr>
              <a:t> </a:t>
            </a:r>
          </a:p>
          <a:p>
            <a:pPr>
              <a:lnSpc>
                <a:spcPct val="116000"/>
              </a:lnSpc>
              <a:spcAft>
                <a:spcPts val="0"/>
              </a:spcAft>
            </a:pPr>
            <a:r>
              <a:rPr sz="1500" b="0" i="0">
                <a:solidFill>
                  <a:srgbClr val="0F5BA7"/>
                </a:solidFill>
                <a:latin typeface="Consolas"/>
              </a:rPr>
              <a:t>SELECT</a:t>
            </a:r>
            <a:r>
              <a:rPr sz="1500" b="0" i="0">
                <a:solidFill>
                  <a:srgbClr val="242C38"/>
                </a:solidFill>
                <a:latin typeface="Consolas"/>
              </a:rPr>
              <a:t> SUM(</a:t>
            </a:r>
            <a:r>
              <a:rPr sz="1500" b="0" i="0">
                <a:solidFill>
                  <a:srgbClr val="0F5BA7"/>
                </a:solidFill>
                <a:latin typeface="Consolas"/>
              </a:rPr>
              <a:t>CASE</a:t>
            </a:r>
            <a:r>
              <a:rPr sz="1500" b="0" i="0">
                <a:solidFill>
                  <a:srgbClr val="242C38"/>
                </a:solidFill>
                <a:latin typeface="Consolas"/>
              </a:rPr>
              <a:t> </a:t>
            </a:r>
            <a:r>
              <a:rPr sz="1500" b="0" i="0">
                <a:solidFill>
                  <a:srgbClr val="0F5BA7"/>
                </a:solidFill>
                <a:latin typeface="Consolas"/>
              </a:rPr>
              <a:t>WHEN</a:t>
            </a:r>
            <a:r>
              <a:rPr sz="1500" b="0" i="0">
                <a:solidFill>
                  <a:srgbClr val="242C38"/>
                </a:solidFill>
                <a:latin typeface="Consolas"/>
              </a:rPr>
              <a:t> merchant_category = </a:t>
            </a:r>
            <a:r>
              <a:rPr sz="1500" b="0" i="0">
                <a:solidFill>
                  <a:srgbClr val="0F5BA7"/>
                </a:solidFill>
                <a:latin typeface="Consolas"/>
              </a:rPr>
              <a:t>NULL</a:t>
            </a:r>
          </a:p>
          <a:p>
            <a:pPr>
              <a:lnSpc>
                <a:spcPct val="116000"/>
              </a:lnSpc>
              <a:spcAft>
                <a:spcPts val="0"/>
              </a:spcAft>
            </a:pPr>
            <a:r>
              <a:rPr sz="1500" b="0" i="0">
                <a:solidFill>
                  <a:srgbClr val="242C38"/>
                </a:solidFill>
                <a:latin typeface="Consolas"/>
              </a:rPr>
              <a:t>    </a:t>
            </a:r>
            <a:r>
              <a:rPr sz="1500" b="0" i="0">
                <a:solidFill>
                  <a:srgbClr val="0F5BA7"/>
                </a:solidFill>
                <a:latin typeface="Consolas"/>
              </a:rPr>
              <a:t>THEN</a:t>
            </a:r>
            <a:r>
              <a:rPr sz="1500" b="0" i="0">
                <a:solidFill>
                  <a:srgbClr val="242C38"/>
                </a:solidFill>
                <a:latin typeface="Consolas"/>
              </a:rPr>
              <a:t> </a:t>
            </a:r>
            <a:r>
              <a:rPr sz="1500" b="0" i="0">
                <a:solidFill>
                  <a:srgbClr val="098658"/>
                </a:solidFill>
                <a:latin typeface="Consolas"/>
              </a:rPr>
              <a:t>1</a:t>
            </a:r>
            <a:r>
              <a:rPr sz="1500" b="0" i="0">
                <a:solidFill>
                  <a:srgbClr val="242C38"/>
                </a:solidFill>
                <a:latin typeface="Consolas"/>
              </a:rPr>
              <a:t> </a:t>
            </a:r>
            <a:r>
              <a:rPr sz="1500" b="0" i="0">
                <a:solidFill>
                  <a:srgbClr val="0F5BA7"/>
                </a:solidFill>
                <a:latin typeface="Consolas"/>
              </a:rPr>
              <a:t>ELSE</a:t>
            </a:r>
            <a:r>
              <a:rPr sz="1500" b="0" i="0">
                <a:solidFill>
                  <a:srgbClr val="242C38"/>
                </a:solidFill>
                <a:latin typeface="Consolas"/>
              </a:rPr>
              <a:t> </a:t>
            </a:r>
            <a:r>
              <a:rPr sz="1500" b="0" i="0">
                <a:solidFill>
                  <a:srgbClr val="098658"/>
                </a:solidFill>
                <a:latin typeface="Consolas"/>
              </a:rPr>
              <a:t>0</a:t>
            </a:r>
            <a:r>
              <a:rPr sz="1500" b="0" i="0">
                <a:solidFill>
                  <a:srgbClr val="242C38"/>
                </a:solidFill>
                <a:latin typeface="Consolas"/>
              </a:rPr>
              <a:t> </a:t>
            </a:r>
            <a:r>
              <a:rPr sz="1500" b="0" i="0">
                <a:solidFill>
                  <a:srgbClr val="0F5BA7"/>
                </a:solidFill>
                <a:latin typeface="Consolas"/>
              </a:rPr>
              <a:t>END</a:t>
            </a:r>
            <a:r>
              <a:rPr sz="1500" b="0" i="0">
                <a:solidFill>
                  <a:srgbClr val="242C38"/>
                </a:solidFill>
                <a:latin typeface="Consolas"/>
              </a:rPr>
              <a:t>) </a:t>
            </a:r>
            <a:r>
              <a:rPr sz="1500" b="0" i="0">
                <a:solidFill>
                  <a:srgbClr val="0F5BA7"/>
                </a:solidFill>
                <a:latin typeface="Consolas"/>
              </a:rPr>
              <a:t>AS</a:t>
            </a:r>
            <a:r>
              <a:rPr sz="1500" b="0" i="0">
                <a:solidFill>
                  <a:srgbClr val="242C38"/>
                </a:solidFill>
                <a:latin typeface="Consolas"/>
              </a:rPr>
              <a:t> with_equals        </a:t>
            </a:r>
            <a:r>
              <a:rPr sz="1500" b="0" i="1">
                <a:solidFill>
                  <a:srgbClr val="6F865C"/>
                </a:solidFill>
                <a:latin typeface="Consolas"/>
              </a:rPr>
              <a:t>-- 0, always</a:t>
            </a:r>
          </a:p>
        </p:txBody>
      </p:sp>
      <p:sp>
        <p:nvSpPr>
          <p:cNvPr id="7" name="TextBox 6"/>
          <p:cNvSpPr txBox="1"/>
          <p:nvPr/>
        </p:nvSpPr>
        <p:spPr>
          <a:xfrm>
            <a:off x="658368" y="3496056"/>
            <a:ext cx="10874959" cy="457200"/>
          </a:xfrm>
          <a:prstGeom prst="rect">
            <a:avLst/>
          </a:prstGeom>
          <a:noFill/>
        </p:spPr>
        <p:txBody>
          <a:bodyPr wrap="square" lIns="0" tIns="0" rIns="0" bIns="0">
            <a:spAutoFit/>
          </a:bodyPr>
          <a:lstStyle/>
          <a:p>
            <a:r>
              <a:rPr sz="1400" b="0" i="0">
                <a:solidFill>
                  <a:srgbClr val="5B6775"/>
                </a:solidFill>
                <a:latin typeface="Segoe UI"/>
              </a:rPr>
              <a:t>col = NULL is never TRUE, not even when col genuinely is NULL. Use IS NULL.</a:t>
            </a:r>
          </a:p>
        </p:txBody>
      </p:sp>
      <p:sp>
        <p:nvSpPr>
          <p:cNvPr id="8" name="Rectangle 7"/>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09  ·  SQL, Python and Spark</a:t>
            </a:r>
          </a:p>
        </p:txBody>
      </p:sp>
      <p:sp>
        <p:nvSpPr>
          <p:cNvPr id="10" name="TextBox 9"/>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94</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ANSI mode: the same expression, two outcomes</a:t>
            </a:r>
          </a:p>
        </p:txBody>
      </p:sp>
      <p:graphicFrame>
        <p:nvGraphicFramePr>
          <p:cNvPr id="4" name="Table 3"/>
          <p:cNvGraphicFramePr>
            <a:graphicFrameLocks noGrp="1"/>
          </p:cNvGraphicFramePr>
          <p:nvPr/>
        </p:nvGraphicFramePr>
        <p:xfrm>
          <a:off x="658368" y="1481328"/>
          <a:ext cx="10874958" cy="1353312"/>
        </p:xfrm>
        <a:graphic>
          <a:graphicData uri="http://schemas.openxmlformats.org/drawingml/2006/table">
            <a:tbl>
              <a:tblPr firstRow="1" bandRow="1">
                <a:tableStyleId>{5C22544A-7EE6-4342-B048-85BDC9FD1C3A}</a:tableStyleId>
              </a:tblPr>
              <a:tblGrid>
                <a:gridCol w="4182676">
                  <a:extLst>
                    <a:ext uri="{9D8B030D-6E8A-4147-A177-3AD203B41FA5}">
                      <a16:colId xmlns:a16="http://schemas.microsoft.com/office/drawing/2014/main" val="20000"/>
                    </a:ext>
                  </a:extLst>
                </a:gridCol>
                <a:gridCol w="3346141">
                  <a:extLst>
                    <a:ext uri="{9D8B030D-6E8A-4147-A177-3AD203B41FA5}">
                      <a16:colId xmlns:a16="http://schemas.microsoft.com/office/drawing/2014/main" val="20001"/>
                    </a:ext>
                  </a:extLst>
                </a:gridCol>
                <a:gridCol w="3346141">
                  <a:extLst>
                    <a:ext uri="{9D8B030D-6E8A-4147-A177-3AD203B41FA5}">
                      <a16:colId xmlns:a16="http://schemas.microsoft.com/office/drawing/2014/main" val="20002"/>
                    </a:ext>
                  </a:extLst>
                </a:gridCol>
              </a:tblGrid>
              <a:tr h="402336">
                <a:tc>
                  <a:txBody>
                    <a:bodyPr/>
                    <a:lstStyle/>
                    <a:p>
                      <a:r>
                        <a:rPr sz="1450" b="1" i="0">
                          <a:solidFill>
                            <a:srgbClr val="FFFFFF"/>
                          </a:solidFill>
                          <a:latin typeface="Segoe UI Semibold"/>
                        </a:rPr>
                        <a:t>Setting</a:t>
                      </a:r>
                    </a:p>
                  </a:txBody>
                  <a:tcPr anchor="ctr">
                    <a:solidFill>
                      <a:srgbClr val="1F4E79"/>
                    </a:solidFill>
                  </a:tcPr>
                </a:tc>
                <a:tc>
                  <a:txBody>
                    <a:bodyPr/>
                    <a:lstStyle/>
                    <a:p>
                      <a:r>
                        <a:rPr sz="1450" b="1" i="0">
                          <a:solidFill>
                            <a:srgbClr val="FFFFFF"/>
                          </a:solidFill>
                          <a:latin typeface="Segoe UI Semibold"/>
                        </a:rPr>
                        <a:t>Divide by zero</a:t>
                      </a:r>
                    </a:p>
                  </a:txBody>
                  <a:tcPr anchor="ctr">
                    <a:solidFill>
                      <a:srgbClr val="1F4E79"/>
                    </a:solidFill>
                  </a:tcPr>
                </a:tc>
                <a:tc>
                  <a:txBody>
                    <a:bodyPr/>
                    <a:lstStyle/>
                    <a:p>
                      <a:r>
                        <a:rPr sz="1450" b="1" i="0">
                          <a:solidFill>
                            <a:srgbClr val="FFFFFF"/>
                          </a:solidFill>
                          <a:latin typeface="Segoe UI Semibold"/>
                        </a:rPr>
                        <a:t>Bad CAST</a:t>
                      </a:r>
                    </a:p>
                  </a:txBody>
                  <a:tcPr anchor="ctr">
                    <a:solidFill>
                      <a:srgbClr val="1F4E79"/>
                    </a:solidFill>
                  </a:tcPr>
                </a:tc>
                <a:extLst>
                  <a:ext uri="{0D108BD9-81ED-4DB2-BD59-A6C34878D82A}">
                    <a16:rowId xmlns:a16="http://schemas.microsoft.com/office/drawing/2014/main" val="10000"/>
                  </a:ext>
                </a:extLst>
              </a:tr>
              <a:tr h="475488">
                <a:tc>
                  <a:txBody>
                    <a:bodyPr/>
                    <a:lstStyle/>
                    <a:p>
                      <a:pPr>
                        <a:lnSpc>
                          <a:spcPct val="106000"/>
                        </a:lnSpc>
                      </a:pPr>
                      <a:r>
                        <a:rPr sz="1400" b="1" i="0">
                          <a:solidFill>
                            <a:srgbClr val="242C38"/>
                          </a:solidFill>
                          <a:latin typeface="Segoe UI"/>
                        </a:rPr>
                        <a:t>ANSI off (Spark's default)</a:t>
                      </a:r>
                    </a:p>
                  </a:txBody>
                  <a:tcPr marT="36576" marB="36576" anchor="ctr">
                    <a:solidFill>
                      <a:srgbClr val="EEF3F8"/>
                    </a:solidFill>
                  </a:tcPr>
                </a:tc>
                <a:tc>
                  <a:txBody>
                    <a:bodyPr/>
                    <a:lstStyle/>
                    <a:p>
                      <a:pPr>
                        <a:lnSpc>
                          <a:spcPct val="106000"/>
                        </a:lnSpc>
                      </a:pPr>
                      <a:r>
                        <a:rPr sz="1400" b="0" i="0">
                          <a:solidFill>
                            <a:srgbClr val="242C38"/>
                          </a:solidFill>
                          <a:latin typeface="Segoe UI"/>
                        </a:rPr>
                        <a:t>NULL</a:t>
                      </a:r>
                    </a:p>
                  </a:txBody>
                  <a:tcPr marT="36576" marB="36576" anchor="ctr">
                    <a:solidFill>
                      <a:srgbClr val="EEF3F8"/>
                    </a:solidFill>
                  </a:tcPr>
                </a:tc>
                <a:tc>
                  <a:txBody>
                    <a:bodyPr/>
                    <a:lstStyle/>
                    <a:p>
                      <a:pPr>
                        <a:lnSpc>
                          <a:spcPct val="106000"/>
                        </a:lnSpc>
                      </a:pPr>
                      <a:r>
                        <a:rPr sz="1400" b="0" i="0">
                          <a:solidFill>
                            <a:srgbClr val="242C38"/>
                          </a:solidFill>
                          <a:latin typeface="Segoe UI"/>
                        </a:rPr>
                        <a:t>NULL</a:t>
                      </a:r>
                    </a:p>
                  </a:txBody>
                  <a:tcPr marT="36576" marB="36576" anchor="ctr">
                    <a:solidFill>
                      <a:srgbClr val="EEF3F8"/>
                    </a:solidFill>
                  </a:tcPr>
                </a:tc>
                <a:extLst>
                  <a:ext uri="{0D108BD9-81ED-4DB2-BD59-A6C34878D82A}">
                    <a16:rowId xmlns:a16="http://schemas.microsoft.com/office/drawing/2014/main" val="10001"/>
                  </a:ext>
                </a:extLst>
              </a:tr>
              <a:tr h="475488">
                <a:tc>
                  <a:txBody>
                    <a:bodyPr/>
                    <a:lstStyle/>
                    <a:p>
                      <a:pPr>
                        <a:lnSpc>
                          <a:spcPct val="106000"/>
                        </a:lnSpc>
                      </a:pPr>
                      <a:r>
                        <a:rPr sz="1400" b="1" i="0">
                          <a:solidFill>
                            <a:srgbClr val="242C38"/>
                          </a:solidFill>
                          <a:latin typeface="Segoe UI"/>
                        </a:rPr>
                        <a:t>ANSI on</a:t>
                      </a:r>
                    </a:p>
                  </a:txBody>
                  <a:tcPr marT="36576" marB="36576" anchor="ctr">
                    <a:solidFill>
                      <a:srgbClr val="FFFFFF"/>
                    </a:solidFill>
                  </a:tcPr>
                </a:tc>
                <a:tc>
                  <a:txBody>
                    <a:bodyPr/>
                    <a:lstStyle/>
                    <a:p>
                      <a:pPr>
                        <a:lnSpc>
                          <a:spcPct val="106000"/>
                        </a:lnSpc>
                      </a:pPr>
                      <a:r>
                        <a:rPr sz="1400" b="0" i="0">
                          <a:solidFill>
                            <a:srgbClr val="242C38"/>
                          </a:solidFill>
                          <a:latin typeface="Segoe UI"/>
                        </a:rPr>
                        <a:t>raises an error</a:t>
                      </a:r>
                    </a:p>
                  </a:txBody>
                  <a:tcPr marT="36576" marB="36576" anchor="ctr">
                    <a:solidFill>
                      <a:srgbClr val="FFFFFF"/>
                    </a:solidFill>
                  </a:tcPr>
                </a:tc>
                <a:tc>
                  <a:txBody>
                    <a:bodyPr/>
                    <a:lstStyle/>
                    <a:p>
                      <a:pPr>
                        <a:lnSpc>
                          <a:spcPct val="106000"/>
                        </a:lnSpc>
                      </a:pPr>
                      <a:r>
                        <a:rPr sz="1400" b="0" i="0">
                          <a:solidFill>
                            <a:srgbClr val="242C38"/>
                          </a:solidFill>
                          <a:latin typeface="Segoe UI"/>
                        </a:rPr>
                        <a:t>raises an error</a:t>
                      </a:r>
                    </a:p>
                  </a:txBody>
                  <a:tcPr marT="36576" marB="36576" anchor="ctr">
                    <a:solidFill>
                      <a:srgbClr val="FFFFFF"/>
                    </a:solidFill>
                  </a:tcPr>
                </a:tc>
                <a:extLst>
                  <a:ext uri="{0D108BD9-81ED-4DB2-BD59-A6C34878D82A}">
                    <a16:rowId xmlns:a16="http://schemas.microsoft.com/office/drawing/2014/main" val="10002"/>
                  </a:ext>
                </a:extLst>
              </a:tr>
            </a:tbl>
          </a:graphicData>
        </a:graphic>
      </p:graphicFrame>
      <p:sp>
        <p:nvSpPr>
          <p:cNvPr id="5" name="TextBox 4"/>
          <p:cNvSpPr txBox="1"/>
          <p:nvPr/>
        </p:nvSpPr>
        <p:spPr>
          <a:xfrm>
            <a:off x="658368" y="5724144"/>
            <a:ext cx="10874959" cy="502920"/>
          </a:xfrm>
          <a:prstGeom prst="rect">
            <a:avLst/>
          </a:prstGeom>
          <a:noFill/>
        </p:spPr>
        <p:txBody>
          <a:bodyPr wrap="square" lIns="0" tIns="0" rIns="0" bIns="0">
            <a:spAutoFit/>
          </a:bodyPr>
          <a:lstStyle/>
          <a:p>
            <a:r>
              <a:rPr sz="1300" b="0" i="1">
                <a:solidFill>
                  <a:srgbClr val="5B6775"/>
                </a:solidFill>
                <a:latin typeface="Segoe UI"/>
              </a:rPr>
              <a:t>TRY_CAST and TRY_DIVIDE opt one expression back into the return-NULL behaviour.</a:t>
            </a:r>
          </a:p>
        </p:txBody>
      </p:sp>
      <p:sp>
        <p:nvSpPr>
          <p:cNvPr id="6" name="Rectangle 5"/>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09  ·  SQL, Python and Spark</a:t>
            </a:r>
          </a:p>
        </p:txBody>
      </p:sp>
      <p:sp>
        <p:nvSpPr>
          <p:cNvPr id="8" name="TextBox 7"/>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95</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Named parameters, not f-strings, for outside values</a:t>
            </a:r>
          </a:p>
        </p:txBody>
      </p:sp>
      <p:sp>
        <p:nvSpPr>
          <p:cNvPr id="4" name="Rectangle 3"/>
          <p:cNvSpPr/>
          <p:nvPr/>
        </p:nvSpPr>
        <p:spPr>
          <a:xfrm>
            <a:off x="658368" y="1481328"/>
            <a:ext cx="10874959" cy="1868424"/>
          </a:xfrm>
          <a:prstGeom prst="rect">
            <a:avLst/>
          </a:prstGeom>
          <a:solidFill>
            <a:srgbClr val="F5F7F9"/>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81328"/>
            <a:ext cx="43180" cy="1868424"/>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77824" y="1645920"/>
            <a:ext cx="10509199" cy="1594104"/>
          </a:xfrm>
          <a:prstGeom prst="rect">
            <a:avLst/>
          </a:prstGeom>
          <a:noFill/>
        </p:spPr>
        <p:txBody>
          <a:bodyPr wrap="square" lIns="0" tIns="0" rIns="0" bIns="0">
            <a:spAutoFit/>
          </a:bodyPr>
          <a:lstStyle/>
          <a:p>
            <a:pPr>
              <a:lnSpc>
                <a:spcPct val="116000"/>
              </a:lnSpc>
              <a:spcAft>
                <a:spcPts val="0"/>
              </a:spcAft>
            </a:pPr>
            <a:r>
              <a:rPr sz="1500" b="0" i="0">
                <a:solidFill>
                  <a:srgbClr val="242C38"/>
                </a:solidFill>
                <a:latin typeface="Consolas"/>
              </a:rPr>
              <a:t>spark.sql(</a:t>
            </a:r>
          </a:p>
          <a:p>
            <a:pPr>
              <a:lnSpc>
                <a:spcPct val="116000"/>
              </a:lnSpc>
              <a:spcAft>
                <a:spcPts val="0"/>
              </a:spcAft>
            </a:pPr>
            <a:r>
              <a:rPr sz="1500" b="0" i="0">
                <a:solidFill>
                  <a:srgbClr val="242C38"/>
                </a:solidFill>
                <a:latin typeface="Consolas"/>
              </a:rPr>
              <a:t>    </a:t>
            </a:r>
            <a:r>
              <a:rPr sz="1500" b="0" i="0">
                <a:solidFill>
                  <a:srgbClr val="A31515"/>
                </a:solidFill>
                <a:latin typeface="Consolas"/>
              </a:rPr>
              <a:t>"SELECT * FROM v_txns "</a:t>
            </a:r>
          </a:p>
          <a:p>
            <a:pPr>
              <a:lnSpc>
                <a:spcPct val="116000"/>
              </a:lnSpc>
              <a:spcAft>
                <a:spcPts val="0"/>
              </a:spcAft>
            </a:pPr>
            <a:r>
              <a:rPr sz="1500" b="0" i="0">
                <a:solidFill>
                  <a:srgbClr val="242C38"/>
                </a:solidFill>
                <a:latin typeface="Consolas"/>
              </a:rPr>
              <a:t>    </a:t>
            </a:r>
            <a:r>
              <a:rPr sz="1500" b="0" i="0">
                <a:solidFill>
                  <a:srgbClr val="A31515"/>
                </a:solidFill>
                <a:latin typeface="Consolas"/>
              </a:rPr>
              <a:t>"WHERE channel = :ch AND amount &gt; :min_amount"</a:t>
            </a:r>
            <a:r>
              <a:rPr sz="1500" b="0" i="0">
                <a:solidFill>
                  <a:srgbClr val="242C38"/>
                </a:solidFill>
                <a:latin typeface="Consolas"/>
              </a:rPr>
              <a:t>,</a:t>
            </a:r>
          </a:p>
          <a:p>
            <a:pPr>
              <a:lnSpc>
                <a:spcPct val="116000"/>
              </a:lnSpc>
              <a:spcAft>
                <a:spcPts val="0"/>
              </a:spcAft>
            </a:pPr>
            <a:r>
              <a:rPr sz="1500" b="0" i="0">
                <a:solidFill>
                  <a:srgbClr val="242C38"/>
                </a:solidFill>
                <a:latin typeface="Consolas"/>
              </a:rPr>
              <a:t>    ch=</a:t>
            </a:r>
            <a:r>
              <a:rPr sz="1500" b="0" i="0">
                <a:solidFill>
                  <a:srgbClr val="A31515"/>
                </a:solidFill>
                <a:latin typeface="Consolas"/>
              </a:rPr>
              <a:t>"UPI"</a:t>
            </a:r>
            <a:r>
              <a:rPr sz="1500" b="0" i="0">
                <a:solidFill>
                  <a:srgbClr val="242C38"/>
                </a:solidFill>
                <a:latin typeface="Consolas"/>
              </a:rPr>
              <a:t>, min_amount=</a:t>
            </a:r>
            <a:r>
              <a:rPr sz="1500" b="0" i="0">
                <a:solidFill>
                  <a:srgbClr val="098658"/>
                </a:solidFill>
                <a:latin typeface="Consolas"/>
              </a:rPr>
              <a:t>50000</a:t>
            </a:r>
          </a:p>
          <a:p>
            <a:pPr>
              <a:lnSpc>
                <a:spcPct val="116000"/>
              </a:lnSpc>
              <a:spcAft>
                <a:spcPts val="0"/>
              </a:spcAft>
            </a:pPr>
            <a:r>
              <a:rPr sz="1500" b="0" i="0">
                <a:solidFill>
                  <a:srgbClr val="242C38"/>
                </a:solidFill>
                <a:latin typeface="Consolas"/>
              </a:rPr>
              <a:t>).show(</a:t>
            </a:r>
            <a:r>
              <a:rPr sz="1500" b="0" i="0">
                <a:solidFill>
                  <a:srgbClr val="098658"/>
                </a:solidFill>
                <a:latin typeface="Consolas"/>
              </a:rPr>
              <a:t>5</a:t>
            </a:r>
            <a:r>
              <a:rPr sz="1500" b="0" i="0">
                <a:solidFill>
                  <a:srgbClr val="242C38"/>
                </a:solidFill>
                <a:latin typeface="Consolas"/>
              </a:rPr>
              <a:t>)</a:t>
            </a:r>
          </a:p>
        </p:txBody>
      </p:sp>
      <p:sp>
        <p:nvSpPr>
          <p:cNvPr id="7" name="TextBox 6"/>
          <p:cNvSpPr txBox="1"/>
          <p:nvPr/>
        </p:nvSpPr>
        <p:spPr>
          <a:xfrm>
            <a:off x="658368" y="3496056"/>
            <a:ext cx="10874959" cy="457200"/>
          </a:xfrm>
          <a:prstGeom prst="rect">
            <a:avLst/>
          </a:prstGeom>
          <a:noFill/>
        </p:spPr>
        <p:txBody>
          <a:bodyPr wrap="square" lIns="0" tIns="0" rIns="0" bIns="0">
            <a:spAutoFit/>
          </a:bodyPr>
          <a:lstStyle/>
          <a:p>
            <a:r>
              <a:rPr sz="1400" b="0" i="0">
                <a:solidFill>
                  <a:srgbClr val="5B6775"/>
                </a:solidFill>
                <a:latin typeface="Segoe UI"/>
              </a:rPr>
              <a:t>Reserve f-strings for values your own pipeline code controls, like a partition date.</a:t>
            </a:r>
          </a:p>
        </p:txBody>
      </p:sp>
      <p:sp>
        <p:nvSpPr>
          <p:cNvPr id="8" name="Rectangle 7"/>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09  ·  SQL, Python and Spark</a:t>
            </a:r>
          </a:p>
        </p:txBody>
      </p:sp>
      <p:sp>
        <p:nvSpPr>
          <p:cNvPr id="10" name="TextBox 9"/>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96</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Quick reference for Teradata and Oracle users</a:t>
            </a:r>
          </a:p>
        </p:txBody>
      </p:sp>
      <p:graphicFrame>
        <p:nvGraphicFramePr>
          <p:cNvPr id="4" name="Table 3"/>
          <p:cNvGraphicFramePr>
            <a:graphicFrameLocks noGrp="1"/>
          </p:cNvGraphicFramePr>
          <p:nvPr/>
        </p:nvGraphicFramePr>
        <p:xfrm>
          <a:off x="658368" y="1481328"/>
          <a:ext cx="10874958" cy="2304288"/>
        </p:xfrm>
        <a:graphic>
          <a:graphicData uri="http://schemas.openxmlformats.org/drawingml/2006/table">
            <a:tbl>
              <a:tblPr firstRow="1" bandRow="1">
                <a:tableStyleId>{5C22544A-7EE6-4342-B048-85BDC9FD1C3A}</a:tableStyleId>
              </a:tblPr>
              <a:tblGrid>
                <a:gridCol w="5437479">
                  <a:extLst>
                    <a:ext uri="{9D8B030D-6E8A-4147-A177-3AD203B41FA5}">
                      <a16:colId xmlns:a16="http://schemas.microsoft.com/office/drawing/2014/main" val="20000"/>
                    </a:ext>
                  </a:extLst>
                </a:gridCol>
                <a:gridCol w="5437479">
                  <a:extLst>
                    <a:ext uri="{9D8B030D-6E8A-4147-A177-3AD203B41FA5}">
                      <a16:colId xmlns:a16="http://schemas.microsoft.com/office/drawing/2014/main" val="20001"/>
                    </a:ext>
                  </a:extLst>
                </a:gridCol>
              </a:tblGrid>
              <a:tr h="402336">
                <a:tc>
                  <a:txBody>
                    <a:bodyPr/>
                    <a:lstStyle/>
                    <a:p>
                      <a:r>
                        <a:rPr sz="1450" b="1" i="0">
                          <a:solidFill>
                            <a:srgbClr val="FFFFFF"/>
                          </a:solidFill>
                          <a:latin typeface="Segoe UI Semibold"/>
                        </a:rPr>
                        <a:t>In Teradata or Oracle</a:t>
                      </a:r>
                    </a:p>
                  </a:txBody>
                  <a:tcPr anchor="ctr">
                    <a:solidFill>
                      <a:srgbClr val="1F4E79"/>
                    </a:solidFill>
                  </a:tcPr>
                </a:tc>
                <a:tc>
                  <a:txBody>
                    <a:bodyPr/>
                    <a:lstStyle/>
                    <a:p>
                      <a:r>
                        <a:rPr sz="1450" b="1" i="0">
                          <a:solidFill>
                            <a:srgbClr val="FFFFFF"/>
                          </a:solidFill>
                          <a:latin typeface="Segoe UI Semibold"/>
                        </a:rPr>
                        <a:t>In Spark SQL</a:t>
                      </a:r>
                    </a:p>
                  </a:txBody>
                  <a:tcPr anchor="ctr">
                    <a:solidFill>
                      <a:srgbClr val="1F4E79"/>
                    </a:solidFill>
                  </a:tcPr>
                </a:tc>
                <a:extLst>
                  <a:ext uri="{0D108BD9-81ED-4DB2-BD59-A6C34878D82A}">
                    <a16:rowId xmlns:a16="http://schemas.microsoft.com/office/drawing/2014/main" val="10000"/>
                  </a:ext>
                </a:extLst>
              </a:tr>
              <a:tr h="475488">
                <a:tc>
                  <a:txBody>
                    <a:bodyPr/>
                    <a:lstStyle/>
                    <a:p>
                      <a:pPr>
                        <a:lnSpc>
                          <a:spcPct val="106000"/>
                        </a:lnSpc>
                      </a:pPr>
                      <a:r>
                        <a:rPr sz="1350" b="0" i="0">
                          <a:solidFill>
                            <a:srgbClr val="2E74B5"/>
                          </a:solidFill>
                          <a:latin typeface="Consolas"/>
                        </a:rPr>
                        <a:t>QUALIFY row_number() OVER (...) = 1</a:t>
                      </a:r>
                    </a:p>
                  </a:txBody>
                  <a:tcPr marT="36576" marB="36576" anchor="ctr">
                    <a:solidFill>
                      <a:srgbClr val="EEF3F8"/>
                    </a:solidFill>
                  </a:tcPr>
                </a:tc>
                <a:tc>
                  <a:txBody>
                    <a:bodyPr/>
                    <a:lstStyle/>
                    <a:p>
                      <a:pPr>
                        <a:lnSpc>
                          <a:spcPct val="106000"/>
                        </a:lnSpc>
                      </a:pPr>
                      <a:r>
                        <a:rPr sz="1400" b="0" i="0">
                          <a:solidFill>
                            <a:srgbClr val="242C38"/>
                          </a:solidFill>
                          <a:latin typeface="Segoe UI"/>
                        </a:rPr>
                        <a:t>subquery, </a:t>
                      </a:r>
                      <a:r>
                        <a:rPr sz="1350" b="0" i="0">
                          <a:solidFill>
                            <a:srgbClr val="2E74B5"/>
                          </a:solidFill>
                          <a:latin typeface="Consolas"/>
                        </a:rPr>
                        <a:t>WHERE rn = 1</a:t>
                      </a:r>
                      <a:r>
                        <a:rPr sz="1400" b="0" i="0">
                          <a:solidFill>
                            <a:srgbClr val="242C38"/>
                          </a:solidFill>
                          <a:latin typeface="Segoe UI"/>
                        </a:rPr>
                        <a:t> on the outside</a:t>
                      </a:r>
                    </a:p>
                  </a:txBody>
                  <a:tcPr marT="36576" marB="36576" anchor="ctr">
                    <a:solidFill>
                      <a:srgbClr val="EEF3F8"/>
                    </a:solidFill>
                  </a:tcPr>
                </a:tc>
                <a:extLst>
                  <a:ext uri="{0D108BD9-81ED-4DB2-BD59-A6C34878D82A}">
                    <a16:rowId xmlns:a16="http://schemas.microsoft.com/office/drawing/2014/main" val="10001"/>
                  </a:ext>
                </a:extLst>
              </a:tr>
              <a:tr h="475488">
                <a:tc>
                  <a:txBody>
                    <a:bodyPr/>
                    <a:lstStyle/>
                    <a:p>
                      <a:pPr>
                        <a:lnSpc>
                          <a:spcPct val="106000"/>
                        </a:lnSpc>
                      </a:pPr>
                      <a:r>
                        <a:rPr sz="1350" b="0" i="0">
                          <a:solidFill>
                            <a:srgbClr val="2E74B5"/>
                          </a:solidFill>
                          <a:latin typeface="Consolas"/>
                        </a:rPr>
                        <a:t>SEL TOP 10 * FROM t</a:t>
                      </a:r>
                    </a:p>
                  </a:txBody>
                  <a:tcPr marT="36576" marB="36576" anchor="ctr">
                    <a:solidFill>
                      <a:srgbClr val="FFFFFF"/>
                    </a:solidFill>
                  </a:tcPr>
                </a:tc>
                <a:tc>
                  <a:txBody>
                    <a:bodyPr/>
                    <a:lstStyle/>
                    <a:p>
                      <a:pPr>
                        <a:lnSpc>
                          <a:spcPct val="106000"/>
                        </a:lnSpc>
                      </a:pPr>
                      <a:r>
                        <a:rPr sz="1350" b="0" i="0">
                          <a:solidFill>
                            <a:srgbClr val="2E74B5"/>
                          </a:solidFill>
                          <a:latin typeface="Consolas"/>
                        </a:rPr>
                        <a:t>SELECT * FROM t LIMIT 10</a:t>
                      </a:r>
                    </a:p>
                  </a:txBody>
                  <a:tcPr marT="36576" marB="36576" anchor="ctr">
                    <a:solidFill>
                      <a:srgbClr val="FFFFFF"/>
                    </a:solidFill>
                  </a:tcPr>
                </a:tc>
                <a:extLst>
                  <a:ext uri="{0D108BD9-81ED-4DB2-BD59-A6C34878D82A}">
                    <a16:rowId xmlns:a16="http://schemas.microsoft.com/office/drawing/2014/main" val="10002"/>
                  </a:ext>
                </a:extLst>
              </a:tr>
              <a:tr h="475488">
                <a:tc>
                  <a:txBody>
                    <a:bodyPr/>
                    <a:lstStyle/>
                    <a:p>
                      <a:pPr>
                        <a:lnSpc>
                          <a:spcPct val="106000"/>
                        </a:lnSpc>
                      </a:pPr>
                      <a:r>
                        <a:rPr sz="1350" b="0" i="0">
                          <a:solidFill>
                            <a:srgbClr val="2E74B5"/>
                          </a:solidFill>
                          <a:latin typeface="Consolas"/>
                        </a:rPr>
                        <a:t>NVL(col, default)</a:t>
                      </a:r>
                    </a:p>
                  </a:txBody>
                  <a:tcPr marT="36576" marB="36576" anchor="ctr">
                    <a:solidFill>
                      <a:srgbClr val="EEF3F8"/>
                    </a:solidFill>
                  </a:tcPr>
                </a:tc>
                <a:tc>
                  <a:txBody>
                    <a:bodyPr/>
                    <a:lstStyle/>
                    <a:p>
                      <a:pPr>
                        <a:lnSpc>
                          <a:spcPct val="106000"/>
                        </a:lnSpc>
                      </a:pPr>
                      <a:r>
                        <a:rPr sz="1350" b="0" i="0">
                          <a:solidFill>
                            <a:srgbClr val="2E74B5"/>
                          </a:solidFill>
                          <a:latin typeface="Consolas"/>
                        </a:rPr>
                        <a:t>COALESCE(col, default)</a:t>
                      </a:r>
                    </a:p>
                  </a:txBody>
                  <a:tcPr marT="36576" marB="36576" anchor="ctr">
                    <a:solidFill>
                      <a:srgbClr val="EEF3F8"/>
                    </a:solidFill>
                  </a:tcPr>
                </a:tc>
                <a:extLst>
                  <a:ext uri="{0D108BD9-81ED-4DB2-BD59-A6C34878D82A}">
                    <a16:rowId xmlns:a16="http://schemas.microsoft.com/office/drawing/2014/main" val="10003"/>
                  </a:ext>
                </a:extLst>
              </a:tr>
              <a:tr h="475488">
                <a:tc>
                  <a:txBody>
                    <a:bodyPr/>
                    <a:lstStyle/>
                    <a:p>
                      <a:pPr>
                        <a:lnSpc>
                          <a:spcPct val="106000"/>
                        </a:lnSpc>
                      </a:pPr>
                      <a:r>
                        <a:rPr sz="1350" b="0" i="0">
                          <a:solidFill>
                            <a:srgbClr val="2E74B5"/>
                          </a:solidFill>
                          <a:latin typeface="Consolas"/>
                        </a:rPr>
                        <a:t>SYSDATE</a:t>
                      </a:r>
                    </a:p>
                  </a:txBody>
                  <a:tcPr marT="36576" marB="36576" anchor="ctr">
                    <a:solidFill>
                      <a:srgbClr val="FFFFFF"/>
                    </a:solidFill>
                  </a:tcPr>
                </a:tc>
                <a:tc>
                  <a:txBody>
                    <a:bodyPr/>
                    <a:lstStyle/>
                    <a:p>
                      <a:pPr>
                        <a:lnSpc>
                          <a:spcPct val="106000"/>
                        </a:lnSpc>
                      </a:pPr>
                      <a:r>
                        <a:rPr sz="1350" b="0" i="0">
                          <a:solidFill>
                            <a:srgbClr val="2E74B5"/>
                          </a:solidFill>
                          <a:latin typeface="Consolas"/>
                        </a:rPr>
                        <a:t>current_date()</a:t>
                      </a:r>
                      <a:r>
                        <a:rPr sz="1400" b="0" i="0">
                          <a:solidFill>
                            <a:srgbClr val="242C38"/>
                          </a:solidFill>
                          <a:latin typeface="Segoe UI"/>
                        </a:rPr>
                        <a:t> or </a:t>
                      </a:r>
                      <a:r>
                        <a:rPr sz="1350" b="0" i="0">
                          <a:solidFill>
                            <a:srgbClr val="2E74B5"/>
                          </a:solidFill>
                          <a:latin typeface="Consolas"/>
                        </a:rPr>
                        <a:t>current_timestamp()</a:t>
                      </a:r>
                    </a:p>
                  </a:txBody>
                  <a:tcPr marT="36576" marB="36576" anchor="ctr">
                    <a:solidFill>
                      <a:srgbClr val="FFFFFF"/>
                    </a:solidFill>
                  </a:tcPr>
                </a:tc>
                <a:extLst>
                  <a:ext uri="{0D108BD9-81ED-4DB2-BD59-A6C34878D82A}">
                    <a16:rowId xmlns:a16="http://schemas.microsoft.com/office/drawing/2014/main" val="10004"/>
                  </a:ext>
                </a:extLst>
              </a:tr>
            </a:tbl>
          </a:graphicData>
        </a:graphic>
      </p:graphicFrame>
      <p:sp>
        <p:nvSpPr>
          <p:cNvPr id="5" name="Rectangle 4"/>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09  ·  SQL, Python and Spark</a:t>
            </a:r>
          </a:p>
        </p:txBody>
      </p:sp>
      <p:sp>
        <p:nvSpPr>
          <p:cNvPr id="7" name="TextBox 6"/>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97</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Module 09 in one screen</a:t>
            </a:r>
          </a:p>
        </p:txBody>
      </p:sp>
      <p:sp>
        <p:nvSpPr>
          <p:cNvPr id="4" name="TextBox 3"/>
          <p:cNvSpPr txBox="1"/>
          <p:nvPr/>
        </p:nvSpPr>
        <p:spPr>
          <a:xfrm>
            <a:off x="658368" y="1481328"/>
            <a:ext cx="10874959" cy="4526280"/>
          </a:xfrm>
          <a:prstGeom prst="rect">
            <a:avLst/>
          </a:prstGeom>
          <a:noFill/>
        </p:spPr>
        <p:txBody>
          <a:bodyPr wrap="square" lIns="0" tIns="0" rIns="0" bIns="0">
            <a:spAutoFit/>
          </a:bodyPr>
          <a:lstStyle/>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DataFrame API and SQL compile to the same plan, pick by team style</a:t>
            </a:r>
          </a:p>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DROP TABLE on a managed table deletes data, on external only metadata</a:t>
            </a:r>
          </a:p>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Open source Spark SQL has no QUALIFY, wrap the window in a subquery</a:t>
            </a:r>
          </a:p>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NULL = NULL is never TRUE, always use IS NULL to test for it</a:t>
            </a:r>
          </a:p>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ANSI mode changes whether a bad expression errors or quietly returns NULL</a:t>
            </a:r>
          </a:p>
        </p:txBody>
      </p:sp>
      <p:sp>
        <p:nvSpPr>
          <p:cNvPr id="5" name="Rectangle 4"/>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09  ·  SQL, Python and Spark</a:t>
            </a:r>
          </a:p>
        </p:txBody>
      </p:sp>
      <p:sp>
        <p:nvSpPr>
          <p:cNvPr id="7" name="TextBox 6"/>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98</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858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51560" y="2057400"/>
            <a:ext cx="9692640" cy="457200"/>
          </a:xfrm>
          <a:prstGeom prst="rect">
            <a:avLst/>
          </a:prstGeom>
          <a:noFill/>
        </p:spPr>
        <p:txBody>
          <a:bodyPr wrap="square" lIns="0" tIns="0" rIns="0" bIns="0">
            <a:spAutoFit/>
          </a:bodyPr>
          <a:lstStyle/>
          <a:p>
            <a:r>
              <a:rPr sz="1300" b="1" i="0">
                <a:solidFill>
                  <a:srgbClr val="2E74B5"/>
                </a:solidFill>
                <a:latin typeface="Segoe UI Semibold"/>
              </a:rPr>
              <a:t>MODULE 10</a:t>
            </a:r>
          </a:p>
        </p:txBody>
      </p:sp>
      <p:sp>
        <p:nvSpPr>
          <p:cNvPr id="5" name="TextBox 4"/>
          <p:cNvSpPr txBox="1"/>
          <p:nvPr/>
        </p:nvSpPr>
        <p:spPr>
          <a:xfrm>
            <a:off x="1051560" y="2578608"/>
            <a:ext cx="9692640" cy="1371600"/>
          </a:xfrm>
          <a:prstGeom prst="rect">
            <a:avLst/>
          </a:prstGeom>
          <a:noFill/>
        </p:spPr>
        <p:txBody>
          <a:bodyPr wrap="square" lIns="0" tIns="0" rIns="0" bIns="0">
            <a:spAutoFit/>
          </a:bodyPr>
          <a:lstStyle/>
          <a:p>
            <a:pPr>
              <a:lnSpc>
                <a:spcPct val="95000"/>
              </a:lnSpc>
            </a:pPr>
            <a:r>
              <a:rPr sz="4200" b="1" i="0">
                <a:solidFill>
                  <a:srgbClr val="1F4E79"/>
                </a:solidFill>
                <a:latin typeface="Segoe UI Semibold"/>
              </a:rPr>
              <a:t>Window functions</a:t>
            </a:r>
          </a:p>
        </p:txBody>
      </p:sp>
      <p:sp>
        <p:nvSpPr>
          <p:cNvPr id="6" name="TextBox 5"/>
          <p:cNvSpPr txBox="1"/>
          <p:nvPr/>
        </p:nvSpPr>
        <p:spPr>
          <a:xfrm>
            <a:off x="1051560" y="3950208"/>
            <a:ext cx="8778240" cy="822960"/>
          </a:xfrm>
          <a:prstGeom prst="rect">
            <a:avLst/>
          </a:prstGeom>
          <a:noFill/>
        </p:spPr>
        <p:txBody>
          <a:bodyPr wrap="square" lIns="0" tIns="0" rIns="0" bIns="0">
            <a:spAutoFit/>
          </a:bodyPr>
          <a:lstStyle/>
          <a:p>
            <a:pPr>
              <a:lnSpc>
                <a:spcPct val="115000"/>
              </a:lnSpc>
            </a:pPr>
            <a:r>
              <a:rPr sz="1700" b="0" i="0">
                <a:solidFill>
                  <a:srgbClr val="5B6775"/>
                </a:solidFill>
                <a:latin typeface="Segoe UI"/>
              </a:rPr>
              <a:t>The default frame trap, and five real banking problems windows solve</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58368" y="2148840"/>
            <a:ext cx="82296" cy="219456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42416" y="2084831"/>
            <a:ext cx="9777679" cy="1828800"/>
          </a:xfrm>
          <a:prstGeom prst="rect">
            <a:avLst/>
          </a:prstGeom>
          <a:noFill/>
        </p:spPr>
        <p:txBody>
          <a:bodyPr wrap="square" lIns="0" tIns="0" rIns="0" bIns="0">
            <a:spAutoFit/>
          </a:bodyPr>
          <a:lstStyle/>
          <a:p>
            <a:pPr>
              <a:lnSpc>
                <a:spcPct val="112000"/>
              </a:lnSpc>
            </a:pPr>
            <a:r>
              <a:rPr sz="3000" b="1" i="0">
                <a:solidFill>
                  <a:srgbClr val="1F4E79"/>
                </a:solidFill>
                <a:latin typeface="Segoe UI Semibold"/>
              </a:rPr>
              <a:t>Adding ORDER BY silently changes what a window function means.</a:t>
            </a:r>
          </a:p>
        </p:txBody>
      </p:sp>
      <p:sp>
        <p:nvSpPr>
          <p:cNvPr id="5" name="TextBox 4"/>
          <p:cNvSpPr txBox="1"/>
          <p:nvPr/>
        </p:nvSpPr>
        <p:spPr>
          <a:xfrm>
            <a:off x="1042416" y="4041648"/>
            <a:ext cx="9411919" cy="1005840"/>
          </a:xfrm>
          <a:prstGeom prst="rect">
            <a:avLst/>
          </a:prstGeom>
          <a:noFill/>
        </p:spPr>
        <p:txBody>
          <a:bodyPr wrap="square" lIns="0" tIns="0" rIns="0" bIns="0">
            <a:spAutoFit/>
          </a:bodyPr>
          <a:lstStyle/>
          <a:p>
            <a:pPr>
              <a:lnSpc>
                <a:spcPct val="120000"/>
              </a:lnSpc>
            </a:pPr>
            <a:r>
              <a:rPr sz="1700" b="0" i="0">
                <a:solidFill>
                  <a:srgbClr val="5B6775"/>
                </a:solidFill>
                <a:latin typeface="Segoe UI"/>
              </a:rPr>
              <a:t>This is the single most common window function mistake, and it is silent: no error, no warning, just a wrong number. This module is built around not making it.</a:t>
            </a:r>
          </a:p>
        </p:txBody>
      </p:sp>
      <p:sp>
        <p:nvSpPr>
          <p:cNvPr id="6" name="Rectangle 5"/>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10  ·  Window functions</a:t>
            </a:r>
          </a:p>
        </p:txBody>
      </p:sp>
      <p:sp>
        <p:nvSpPr>
          <p:cNvPr id="8" name="TextBox 7"/>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99</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A window spec has three parts</a:t>
            </a:r>
          </a:p>
        </p:txBody>
      </p:sp>
      <p:graphicFrame>
        <p:nvGraphicFramePr>
          <p:cNvPr id="4" name="Table 3"/>
          <p:cNvGraphicFramePr>
            <a:graphicFrameLocks noGrp="1"/>
          </p:cNvGraphicFramePr>
          <p:nvPr/>
        </p:nvGraphicFramePr>
        <p:xfrm>
          <a:off x="658368" y="1481328"/>
          <a:ext cx="10874958" cy="1828800"/>
        </p:xfrm>
        <a:graphic>
          <a:graphicData uri="http://schemas.openxmlformats.org/drawingml/2006/table">
            <a:tbl>
              <a:tblPr firstRow="1" bandRow="1">
                <a:tableStyleId>{5C22544A-7EE6-4342-B048-85BDC9FD1C3A}</a:tableStyleId>
              </a:tblPr>
              <a:tblGrid>
                <a:gridCol w="4158072">
                  <a:extLst>
                    <a:ext uri="{9D8B030D-6E8A-4147-A177-3AD203B41FA5}">
                      <a16:colId xmlns:a16="http://schemas.microsoft.com/office/drawing/2014/main" val="20000"/>
                    </a:ext>
                  </a:extLst>
                </a:gridCol>
                <a:gridCol w="6716886">
                  <a:extLst>
                    <a:ext uri="{9D8B030D-6E8A-4147-A177-3AD203B41FA5}">
                      <a16:colId xmlns:a16="http://schemas.microsoft.com/office/drawing/2014/main" val="20001"/>
                    </a:ext>
                  </a:extLst>
                </a:gridCol>
              </a:tblGrid>
              <a:tr h="402336">
                <a:tc>
                  <a:txBody>
                    <a:bodyPr/>
                    <a:lstStyle/>
                    <a:p>
                      <a:r>
                        <a:rPr sz="1450" b="1" i="0">
                          <a:solidFill>
                            <a:srgbClr val="FFFFFF"/>
                          </a:solidFill>
                          <a:latin typeface="Segoe UI Semibold"/>
                        </a:rPr>
                        <a:t>Part</a:t>
                      </a:r>
                    </a:p>
                  </a:txBody>
                  <a:tcPr anchor="ctr">
                    <a:solidFill>
                      <a:srgbClr val="1F4E79"/>
                    </a:solidFill>
                  </a:tcPr>
                </a:tc>
                <a:tc>
                  <a:txBody>
                    <a:bodyPr/>
                    <a:lstStyle/>
                    <a:p>
                      <a:r>
                        <a:rPr sz="1450" b="1" i="0">
                          <a:solidFill>
                            <a:srgbClr val="FFFFFF"/>
                          </a:solidFill>
                          <a:latin typeface="Segoe UI Semibold"/>
                        </a:rPr>
                        <a:t>Answers</a:t>
                      </a:r>
                    </a:p>
                  </a:txBody>
                  <a:tcPr anchor="ctr">
                    <a:solidFill>
                      <a:srgbClr val="1F4E79"/>
                    </a:solidFill>
                  </a:tcPr>
                </a:tc>
                <a:extLst>
                  <a:ext uri="{0D108BD9-81ED-4DB2-BD59-A6C34878D82A}">
                    <a16:rowId xmlns:a16="http://schemas.microsoft.com/office/drawing/2014/main" val="10000"/>
                  </a:ext>
                </a:extLst>
              </a:tr>
              <a:tr h="475488">
                <a:tc>
                  <a:txBody>
                    <a:bodyPr/>
                    <a:lstStyle/>
                    <a:p>
                      <a:pPr>
                        <a:lnSpc>
                          <a:spcPct val="106000"/>
                        </a:lnSpc>
                      </a:pPr>
                      <a:r>
                        <a:rPr sz="1350" b="0" i="0">
                          <a:solidFill>
                            <a:srgbClr val="2E74B5"/>
                          </a:solidFill>
                          <a:latin typeface="Consolas"/>
                        </a:rPr>
                        <a:t>PARTITION BY</a:t>
                      </a:r>
                    </a:p>
                  </a:txBody>
                  <a:tcPr marT="36576" marB="36576" anchor="ctr">
                    <a:solidFill>
                      <a:srgbClr val="EEF3F8"/>
                    </a:solidFill>
                  </a:tcPr>
                </a:tc>
                <a:tc>
                  <a:txBody>
                    <a:bodyPr/>
                    <a:lstStyle/>
                    <a:p>
                      <a:pPr>
                        <a:lnSpc>
                          <a:spcPct val="106000"/>
                        </a:lnSpc>
                      </a:pPr>
                      <a:r>
                        <a:rPr sz="1400" b="0" i="0">
                          <a:solidFill>
                            <a:srgbClr val="242C38"/>
                          </a:solidFill>
                          <a:latin typeface="Segoe UI"/>
                        </a:rPr>
                        <a:t>which rows see each other</a:t>
                      </a:r>
                    </a:p>
                  </a:txBody>
                  <a:tcPr marT="36576" marB="36576" anchor="ctr">
                    <a:solidFill>
                      <a:srgbClr val="EEF3F8"/>
                    </a:solidFill>
                  </a:tcPr>
                </a:tc>
                <a:extLst>
                  <a:ext uri="{0D108BD9-81ED-4DB2-BD59-A6C34878D82A}">
                    <a16:rowId xmlns:a16="http://schemas.microsoft.com/office/drawing/2014/main" val="10001"/>
                  </a:ext>
                </a:extLst>
              </a:tr>
              <a:tr h="475488">
                <a:tc>
                  <a:txBody>
                    <a:bodyPr/>
                    <a:lstStyle/>
                    <a:p>
                      <a:pPr>
                        <a:lnSpc>
                          <a:spcPct val="106000"/>
                        </a:lnSpc>
                      </a:pPr>
                      <a:r>
                        <a:rPr sz="1350" b="0" i="0">
                          <a:solidFill>
                            <a:srgbClr val="2E74B5"/>
                          </a:solidFill>
                          <a:latin typeface="Consolas"/>
                        </a:rPr>
                        <a:t>ORDER BY</a:t>
                      </a:r>
                    </a:p>
                  </a:txBody>
                  <a:tcPr marT="36576" marB="36576" anchor="ctr">
                    <a:solidFill>
                      <a:srgbClr val="FFFFFF"/>
                    </a:solidFill>
                  </a:tcPr>
                </a:tc>
                <a:tc>
                  <a:txBody>
                    <a:bodyPr/>
                    <a:lstStyle/>
                    <a:p>
                      <a:pPr>
                        <a:lnSpc>
                          <a:spcPct val="106000"/>
                        </a:lnSpc>
                      </a:pPr>
                      <a:r>
                        <a:rPr sz="1400" b="0" i="0">
                          <a:solidFill>
                            <a:srgbClr val="242C38"/>
                          </a:solidFill>
                          <a:latin typeface="Segoe UI"/>
                        </a:rPr>
                        <a:t>what order they're processed in</a:t>
                      </a:r>
                    </a:p>
                  </a:txBody>
                  <a:tcPr marT="36576" marB="36576" anchor="ctr">
                    <a:solidFill>
                      <a:srgbClr val="FFFFFF"/>
                    </a:solidFill>
                  </a:tcPr>
                </a:tc>
                <a:extLst>
                  <a:ext uri="{0D108BD9-81ED-4DB2-BD59-A6C34878D82A}">
                    <a16:rowId xmlns:a16="http://schemas.microsoft.com/office/drawing/2014/main" val="10002"/>
                  </a:ext>
                </a:extLst>
              </a:tr>
              <a:tr h="475488">
                <a:tc>
                  <a:txBody>
                    <a:bodyPr/>
                    <a:lstStyle/>
                    <a:p>
                      <a:pPr>
                        <a:lnSpc>
                          <a:spcPct val="106000"/>
                        </a:lnSpc>
                      </a:pPr>
                      <a:r>
                        <a:rPr sz="1400" b="1" i="0">
                          <a:solidFill>
                            <a:srgbClr val="242C38"/>
                          </a:solidFill>
                          <a:latin typeface="Segoe UI"/>
                        </a:rPr>
                        <a:t>FRAME</a:t>
                      </a:r>
                    </a:p>
                  </a:txBody>
                  <a:tcPr marT="36576" marB="36576" anchor="ctr">
                    <a:solidFill>
                      <a:srgbClr val="EEF3F8"/>
                    </a:solidFill>
                  </a:tcPr>
                </a:tc>
                <a:tc>
                  <a:txBody>
                    <a:bodyPr/>
                    <a:lstStyle/>
                    <a:p>
                      <a:pPr>
                        <a:lnSpc>
                          <a:spcPct val="106000"/>
                        </a:lnSpc>
                      </a:pPr>
                      <a:r>
                        <a:rPr sz="1400" b="0" i="0">
                          <a:solidFill>
                            <a:srgbClr val="242C38"/>
                          </a:solidFill>
                          <a:latin typeface="Segoe UI"/>
                        </a:rPr>
                        <a:t>how far back and forward the current row looks</a:t>
                      </a:r>
                    </a:p>
                  </a:txBody>
                  <a:tcPr marT="36576" marB="36576" anchor="ctr">
                    <a:solidFill>
                      <a:srgbClr val="EEF3F8"/>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658368" y="5724144"/>
            <a:ext cx="10874959" cy="502920"/>
          </a:xfrm>
          <a:prstGeom prst="rect">
            <a:avLst/>
          </a:prstGeom>
          <a:noFill/>
        </p:spPr>
        <p:txBody>
          <a:bodyPr wrap="square" lIns="0" tIns="0" rIns="0" bIns="0">
            <a:spAutoFit/>
          </a:bodyPr>
          <a:lstStyle/>
          <a:p>
            <a:r>
              <a:rPr sz="1300" b="0" i="1">
                <a:solidFill>
                  <a:srgbClr val="5B6775"/>
                </a:solidFill>
                <a:latin typeface="Segoe UI"/>
              </a:rPr>
              <a:t>Spark picks a default frame you did not ask for the moment ORDER BY appears.</a:t>
            </a:r>
          </a:p>
        </p:txBody>
      </p:sp>
      <p:sp>
        <p:nvSpPr>
          <p:cNvPr id="6" name="Rectangle 5"/>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10  ·  Window functions</a:t>
            </a:r>
          </a:p>
        </p:txBody>
      </p:sp>
      <p:sp>
        <p:nvSpPr>
          <p:cNvPr id="8" name="TextBox 7"/>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100</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ROWS counts position, RANGE counts value</a:t>
            </a:r>
          </a:p>
        </p:txBody>
      </p:sp>
      <p:graphicFrame>
        <p:nvGraphicFramePr>
          <p:cNvPr id="4" name="Table 3"/>
          <p:cNvGraphicFramePr>
            <a:graphicFrameLocks noGrp="1"/>
          </p:cNvGraphicFramePr>
          <p:nvPr/>
        </p:nvGraphicFramePr>
        <p:xfrm>
          <a:off x="658368" y="1481328"/>
          <a:ext cx="10874958" cy="2304288"/>
        </p:xfrm>
        <a:graphic>
          <a:graphicData uri="http://schemas.openxmlformats.org/drawingml/2006/table">
            <a:tbl>
              <a:tblPr firstRow="1" bandRow="1">
                <a:tableStyleId>{5C22544A-7EE6-4342-B048-85BDC9FD1C3A}</a:tableStyleId>
              </a:tblPr>
              <a:tblGrid>
                <a:gridCol w="3624986">
                  <a:extLst>
                    <a:ext uri="{9D8B030D-6E8A-4147-A177-3AD203B41FA5}">
                      <a16:colId xmlns:a16="http://schemas.microsoft.com/office/drawing/2014/main" val="20000"/>
                    </a:ext>
                  </a:extLst>
                </a:gridCol>
                <a:gridCol w="3624986">
                  <a:extLst>
                    <a:ext uri="{9D8B030D-6E8A-4147-A177-3AD203B41FA5}">
                      <a16:colId xmlns:a16="http://schemas.microsoft.com/office/drawing/2014/main" val="20001"/>
                    </a:ext>
                  </a:extLst>
                </a:gridCol>
                <a:gridCol w="3624986">
                  <a:extLst>
                    <a:ext uri="{9D8B030D-6E8A-4147-A177-3AD203B41FA5}">
                      <a16:colId xmlns:a16="http://schemas.microsoft.com/office/drawing/2014/main" val="20002"/>
                    </a:ext>
                  </a:extLst>
                </a:gridCol>
              </a:tblGrid>
              <a:tr h="402336">
                <a:tc>
                  <a:txBody>
                    <a:bodyPr/>
                    <a:lstStyle/>
                    <a:p>
                      <a:r>
                        <a:rPr sz="1450" b="1" i="0">
                          <a:solidFill>
                            <a:srgbClr val="FFFFFF"/>
                          </a:solidFill>
                          <a:latin typeface="Segoe UI Semibold"/>
                        </a:rPr>
                        <a:t>amount</a:t>
                      </a:r>
                    </a:p>
                  </a:txBody>
                  <a:tcPr anchor="ctr">
                    <a:solidFill>
                      <a:srgbClr val="1F4E79"/>
                    </a:solidFill>
                  </a:tcPr>
                </a:tc>
                <a:tc>
                  <a:txBody>
                    <a:bodyPr/>
                    <a:lstStyle/>
                    <a:p>
                      <a:r>
                        <a:rPr sz="1450" b="1" i="0">
                          <a:solidFill>
                            <a:srgbClr val="FFFFFF"/>
                          </a:solidFill>
                          <a:latin typeface="Segoe UI Semibold"/>
                        </a:rPr>
                        <a:t>sum_rows</a:t>
                      </a:r>
                    </a:p>
                  </a:txBody>
                  <a:tcPr anchor="ctr">
                    <a:solidFill>
                      <a:srgbClr val="1F4E79"/>
                    </a:solidFill>
                  </a:tcPr>
                </a:tc>
                <a:tc>
                  <a:txBody>
                    <a:bodyPr/>
                    <a:lstStyle/>
                    <a:p>
                      <a:r>
                        <a:rPr sz="1450" b="1" i="0">
                          <a:solidFill>
                            <a:srgbClr val="FFFFFF"/>
                          </a:solidFill>
                          <a:latin typeface="Segoe UI Semibold"/>
                        </a:rPr>
                        <a:t>sum_range</a:t>
                      </a:r>
                    </a:p>
                  </a:txBody>
                  <a:tcPr anchor="ctr">
                    <a:solidFill>
                      <a:srgbClr val="1F4E79"/>
                    </a:solidFill>
                  </a:tcPr>
                </a:tc>
                <a:extLst>
                  <a:ext uri="{0D108BD9-81ED-4DB2-BD59-A6C34878D82A}">
                    <a16:rowId xmlns:a16="http://schemas.microsoft.com/office/drawing/2014/main" val="10000"/>
                  </a:ext>
                </a:extLst>
              </a:tr>
              <a:tr h="475488">
                <a:tc>
                  <a:txBody>
                    <a:bodyPr/>
                    <a:lstStyle/>
                    <a:p>
                      <a:pPr>
                        <a:lnSpc>
                          <a:spcPct val="106000"/>
                        </a:lnSpc>
                      </a:pPr>
                      <a:r>
                        <a:rPr sz="1400" b="1" i="0">
                          <a:solidFill>
                            <a:srgbClr val="242C38"/>
                          </a:solidFill>
                          <a:latin typeface="Segoe UI"/>
                        </a:rPr>
                        <a:t>100</a:t>
                      </a:r>
                    </a:p>
                  </a:txBody>
                  <a:tcPr marT="36576" marB="36576" anchor="ctr">
                    <a:solidFill>
                      <a:srgbClr val="EEF3F8"/>
                    </a:solidFill>
                  </a:tcPr>
                </a:tc>
                <a:tc>
                  <a:txBody>
                    <a:bodyPr/>
                    <a:lstStyle/>
                    <a:p>
                      <a:pPr>
                        <a:lnSpc>
                          <a:spcPct val="106000"/>
                        </a:lnSpc>
                      </a:pPr>
                      <a:r>
                        <a:rPr sz="1400" b="0" i="0">
                          <a:solidFill>
                            <a:srgbClr val="242C38"/>
                          </a:solidFill>
                          <a:latin typeface="Segoe UI"/>
                        </a:rPr>
                        <a:t>100</a:t>
                      </a:r>
                    </a:p>
                  </a:txBody>
                  <a:tcPr marT="36576" marB="36576" anchor="ctr">
                    <a:solidFill>
                      <a:srgbClr val="EEF3F8"/>
                    </a:solidFill>
                  </a:tcPr>
                </a:tc>
                <a:tc>
                  <a:txBody>
                    <a:bodyPr/>
                    <a:lstStyle/>
                    <a:p>
                      <a:pPr>
                        <a:lnSpc>
                          <a:spcPct val="106000"/>
                        </a:lnSpc>
                      </a:pPr>
                      <a:r>
                        <a:rPr sz="1400" b="0" i="0">
                          <a:solidFill>
                            <a:srgbClr val="242C38"/>
                          </a:solidFill>
                          <a:latin typeface="Segoe UI"/>
                        </a:rPr>
                        <a:t>200</a:t>
                      </a:r>
                    </a:p>
                  </a:txBody>
                  <a:tcPr marT="36576" marB="36576" anchor="ctr">
                    <a:solidFill>
                      <a:srgbClr val="EEF3F8"/>
                    </a:solidFill>
                  </a:tcPr>
                </a:tc>
                <a:extLst>
                  <a:ext uri="{0D108BD9-81ED-4DB2-BD59-A6C34878D82A}">
                    <a16:rowId xmlns:a16="http://schemas.microsoft.com/office/drawing/2014/main" val="10001"/>
                  </a:ext>
                </a:extLst>
              </a:tr>
              <a:tr h="475488">
                <a:tc>
                  <a:txBody>
                    <a:bodyPr/>
                    <a:lstStyle/>
                    <a:p>
                      <a:pPr>
                        <a:lnSpc>
                          <a:spcPct val="106000"/>
                        </a:lnSpc>
                      </a:pPr>
                      <a:r>
                        <a:rPr sz="1400" b="1" i="0">
                          <a:solidFill>
                            <a:srgbClr val="242C38"/>
                          </a:solidFill>
                          <a:latin typeface="Segoe UI"/>
                        </a:rPr>
                        <a:t>100</a:t>
                      </a:r>
                    </a:p>
                  </a:txBody>
                  <a:tcPr marT="36576" marB="36576" anchor="ctr">
                    <a:solidFill>
                      <a:srgbClr val="FFFFFF"/>
                    </a:solidFill>
                  </a:tcPr>
                </a:tc>
                <a:tc>
                  <a:txBody>
                    <a:bodyPr/>
                    <a:lstStyle/>
                    <a:p>
                      <a:pPr>
                        <a:lnSpc>
                          <a:spcPct val="106000"/>
                        </a:lnSpc>
                      </a:pPr>
                      <a:r>
                        <a:rPr sz="1400" b="0" i="0">
                          <a:solidFill>
                            <a:srgbClr val="242C38"/>
                          </a:solidFill>
                          <a:latin typeface="Segoe UI"/>
                        </a:rPr>
                        <a:t>200</a:t>
                      </a:r>
                    </a:p>
                  </a:txBody>
                  <a:tcPr marT="36576" marB="36576" anchor="ctr">
                    <a:solidFill>
                      <a:srgbClr val="FFFFFF"/>
                    </a:solidFill>
                  </a:tcPr>
                </a:tc>
                <a:tc>
                  <a:txBody>
                    <a:bodyPr/>
                    <a:lstStyle/>
                    <a:p>
                      <a:pPr>
                        <a:lnSpc>
                          <a:spcPct val="106000"/>
                        </a:lnSpc>
                      </a:pPr>
                      <a:r>
                        <a:rPr sz="1400" b="0" i="0">
                          <a:solidFill>
                            <a:srgbClr val="242C38"/>
                          </a:solidFill>
                          <a:latin typeface="Segoe UI"/>
                        </a:rPr>
                        <a:t>200</a:t>
                      </a:r>
                    </a:p>
                  </a:txBody>
                  <a:tcPr marT="36576" marB="36576" anchor="ctr">
                    <a:solidFill>
                      <a:srgbClr val="FFFFFF"/>
                    </a:solidFill>
                  </a:tcPr>
                </a:tc>
                <a:extLst>
                  <a:ext uri="{0D108BD9-81ED-4DB2-BD59-A6C34878D82A}">
                    <a16:rowId xmlns:a16="http://schemas.microsoft.com/office/drawing/2014/main" val="10002"/>
                  </a:ext>
                </a:extLst>
              </a:tr>
              <a:tr h="475488">
                <a:tc>
                  <a:txBody>
                    <a:bodyPr/>
                    <a:lstStyle/>
                    <a:p>
                      <a:pPr>
                        <a:lnSpc>
                          <a:spcPct val="106000"/>
                        </a:lnSpc>
                      </a:pPr>
                      <a:r>
                        <a:rPr sz="1400" b="1" i="0">
                          <a:solidFill>
                            <a:srgbClr val="242C38"/>
                          </a:solidFill>
                          <a:latin typeface="Segoe UI"/>
                        </a:rPr>
                        <a:t>200</a:t>
                      </a:r>
                    </a:p>
                  </a:txBody>
                  <a:tcPr marT="36576" marB="36576" anchor="ctr">
                    <a:solidFill>
                      <a:srgbClr val="EEF3F8"/>
                    </a:solidFill>
                  </a:tcPr>
                </a:tc>
                <a:tc>
                  <a:txBody>
                    <a:bodyPr/>
                    <a:lstStyle/>
                    <a:p>
                      <a:pPr>
                        <a:lnSpc>
                          <a:spcPct val="106000"/>
                        </a:lnSpc>
                      </a:pPr>
                      <a:r>
                        <a:rPr sz="1400" b="0" i="0">
                          <a:solidFill>
                            <a:srgbClr val="242C38"/>
                          </a:solidFill>
                          <a:latin typeface="Segoe UI"/>
                        </a:rPr>
                        <a:t>400</a:t>
                      </a:r>
                    </a:p>
                  </a:txBody>
                  <a:tcPr marT="36576" marB="36576" anchor="ctr">
                    <a:solidFill>
                      <a:srgbClr val="EEF3F8"/>
                    </a:solidFill>
                  </a:tcPr>
                </a:tc>
                <a:tc>
                  <a:txBody>
                    <a:bodyPr/>
                    <a:lstStyle/>
                    <a:p>
                      <a:pPr>
                        <a:lnSpc>
                          <a:spcPct val="106000"/>
                        </a:lnSpc>
                      </a:pPr>
                      <a:r>
                        <a:rPr sz="1400" b="0" i="0">
                          <a:solidFill>
                            <a:srgbClr val="242C38"/>
                          </a:solidFill>
                          <a:latin typeface="Segoe UI"/>
                        </a:rPr>
                        <a:t>400</a:t>
                      </a:r>
                    </a:p>
                  </a:txBody>
                  <a:tcPr marT="36576" marB="36576" anchor="ctr">
                    <a:solidFill>
                      <a:srgbClr val="EEF3F8"/>
                    </a:solidFill>
                  </a:tcPr>
                </a:tc>
                <a:extLst>
                  <a:ext uri="{0D108BD9-81ED-4DB2-BD59-A6C34878D82A}">
                    <a16:rowId xmlns:a16="http://schemas.microsoft.com/office/drawing/2014/main" val="10003"/>
                  </a:ext>
                </a:extLst>
              </a:tr>
              <a:tr h="475488">
                <a:tc>
                  <a:txBody>
                    <a:bodyPr/>
                    <a:lstStyle/>
                    <a:p>
                      <a:pPr>
                        <a:lnSpc>
                          <a:spcPct val="106000"/>
                        </a:lnSpc>
                      </a:pPr>
                      <a:r>
                        <a:rPr sz="1400" b="1" i="0">
                          <a:solidFill>
                            <a:srgbClr val="242C38"/>
                          </a:solidFill>
                          <a:latin typeface="Segoe UI"/>
                        </a:rPr>
                        <a:t>300</a:t>
                      </a:r>
                    </a:p>
                  </a:txBody>
                  <a:tcPr marT="36576" marB="36576" anchor="ctr">
                    <a:solidFill>
                      <a:srgbClr val="FFFFFF"/>
                    </a:solidFill>
                  </a:tcPr>
                </a:tc>
                <a:tc>
                  <a:txBody>
                    <a:bodyPr/>
                    <a:lstStyle/>
                    <a:p>
                      <a:pPr>
                        <a:lnSpc>
                          <a:spcPct val="106000"/>
                        </a:lnSpc>
                      </a:pPr>
                      <a:r>
                        <a:rPr sz="1400" b="0" i="0">
                          <a:solidFill>
                            <a:srgbClr val="242C38"/>
                          </a:solidFill>
                          <a:latin typeface="Segoe UI"/>
                        </a:rPr>
                        <a:t>700</a:t>
                      </a:r>
                    </a:p>
                  </a:txBody>
                  <a:tcPr marT="36576" marB="36576" anchor="ctr">
                    <a:solidFill>
                      <a:srgbClr val="FFFFFF"/>
                    </a:solidFill>
                  </a:tcPr>
                </a:tc>
                <a:tc>
                  <a:txBody>
                    <a:bodyPr/>
                    <a:lstStyle/>
                    <a:p>
                      <a:pPr>
                        <a:lnSpc>
                          <a:spcPct val="106000"/>
                        </a:lnSpc>
                      </a:pPr>
                      <a:r>
                        <a:rPr sz="1400" b="0" i="0">
                          <a:solidFill>
                            <a:srgbClr val="242C38"/>
                          </a:solidFill>
                          <a:latin typeface="Segoe UI"/>
                        </a:rPr>
                        <a:t>700</a:t>
                      </a:r>
                    </a:p>
                  </a:txBody>
                  <a:tcPr marT="36576" marB="36576" anchor="ctr">
                    <a:solidFill>
                      <a:srgbClr val="FFFFFF"/>
                    </a:solidFill>
                  </a:tcPr>
                </a:tc>
                <a:extLst>
                  <a:ext uri="{0D108BD9-81ED-4DB2-BD59-A6C34878D82A}">
                    <a16:rowId xmlns:a16="http://schemas.microsoft.com/office/drawing/2014/main" val="10004"/>
                  </a:ext>
                </a:extLst>
              </a:tr>
            </a:tbl>
          </a:graphicData>
        </a:graphic>
      </p:graphicFrame>
      <p:sp>
        <p:nvSpPr>
          <p:cNvPr id="5" name="TextBox 4"/>
          <p:cNvSpPr txBox="1"/>
          <p:nvPr/>
        </p:nvSpPr>
        <p:spPr>
          <a:xfrm>
            <a:off x="658368" y="5724144"/>
            <a:ext cx="10874959" cy="502920"/>
          </a:xfrm>
          <a:prstGeom prst="rect">
            <a:avLst/>
          </a:prstGeom>
          <a:noFill/>
        </p:spPr>
        <p:txBody>
          <a:bodyPr wrap="square" lIns="0" tIns="0" rIns="0" bIns="0">
            <a:spAutoFit/>
          </a:bodyPr>
          <a:lstStyle/>
          <a:p>
            <a:r>
              <a:rPr sz="1300" b="0" i="1">
                <a:solidFill>
                  <a:srgbClr val="5B6775"/>
                </a:solidFill>
                <a:latin typeface="Segoe UI"/>
              </a:rPr>
              <a:t>The tied 100s disagree under ROWS but agree under RANGE, tied values arrive together.</a:t>
            </a:r>
          </a:p>
        </p:txBody>
      </p:sp>
      <p:sp>
        <p:nvSpPr>
          <p:cNvPr id="6" name="Rectangle 5"/>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10  ·  Window functions</a:t>
            </a:r>
          </a:p>
        </p:txBody>
      </p:sp>
      <p:sp>
        <p:nvSpPr>
          <p:cNvPr id="8" name="TextBox 7"/>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101</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The default frame trap</a:t>
            </a:r>
          </a:p>
        </p:txBody>
      </p:sp>
      <p:sp>
        <p:nvSpPr>
          <p:cNvPr id="4" name="Rectangle 3"/>
          <p:cNvSpPr/>
          <p:nvPr/>
        </p:nvSpPr>
        <p:spPr>
          <a:xfrm>
            <a:off x="658368" y="1481328"/>
            <a:ext cx="10874959" cy="2737104"/>
          </a:xfrm>
          <a:prstGeom prst="rect">
            <a:avLst/>
          </a:prstGeom>
          <a:solidFill>
            <a:srgbClr val="F5F7F9"/>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81328"/>
            <a:ext cx="43180" cy="2737104"/>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77824" y="1645920"/>
            <a:ext cx="10509199" cy="2462784"/>
          </a:xfrm>
          <a:prstGeom prst="rect">
            <a:avLst/>
          </a:prstGeom>
          <a:noFill/>
        </p:spPr>
        <p:txBody>
          <a:bodyPr wrap="square" lIns="0" tIns="0" rIns="0" bIns="0">
            <a:spAutoFit/>
          </a:bodyPr>
          <a:lstStyle/>
          <a:p>
            <a:pPr>
              <a:lnSpc>
                <a:spcPct val="116000"/>
              </a:lnSpc>
              <a:spcAft>
                <a:spcPts val="0"/>
              </a:spcAft>
            </a:pPr>
            <a:r>
              <a:rPr sz="1500" b="0" i="0">
                <a:solidFill>
                  <a:srgbClr val="242C38"/>
                </a:solidFill>
                <a:latin typeface="Consolas"/>
              </a:rPr>
              <a:t>w_no_order = Window.partitionBy(</a:t>
            </a:r>
            <a:r>
              <a:rPr sz="1500" b="0" i="0">
                <a:solidFill>
                  <a:srgbClr val="A31515"/>
                </a:solidFill>
                <a:latin typeface="Consolas"/>
              </a:rPr>
              <a:t>"account_id"</a:t>
            </a:r>
            <a:r>
              <a:rPr sz="1500" b="0" i="0">
                <a:solidFill>
                  <a:srgbClr val="242C38"/>
                </a:solidFill>
                <a:latin typeface="Consolas"/>
              </a:rPr>
              <a:t>)</a:t>
            </a:r>
          </a:p>
          <a:p>
            <a:pPr>
              <a:lnSpc>
                <a:spcPct val="116000"/>
              </a:lnSpc>
              <a:spcAft>
                <a:spcPts val="0"/>
              </a:spcAft>
            </a:pPr>
            <a:r>
              <a:rPr sz="1500" b="0" i="0">
                <a:solidFill>
                  <a:srgbClr val="242C38"/>
                </a:solidFill>
                <a:latin typeface="Consolas"/>
              </a:rPr>
              <a:t>w_with_order = Window.partitionBy(</a:t>
            </a:r>
            <a:r>
              <a:rPr sz="1500" b="0" i="0">
                <a:solidFill>
                  <a:srgbClr val="A31515"/>
                </a:solidFill>
                <a:latin typeface="Consolas"/>
              </a:rPr>
              <a:t>"account_id"</a:t>
            </a:r>
            <a:r>
              <a:rPr sz="1500" b="0" i="0">
                <a:solidFill>
                  <a:srgbClr val="242C38"/>
                </a:solidFill>
                <a:latin typeface="Consolas"/>
              </a:rPr>
              <a:t>) \</a:t>
            </a:r>
          </a:p>
          <a:p>
            <a:pPr>
              <a:lnSpc>
                <a:spcPct val="116000"/>
              </a:lnSpc>
              <a:spcAft>
                <a:spcPts val="0"/>
              </a:spcAft>
            </a:pPr>
            <a:r>
              <a:rPr sz="1500" b="0" i="0">
                <a:solidFill>
                  <a:srgbClr val="242C38"/>
                </a:solidFill>
                <a:latin typeface="Consolas"/>
              </a:rPr>
              <a:t>    .orderBy(</a:t>
            </a:r>
            <a:r>
              <a:rPr sz="1500" b="0" i="0">
                <a:solidFill>
                  <a:srgbClr val="A31515"/>
                </a:solidFill>
                <a:latin typeface="Consolas"/>
              </a:rPr>
              <a:t>"txn_ts"</a:t>
            </a:r>
            <a:r>
              <a:rPr sz="1500" b="0" i="0">
                <a:solidFill>
                  <a:srgbClr val="242C38"/>
                </a:solidFill>
                <a:latin typeface="Consolas"/>
              </a:rPr>
              <a:t>)</a:t>
            </a:r>
          </a:p>
          <a:p>
            <a:pPr>
              <a:lnSpc>
                <a:spcPct val="116000"/>
              </a:lnSpc>
              <a:spcAft>
                <a:spcPts val="0"/>
              </a:spcAft>
            </a:pPr>
            <a:r>
              <a:rPr sz="1500" b="0" i="0">
                <a:solidFill>
                  <a:srgbClr val="242C38"/>
                </a:solidFill>
                <a:latin typeface="Consolas"/>
              </a:rPr>
              <a:t> </a:t>
            </a:r>
          </a:p>
          <a:p>
            <a:pPr>
              <a:lnSpc>
                <a:spcPct val="116000"/>
              </a:lnSpc>
              <a:spcAft>
                <a:spcPts val="0"/>
              </a:spcAft>
            </a:pPr>
            <a:r>
              <a:rPr sz="1500" b="0" i="0">
                <a:solidFill>
                  <a:srgbClr val="242C38"/>
                </a:solidFill>
                <a:latin typeface="Consolas"/>
              </a:rPr>
              <a:t>txns.withColumn(</a:t>
            </a:r>
            <a:r>
              <a:rPr sz="1500" b="0" i="0">
                <a:solidFill>
                  <a:srgbClr val="A31515"/>
                </a:solidFill>
                <a:latin typeface="Consolas"/>
              </a:rPr>
              <a:t>"avg_all"</a:t>
            </a:r>
            <a:r>
              <a:rPr sz="1500" b="0" i="0">
                <a:solidFill>
                  <a:srgbClr val="242C38"/>
                </a:solidFill>
                <a:latin typeface="Consolas"/>
              </a:rPr>
              <a:t>,</a:t>
            </a:r>
          </a:p>
          <a:p>
            <a:pPr>
              <a:lnSpc>
                <a:spcPct val="116000"/>
              </a:lnSpc>
              <a:spcAft>
                <a:spcPts val="0"/>
              </a:spcAft>
            </a:pPr>
            <a:r>
              <a:rPr sz="1500" b="0" i="0">
                <a:solidFill>
                  <a:srgbClr val="242C38"/>
                </a:solidFill>
                <a:latin typeface="Consolas"/>
              </a:rPr>
              <a:t>    F.avg(</a:t>
            </a:r>
            <a:r>
              <a:rPr sz="1500" b="0" i="0">
                <a:solidFill>
                  <a:srgbClr val="A31515"/>
                </a:solidFill>
                <a:latin typeface="Consolas"/>
              </a:rPr>
              <a:t>"amount"</a:t>
            </a:r>
            <a:r>
              <a:rPr sz="1500" b="0" i="0">
                <a:solidFill>
                  <a:srgbClr val="242C38"/>
                </a:solidFill>
                <a:latin typeface="Consolas"/>
              </a:rPr>
              <a:t>).over(w_no_order))</a:t>
            </a:r>
          </a:p>
          <a:p>
            <a:pPr>
              <a:lnSpc>
                <a:spcPct val="116000"/>
              </a:lnSpc>
              <a:spcAft>
                <a:spcPts val="0"/>
              </a:spcAft>
            </a:pPr>
            <a:r>
              <a:rPr sz="1500" b="0" i="0">
                <a:solidFill>
                  <a:srgbClr val="242C38"/>
                </a:solidFill>
                <a:latin typeface="Consolas"/>
              </a:rPr>
              <a:t>txns.withColumn(</a:t>
            </a:r>
            <a:r>
              <a:rPr sz="1500" b="0" i="0">
                <a:solidFill>
                  <a:srgbClr val="A31515"/>
                </a:solidFill>
                <a:latin typeface="Consolas"/>
              </a:rPr>
              <a:t>"avg_running_TRAP"</a:t>
            </a:r>
            <a:r>
              <a:rPr sz="1500" b="0" i="0">
                <a:solidFill>
                  <a:srgbClr val="242C38"/>
                </a:solidFill>
                <a:latin typeface="Consolas"/>
              </a:rPr>
              <a:t>,</a:t>
            </a:r>
          </a:p>
          <a:p>
            <a:pPr>
              <a:lnSpc>
                <a:spcPct val="116000"/>
              </a:lnSpc>
              <a:spcAft>
                <a:spcPts val="0"/>
              </a:spcAft>
            </a:pPr>
            <a:r>
              <a:rPr sz="1500" b="0" i="0">
                <a:solidFill>
                  <a:srgbClr val="242C38"/>
                </a:solidFill>
                <a:latin typeface="Consolas"/>
              </a:rPr>
              <a:t>    F.avg(</a:t>
            </a:r>
            <a:r>
              <a:rPr sz="1500" b="0" i="0">
                <a:solidFill>
                  <a:srgbClr val="A31515"/>
                </a:solidFill>
                <a:latin typeface="Consolas"/>
              </a:rPr>
              <a:t>"amount"</a:t>
            </a:r>
            <a:r>
              <a:rPr sz="1500" b="0" i="0">
                <a:solidFill>
                  <a:srgbClr val="242C38"/>
                </a:solidFill>
                <a:latin typeface="Consolas"/>
              </a:rPr>
              <a:t>).over(w_with_order))</a:t>
            </a:r>
          </a:p>
        </p:txBody>
      </p:sp>
      <p:sp>
        <p:nvSpPr>
          <p:cNvPr id="7" name="TextBox 6"/>
          <p:cNvSpPr txBox="1"/>
          <p:nvPr/>
        </p:nvSpPr>
        <p:spPr>
          <a:xfrm>
            <a:off x="658368" y="4364736"/>
            <a:ext cx="10874959" cy="457200"/>
          </a:xfrm>
          <a:prstGeom prst="rect">
            <a:avLst/>
          </a:prstGeom>
          <a:noFill/>
        </p:spPr>
        <p:txBody>
          <a:bodyPr wrap="square" lIns="0" tIns="0" rIns="0" bIns="0">
            <a:spAutoFit/>
          </a:bodyPr>
          <a:lstStyle/>
          <a:p>
            <a:r>
              <a:rPr sz="1400" b="0" i="0">
                <a:solidFill>
                  <a:srgbClr val="5B6775"/>
                </a:solidFill>
                <a:latin typeface="Segoe UI"/>
              </a:rPr>
              <a:t>Adding ORDER BY alone silently switches avg() from the account average to a running one.</a:t>
            </a:r>
          </a:p>
        </p:txBody>
      </p:sp>
      <p:sp>
        <p:nvSpPr>
          <p:cNvPr id="8" name="Rectangle 7"/>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10  ·  Window functions</a:t>
            </a:r>
          </a:p>
        </p:txBody>
      </p:sp>
      <p:sp>
        <p:nvSpPr>
          <p:cNvPr id="10" name="TextBox 9"/>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102</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Same avg(), two very different numbers</a:t>
            </a:r>
          </a:p>
        </p:txBody>
      </p:sp>
      <p:graphicFrame>
        <p:nvGraphicFramePr>
          <p:cNvPr id="4" name="Table 3"/>
          <p:cNvGraphicFramePr>
            <a:graphicFrameLocks noGrp="1"/>
          </p:cNvGraphicFramePr>
          <p:nvPr/>
        </p:nvGraphicFramePr>
        <p:xfrm>
          <a:off x="658368" y="1481328"/>
          <a:ext cx="10874958" cy="1353312"/>
        </p:xfrm>
        <a:graphic>
          <a:graphicData uri="http://schemas.openxmlformats.org/drawingml/2006/table">
            <a:tbl>
              <a:tblPr firstRow="1" bandRow="1">
                <a:tableStyleId>{5C22544A-7EE6-4342-B048-85BDC9FD1C3A}</a:tableStyleId>
              </a:tblPr>
              <a:tblGrid>
                <a:gridCol w="3978643">
                  <a:extLst>
                    <a:ext uri="{9D8B030D-6E8A-4147-A177-3AD203B41FA5}">
                      <a16:colId xmlns:a16="http://schemas.microsoft.com/office/drawing/2014/main" val="20000"/>
                    </a:ext>
                  </a:extLst>
                </a:gridCol>
                <a:gridCol w="2121943">
                  <a:extLst>
                    <a:ext uri="{9D8B030D-6E8A-4147-A177-3AD203B41FA5}">
                      <a16:colId xmlns:a16="http://schemas.microsoft.com/office/drawing/2014/main" val="20001"/>
                    </a:ext>
                  </a:extLst>
                </a:gridCol>
                <a:gridCol w="2387186">
                  <a:extLst>
                    <a:ext uri="{9D8B030D-6E8A-4147-A177-3AD203B41FA5}">
                      <a16:colId xmlns:a16="http://schemas.microsoft.com/office/drawing/2014/main" val="20002"/>
                    </a:ext>
                  </a:extLst>
                </a:gridCol>
                <a:gridCol w="2387186">
                  <a:extLst>
                    <a:ext uri="{9D8B030D-6E8A-4147-A177-3AD203B41FA5}">
                      <a16:colId xmlns:a16="http://schemas.microsoft.com/office/drawing/2014/main" val="20003"/>
                    </a:ext>
                  </a:extLst>
                </a:gridCol>
              </a:tblGrid>
              <a:tr h="402336">
                <a:tc>
                  <a:txBody>
                    <a:bodyPr/>
                    <a:lstStyle/>
                    <a:p>
                      <a:endParaRPr/>
                    </a:p>
                  </a:txBody>
                  <a:tcPr anchor="ctr">
                    <a:solidFill>
                      <a:srgbClr val="1F4E79"/>
                    </a:solidFill>
                  </a:tcPr>
                </a:tc>
                <a:tc>
                  <a:txBody>
                    <a:bodyPr/>
                    <a:lstStyle/>
                    <a:p>
                      <a:r>
                        <a:rPr sz="1450" b="1" i="0">
                          <a:solidFill>
                            <a:srgbClr val="FFFFFF"/>
                          </a:solidFill>
                          <a:latin typeface="Segoe UI Semibold"/>
                        </a:rPr>
                        <a:t>txn 1</a:t>
                      </a:r>
                    </a:p>
                  </a:txBody>
                  <a:tcPr anchor="ctr">
                    <a:solidFill>
                      <a:srgbClr val="1F4E79"/>
                    </a:solidFill>
                  </a:tcPr>
                </a:tc>
                <a:tc>
                  <a:txBody>
                    <a:bodyPr/>
                    <a:lstStyle/>
                    <a:p>
                      <a:r>
                        <a:rPr sz="1450" b="1" i="0">
                          <a:solidFill>
                            <a:srgbClr val="FFFFFF"/>
                          </a:solidFill>
                          <a:latin typeface="Segoe UI Semibold"/>
                        </a:rPr>
                        <a:t>txn 2</a:t>
                      </a:r>
                    </a:p>
                  </a:txBody>
                  <a:tcPr anchor="ctr">
                    <a:solidFill>
                      <a:srgbClr val="1F4E79"/>
                    </a:solidFill>
                  </a:tcPr>
                </a:tc>
                <a:tc>
                  <a:txBody>
                    <a:bodyPr/>
                    <a:lstStyle/>
                    <a:p>
                      <a:r>
                        <a:rPr sz="1450" b="1" i="0">
                          <a:solidFill>
                            <a:srgbClr val="FFFFFF"/>
                          </a:solidFill>
                          <a:latin typeface="Segoe UI Semibold"/>
                        </a:rPr>
                        <a:t>txn 3</a:t>
                      </a:r>
                    </a:p>
                  </a:txBody>
                  <a:tcPr anchor="ctr">
                    <a:solidFill>
                      <a:srgbClr val="1F4E79"/>
                    </a:solidFill>
                  </a:tcPr>
                </a:tc>
                <a:extLst>
                  <a:ext uri="{0D108BD9-81ED-4DB2-BD59-A6C34878D82A}">
                    <a16:rowId xmlns:a16="http://schemas.microsoft.com/office/drawing/2014/main" val="10000"/>
                  </a:ext>
                </a:extLst>
              </a:tr>
              <a:tr h="475488">
                <a:tc>
                  <a:txBody>
                    <a:bodyPr/>
                    <a:lstStyle/>
                    <a:p>
                      <a:pPr>
                        <a:lnSpc>
                          <a:spcPct val="106000"/>
                        </a:lnSpc>
                      </a:pPr>
                      <a:r>
                        <a:rPr sz="1400" b="1" i="0">
                          <a:solidFill>
                            <a:srgbClr val="242C38"/>
                          </a:solidFill>
                          <a:latin typeface="Segoe UI"/>
                        </a:rPr>
                        <a:t>avg_all</a:t>
                      </a:r>
                    </a:p>
                  </a:txBody>
                  <a:tcPr marT="36576" marB="36576" anchor="ctr">
                    <a:solidFill>
                      <a:srgbClr val="EEF3F8"/>
                    </a:solidFill>
                  </a:tcPr>
                </a:tc>
                <a:tc>
                  <a:txBody>
                    <a:bodyPr/>
                    <a:lstStyle/>
                    <a:p>
                      <a:pPr>
                        <a:lnSpc>
                          <a:spcPct val="106000"/>
                        </a:lnSpc>
                      </a:pPr>
                      <a:r>
                        <a:rPr sz="1400" b="0" i="0">
                          <a:solidFill>
                            <a:srgbClr val="242C38"/>
                          </a:solidFill>
                          <a:latin typeface="Segoe UI"/>
                        </a:rPr>
                        <a:t>955.34</a:t>
                      </a:r>
                    </a:p>
                  </a:txBody>
                  <a:tcPr marT="36576" marB="36576" anchor="ctr">
                    <a:solidFill>
                      <a:srgbClr val="EEF3F8"/>
                    </a:solidFill>
                  </a:tcPr>
                </a:tc>
                <a:tc>
                  <a:txBody>
                    <a:bodyPr/>
                    <a:lstStyle/>
                    <a:p>
                      <a:pPr>
                        <a:lnSpc>
                          <a:spcPct val="106000"/>
                        </a:lnSpc>
                      </a:pPr>
                      <a:r>
                        <a:rPr sz="1400" b="0" i="0">
                          <a:solidFill>
                            <a:srgbClr val="242C38"/>
                          </a:solidFill>
                          <a:latin typeface="Segoe UI"/>
                        </a:rPr>
                        <a:t>955.34</a:t>
                      </a:r>
                    </a:p>
                  </a:txBody>
                  <a:tcPr marT="36576" marB="36576" anchor="ctr">
                    <a:solidFill>
                      <a:srgbClr val="EEF3F8"/>
                    </a:solidFill>
                  </a:tcPr>
                </a:tc>
                <a:tc>
                  <a:txBody>
                    <a:bodyPr/>
                    <a:lstStyle/>
                    <a:p>
                      <a:pPr>
                        <a:lnSpc>
                          <a:spcPct val="106000"/>
                        </a:lnSpc>
                      </a:pPr>
                      <a:r>
                        <a:rPr sz="1400" b="0" i="0">
                          <a:solidFill>
                            <a:srgbClr val="242C38"/>
                          </a:solidFill>
                          <a:latin typeface="Segoe UI"/>
                        </a:rPr>
                        <a:t>955.34</a:t>
                      </a:r>
                    </a:p>
                  </a:txBody>
                  <a:tcPr marT="36576" marB="36576" anchor="ctr">
                    <a:solidFill>
                      <a:srgbClr val="EEF3F8"/>
                    </a:solidFill>
                  </a:tcPr>
                </a:tc>
                <a:extLst>
                  <a:ext uri="{0D108BD9-81ED-4DB2-BD59-A6C34878D82A}">
                    <a16:rowId xmlns:a16="http://schemas.microsoft.com/office/drawing/2014/main" val="10001"/>
                  </a:ext>
                </a:extLst>
              </a:tr>
              <a:tr h="475488">
                <a:tc>
                  <a:txBody>
                    <a:bodyPr/>
                    <a:lstStyle/>
                    <a:p>
                      <a:pPr>
                        <a:lnSpc>
                          <a:spcPct val="106000"/>
                        </a:lnSpc>
                      </a:pPr>
                      <a:r>
                        <a:rPr sz="1400" b="1" i="0">
                          <a:solidFill>
                            <a:srgbClr val="242C38"/>
                          </a:solidFill>
                          <a:latin typeface="Segoe UI"/>
                        </a:rPr>
                        <a:t>avg_running_TRAP</a:t>
                      </a:r>
                    </a:p>
                  </a:txBody>
                  <a:tcPr marT="36576" marB="36576" anchor="ctr">
                    <a:solidFill>
                      <a:srgbClr val="FFFFFF"/>
                    </a:solidFill>
                  </a:tcPr>
                </a:tc>
                <a:tc>
                  <a:txBody>
                    <a:bodyPr/>
                    <a:lstStyle/>
                    <a:p>
                      <a:pPr>
                        <a:lnSpc>
                          <a:spcPct val="106000"/>
                        </a:lnSpc>
                      </a:pPr>
                      <a:r>
                        <a:rPr sz="1400" b="0" i="0">
                          <a:solidFill>
                            <a:srgbClr val="242C38"/>
                          </a:solidFill>
                          <a:latin typeface="Segoe UI"/>
                        </a:rPr>
                        <a:t>393.84</a:t>
                      </a:r>
                    </a:p>
                  </a:txBody>
                  <a:tcPr marT="36576" marB="36576" anchor="ctr">
                    <a:solidFill>
                      <a:srgbClr val="FFFFFF"/>
                    </a:solidFill>
                  </a:tcPr>
                </a:tc>
                <a:tc>
                  <a:txBody>
                    <a:bodyPr/>
                    <a:lstStyle/>
                    <a:p>
                      <a:pPr>
                        <a:lnSpc>
                          <a:spcPct val="106000"/>
                        </a:lnSpc>
                      </a:pPr>
                      <a:r>
                        <a:rPr sz="1400" b="0" i="0">
                          <a:solidFill>
                            <a:srgbClr val="242C38"/>
                          </a:solidFill>
                          <a:latin typeface="Segoe UI"/>
                        </a:rPr>
                        <a:t>1952.15</a:t>
                      </a:r>
                    </a:p>
                  </a:txBody>
                  <a:tcPr marT="36576" marB="36576" anchor="ctr">
                    <a:solidFill>
                      <a:srgbClr val="FFFFFF"/>
                    </a:solidFill>
                  </a:tcPr>
                </a:tc>
                <a:tc>
                  <a:txBody>
                    <a:bodyPr/>
                    <a:lstStyle/>
                    <a:p>
                      <a:pPr>
                        <a:lnSpc>
                          <a:spcPct val="106000"/>
                        </a:lnSpc>
                      </a:pPr>
                      <a:r>
                        <a:rPr sz="1400" b="0" i="0">
                          <a:solidFill>
                            <a:srgbClr val="242C38"/>
                          </a:solidFill>
                          <a:latin typeface="Segoe UI"/>
                        </a:rPr>
                        <a:t>1468.66</a:t>
                      </a:r>
                    </a:p>
                  </a:txBody>
                  <a:tcPr marT="36576" marB="36576" anchor="ctr">
                    <a:solidFill>
                      <a:srgbClr val="FFFFFF"/>
                    </a:solidFill>
                  </a:tcPr>
                </a:tc>
                <a:extLst>
                  <a:ext uri="{0D108BD9-81ED-4DB2-BD59-A6C34878D82A}">
                    <a16:rowId xmlns:a16="http://schemas.microsoft.com/office/drawing/2014/main" val="10002"/>
                  </a:ext>
                </a:extLst>
              </a:tr>
            </a:tbl>
          </a:graphicData>
        </a:graphic>
      </p:graphicFrame>
      <p:sp>
        <p:nvSpPr>
          <p:cNvPr id="5" name="TextBox 4"/>
          <p:cNvSpPr txBox="1"/>
          <p:nvPr/>
        </p:nvSpPr>
        <p:spPr>
          <a:xfrm>
            <a:off x="658368" y="5724144"/>
            <a:ext cx="10874959" cy="502920"/>
          </a:xfrm>
          <a:prstGeom prst="rect">
            <a:avLst/>
          </a:prstGeom>
          <a:noFill/>
        </p:spPr>
        <p:txBody>
          <a:bodyPr wrap="square" lIns="0" tIns="0" rIns="0" bIns="0">
            <a:spAutoFit/>
          </a:bodyPr>
          <a:lstStyle/>
          <a:p>
            <a:r>
              <a:rPr sz="1300" b="0" i="1">
                <a:solidFill>
                  <a:srgbClr val="5B6775"/>
                </a:solidFill>
                <a:latin typeface="Segoe UI"/>
              </a:rPr>
              <a:t>avg_all is constant per account. avg_running_TRAP changes once ORDER BY is added.</a:t>
            </a:r>
          </a:p>
        </p:txBody>
      </p:sp>
      <p:sp>
        <p:nvSpPr>
          <p:cNvPr id="6" name="Rectangle 5"/>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10  ·  Window functions</a:t>
            </a:r>
          </a:p>
        </p:txBody>
      </p:sp>
      <p:sp>
        <p:nvSpPr>
          <p:cNvPr id="8" name="TextBox 7"/>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103</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Ranking: row_number, rank, dense_rank</a:t>
            </a:r>
          </a:p>
        </p:txBody>
      </p:sp>
      <p:graphicFrame>
        <p:nvGraphicFramePr>
          <p:cNvPr id="4" name="Table 3"/>
          <p:cNvGraphicFramePr>
            <a:graphicFrameLocks noGrp="1"/>
          </p:cNvGraphicFramePr>
          <p:nvPr/>
        </p:nvGraphicFramePr>
        <p:xfrm>
          <a:off x="658368" y="1481328"/>
          <a:ext cx="10874957" cy="1828800"/>
        </p:xfrm>
        <a:graphic>
          <a:graphicData uri="http://schemas.openxmlformats.org/drawingml/2006/table">
            <a:tbl>
              <a:tblPr firstRow="1" bandRow="1">
                <a:tableStyleId>{5C22544A-7EE6-4342-B048-85BDC9FD1C3A}</a:tableStyleId>
              </a:tblPr>
              <a:tblGrid>
                <a:gridCol w="3007967">
                  <a:extLst>
                    <a:ext uri="{9D8B030D-6E8A-4147-A177-3AD203B41FA5}">
                      <a16:colId xmlns:a16="http://schemas.microsoft.com/office/drawing/2014/main" val="20000"/>
                    </a:ext>
                  </a:extLst>
                </a:gridCol>
                <a:gridCol w="3933495">
                  <a:extLst>
                    <a:ext uri="{9D8B030D-6E8A-4147-A177-3AD203B41FA5}">
                      <a16:colId xmlns:a16="http://schemas.microsoft.com/office/drawing/2014/main" val="20001"/>
                    </a:ext>
                  </a:extLst>
                </a:gridCol>
                <a:gridCol w="3933495">
                  <a:extLst>
                    <a:ext uri="{9D8B030D-6E8A-4147-A177-3AD203B41FA5}">
                      <a16:colId xmlns:a16="http://schemas.microsoft.com/office/drawing/2014/main" val="20002"/>
                    </a:ext>
                  </a:extLst>
                </a:gridCol>
              </a:tblGrid>
              <a:tr h="402336">
                <a:tc>
                  <a:txBody>
                    <a:bodyPr/>
                    <a:lstStyle/>
                    <a:p>
                      <a:r>
                        <a:rPr sz="1450" b="1" i="0">
                          <a:solidFill>
                            <a:srgbClr val="FFFFFF"/>
                          </a:solidFill>
                          <a:latin typeface="Segoe UI Semibold"/>
                        </a:rPr>
                        <a:t>Function</a:t>
                      </a:r>
                    </a:p>
                  </a:txBody>
                  <a:tcPr anchor="ctr">
                    <a:solidFill>
                      <a:srgbClr val="1F4E79"/>
                    </a:solidFill>
                  </a:tcPr>
                </a:tc>
                <a:tc>
                  <a:txBody>
                    <a:bodyPr/>
                    <a:lstStyle/>
                    <a:p>
                      <a:r>
                        <a:rPr sz="1450" b="1" i="0">
                          <a:solidFill>
                            <a:srgbClr val="FFFFFF"/>
                          </a:solidFill>
                          <a:latin typeface="Segoe UI Semibold"/>
                        </a:rPr>
                        <a:t>Two tied rows get</a:t>
                      </a:r>
                    </a:p>
                  </a:txBody>
                  <a:tcPr anchor="ctr">
                    <a:solidFill>
                      <a:srgbClr val="1F4E79"/>
                    </a:solidFill>
                  </a:tcPr>
                </a:tc>
                <a:tc>
                  <a:txBody>
                    <a:bodyPr/>
                    <a:lstStyle/>
                    <a:p>
                      <a:r>
                        <a:rPr sz="1450" b="1" i="0">
                          <a:solidFill>
                            <a:srgbClr val="FFFFFF"/>
                          </a:solidFill>
                          <a:latin typeface="Segoe UI Semibold"/>
                        </a:rPr>
                        <a:t>After the tie</a:t>
                      </a:r>
                    </a:p>
                  </a:txBody>
                  <a:tcPr anchor="ctr">
                    <a:solidFill>
                      <a:srgbClr val="1F4E79"/>
                    </a:solidFill>
                  </a:tcPr>
                </a:tc>
                <a:extLst>
                  <a:ext uri="{0D108BD9-81ED-4DB2-BD59-A6C34878D82A}">
                    <a16:rowId xmlns:a16="http://schemas.microsoft.com/office/drawing/2014/main" val="10000"/>
                  </a:ext>
                </a:extLst>
              </a:tr>
              <a:tr h="475488">
                <a:tc>
                  <a:txBody>
                    <a:bodyPr/>
                    <a:lstStyle/>
                    <a:p>
                      <a:pPr>
                        <a:lnSpc>
                          <a:spcPct val="106000"/>
                        </a:lnSpc>
                      </a:pPr>
                      <a:r>
                        <a:rPr sz="1350" b="0" i="0">
                          <a:solidFill>
                            <a:srgbClr val="2E74B5"/>
                          </a:solidFill>
                          <a:latin typeface="Consolas"/>
                        </a:rPr>
                        <a:t>row_number()</a:t>
                      </a:r>
                    </a:p>
                  </a:txBody>
                  <a:tcPr marT="36576" marB="36576" anchor="ctr">
                    <a:solidFill>
                      <a:srgbClr val="EEF3F8"/>
                    </a:solidFill>
                  </a:tcPr>
                </a:tc>
                <a:tc>
                  <a:txBody>
                    <a:bodyPr/>
                    <a:lstStyle/>
                    <a:p>
                      <a:pPr>
                        <a:lnSpc>
                          <a:spcPct val="106000"/>
                        </a:lnSpc>
                      </a:pPr>
                      <a:r>
                        <a:rPr sz="1400" b="0" i="0">
                          <a:solidFill>
                            <a:srgbClr val="242C38"/>
                          </a:solidFill>
                          <a:latin typeface="Segoe UI"/>
                        </a:rPr>
                        <a:t>different numbers, broken arbitrarily</a:t>
                      </a:r>
                    </a:p>
                  </a:txBody>
                  <a:tcPr marT="36576" marB="36576" anchor="ctr">
                    <a:solidFill>
                      <a:srgbClr val="EEF3F8"/>
                    </a:solidFill>
                  </a:tcPr>
                </a:tc>
                <a:tc>
                  <a:txBody>
                    <a:bodyPr/>
                    <a:lstStyle/>
                    <a:p>
                      <a:pPr>
                        <a:lnSpc>
                          <a:spcPct val="106000"/>
                        </a:lnSpc>
                      </a:pPr>
                      <a:r>
                        <a:rPr sz="1400" b="0" i="0">
                          <a:solidFill>
                            <a:srgbClr val="242C38"/>
                          </a:solidFill>
                          <a:latin typeface="Segoe UI"/>
                        </a:rPr>
                        <a:t>continues normally, 3 next</a:t>
                      </a:r>
                    </a:p>
                  </a:txBody>
                  <a:tcPr marT="36576" marB="36576" anchor="ctr">
                    <a:solidFill>
                      <a:srgbClr val="EEF3F8"/>
                    </a:solidFill>
                  </a:tcPr>
                </a:tc>
                <a:extLst>
                  <a:ext uri="{0D108BD9-81ED-4DB2-BD59-A6C34878D82A}">
                    <a16:rowId xmlns:a16="http://schemas.microsoft.com/office/drawing/2014/main" val="10001"/>
                  </a:ext>
                </a:extLst>
              </a:tr>
              <a:tr h="475488">
                <a:tc>
                  <a:txBody>
                    <a:bodyPr/>
                    <a:lstStyle/>
                    <a:p>
                      <a:pPr>
                        <a:lnSpc>
                          <a:spcPct val="106000"/>
                        </a:lnSpc>
                      </a:pPr>
                      <a:r>
                        <a:rPr sz="1350" b="0" i="0">
                          <a:solidFill>
                            <a:srgbClr val="2E74B5"/>
                          </a:solidFill>
                          <a:latin typeface="Consolas"/>
                        </a:rPr>
                        <a:t>rank()</a:t>
                      </a:r>
                    </a:p>
                  </a:txBody>
                  <a:tcPr marT="36576" marB="36576" anchor="ctr">
                    <a:solidFill>
                      <a:srgbClr val="FFFFFF"/>
                    </a:solidFill>
                  </a:tcPr>
                </a:tc>
                <a:tc>
                  <a:txBody>
                    <a:bodyPr/>
                    <a:lstStyle/>
                    <a:p>
                      <a:pPr>
                        <a:lnSpc>
                          <a:spcPct val="106000"/>
                        </a:lnSpc>
                      </a:pPr>
                      <a:r>
                        <a:rPr sz="1400" b="0" i="0">
                          <a:solidFill>
                            <a:srgbClr val="242C38"/>
                          </a:solidFill>
                          <a:latin typeface="Segoe UI"/>
                        </a:rPr>
                        <a:t>the same number, both get 1</a:t>
                      </a:r>
                    </a:p>
                  </a:txBody>
                  <a:tcPr marT="36576" marB="36576" anchor="ctr">
                    <a:solidFill>
                      <a:srgbClr val="FFFFFF"/>
                    </a:solidFill>
                  </a:tcPr>
                </a:tc>
                <a:tc>
                  <a:txBody>
                    <a:bodyPr/>
                    <a:lstStyle/>
                    <a:p>
                      <a:pPr>
                        <a:lnSpc>
                          <a:spcPct val="106000"/>
                        </a:lnSpc>
                      </a:pPr>
                      <a:r>
                        <a:rPr sz="1400" b="0" i="0">
                          <a:solidFill>
                            <a:srgbClr val="242C38"/>
                          </a:solidFill>
                          <a:latin typeface="Segoe UI"/>
                        </a:rPr>
                        <a:t>skips, next distinct value gets 3</a:t>
                      </a:r>
                    </a:p>
                  </a:txBody>
                  <a:tcPr marT="36576" marB="36576" anchor="ctr">
                    <a:solidFill>
                      <a:srgbClr val="FFFFFF"/>
                    </a:solidFill>
                  </a:tcPr>
                </a:tc>
                <a:extLst>
                  <a:ext uri="{0D108BD9-81ED-4DB2-BD59-A6C34878D82A}">
                    <a16:rowId xmlns:a16="http://schemas.microsoft.com/office/drawing/2014/main" val="10002"/>
                  </a:ext>
                </a:extLst>
              </a:tr>
              <a:tr h="475488">
                <a:tc>
                  <a:txBody>
                    <a:bodyPr/>
                    <a:lstStyle/>
                    <a:p>
                      <a:pPr>
                        <a:lnSpc>
                          <a:spcPct val="106000"/>
                        </a:lnSpc>
                      </a:pPr>
                      <a:r>
                        <a:rPr sz="1350" b="0" i="0">
                          <a:solidFill>
                            <a:srgbClr val="2E74B5"/>
                          </a:solidFill>
                          <a:latin typeface="Consolas"/>
                        </a:rPr>
                        <a:t>dense_rank()</a:t>
                      </a:r>
                    </a:p>
                  </a:txBody>
                  <a:tcPr marT="36576" marB="36576" anchor="ctr">
                    <a:solidFill>
                      <a:srgbClr val="EEF3F8"/>
                    </a:solidFill>
                  </a:tcPr>
                </a:tc>
                <a:tc>
                  <a:txBody>
                    <a:bodyPr/>
                    <a:lstStyle/>
                    <a:p>
                      <a:pPr>
                        <a:lnSpc>
                          <a:spcPct val="106000"/>
                        </a:lnSpc>
                      </a:pPr>
                      <a:r>
                        <a:rPr sz="1400" b="0" i="0">
                          <a:solidFill>
                            <a:srgbClr val="242C38"/>
                          </a:solidFill>
                          <a:latin typeface="Segoe UI"/>
                        </a:rPr>
                        <a:t>the same number, both get 1</a:t>
                      </a:r>
                    </a:p>
                  </a:txBody>
                  <a:tcPr marT="36576" marB="36576" anchor="ctr">
                    <a:solidFill>
                      <a:srgbClr val="EEF3F8"/>
                    </a:solidFill>
                  </a:tcPr>
                </a:tc>
                <a:tc>
                  <a:txBody>
                    <a:bodyPr/>
                    <a:lstStyle/>
                    <a:p>
                      <a:pPr>
                        <a:lnSpc>
                          <a:spcPct val="106000"/>
                        </a:lnSpc>
                      </a:pPr>
                      <a:r>
                        <a:rPr sz="1400" b="0" i="0">
                          <a:solidFill>
                            <a:srgbClr val="242C38"/>
                          </a:solidFill>
                          <a:latin typeface="Segoe UI"/>
                        </a:rPr>
                        <a:t>no skip, next distinct value gets 2</a:t>
                      </a:r>
                    </a:p>
                  </a:txBody>
                  <a:tcPr marT="36576" marB="36576" anchor="ctr">
                    <a:solidFill>
                      <a:srgbClr val="EEF3F8"/>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658368" y="5724144"/>
            <a:ext cx="10874959" cy="502920"/>
          </a:xfrm>
          <a:prstGeom prst="rect">
            <a:avLst/>
          </a:prstGeom>
          <a:noFill/>
        </p:spPr>
        <p:txBody>
          <a:bodyPr wrap="square" lIns="0" tIns="0" rIns="0" bIns="0">
            <a:spAutoFit/>
          </a:bodyPr>
          <a:lstStyle/>
          <a:p>
            <a:r>
              <a:rPr sz="1300" b="0" i="1">
                <a:solidFill>
                  <a:srgbClr val="5B6775"/>
                </a:solidFill>
                <a:latin typeface="Segoe UI"/>
              </a:rPr>
              <a:t>row_number() is what dedup and the QUALIFY-replacement pattern both use.</a:t>
            </a:r>
          </a:p>
        </p:txBody>
      </p:sp>
      <p:sp>
        <p:nvSpPr>
          <p:cNvPr id="6" name="Rectangle 5"/>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10  ·  Window functions</a:t>
            </a:r>
          </a:p>
        </p:txBody>
      </p:sp>
      <p:sp>
        <p:nvSpPr>
          <p:cNvPr id="8" name="TextBox 7"/>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104</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Deduplicate with row_number()</a:t>
            </a:r>
          </a:p>
        </p:txBody>
      </p:sp>
      <p:sp>
        <p:nvSpPr>
          <p:cNvPr id="4" name="Rectangle 3"/>
          <p:cNvSpPr/>
          <p:nvPr/>
        </p:nvSpPr>
        <p:spPr>
          <a:xfrm>
            <a:off x="658368" y="1481328"/>
            <a:ext cx="10874959" cy="2157984"/>
          </a:xfrm>
          <a:prstGeom prst="rect">
            <a:avLst/>
          </a:prstGeom>
          <a:solidFill>
            <a:srgbClr val="F5F7F9"/>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81328"/>
            <a:ext cx="43180" cy="2157984"/>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77824" y="1645920"/>
            <a:ext cx="10509199" cy="1883664"/>
          </a:xfrm>
          <a:prstGeom prst="rect">
            <a:avLst/>
          </a:prstGeom>
          <a:noFill/>
        </p:spPr>
        <p:txBody>
          <a:bodyPr wrap="square" lIns="0" tIns="0" rIns="0" bIns="0">
            <a:spAutoFit/>
          </a:bodyPr>
          <a:lstStyle/>
          <a:p>
            <a:pPr>
              <a:lnSpc>
                <a:spcPct val="116000"/>
              </a:lnSpc>
              <a:spcAft>
                <a:spcPts val="0"/>
              </a:spcAft>
            </a:pPr>
            <a:r>
              <a:rPr sz="1500" b="0" i="0">
                <a:solidFill>
                  <a:srgbClr val="242C38"/>
                </a:solidFill>
                <a:latin typeface="Consolas"/>
              </a:rPr>
              <a:t>dedup_window = Window.partitionBy(</a:t>
            </a:r>
            <a:r>
              <a:rPr sz="1500" b="0" i="0">
                <a:solidFill>
                  <a:srgbClr val="A31515"/>
                </a:solidFill>
                <a:latin typeface="Consolas"/>
              </a:rPr>
              <a:t>"txn_id"</a:t>
            </a:r>
            <a:r>
              <a:rPr sz="1500" b="0" i="0">
                <a:solidFill>
                  <a:srgbClr val="242C38"/>
                </a:solidFill>
                <a:latin typeface="Consolas"/>
              </a:rPr>
              <a:t>) \</a:t>
            </a:r>
          </a:p>
          <a:p>
            <a:pPr>
              <a:lnSpc>
                <a:spcPct val="116000"/>
              </a:lnSpc>
              <a:spcAft>
                <a:spcPts val="0"/>
              </a:spcAft>
            </a:pPr>
            <a:r>
              <a:rPr sz="1500" b="0" i="0">
                <a:solidFill>
                  <a:srgbClr val="242C38"/>
                </a:solidFill>
                <a:latin typeface="Consolas"/>
              </a:rPr>
              <a:t>    .orderBy(F.monotonically_increasing_id())</a:t>
            </a:r>
          </a:p>
          <a:p>
            <a:pPr>
              <a:lnSpc>
                <a:spcPct val="116000"/>
              </a:lnSpc>
              <a:spcAft>
                <a:spcPts val="0"/>
              </a:spcAft>
            </a:pPr>
            <a:r>
              <a:rPr sz="1500" b="0" i="0">
                <a:solidFill>
                  <a:srgbClr val="242C38"/>
                </a:solidFill>
                <a:latin typeface="Consolas"/>
              </a:rPr>
              <a:t> </a:t>
            </a:r>
          </a:p>
          <a:p>
            <a:pPr>
              <a:lnSpc>
                <a:spcPct val="116000"/>
              </a:lnSpc>
              <a:spcAft>
                <a:spcPts val="0"/>
              </a:spcAft>
            </a:pPr>
            <a:r>
              <a:rPr sz="1500" b="0" i="0">
                <a:solidFill>
                  <a:srgbClr val="242C38"/>
                </a:solidFill>
                <a:latin typeface="Consolas"/>
              </a:rPr>
              <a:t>deduped = (txns</a:t>
            </a:r>
          </a:p>
          <a:p>
            <a:pPr>
              <a:lnSpc>
                <a:spcPct val="116000"/>
              </a:lnSpc>
              <a:spcAft>
                <a:spcPts val="0"/>
              </a:spcAft>
            </a:pPr>
            <a:r>
              <a:rPr sz="1500" b="0" i="0">
                <a:solidFill>
                  <a:srgbClr val="242C38"/>
                </a:solidFill>
                <a:latin typeface="Consolas"/>
              </a:rPr>
              <a:t>    .withColumn(</a:t>
            </a:r>
            <a:r>
              <a:rPr sz="1500" b="0" i="0">
                <a:solidFill>
                  <a:srgbClr val="A31515"/>
                </a:solidFill>
                <a:latin typeface="Consolas"/>
              </a:rPr>
              <a:t>"rn"</a:t>
            </a:r>
            <a:r>
              <a:rPr sz="1500" b="0" i="0">
                <a:solidFill>
                  <a:srgbClr val="242C38"/>
                </a:solidFill>
                <a:latin typeface="Consolas"/>
              </a:rPr>
              <a:t>, F.row_number().over(dedup_window))</a:t>
            </a:r>
          </a:p>
          <a:p>
            <a:pPr>
              <a:lnSpc>
                <a:spcPct val="116000"/>
              </a:lnSpc>
              <a:spcAft>
                <a:spcPts val="0"/>
              </a:spcAft>
            </a:pPr>
            <a:r>
              <a:rPr sz="1500" b="0" i="0">
                <a:solidFill>
                  <a:srgbClr val="242C38"/>
                </a:solidFill>
                <a:latin typeface="Consolas"/>
              </a:rPr>
              <a:t>    .filter(</a:t>
            </a:r>
            <a:r>
              <a:rPr sz="1500" b="0" i="0">
                <a:solidFill>
                  <a:srgbClr val="A31515"/>
                </a:solidFill>
                <a:latin typeface="Consolas"/>
              </a:rPr>
              <a:t>"rn = 1"</a:t>
            </a:r>
            <a:r>
              <a:rPr sz="1500" b="0" i="0">
                <a:solidFill>
                  <a:srgbClr val="242C38"/>
                </a:solidFill>
                <a:latin typeface="Consolas"/>
              </a:rPr>
              <a:t>).drop(</a:t>
            </a:r>
            <a:r>
              <a:rPr sz="1500" b="0" i="0">
                <a:solidFill>
                  <a:srgbClr val="A31515"/>
                </a:solidFill>
                <a:latin typeface="Consolas"/>
              </a:rPr>
              <a:t>"rn"</a:t>
            </a:r>
            <a:r>
              <a:rPr sz="1500" b="0" i="0">
                <a:solidFill>
                  <a:srgbClr val="242C38"/>
                </a:solidFill>
                <a:latin typeface="Consolas"/>
              </a:rPr>
              <a:t>))</a:t>
            </a:r>
          </a:p>
        </p:txBody>
      </p:sp>
      <p:sp>
        <p:nvSpPr>
          <p:cNvPr id="7" name="TextBox 6"/>
          <p:cNvSpPr txBox="1"/>
          <p:nvPr/>
        </p:nvSpPr>
        <p:spPr>
          <a:xfrm>
            <a:off x="658368" y="3785616"/>
            <a:ext cx="10874959" cy="457200"/>
          </a:xfrm>
          <a:prstGeom prst="rect">
            <a:avLst/>
          </a:prstGeom>
          <a:noFill/>
        </p:spPr>
        <p:txBody>
          <a:bodyPr wrap="square" lIns="0" tIns="0" rIns="0" bIns="0">
            <a:spAutoFit/>
          </a:bodyPr>
          <a:lstStyle/>
          <a:p>
            <a:r>
              <a:rPr sz="1400" b="0" i="0">
                <a:solidFill>
                  <a:srgbClr val="5B6775"/>
                </a:solidFill>
                <a:latin typeface="Segoe UI"/>
              </a:rPr>
              <a:t>Duplicates here are exact copies, so which one survives doesn't matter.</a:t>
            </a:r>
          </a:p>
        </p:txBody>
      </p:sp>
      <p:sp>
        <p:nvSpPr>
          <p:cNvPr id="8" name="Rectangle 7"/>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10  ·  Window functions</a:t>
            </a:r>
          </a:p>
        </p:txBody>
      </p:sp>
      <p:sp>
        <p:nvSpPr>
          <p:cNvPr id="10" name="TextBox 9"/>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105</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Running account balance</a:t>
            </a:r>
          </a:p>
        </p:txBody>
      </p:sp>
      <p:sp>
        <p:nvSpPr>
          <p:cNvPr id="4" name="Rectangle 3"/>
          <p:cNvSpPr/>
          <p:nvPr/>
        </p:nvSpPr>
        <p:spPr>
          <a:xfrm>
            <a:off x="658368" y="1481328"/>
            <a:ext cx="10874959" cy="2737104"/>
          </a:xfrm>
          <a:prstGeom prst="rect">
            <a:avLst/>
          </a:prstGeom>
          <a:solidFill>
            <a:srgbClr val="F5F7F9"/>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81328"/>
            <a:ext cx="43180" cy="2737104"/>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77824" y="1645920"/>
            <a:ext cx="10509199" cy="2462784"/>
          </a:xfrm>
          <a:prstGeom prst="rect">
            <a:avLst/>
          </a:prstGeom>
          <a:noFill/>
        </p:spPr>
        <p:txBody>
          <a:bodyPr wrap="square" lIns="0" tIns="0" rIns="0" bIns="0">
            <a:spAutoFit/>
          </a:bodyPr>
          <a:lstStyle/>
          <a:p>
            <a:pPr>
              <a:lnSpc>
                <a:spcPct val="116000"/>
              </a:lnSpc>
              <a:spcAft>
                <a:spcPts val="0"/>
              </a:spcAft>
            </a:pPr>
            <a:r>
              <a:rPr sz="1500" b="0" i="0">
                <a:solidFill>
                  <a:srgbClr val="242C38"/>
                </a:solidFill>
                <a:latin typeface="Consolas"/>
              </a:rPr>
              <a:t>w_balance = Window.partitionBy(</a:t>
            </a:r>
            <a:r>
              <a:rPr sz="1500" b="0" i="0">
                <a:solidFill>
                  <a:srgbClr val="A31515"/>
                </a:solidFill>
                <a:latin typeface="Consolas"/>
              </a:rPr>
              <a:t>"account_id"</a:t>
            </a:r>
            <a:r>
              <a:rPr sz="1500" b="0" i="0">
                <a:solidFill>
                  <a:srgbClr val="242C38"/>
                </a:solidFill>
                <a:latin typeface="Consolas"/>
              </a:rPr>
              <a:t>) \</a:t>
            </a:r>
          </a:p>
          <a:p>
            <a:pPr>
              <a:lnSpc>
                <a:spcPct val="116000"/>
              </a:lnSpc>
              <a:spcAft>
                <a:spcPts val="0"/>
              </a:spcAft>
            </a:pPr>
            <a:r>
              <a:rPr sz="1500" b="0" i="0">
                <a:solidFill>
                  <a:srgbClr val="242C38"/>
                </a:solidFill>
                <a:latin typeface="Consolas"/>
              </a:rPr>
              <a:t>    .orderBy(</a:t>
            </a:r>
            <a:r>
              <a:rPr sz="1500" b="0" i="0">
                <a:solidFill>
                  <a:srgbClr val="A31515"/>
                </a:solidFill>
                <a:latin typeface="Consolas"/>
              </a:rPr>
              <a:t>"txn_ts"</a:t>
            </a:r>
            <a:r>
              <a:rPr sz="1500" b="0" i="0">
                <a:solidFill>
                  <a:srgbClr val="242C38"/>
                </a:solidFill>
                <a:latin typeface="Consolas"/>
              </a:rPr>
              <a:t>) \</a:t>
            </a:r>
          </a:p>
          <a:p>
            <a:pPr>
              <a:lnSpc>
                <a:spcPct val="116000"/>
              </a:lnSpc>
              <a:spcAft>
                <a:spcPts val="0"/>
              </a:spcAft>
            </a:pPr>
            <a:r>
              <a:rPr sz="1500" b="0" i="0">
                <a:solidFill>
                  <a:srgbClr val="242C38"/>
                </a:solidFill>
                <a:latin typeface="Consolas"/>
              </a:rPr>
              <a:t>    .rowsBetween(Window.unboundedPreceding,</a:t>
            </a:r>
          </a:p>
          <a:p>
            <a:pPr>
              <a:lnSpc>
                <a:spcPct val="116000"/>
              </a:lnSpc>
              <a:spcAft>
                <a:spcPts val="0"/>
              </a:spcAft>
            </a:pPr>
            <a:r>
              <a:rPr sz="1500" b="0" i="0">
                <a:solidFill>
                  <a:srgbClr val="242C38"/>
                </a:solidFill>
                <a:latin typeface="Consolas"/>
              </a:rPr>
              <a:t>                 Window.currentRow)</a:t>
            </a:r>
          </a:p>
          <a:p>
            <a:pPr>
              <a:lnSpc>
                <a:spcPct val="116000"/>
              </a:lnSpc>
              <a:spcAft>
                <a:spcPts val="0"/>
              </a:spcAft>
            </a:pPr>
            <a:r>
              <a:rPr sz="1500" b="0" i="0">
                <a:solidFill>
                  <a:srgbClr val="242C38"/>
                </a:solidFill>
                <a:latin typeface="Consolas"/>
              </a:rPr>
              <a:t> </a:t>
            </a:r>
          </a:p>
          <a:p>
            <a:pPr>
              <a:lnSpc>
                <a:spcPct val="116000"/>
              </a:lnSpc>
              <a:spcAft>
                <a:spcPts val="0"/>
              </a:spcAft>
            </a:pPr>
            <a:r>
              <a:rPr sz="1500" b="0" i="0">
                <a:solidFill>
                  <a:srgbClr val="242C38"/>
                </a:solidFill>
                <a:latin typeface="Consolas"/>
              </a:rPr>
              <a:t>signed = deduped.withColumn(</a:t>
            </a:r>
            <a:r>
              <a:rPr sz="1500" b="0" i="0">
                <a:solidFill>
                  <a:srgbClr val="A31515"/>
                </a:solidFill>
                <a:latin typeface="Consolas"/>
              </a:rPr>
              <a:t>"signed_amount"</a:t>
            </a:r>
            <a:r>
              <a:rPr sz="1500" b="0" i="0">
                <a:solidFill>
                  <a:srgbClr val="242C38"/>
                </a:solidFill>
                <a:latin typeface="Consolas"/>
              </a:rPr>
              <a:t>,</a:t>
            </a:r>
          </a:p>
          <a:p>
            <a:pPr>
              <a:lnSpc>
                <a:spcPct val="116000"/>
              </a:lnSpc>
              <a:spcAft>
                <a:spcPts val="0"/>
              </a:spcAft>
            </a:pPr>
            <a:r>
              <a:rPr sz="1500" b="0" i="0">
                <a:solidFill>
                  <a:srgbClr val="242C38"/>
                </a:solidFill>
                <a:latin typeface="Consolas"/>
              </a:rPr>
              <a:t>    F.when(F.col(</a:t>
            </a:r>
            <a:r>
              <a:rPr sz="1500" b="0" i="0">
                <a:solidFill>
                  <a:srgbClr val="A31515"/>
                </a:solidFill>
                <a:latin typeface="Consolas"/>
              </a:rPr>
              <a:t>"txn_type"</a:t>
            </a:r>
            <a:r>
              <a:rPr sz="1500" b="0" i="0">
                <a:solidFill>
                  <a:srgbClr val="242C38"/>
                </a:solidFill>
                <a:latin typeface="Consolas"/>
              </a:rPr>
              <a:t>) == </a:t>
            </a:r>
            <a:r>
              <a:rPr sz="1500" b="0" i="0">
                <a:solidFill>
                  <a:srgbClr val="A31515"/>
                </a:solidFill>
                <a:latin typeface="Consolas"/>
              </a:rPr>
              <a:t>"CREDIT"</a:t>
            </a:r>
            <a:r>
              <a:rPr sz="1500" b="0" i="0">
                <a:solidFill>
                  <a:srgbClr val="242C38"/>
                </a:solidFill>
                <a:latin typeface="Consolas"/>
              </a:rPr>
              <a:t>,</a:t>
            </a:r>
          </a:p>
          <a:p>
            <a:pPr>
              <a:lnSpc>
                <a:spcPct val="116000"/>
              </a:lnSpc>
              <a:spcAft>
                <a:spcPts val="0"/>
              </a:spcAft>
            </a:pPr>
            <a:r>
              <a:rPr sz="1500" b="0" i="0">
                <a:solidFill>
                  <a:srgbClr val="242C38"/>
                </a:solidFill>
                <a:latin typeface="Consolas"/>
              </a:rPr>
              <a:t>           F.col(</a:t>
            </a:r>
            <a:r>
              <a:rPr sz="1500" b="0" i="0">
                <a:solidFill>
                  <a:srgbClr val="A31515"/>
                </a:solidFill>
                <a:latin typeface="Consolas"/>
              </a:rPr>
              <a:t>"amount"</a:t>
            </a:r>
            <a:r>
              <a:rPr sz="1500" b="0" i="0">
                <a:solidFill>
                  <a:srgbClr val="242C38"/>
                </a:solidFill>
                <a:latin typeface="Consolas"/>
              </a:rPr>
              <a:t>)).otherwise(-F.col(</a:t>
            </a:r>
            <a:r>
              <a:rPr sz="1500" b="0" i="0">
                <a:solidFill>
                  <a:srgbClr val="A31515"/>
                </a:solidFill>
                <a:latin typeface="Consolas"/>
              </a:rPr>
              <a:t>"amount"</a:t>
            </a:r>
            <a:r>
              <a:rPr sz="1500" b="0" i="0">
                <a:solidFill>
                  <a:srgbClr val="242C38"/>
                </a:solidFill>
                <a:latin typeface="Consolas"/>
              </a:rPr>
              <a:t>)))</a:t>
            </a:r>
          </a:p>
        </p:txBody>
      </p:sp>
      <p:sp>
        <p:nvSpPr>
          <p:cNvPr id="7" name="TextBox 6"/>
          <p:cNvSpPr txBox="1"/>
          <p:nvPr/>
        </p:nvSpPr>
        <p:spPr>
          <a:xfrm>
            <a:off x="658368" y="4364736"/>
            <a:ext cx="10874959" cy="457200"/>
          </a:xfrm>
          <a:prstGeom prst="rect">
            <a:avLst/>
          </a:prstGeom>
          <a:noFill/>
        </p:spPr>
        <p:txBody>
          <a:bodyPr wrap="square" lIns="0" tIns="0" rIns="0" bIns="0">
            <a:spAutoFit/>
          </a:bodyPr>
          <a:lstStyle/>
          <a:p>
            <a:r>
              <a:rPr sz="1400" b="0" i="0">
                <a:solidFill>
                  <a:srgbClr val="5B6775"/>
                </a:solidFill>
                <a:latin typeface="Segoe UI"/>
              </a:rPr>
              <a:t>Dedup first, always. Duplicate rows are double money moving in a running total.</a:t>
            </a:r>
          </a:p>
        </p:txBody>
      </p:sp>
      <p:sp>
        <p:nvSpPr>
          <p:cNvPr id="8" name="Rectangle 7"/>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10  ·  Window functions</a:t>
            </a:r>
          </a:p>
        </p:txBody>
      </p:sp>
      <p:sp>
        <p:nvSpPr>
          <p:cNvPr id="10" name="TextBox 9"/>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106</a:t>
            </a: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Velocity check needs RANGE, not ROWS</a:t>
            </a:r>
          </a:p>
        </p:txBody>
      </p:sp>
      <p:sp>
        <p:nvSpPr>
          <p:cNvPr id="4" name="Rectangle 3"/>
          <p:cNvSpPr/>
          <p:nvPr/>
        </p:nvSpPr>
        <p:spPr>
          <a:xfrm>
            <a:off x="658368" y="1481328"/>
            <a:ext cx="10874959" cy="2447544"/>
          </a:xfrm>
          <a:prstGeom prst="rect">
            <a:avLst/>
          </a:prstGeom>
          <a:solidFill>
            <a:srgbClr val="F5F7F9"/>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81328"/>
            <a:ext cx="43180" cy="2447544"/>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77824" y="1645920"/>
            <a:ext cx="10509199" cy="2173224"/>
          </a:xfrm>
          <a:prstGeom prst="rect">
            <a:avLst/>
          </a:prstGeom>
          <a:noFill/>
        </p:spPr>
        <p:txBody>
          <a:bodyPr wrap="square" lIns="0" tIns="0" rIns="0" bIns="0">
            <a:spAutoFit/>
          </a:bodyPr>
          <a:lstStyle/>
          <a:p>
            <a:pPr>
              <a:lnSpc>
                <a:spcPct val="116000"/>
              </a:lnSpc>
              <a:spcAft>
                <a:spcPts val="0"/>
              </a:spcAft>
            </a:pPr>
            <a:r>
              <a:rPr sz="1500" b="0" i="0">
                <a:solidFill>
                  <a:srgbClr val="242C38"/>
                </a:solidFill>
                <a:latin typeface="Consolas"/>
              </a:rPr>
              <a:t>w_velocity = (Window.partitionBy(</a:t>
            </a:r>
            <a:r>
              <a:rPr sz="1500" b="0" i="0">
                <a:solidFill>
                  <a:srgbClr val="A31515"/>
                </a:solidFill>
                <a:latin typeface="Consolas"/>
              </a:rPr>
              <a:t>"account_id"</a:t>
            </a:r>
            <a:r>
              <a:rPr sz="1500" b="0" i="0">
                <a:solidFill>
                  <a:srgbClr val="242C38"/>
                </a:solidFill>
                <a:latin typeface="Consolas"/>
              </a:rPr>
              <a:t>)</a:t>
            </a:r>
          </a:p>
          <a:p>
            <a:pPr>
              <a:lnSpc>
                <a:spcPct val="116000"/>
              </a:lnSpc>
              <a:spcAft>
                <a:spcPts val="0"/>
              </a:spcAft>
            </a:pPr>
            <a:r>
              <a:rPr sz="1500" b="0" i="0">
                <a:solidFill>
                  <a:srgbClr val="242C38"/>
                </a:solidFill>
                <a:latin typeface="Consolas"/>
              </a:rPr>
              <a:t>    .orderBy(</a:t>
            </a:r>
            <a:r>
              <a:rPr sz="1500" b="0" i="0">
                <a:solidFill>
                  <a:srgbClr val="A31515"/>
                </a:solidFill>
                <a:latin typeface="Consolas"/>
              </a:rPr>
              <a:t>"txn_epoch"</a:t>
            </a:r>
            <a:r>
              <a:rPr sz="1500" b="0" i="0">
                <a:solidFill>
                  <a:srgbClr val="242C38"/>
                </a:solidFill>
                <a:latin typeface="Consolas"/>
              </a:rPr>
              <a:t>).rangeBetween(-</a:t>
            </a:r>
            <a:r>
              <a:rPr sz="1500" b="0" i="0">
                <a:solidFill>
                  <a:srgbClr val="098658"/>
                </a:solidFill>
                <a:latin typeface="Consolas"/>
              </a:rPr>
              <a:t>600</a:t>
            </a:r>
            <a:r>
              <a:rPr sz="1500" b="0" i="0">
                <a:solidFill>
                  <a:srgbClr val="242C38"/>
                </a:solidFill>
                <a:latin typeface="Consolas"/>
              </a:rPr>
              <a:t>, </a:t>
            </a:r>
            <a:r>
              <a:rPr sz="1500" b="0" i="0">
                <a:solidFill>
                  <a:srgbClr val="098658"/>
                </a:solidFill>
                <a:latin typeface="Consolas"/>
              </a:rPr>
              <a:t>0</a:t>
            </a:r>
            <a:r>
              <a:rPr sz="1500" b="0" i="0">
                <a:solidFill>
                  <a:srgbClr val="242C38"/>
                </a:solidFill>
                <a:latin typeface="Consolas"/>
              </a:rPr>
              <a:t>))</a:t>
            </a:r>
          </a:p>
          <a:p>
            <a:pPr>
              <a:lnSpc>
                <a:spcPct val="116000"/>
              </a:lnSpc>
              <a:spcAft>
                <a:spcPts val="0"/>
              </a:spcAft>
            </a:pPr>
            <a:r>
              <a:rPr sz="1500" b="0" i="0">
                <a:solidFill>
                  <a:srgbClr val="242C38"/>
                </a:solidFill>
                <a:latin typeface="Consolas"/>
              </a:rPr>
              <a:t> </a:t>
            </a:r>
          </a:p>
          <a:p>
            <a:pPr>
              <a:lnSpc>
                <a:spcPct val="116000"/>
              </a:lnSpc>
              <a:spcAft>
                <a:spcPts val="0"/>
              </a:spcAft>
            </a:pPr>
            <a:r>
              <a:rPr sz="1500" b="0" i="0">
                <a:solidFill>
                  <a:srgbClr val="242C38"/>
                </a:solidFill>
                <a:latin typeface="Consolas"/>
              </a:rPr>
              <a:t>velocity = deduped.withColumn(</a:t>
            </a:r>
            <a:r>
              <a:rPr sz="1500" b="0" i="0">
                <a:solidFill>
                  <a:srgbClr val="A31515"/>
                </a:solidFill>
                <a:latin typeface="Consolas"/>
              </a:rPr>
              <a:t>"txn_epoch"</a:t>
            </a:r>
            <a:r>
              <a:rPr sz="1500" b="0" i="0">
                <a:solidFill>
                  <a:srgbClr val="242C38"/>
                </a:solidFill>
                <a:latin typeface="Consolas"/>
              </a:rPr>
              <a:t>,</a:t>
            </a:r>
          </a:p>
          <a:p>
            <a:pPr>
              <a:lnSpc>
                <a:spcPct val="116000"/>
              </a:lnSpc>
              <a:spcAft>
                <a:spcPts val="0"/>
              </a:spcAft>
            </a:pPr>
            <a:r>
              <a:rPr sz="1500" b="0" i="0">
                <a:solidFill>
                  <a:srgbClr val="242C38"/>
                </a:solidFill>
                <a:latin typeface="Consolas"/>
              </a:rPr>
              <a:t>    F.col(</a:t>
            </a:r>
            <a:r>
              <a:rPr sz="1500" b="0" i="0">
                <a:solidFill>
                  <a:srgbClr val="A31515"/>
                </a:solidFill>
                <a:latin typeface="Consolas"/>
              </a:rPr>
              <a:t>"txn_ts"</a:t>
            </a:r>
            <a:r>
              <a:rPr sz="1500" b="0" i="0">
                <a:solidFill>
                  <a:srgbClr val="242C38"/>
                </a:solidFill>
                <a:latin typeface="Consolas"/>
              </a:rPr>
              <a:t>).cast(</a:t>
            </a:r>
            <a:r>
              <a:rPr sz="1500" b="0" i="0">
                <a:solidFill>
                  <a:srgbClr val="A31515"/>
                </a:solidFill>
                <a:latin typeface="Consolas"/>
              </a:rPr>
              <a:t>"long"</a:t>
            </a:r>
            <a:r>
              <a:rPr sz="1500" b="0" i="0">
                <a:solidFill>
                  <a:srgbClr val="242C38"/>
                </a:solidFill>
                <a:latin typeface="Consolas"/>
              </a:rPr>
              <a:t>)) \</a:t>
            </a:r>
          </a:p>
          <a:p>
            <a:pPr>
              <a:lnSpc>
                <a:spcPct val="116000"/>
              </a:lnSpc>
              <a:spcAft>
                <a:spcPts val="0"/>
              </a:spcAft>
            </a:pPr>
            <a:r>
              <a:rPr sz="1500" b="0" i="0">
                <a:solidFill>
                  <a:srgbClr val="242C38"/>
                </a:solidFill>
                <a:latin typeface="Consolas"/>
              </a:rPr>
              <a:t>    .withColumn(</a:t>
            </a:r>
            <a:r>
              <a:rPr sz="1500" b="0" i="0">
                <a:solidFill>
                  <a:srgbClr val="A31515"/>
                </a:solidFill>
                <a:latin typeface="Consolas"/>
              </a:rPr>
              <a:t>"txns_last_10min"</a:t>
            </a:r>
            <a:r>
              <a:rPr sz="1500" b="0" i="0">
                <a:solidFill>
                  <a:srgbClr val="242C38"/>
                </a:solidFill>
                <a:latin typeface="Consolas"/>
              </a:rPr>
              <a:t>,</a:t>
            </a:r>
          </a:p>
          <a:p>
            <a:pPr>
              <a:lnSpc>
                <a:spcPct val="116000"/>
              </a:lnSpc>
              <a:spcAft>
                <a:spcPts val="0"/>
              </a:spcAft>
            </a:pPr>
            <a:r>
              <a:rPr sz="1500" b="0" i="0">
                <a:solidFill>
                  <a:srgbClr val="242C38"/>
                </a:solidFill>
                <a:latin typeface="Consolas"/>
              </a:rPr>
              <a:t>        F.count(</a:t>
            </a:r>
            <a:r>
              <a:rPr sz="1500" b="0" i="0">
                <a:solidFill>
                  <a:srgbClr val="A31515"/>
                </a:solidFill>
                <a:latin typeface="Consolas"/>
              </a:rPr>
              <a:t>"*"</a:t>
            </a:r>
            <a:r>
              <a:rPr sz="1500" b="0" i="0">
                <a:solidFill>
                  <a:srgbClr val="242C38"/>
                </a:solidFill>
                <a:latin typeface="Consolas"/>
              </a:rPr>
              <a:t>).over(w_velocity))</a:t>
            </a:r>
          </a:p>
        </p:txBody>
      </p:sp>
      <p:sp>
        <p:nvSpPr>
          <p:cNvPr id="7" name="TextBox 6"/>
          <p:cNvSpPr txBox="1"/>
          <p:nvPr/>
        </p:nvSpPr>
        <p:spPr>
          <a:xfrm>
            <a:off x="658368" y="4075176"/>
            <a:ext cx="10874959" cy="457200"/>
          </a:xfrm>
          <a:prstGeom prst="rect">
            <a:avLst/>
          </a:prstGeom>
          <a:noFill/>
        </p:spPr>
        <p:txBody>
          <a:bodyPr wrap="square" lIns="0" tIns="0" rIns="0" bIns="0">
            <a:spAutoFit/>
          </a:bodyPr>
          <a:lstStyle/>
          <a:p>
            <a:r>
              <a:rPr sz="1400" b="0" i="0">
                <a:solidFill>
                  <a:srgbClr val="5B6775"/>
                </a:solidFill>
                <a:latin typeface="Segoe UI"/>
              </a:rPr>
              <a:t>-600 to 0 means the 600 seconds before this row, up to it, a real trailing window.</a:t>
            </a:r>
          </a:p>
        </p:txBody>
      </p:sp>
      <p:sp>
        <p:nvSpPr>
          <p:cNvPr id="8" name="Rectangle 7"/>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10  ·  Window functions</a:t>
            </a:r>
          </a:p>
        </p:txBody>
      </p:sp>
      <p:sp>
        <p:nvSpPr>
          <p:cNvPr id="10" name="TextBox 9"/>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107</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Reactivation after a dormancy gap</a:t>
            </a:r>
          </a:p>
        </p:txBody>
      </p:sp>
      <p:sp>
        <p:nvSpPr>
          <p:cNvPr id="4" name="Rectangle 3"/>
          <p:cNvSpPr/>
          <p:nvPr/>
        </p:nvSpPr>
        <p:spPr>
          <a:xfrm>
            <a:off x="658368" y="1481328"/>
            <a:ext cx="10874959" cy="2737104"/>
          </a:xfrm>
          <a:prstGeom prst="rect">
            <a:avLst/>
          </a:prstGeom>
          <a:solidFill>
            <a:srgbClr val="F5F7F9"/>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81328"/>
            <a:ext cx="43180" cy="2737104"/>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77824" y="1645920"/>
            <a:ext cx="10509199" cy="2462784"/>
          </a:xfrm>
          <a:prstGeom prst="rect">
            <a:avLst/>
          </a:prstGeom>
          <a:noFill/>
        </p:spPr>
        <p:txBody>
          <a:bodyPr wrap="square" lIns="0" tIns="0" rIns="0" bIns="0">
            <a:spAutoFit/>
          </a:bodyPr>
          <a:lstStyle/>
          <a:p>
            <a:pPr>
              <a:lnSpc>
                <a:spcPct val="116000"/>
              </a:lnSpc>
              <a:spcAft>
                <a:spcPts val="0"/>
              </a:spcAft>
            </a:pPr>
            <a:r>
              <a:rPr sz="1500" b="0" i="0">
                <a:solidFill>
                  <a:srgbClr val="242C38"/>
                </a:solidFill>
                <a:latin typeface="Consolas"/>
              </a:rPr>
              <a:t>w_time = Window.partitionBy(</a:t>
            </a:r>
            <a:r>
              <a:rPr sz="1500" b="0" i="0">
                <a:solidFill>
                  <a:srgbClr val="A31515"/>
                </a:solidFill>
                <a:latin typeface="Consolas"/>
              </a:rPr>
              <a:t>"account_id"</a:t>
            </a:r>
            <a:r>
              <a:rPr sz="1500" b="0" i="0">
                <a:solidFill>
                  <a:srgbClr val="242C38"/>
                </a:solidFill>
                <a:latin typeface="Consolas"/>
              </a:rPr>
              <a:t>) \</a:t>
            </a:r>
          </a:p>
          <a:p>
            <a:pPr>
              <a:lnSpc>
                <a:spcPct val="116000"/>
              </a:lnSpc>
              <a:spcAft>
                <a:spcPts val="0"/>
              </a:spcAft>
            </a:pPr>
            <a:r>
              <a:rPr sz="1500" b="0" i="0">
                <a:solidFill>
                  <a:srgbClr val="242C38"/>
                </a:solidFill>
                <a:latin typeface="Consolas"/>
              </a:rPr>
              <a:t>    .orderBy(</a:t>
            </a:r>
            <a:r>
              <a:rPr sz="1500" b="0" i="0">
                <a:solidFill>
                  <a:srgbClr val="A31515"/>
                </a:solidFill>
                <a:latin typeface="Consolas"/>
              </a:rPr>
              <a:t>"txn_ts"</a:t>
            </a:r>
            <a:r>
              <a:rPr sz="1500" b="0" i="0">
                <a:solidFill>
                  <a:srgbClr val="242C38"/>
                </a:solidFill>
                <a:latin typeface="Consolas"/>
              </a:rPr>
              <a:t>)</a:t>
            </a:r>
          </a:p>
          <a:p>
            <a:pPr>
              <a:lnSpc>
                <a:spcPct val="116000"/>
              </a:lnSpc>
              <a:spcAft>
                <a:spcPts val="0"/>
              </a:spcAft>
            </a:pPr>
            <a:r>
              <a:rPr sz="1500" b="0" i="0">
                <a:solidFill>
                  <a:srgbClr val="242C38"/>
                </a:solidFill>
                <a:latin typeface="Consolas"/>
              </a:rPr>
              <a:t> </a:t>
            </a:r>
          </a:p>
          <a:p>
            <a:pPr>
              <a:lnSpc>
                <a:spcPct val="116000"/>
              </a:lnSpc>
              <a:spcAft>
                <a:spcPts val="0"/>
              </a:spcAft>
            </a:pPr>
            <a:r>
              <a:rPr sz="1500" b="0" i="0">
                <a:solidFill>
                  <a:srgbClr val="242C38"/>
                </a:solidFill>
                <a:latin typeface="Consolas"/>
              </a:rPr>
              <a:t>gaps = deduped.withColumn(</a:t>
            </a:r>
            <a:r>
              <a:rPr sz="1500" b="0" i="0">
                <a:solidFill>
                  <a:srgbClr val="A31515"/>
                </a:solidFill>
                <a:latin typeface="Consolas"/>
              </a:rPr>
              <a:t>"prev_txn_ts"</a:t>
            </a:r>
            <a:r>
              <a:rPr sz="1500" b="0" i="0">
                <a:solidFill>
                  <a:srgbClr val="242C38"/>
                </a:solidFill>
                <a:latin typeface="Consolas"/>
              </a:rPr>
              <a:t>,</a:t>
            </a:r>
          </a:p>
          <a:p>
            <a:pPr>
              <a:lnSpc>
                <a:spcPct val="116000"/>
              </a:lnSpc>
              <a:spcAft>
                <a:spcPts val="0"/>
              </a:spcAft>
            </a:pPr>
            <a:r>
              <a:rPr sz="1500" b="0" i="0">
                <a:solidFill>
                  <a:srgbClr val="242C38"/>
                </a:solidFill>
                <a:latin typeface="Consolas"/>
              </a:rPr>
              <a:t>    F.lag(</a:t>
            </a:r>
            <a:r>
              <a:rPr sz="1500" b="0" i="0">
                <a:solidFill>
                  <a:srgbClr val="A31515"/>
                </a:solidFill>
                <a:latin typeface="Consolas"/>
              </a:rPr>
              <a:t>"txn_ts"</a:t>
            </a:r>
            <a:r>
              <a:rPr sz="1500" b="0" i="0">
                <a:solidFill>
                  <a:srgbClr val="242C38"/>
                </a:solidFill>
                <a:latin typeface="Consolas"/>
              </a:rPr>
              <a:t>).over(w_time)) \</a:t>
            </a:r>
          </a:p>
          <a:p>
            <a:pPr>
              <a:lnSpc>
                <a:spcPct val="116000"/>
              </a:lnSpc>
              <a:spcAft>
                <a:spcPts val="0"/>
              </a:spcAft>
            </a:pPr>
            <a:r>
              <a:rPr sz="1500" b="0" i="0">
                <a:solidFill>
                  <a:srgbClr val="242C38"/>
                </a:solidFill>
                <a:latin typeface="Consolas"/>
              </a:rPr>
              <a:t>    .withColumn(</a:t>
            </a:r>
            <a:r>
              <a:rPr sz="1500" b="0" i="0">
                <a:solidFill>
                  <a:srgbClr val="A31515"/>
                </a:solidFill>
                <a:latin typeface="Consolas"/>
              </a:rPr>
              <a:t>"gap_hours"</a:t>
            </a:r>
            <a:r>
              <a:rPr sz="1500" b="0" i="0">
                <a:solidFill>
                  <a:srgbClr val="242C38"/>
                </a:solidFill>
                <a:latin typeface="Consolas"/>
              </a:rPr>
              <a:t>,</a:t>
            </a:r>
          </a:p>
          <a:p>
            <a:pPr>
              <a:lnSpc>
                <a:spcPct val="116000"/>
              </a:lnSpc>
              <a:spcAft>
                <a:spcPts val="0"/>
              </a:spcAft>
            </a:pPr>
            <a:r>
              <a:rPr sz="1500" b="0" i="0">
                <a:solidFill>
                  <a:srgbClr val="242C38"/>
                </a:solidFill>
                <a:latin typeface="Consolas"/>
              </a:rPr>
              <a:t>        (F.col(</a:t>
            </a:r>
            <a:r>
              <a:rPr sz="1500" b="0" i="0">
                <a:solidFill>
                  <a:srgbClr val="A31515"/>
                </a:solidFill>
                <a:latin typeface="Consolas"/>
              </a:rPr>
              <a:t>"txn_ts"</a:t>
            </a:r>
            <a:r>
              <a:rPr sz="1500" b="0" i="0">
                <a:solidFill>
                  <a:srgbClr val="242C38"/>
                </a:solidFill>
                <a:latin typeface="Consolas"/>
              </a:rPr>
              <a:t>).cast(</a:t>
            </a:r>
            <a:r>
              <a:rPr sz="1500" b="0" i="0">
                <a:solidFill>
                  <a:srgbClr val="A31515"/>
                </a:solidFill>
                <a:latin typeface="Consolas"/>
              </a:rPr>
              <a:t>"long"</a:t>
            </a:r>
            <a:r>
              <a:rPr sz="1500" b="0" i="0">
                <a:solidFill>
                  <a:srgbClr val="242C38"/>
                </a:solidFill>
                <a:latin typeface="Consolas"/>
              </a:rPr>
              <a:t>) -</a:t>
            </a:r>
          </a:p>
          <a:p>
            <a:pPr>
              <a:lnSpc>
                <a:spcPct val="116000"/>
              </a:lnSpc>
              <a:spcAft>
                <a:spcPts val="0"/>
              </a:spcAft>
            </a:pPr>
            <a:r>
              <a:rPr sz="1500" b="0" i="0">
                <a:solidFill>
                  <a:srgbClr val="242C38"/>
                </a:solidFill>
                <a:latin typeface="Consolas"/>
              </a:rPr>
              <a:t>         F.col(</a:t>
            </a:r>
            <a:r>
              <a:rPr sz="1500" b="0" i="0">
                <a:solidFill>
                  <a:srgbClr val="A31515"/>
                </a:solidFill>
                <a:latin typeface="Consolas"/>
              </a:rPr>
              <a:t>"prev_txn_ts"</a:t>
            </a:r>
            <a:r>
              <a:rPr sz="1500" b="0" i="0">
                <a:solidFill>
                  <a:srgbClr val="242C38"/>
                </a:solidFill>
                <a:latin typeface="Consolas"/>
              </a:rPr>
              <a:t>).cast(</a:t>
            </a:r>
            <a:r>
              <a:rPr sz="1500" b="0" i="0">
                <a:solidFill>
                  <a:srgbClr val="A31515"/>
                </a:solidFill>
                <a:latin typeface="Consolas"/>
              </a:rPr>
              <a:t>"long"</a:t>
            </a:r>
            <a:r>
              <a:rPr sz="1500" b="0" i="0">
                <a:solidFill>
                  <a:srgbClr val="242C38"/>
                </a:solidFill>
                <a:latin typeface="Consolas"/>
              </a:rPr>
              <a:t>)) / </a:t>
            </a:r>
            <a:r>
              <a:rPr sz="1500" b="0" i="0">
                <a:solidFill>
                  <a:srgbClr val="098658"/>
                </a:solidFill>
                <a:latin typeface="Consolas"/>
              </a:rPr>
              <a:t>3600</a:t>
            </a:r>
            <a:r>
              <a:rPr sz="1500" b="0" i="0">
                <a:solidFill>
                  <a:srgbClr val="242C38"/>
                </a:solidFill>
                <a:latin typeface="Consolas"/>
              </a:rPr>
              <a:t>)</a:t>
            </a:r>
          </a:p>
        </p:txBody>
      </p:sp>
      <p:sp>
        <p:nvSpPr>
          <p:cNvPr id="7" name="TextBox 6"/>
          <p:cNvSpPr txBox="1"/>
          <p:nvPr/>
        </p:nvSpPr>
        <p:spPr>
          <a:xfrm>
            <a:off x="658368" y="4364736"/>
            <a:ext cx="10874959" cy="457200"/>
          </a:xfrm>
          <a:prstGeom prst="rect">
            <a:avLst/>
          </a:prstGeom>
          <a:noFill/>
        </p:spPr>
        <p:txBody>
          <a:bodyPr wrap="square" lIns="0" tIns="0" rIns="0" bIns="0">
            <a:spAutoFit/>
          </a:bodyPr>
          <a:lstStyle/>
          <a:p>
            <a:r>
              <a:rPr sz="1400" b="0" i="0">
                <a:solidFill>
                  <a:srgbClr val="5B6775"/>
                </a:solidFill>
                <a:latin typeface="Segoe UI"/>
              </a:rPr>
              <a:t>lag() looks at this account's previous row. A gap over 24 hours is a real signal.</a:t>
            </a:r>
          </a:p>
        </p:txBody>
      </p:sp>
      <p:sp>
        <p:nvSpPr>
          <p:cNvPr id="8" name="Rectangle 7"/>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10  ·  Window functions</a:t>
            </a:r>
          </a:p>
        </p:txBody>
      </p:sp>
      <p:sp>
        <p:nvSpPr>
          <p:cNvPr id="10" name="TextBox 9"/>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108</a:t>
            </a: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Every window is a shuffle unless data already agrees</a:t>
            </a:r>
          </a:p>
        </p:txBody>
      </p:sp>
      <p:graphicFrame>
        <p:nvGraphicFramePr>
          <p:cNvPr id="4" name="Table 3"/>
          <p:cNvGraphicFramePr>
            <a:graphicFrameLocks noGrp="1"/>
          </p:cNvGraphicFramePr>
          <p:nvPr/>
        </p:nvGraphicFramePr>
        <p:xfrm>
          <a:off x="658368" y="1481328"/>
          <a:ext cx="10874958" cy="1353312"/>
        </p:xfrm>
        <a:graphic>
          <a:graphicData uri="http://schemas.openxmlformats.org/drawingml/2006/table">
            <a:tbl>
              <a:tblPr firstRow="1" bandRow="1">
                <a:tableStyleId>{5C22544A-7EE6-4342-B048-85BDC9FD1C3A}</a:tableStyleId>
              </a:tblPr>
              <a:tblGrid>
                <a:gridCol w="4797776">
                  <a:extLst>
                    <a:ext uri="{9D8B030D-6E8A-4147-A177-3AD203B41FA5}">
                      <a16:colId xmlns:a16="http://schemas.microsoft.com/office/drawing/2014/main" val="20000"/>
                    </a:ext>
                  </a:extLst>
                </a:gridCol>
                <a:gridCol w="6077182">
                  <a:extLst>
                    <a:ext uri="{9D8B030D-6E8A-4147-A177-3AD203B41FA5}">
                      <a16:colId xmlns:a16="http://schemas.microsoft.com/office/drawing/2014/main" val="20001"/>
                    </a:ext>
                  </a:extLst>
                </a:gridCol>
              </a:tblGrid>
              <a:tr h="402336">
                <a:tc>
                  <a:txBody>
                    <a:bodyPr/>
                    <a:lstStyle/>
                    <a:p>
                      <a:r>
                        <a:rPr sz="1450" b="1" i="0">
                          <a:solidFill>
                            <a:srgbClr val="FFFFFF"/>
                          </a:solidFill>
                          <a:latin typeface="Segoe UI Semibold"/>
                        </a:rPr>
                        <a:t>Problem</a:t>
                      </a:r>
                    </a:p>
                  </a:txBody>
                  <a:tcPr anchor="ctr">
                    <a:solidFill>
                      <a:srgbClr val="1F4E79"/>
                    </a:solidFill>
                  </a:tcPr>
                </a:tc>
                <a:tc>
                  <a:txBody>
                    <a:bodyPr/>
                    <a:lstStyle/>
                    <a:p>
                      <a:r>
                        <a:rPr sz="1450" b="1" i="0">
                          <a:solidFill>
                            <a:srgbClr val="FFFFFF"/>
                          </a:solidFill>
                          <a:latin typeface="Segoe UI Semibold"/>
                        </a:rPr>
                        <a:t>What happens</a:t>
                      </a:r>
                    </a:p>
                  </a:txBody>
                  <a:tcPr anchor="ctr">
                    <a:solidFill>
                      <a:srgbClr val="1F4E79"/>
                    </a:solidFill>
                  </a:tcPr>
                </a:tc>
                <a:extLst>
                  <a:ext uri="{0D108BD9-81ED-4DB2-BD59-A6C34878D82A}">
                    <a16:rowId xmlns:a16="http://schemas.microsoft.com/office/drawing/2014/main" val="10000"/>
                  </a:ext>
                </a:extLst>
              </a:tr>
              <a:tr h="475488">
                <a:tc>
                  <a:txBody>
                    <a:bodyPr/>
                    <a:lstStyle/>
                    <a:p>
                      <a:pPr>
                        <a:lnSpc>
                          <a:spcPct val="106000"/>
                        </a:lnSpc>
                      </a:pPr>
                      <a:r>
                        <a:rPr sz="1400" b="1" i="0">
                          <a:solidFill>
                            <a:srgbClr val="242C38"/>
                          </a:solidFill>
                          <a:latin typeface="Segoe UI"/>
                        </a:rPr>
                        <a:t>No </a:t>
                      </a:r>
                      <a:r>
                        <a:rPr sz="1350" b="0" i="0">
                          <a:solidFill>
                            <a:srgbClr val="2E74B5"/>
                          </a:solidFill>
                          <a:latin typeface="Consolas"/>
                        </a:rPr>
                        <a:t>PARTITION BY</a:t>
                      </a:r>
                      <a:r>
                        <a:rPr sz="1400" b="1" i="0">
                          <a:solidFill>
                            <a:srgbClr val="242C38"/>
                          </a:solidFill>
                          <a:latin typeface="Segoe UI"/>
                        </a:rPr>
                        <a:t> at all</a:t>
                      </a:r>
                    </a:p>
                  </a:txBody>
                  <a:tcPr marT="36576" marB="36576" anchor="ctr">
                    <a:solidFill>
                      <a:srgbClr val="EEF3F8"/>
                    </a:solidFill>
                  </a:tcPr>
                </a:tc>
                <a:tc>
                  <a:txBody>
                    <a:bodyPr/>
                    <a:lstStyle/>
                    <a:p>
                      <a:pPr>
                        <a:lnSpc>
                          <a:spcPct val="106000"/>
                        </a:lnSpc>
                      </a:pPr>
                      <a:r>
                        <a:rPr sz="1400" b="0" i="0">
                          <a:solidFill>
                            <a:srgbClr val="242C38"/>
                          </a:solidFill>
                          <a:latin typeface="Segoe UI"/>
                        </a:rPr>
                        <a:t>one worker does everything, everyone else idles</a:t>
                      </a:r>
                    </a:p>
                  </a:txBody>
                  <a:tcPr marT="36576" marB="36576" anchor="ctr">
                    <a:solidFill>
                      <a:srgbClr val="EEF3F8"/>
                    </a:solidFill>
                  </a:tcPr>
                </a:tc>
                <a:extLst>
                  <a:ext uri="{0D108BD9-81ED-4DB2-BD59-A6C34878D82A}">
                    <a16:rowId xmlns:a16="http://schemas.microsoft.com/office/drawing/2014/main" val="10001"/>
                  </a:ext>
                </a:extLst>
              </a:tr>
              <a:tr h="475488">
                <a:tc>
                  <a:txBody>
                    <a:bodyPr/>
                    <a:lstStyle/>
                    <a:p>
                      <a:pPr>
                        <a:lnSpc>
                          <a:spcPct val="106000"/>
                        </a:lnSpc>
                      </a:pPr>
                      <a:r>
                        <a:rPr sz="1400" b="1" i="0">
                          <a:solidFill>
                            <a:srgbClr val="242C38"/>
                          </a:solidFill>
                          <a:latin typeface="Segoe UI"/>
                        </a:rPr>
                        <a:t>One key dominates the partition</a:t>
                      </a:r>
                    </a:p>
                  </a:txBody>
                  <a:tcPr marT="36576" marB="36576" anchor="ctr">
                    <a:solidFill>
                      <a:srgbClr val="FFFFFF"/>
                    </a:solidFill>
                  </a:tcPr>
                </a:tc>
                <a:tc>
                  <a:txBody>
                    <a:bodyPr/>
                    <a:lstStyle/>
                    <a:p>
                      <a:pPr>
                        <a:lnSpc>
                          <a:spcPct val="106000"/>
                        </a:lnSpc>
                      </a:pPr>
                      <a:r>
                        <a:rPr sz="1400" b="0" i="0">
                          <a:solidFill>
                            <a:srgbClr val="242C38"/>
                          </a:solidFill>
                          <a:latin typeface="Segoe UI"/>
                        </a:rPr>
                        <a:t>that worker's stage becomes the whole job's ceiling</a:t>
                      </a:r>
                    </a:p>
                  </a:txBody>
                  <a:tcPr marT="36576" marB="36576" anchor="ctr">
                    <a:solidFill>
                      <a:srgbClr val="FFFFFF"/>
                    </a:solidFill>
                  </a:tcPr>
                </a:tc>
                <a:extLst>
                  <a:ext uri="{0D108BD9-81ED-4DB2-BD59-A6C34878D82A}">
                    <a16:rowId xmlns:a16="http://schemas.microsoft.com/office/drawing/2014/main" val="10002"/>
                  </a:ext>
                </a:extLst>
              </a:tr>
            </a:tbl>
          </a:graphicData>
        </a:graphic>
      </p:graphicFrame>
      <p:sp>
        <p:nvSpPr>
          <p:cNvPr id="5" name="TextBox 4"/>
          <p:cNvSpPr txBox="1"/>
          <p:nvPr/>
        </p:nvSpPr>
        <p:spPr>
          <a:xfrm>
            <a:off x="658368" y="5724144"/>
            <a:ext cx="10874959" cy="502920"/>
          </a:xfrm>
          <a:prstGeom prst="rect">
            <a:avLst/>
          </a:prstGeom>
          <a:noFill/>
        </p:spPr>
        <p:txBody>
          <a:bodyPr wrap="square" lIns="0" tIns="0" rIns="0" bIns="0">
            <a:spAutoFit/>
          </a:bodyPr>
          <a:lstStyle/>
          <a:p>
            <a:r>
              <a:rPr sz="1300" b="0" i="1">
                <a:solidFill>
                  <a:srgbClr val="5B6775"/>
                </a:solidFill>
                <a:latin typeface="Segoe UI"/>
              </a:rPr>
              <a:t>Pre-aggregate to a daily grain first when row-level detail isn't the real question.</a:t>
            </a:r>
          </a:p>
        </p:txBody>
      </p:sp>
      <p:sp>
        <p:nvSpPr>
          <p:cNvPr id="6" name="Rectangle 5"/>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10  ·  Window functions</a:t>
            </a:r>
          </a:p>
        </p:txBody>
      </p:sp>
      <p:sp>
        <p:nvSpPr>
          <p:cNvPr id="8" name="TextBox 7"/>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109</a:t>
            </a: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Module 10 in one screen</a:t>
            </a:r>
          </a:p>
        </p:txBody>
      </p:sp>
      <p:sp>
        <p:nvSpPr>
          <p:cNvPr id="4" name="TextBox 3"/>
          <p:cNvSpPr txBox="1"/>
          <p:nvPr/>
        </p:nvSpPr>
        <p:spPr>
          <a:xfrm>
            <a:off x="658368" y="1481328"/>
            <a:ext cx="10874959" cy="4526280"/>
          </a:xfrm>
          <a:prstGeom prst="rect">
            <a:avLst/>
          </a:prstGeom>
          <a:noFill/>
        </p:spPr>
        <p:txBody>
          <a:bodyPr wrap="square" lIns="0" tIns="0" rIns="0" bIns="0">
            <a:spAutoFit/>
          </a:bodyPr>
          <a:lstStyle/>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ROWS counts physical rows, RANGE counts by order value, pick deliberately</a:t>
            </a:r>
          </a:p>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Adding ORDER BY silently changes the default frame, be explicit with rowsBetween</a:t>
            </a:r>
          </a:p>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Always dedup with row_number() before a running balance</a:t>
            </a:r>
          </a:p>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A velocity check needs RANGE on a numeric time column, not ROWS</a:t>
            </a:r>
          </a:p>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Every PARTITION BY is a shuffle, check for skew before trusting the runtime</a:t>
            </a:r>
          </a:p>
        </p:txBody>
      </p:sp>
      <p:sp>
        <p:nvSpPr>
          <p:cNvPr id="5" name="Rectangle 4"/>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10  ·  Window functions</a:t>
            </a:r>
          </a:p>
        </p:txBody>
      </p:sp>
      <p:sp>
        <p:nvSpPr>
          <p:cNvPr id="7" name="TextBox 6"/>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110</a:t>
            </a: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5840" y="1737360"/>
            <a:ext cx="10058400" cy="457200"/>
          </a:xfrm>
          <a:prstGeom prst="rect">
            <a:avLst/>
          </a:prstGeom>
          <a:noFill/>
        </p:spPr>
        <p:txBody>
          <a:bodyPr wrap="square" lIns="0" tIns="0" rIns="0" bIns="0">
            <a:spAutoFit/>
          </a:bodyPr>
          <a:lstStyle/>
          <a:p>
            <a:r>
              <a:rPr sz="1500" b="1" i="0">
                <a:solidFill>
                  <a:srgbClr val="E88A2B"/>
                </a:solidFill>
                <a:latin typeface="Segoe UI Semibold"/>
              </a:rPr>
              <a:t>DAY 3</a:t>
            </a:r>
          </a:p>
        </p:txBody>
      </p:sp>
      <p:sp>
        <p:nvSpPr>
          <p:cNvPr id="5" name="TextBox 4"/>
          <p:cNvSpPr txBox="1"/>
          <p:nvPr/>
        </p:nvSpPr>
        <p:spPr>
          <a:xfrm>
            <a:off x="1005840" y="2194560"/>
            <a:ext cx="10058400" cy="914400"/>
          </a:xfrm>
          <a:prstGeom prst="rect">
            <a:avLst/>
          </a:prstGeom>
          <a:noFill/>
        </p:spPr>
        <p:txBody>
          <a:bodyPr wrap="square" lIns="0" tIns="0" rIns="0" bIns="0">
            <a:spAutoFit/>
          </a:bodyPr>
          <a:lstStyle/>
          <a:p>
            <a:r>
              <a:rPr sz="4000" b="1" i="0">
                <a:solidFill>
                  <a:srgbClr val="1F4E79"/>
                </a:solidFill>
                <a:latin typeface="Segoe UI Semibold"/>
              </a:rPr>
              <a:t>Production engineering</a:t>
            </a:r>
          </a:p>
        </p:txBody>
      </p:sp>
      <p:sp>
        <p:nvSpPr>
          <p:cNvPr id="6" name="TextBox 5"/>
          <p:cNvSpPr txBox="1"/>
          <p:nvPr/>
        </p:nvSpPr>
        <p:spPr>
          <a:xfrm>
            <a:off x="1005840" y="3429000"/>
            <a:ext cx="9692640" cy="2194560"/>
          </a:xfrm>
          <a:prstGeom prst="rect">
            <a:avLst/>
          </a:prstGeom>
          <a:noFill/>
        </p:spPr>
        <p:txBody>
          <a:bodyPr wrap="square" lIns="0" tIns="0" rIns="0" bIns="0">
            <a:spAutoFit/>
          </a:bodyPr>
          <a:lstStyle/>
          <a:p>
            <a:pPr>
              <a:spcAft>
                <a:spcPts val="1000"/>
              </a:spcAft>
            </a:pPr>
            <a:r>
              <a:rPr sz="1700" b="1" i="0">
                <a:solidFill>
                  <a:srgbClr val="E88A2B"/>
                </a:solidFill>
                <a:latin typeface="Segoe UI Semibold"/>
              </a:rPr>
              <a:t>11   </a:t>
            </a:r>
            <a:r>
              <a:rPr sz="1700" b="0" i="0">
                <a:solidFill>
                  <a:srgbClr val="242C38"/>
                </a:solidFill>
                <a:latin typeface="Segoe UI"/>
              </a:rPr>
              <a:t>Table formats: Delta and Iceberg</a:t>
            </a:r>
            <a:r>
              <a:rPr sz="1400" b="0" i="1">
                <a:solidFill>
                  <a:srgbClr val="9AA5B1"/>
                </a:solidFill>
                <a:latin typeface="Segoe UI"/>
              </a:rPr>
              <a:t>   Adding a transaction log on top of Parquet, so MERGE, time</a:t>
            </a:r>
          </a:p>
          <a:p>
            <a:pPr>
              <a:spcAft>
                <a:spcPts val="1000"/>
              </a:spcAft>
            </a:pPr>
            <a:r>
              <a:rPr sz="1700" b="1" i="0">
                <a:solidFill>
                  <a:srgbClr val="E88A2B"/>
                </a:solidFill>
                <a:latin typeface="Segoe UI Semibold"/>
              </a:rPr>
              <a:t>12   </a:t>
            </a:r>
            <a:r>
              <a:rPr sz="1700" b="0" i="0">
                <a:solidFill>
                  <a:srgbClr val="242C38"/>
                </a:solidFill>
                <a:latin typeface="Segoe UI"/>
              </a:rPr>
              <a:t>Polyglot persistence</a:t>
            </a:r>
            <a:r>
              <a:rPr sz="1400" b="0" i="1">
                <a:solidFill>
                  <a:srgbClr val="9AA5B1"/>
                </a:solidFill>
                <a:latin typeface="Segoe UI"/>
              </a:rPr>
              <a:t>   The right file format for the job, and why Spark must neve</a:t>
            </a:r>
          </a:p>
          <a:p>
            <a:pPr>
              <a:spcAft>
                <a:spcPts val="1000"/>
              </a:spcAft>
            </a:pPr>
            <a:r>
              <a:rPr sz="1700" b="1" i="0">
                <a:solidFill>
                  <a:srgbClr val="E88A2B"/>
                </a:solidFill>
                <a:latin typeface="Segoe UI Semibold"/>
              </a:rPr>
              <a:t>13   </a:t>
            </a:r>
            <a:r>
              <a:rPr sz="1700" b="0" i="0">
                <a:solidFill>
                  <a:srgbClr val="242C38"/>
                </a:solidFill>
                <a:latin typeface="Segoe UI"/>
              </a:rPr>
              <a:t>Structured streaming</a:t>
            </a:r>
            <a:r>
              <a:rPr sz="1400" b="0" i="1">
                <a:solidFill>
                  <a:srgbClr val="9AA5B1"/>
                </a:solidFill>
                <a:latin typeface="Segoe UI"/>
              </a:rPr>
              <a:t>   The same DataFrame code, run continuously, with a trigger,</a:t>
            </a:r>
          </a:p>
          <a:p>
            <a:pPr>
              <a:spcAft>
                <a:spcPts val="1000"/>
              </a:spcAft>
            </a:pPr>
            <a:r>
              <a:rPr sz="1700" b="1" i="0">
                <a:solidFill>
                  <a:srgbClr val="E88A2B"/>
                </a:solidFill>
                <a:latin typeface="Segoe UI Semibold"/>
              </a:rPr>
              <a:t>14   </a:t>
            </a:r>
            <a:r>
              <a:rPr sz="1700" b="0" i="0">
                <a:solidFill>
                  <a:srgbClr val="242C38"/>
                </a:solidFill>
                <a:latin typeface="Segoe UI"/>
              </a:rPr>
              <a:t>Performance tuning</a:t>
            </a:r>
            <a:r>
              <a:rPr sz="1400" b="0" i="1">
                <a:solidFill>
                  <a:srgbClr val="9AA5B1"/>
                </a:solidFill>
                <a:latin typeface="Segoe UI"/>
              </a:rPr>
              <a:t>   Measure the real cause, apply the one fix that matches it,</a:t>
            </a:r>
          </a:p>
          <a:p>
            <a:pPr>
              <a:spcAft>
                <a:spcPts val="1000"/>
              </a:spcAft>
            </a:pPr>
            <a:r>
              <a:rPr sz="1700" b="1" i="0">
                <a:solidFill>
                  <a:srgbClr val="E88A2B"/>
                </a:solidFill>
                <a:latin typeface="Segoe UI Semibold"/>
              </a:rPr>
              <a:t>15   </a:t>
            </a:r>
            <a:r>
              <a:rPr sz="1700" b="0" i="0">
                <a:solidFill>
                  <a:srgbClr val="242C38"/>
                </a:solidFill>
                <a:latin typeface="Segoe UI"/>
              </a:rPr>
              <a:t>Packaging PySpark applications</a:t>
            </a:r>
            <a:r>
              <a:rPr sz="1400" b="0" i="1">
                <a:solidFill>
                  <a:srgbClr val="9AA5B1"/>
                </a:solidFill>
                <a:latin typeface="Segoe UI"/>
              </a:rPr>
              <a:t>   Turning a script into a tested, versioned package that run</a:t>
            </a:r>
          </a:p>
          <a:p>
            <a:pPr>
              <a:spcAft>
                <a:spcPts val="1000"/>
              </a:spcAft>
            </a:pPr>
            <a:r>
              <a:rPr sz="1700" b="1" i="0">
                <a:solidFill>
                  <a:srgbClr val="E88A2B"/>
                </a:solidFill>
                <a:latin typeface="Segoe UI Semibold"/>
              </a:rPr>
              <a:t>16   </a:t>
            </a:r>
            <a:r>
              <a:rPr sz="1700" b="0" i="0">
                <a:solidFill>
                  <a:srgbClr val="242C38"/>
                </a:solidFill>
                <a:latin typeface="Segoe UI"/>
              </a:rPr>
              <a:t>MLlib overview</a:t>
            </a:r>
            <a:r>
              <a:rPr sz="1400" b="0" i="1">
                <a:solidFill>
                  <a:srgbClr val="9AA5B1"/>
                </a:solidFill>
                <a:latin typeface="Segoe UI"/>
              </a:rPr>
              <a:t>   What spark.ml covers, how to read a Pipeline, and when the</a:t>
            </a:r>
          </a:p>
          <a:p>
            <a:pPr>
              <a:spcAft>
                <a:spcPts val="1000"/>
              </a:spcAft>
            </a:pPr>
            <a:r>
              <a:rPr sz="1700" b="1" i="0">
                <a:solidFill>
                  <a:srgbClr val="E88A2B"/>
                </a:solidFill>
                <a:latin typeface="Segoe UI Semibold"/>
              </a:rPr>
              <a:t>17   </a:t>
            </a:r>
            <a:r>
              <a:rPr sz="1700" b="0" i="0">
                <a:solidFill>
                  <a:srgbClr val="242C38"/>
                </a:solidFill>
                <a:latin typeface="Segoe UI"/>
              </a:rPr>
              <a:t>Airflow basics</a:t>
            </a:r>
            <a:r>
              <a:rPr sz="1400" b="0" i="1">
                <a:solidFill>
                  <a:srgbClr val="9AA5B1"/>
                </a:solidFill>
                <a:latin typeface="Segoe UI"/>
              </a:rPr>
              <a:t>   Reading a DAG, mapping it to the scheduler vocabulary this</a:t>
            </a:r>
          </a:p>
          <a:p>
            <a:pPr>
              <a:spcAft>
                <a:spcPts val="1000"/>
              </a:spcAft>
            </a:pPr>
            <a:r>
              <a:rPr sz="1700" b="1" i="0">
                <a:solidFill>
                  <a:srgbClr val="E88A2B"/>
                </a:solidFill>
                <a:latin typeface="Segoe UI Semibold"/>
              </a:rPr>
              <a:t>18   </a:t>
            </a:r>
            <a:r>
              <a:rPr sz="1700" b="0" i="0">
                <a:solidFill>
                  <a:srgbClr val="242C38"/>
                </a:solidFill>
                <a:latin typeface="Segoe UI"/>
              </a:rPr>
              <a:t>Airflow scheduling lab</a:t>
            </a:r>
            <a:r>
              <a:rPr sz="1400" b="0" i="1">
                <a:solidFill>
                  <a:srgbClr val="9AA5B1"/>
                </a:solidFill>
                <a:latin typeface="Segoe UI"/>
              </a:rPr>
              <a:t>   Installing Airflow on WSL2 next to PySpark, and triggering</a:t>
            </a: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858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51560" y="2057400"/>
            <a:ext cx="9692640" cy="457200"/>
          </a:xfrm>
          <a:prstGeom prst="rect">
            <a:avLst/>
          </a:prstGeom>
          <a:noFill/>
        </p:spPr>
        <p:txBody>
          <a:bodyPr wrap="square" lIns="0" tIns="0" rIns="0" bIns="0">
            <a:spAutoFit/>
          </a:bodyPr>
          <a:lstStyle/>
          <a:p>
            <a:r>
              <a:rPr sz="1300" b="1" i="0">
                <a:solidFill>
                  <a:srgbClr val="2E74B5"/>
                </a:solidFill>
                <a:latin typeface="Segoe UI Semibold"/>
              </a:rPr>
              <a:t>MODULE 11</a:t>
            </a:r>
          </a:p>
        </p:txBody>
      </p:sp>
      <p:sp>
        <p:nvSpPr>
          <p:cNvPr id="5" name="TextBox 4"/>
          <p:cNvSpPr txBox="1"/>
          <p:nvPr/>
        </p:nvSpPr>
        <p:spPr>
          <a:xfrm>
            <a:off x="1051560" y="2578608"/>
            <a:ext cx="9692640" cy="1371600"/>
          </a:xfrm>
          <a:prstGeom prst="rect">
            <a:avLst/>
          </a:prstGeom>
          <a:noFill/>
        </p:spPr>
        <p:txBody>
          <a:bodyPr wrap="square" lIns="0" tIns="0" rIns="0" bIns="0">
            <a:spAutoFit/>
          </a:bodyPr>
          <a:lstStyle/>
          <a:p>
            <a:pPr>
              <a:lnSpc>
                <a:spcPct val="95000"/>
              </a:lnSpc>
            </a:pPr>
            <a:r>
              <a:rPr sz="4200" b="1" i="0">
                <a:solidFill>
                  <a:srgbClr val="1F4E79"/>
                </a:solidFill>
                <a:latin typeface="Segoe UI Semibold"/>
              </a:rPr>
              <a:t>Table formats: Delta and Iceberg</a:t>
            </a:r>
          </a:p>
        </p:txBody>
      </p:sp>
      <p:sp>
        <p:nvSpPr>
          <p:cNvPr id="6" name="TextBox 5"/>
          <p:cNvSpPr txBox="1"/>
          <p:nvPr/>
        </p:nvSpPr>
        <p:spPr>
          <a:xfrm>
            <a:off x="1051560" y="3950208"/>
            <a:ext cx="8778240" cy="822960"/>
          </a:xfrm>
          <a:prstGeom prst="rect">
            <a:avLst/>
          </a:prstGeom>
          <a:noFill/>
        </p:spPr>
        <p:txBody>
          <a:bodyPr wrap="square" lIns="0" tIns="0" rIns="0" bIns="0">
            <a:spAutoFit/>
          </a:bodyPr>
          <a:lstStyle/>
          <a:p>
            <a:pPr>
              <a:lnSpc>
                <a:spcPct val="115000"/>
              </a:lnSpc>
            </a:pPr>
            <a:r>
              <a:rPr sz="1700" b="0" i="0">
                <a:solidFill>
                  <a:srgbClr val="5B6775"/>
                </a:solidFill>
                <a:latin typeface="Segoe UI"/>
              </a:rPr>
              <a:t>Adding a transaction log on top of Parquet, so MERGE, time travel and undo become safe</a:t>
            </a: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58368" y="2148840"/>
            <a:ext cx="82296" cy="219456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42416" y="2084831"/>
            <a:ext cx="9777679" cy="1828800"/>
          </a:xfrm>
          <a:prstGeom prst="rect">
            <a:avLst/>
          </a:prstGeom>
          <a:noFill/>
        </p:spPr>
        <p:txBody>
          <a:bodyPr wrap="square" lIns="0" tIns="0" rIns="0" bIns="0">
            <a:spAutoFit/>
          </a:bodyPr>
          <a:lstStyle/>
          <a:p>
            <a:pPr>
              <a:lnSpc>
                <a:spcPct val="112000"/>
              </a:lnSpc>
            </a:pPr>
            <a:r>
              <a:rPr sz="3000" b="1" i="0">
                <a:solidFill>
                  <a:srgbClr val="1F4E79"/>
                </a:solidFill>
                <a:latin typeface="Segoe UI Semibold"/>
              </a:rPr>
              <a:t>Plain Parquet cannot merge, time travel, or undo. A log fixes that.</a:t>
            </a:r>
          </a:p>
        </p:txBody>
      </p:sp>
      <p:sp>
        <p:nvSpPr>
          <p:cNvPr id="5" name="TextBox 4"/>
          <p:cNvSpPr txBox="1"/>
          <p:nvPr/>
        </p:nvSpPr>
        <p:spPr>
          <a:xfrm>
            <a:off x="1042416" y="4041648"/>
            <a:ext cx="9411919" cy="1005840"/>
          </a:xfrm>
          <a:prstGeom prst="rect">
            <a:avLst/>
          </a:prstGeom>
          <a:noFill/>
        </p:spPr>
        <p:txBody>
          <a:bodyPr wrap="square" lIns="0" tIns="0" rIns="0" bIns="0">
            <a:spAutoFit/>
          </a:bodyPr>
          <a:lstStyle/>
          <a:p>
            <a:pPr>
              <a:lnSpc>
                <a:spcPct val="120000"/>
              </a:lnSpc>
            </a:pPr>
            <a:r>
              <a:rPr sz="1700" b="0" i="0">
                <a:solidFill>
                  <a:srgbClr val="5B6775"/>
                </a:solidFill>
                <a:latin typeface="Segoe UI"/>
              </a:rPr>
              <a:t>Lab 04's anti-join and union do the same job as MERGE, but rewrite the whole target with no log protecting a concurrent reader and no one-command undo. Delta and Iceberg add exactly that log on top of the same Parquet files.</a:t>
            </a:r>
          </a:p>
        </p:txBody>
      </p:sp>
      <p:sp>
        <p:nvSpPr>
          <p:cNvPr id="6" name="Rectangle 5"/>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11  ·  Table formats: Delta and Iceberg</a:t>
            </a:r>
          </a:p>
        </p:txBody>
      </p:sp>
      <p:sp>
        <p:nvSpPr>
          <p:cNvPr id="8" name="TextBox 7"/>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111</a:t>
            </a: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ACID on a data lake, the same guarantee twice</a:t>
            </a:r>
          </a:p>
        </p:txBody>
      </p:sp>
      <p:graphicFrame>
        <p:nvGraphicFramePr>
          <p:cNvPr id="4" name="Table 3"/>
          <p:cNvGraphicFramePr>
            <a:graphicFrameLocks noGrp="1"/>
          </p:cNvGraphicFramePr>
          <p:nvPr/>
        </p:nvGraphicFramePr>
        <p:xfrm>
          <a:off x="658368" y="1481328"/>
          <a:ext cx="10874958" cy="2304288"/>
        </p:xfrm>
        <a:graphic>
          <a:graphicData uri="http://schemas.openxmlformats.org/drawingml/2006/table">
            <a:tbl>
              <a:tblPr firstRow="1" bandRow="1">
                <a:tableStyleId>{5C22544A-7EE6-4342-B048-85BDC9FD1C3A}</a:tableStyleId>
              </a:tblPr>
              <a:tblGrid>
                <a:gridCol w="3398424">
                  <a:extLst>
                    <a:ext uri="{9D8B030D-6E8A-4147-A177-3AD203B41FA5}">
                      <a16:colId xmlns:a16="http://schemas.microsoft.com/office/drawing/2014/main" val="20000"/>
                    </a:ext>
                  </a:extLst>
                </a:gridCol>
                <a:gridCol w="7476534">
                  <a:extLst>
                    <a:ext uri="{9D8B030D-6E8A-4147-A177-3AD203B41FA5}">
                      <a16:colId xmlns:a16="http://schemas.microsoft.com/office/drawing/2014/main" val="20001"/>
                    </a:ext>
                  </a:extLst>
                </a:gridCol>
              </a:tblGrid>
              <a:tr h="402336">
                <a:tc>
                  <a:txBody>
                    <a:bodyPr/>
                    <a:lstStyle/>
                    <a:p>
                      <a:r>
                        <a:rPr sz="1450" b="1" i="0">
                          <a:solidFill>
                            <a:srgbClr val="FFFFFF"/>
                          </a:solidFill>
                          <a:latin typeface="Segoe UI Semibold"/>
                        </a:rPr>
                        <a:t>Guarantee</a:t>
                      </a:r>
                    </a:p>
                  </a:txBody>
                  <a:tcPr anchor="ctr">
                    <a:solidFill>
                      <a:srgbClr val="1F4E79"/>
                    </a:solidFill>
                  </a:tcPr>
                </a:tc>
                <a:tc>
                  <a:txBody>
                    <a:bodyPr/>
                    <a:lstStyle/>
                    <a:p>
                      <a:r>
                        <a:rPr sz="1450" b="1" i="0">
                          <a:solidFill>
                            <a:srgbClr val="FFFFFF"/>
                          </a:solidFill>
                          <a:latin typeface="Segoe UI Semibold"/>
                        </a:rPr>
                        <a:t>What it means here</a:t>
                      </a:r>
                    </a:p>
                  </a:txBody>
                  <a:tcPr anchor="ctr">
                    <a:solidFill>
                      <a:srgbClr val="1F4E79"/>
                    </a:solidFill>
                  </a:tcPr>
                </a:tc>
                <a:extLst>
                  <a:ext uri="{0D108BD9-81ED-4DB2-BD59-A6C34878D82A}">
                    <a16:rowId xmlns:a16="http://schemas.microsoft.com/office/drawing/2014/main" val="10000"/>
                  </a:ext>
                </a:extLst>
              </a:tr>
              <a:tr h="475488">
                <a:tc>
                  <a:txBody>
                    <a:bodyPr/>
                    <a:lstStyle/>
                    <a:p>
                      <a:pPr>
                        <a:lnSpc>
                          <a:spcPct val="106000"/>
                        </a:lnSpc>
                      </a:pPr>
                      <a:r>
                        <a:rPr sz="1400" b="1" i="0">
                          <a:solidFill>
                            <a:srgbClr val="242C38"/>
                          </a:solidFill>
                          <a:latin typeface="Segoe UI"/>
                        </a:rPr>
                        <a:t>Atomicity</a:t>
                      </a:r>
                    </a:p>
                  </a:txBody>
                  <a:tcPr marT="36576" marB="36576" anchor="ctr">
                    <a:solidFill>
                      <a:srgbClr val="EEF3F8"/>
                    </a:solidFill>
                  </a:tcPr>
                </a:tc>
                <a:tc>
                  <a:txBody>
                    <a:bodyPr/>
                    <a:lstStyle/>
                    <a:p>
                      <a:pPr>
                        <a:lnSpc>
                          <a:spcPct val="106000"/>
                        </a:lnSpc>
                      </a:pPr>
                      <a:r>
                        <a:rPr sz="1400" b="0" i="0">
                          <a:solidFill>
                            <a:srgbClr val="242C38"/>
                          </a:solidFill>
                          <a:latin typeface="Segoe UI"/>
                        </a:rPr>
                        <a:t>commits fully or not at all, never half-written</a:t>
                      </a:r>
                    </a:p>
                  </a:txBody>
                  <a:tcPr marT="36576" marB="36576" anchor="ctr">
                    <a:solidFill>
                      <a:srgbClr val="EEF3F8"/>
                    </a:solidFill>
                  </a:tcPr>
                </a:tc>
                <a:extLst>
                  <a:ext uri="{0D108BD9-81ED-4DB2-BD59-A6C34878D82A}">
                    <a16:rowId xmlns:a16="http://schemas.microsoft.com/office/drawing/2014/main" val="10001"/>
                  </a:ext>
                </a:extLst>
              </a:tr>
              <a:tr h="475488">
                <a:tc>
                  <a:txBody>
                    <a:bodyPr/>
                    <a:lstStyle/>
                    <a:p>
                      <a:pPr>
                        <a:lnSpc>
                          <a:spcPct val="106000"/>
                        </a:lnSpc>
                      </a:pPr>
                      <a:r>
                        <a:rPr sz="1400" b="1" i="0">
                          <a:solidFill>
                            <a:srgbClr val="242C38"/>
                          </a:solidFill>
                          <a:latin typeface="Segoe UI"/>
                        </a:rPr>
                        <a:t>Consistency</a:t>
                      </a:r>
                    </a:p>
                  </a:txBody>
                  <a:tcPr marT="36576" marB="36576" anchor="ctr">
                    <a:solidFill>
                      <a:srgbClr val="FFFFFF"/>
                    </a:solidFill>
                  </a:tcPr>
                </a:tc>
                <a:tc>
                  <a:txBody>
                    <a:bodyPr/>
                    <a:lstStyle/>
                    <a:p>
                      <a:pPr>
                        <a:lnSpc>
                          <a:spcPct val="106000"/>
                        </a:lnSpc>
                      </a:pPr>
                      <a:r>
                        <a:rPr sz="1400" b="0" i="0">
                          <a:solidFill>
                            <a:srgbClr val="242C38"/>
                          </a:solidFill>
                          <a:latin typeface="Segoe UI"/>
                        </a:rPr>
                        <a:t>every reader sees one complete version at a time</a:t>
                      </a:r>
                    </a:p>
                  </a:txBody>
                  <a:tcPr marT="36576" marB="36576" anchor="ctr">
                    <a:solidFill>
                      <a:srgbClr val="FFFFFF"/>
                    </a:solidFill>
                  </a:tcPr>
                </a:tc>
                <a:extLst>
                  <a:ext uri="{0D108BD9-81ED-4DB2-BD59-A6C34878D82A}">
                    <a16:rowId xmlns:a16="http://schemas.microsoft.com/office/drawing/2014/main" val="10002"/>
                  </a:ext>
                </a:extLst>
              </a:tr>
              <a:tr h="475488">
                <a:tc>
                  <a:txBody>
                    <a:bodyPr/>
                    <a:lstStyle/>
                    <a:p>
                      <a:pPr>
                        <a:lnSpc>
                          <a:spcPct val="106000"/>
                        </a:lnSpc>
                      </a:pPr>
                      <a:r>
                        <a:rPr sz="1400" b="1" i="0">
                          <a:solidFill>
                            <a:srgbClr val="242C38"/>
                          </a:solidFill>
                          <a:latin typeface="Segoe UI"/>
                        </a:rPr>
                        <a:t>Isolation</a:t>
                      </a:r>
                    </a:p>
                  </a:txBody>
                  <a:tcPr marT="36576" marB="36576" anchor="ctr">
                    <a:solidFill>
                      <a:srgbClr val="EEF3F8"/>
                    </a:solidFill>
                  </a:tcPr>
                </a:tc>
                <a:tc>
                  <a:txBody>
                    <a:bodyPr/>
                    <a:lstStyle/>
                    <a:p>
                      <a:pPr>
                        <a:lnSpc>
                          <a:spcPct val="106000"/>
                        </a:lnSpc>
                      </a:pPr>
                      <a:r>
                        <a:rPr sz="1400" b="0" i="0">
                          <a:solidFill>
                            <a:srgbClr val="242C38"/>
                          </a:solidFill>
                          <a:latin typeface="Segoe UI"/>
                        </a:rPr>
                        <a:t>a writer in progress never affects a reader</a:t>
                      </a:r>
                    </a:p>
                  </a:txBody>
                  <a:tcPr marT="36576" marB="36576" anchor="ctr">
                    <a:solidFill>
                      <a:srgbClr val="EEF3F8"/>
                    </a:solidFill>
                  </a:tcPr>
                </a:tc>
                <a:extLst>
                  <a:ext uri="{0D108BD9-81ED-4DB2-BD59-A6C34878D82A}">
                    <a16:rowId xmlns:a16="http://schemas.microsoft.com/office/drawing/2014/main" val="10003"/>
                  </a:ext>
                </a:extLst>
              </a:tr>
              <a:tr h="475488">
                <a:tc>
                  <a:txBody>
                    <a:bodyPr/>
                    <a:lstStyle/>
                    <a:p>
                      <a:pPr>
                        <a:lnSpc>
                          <a:spcPct val="106000"/>
                        </a:lnSpc>
                      </a:pPr>
                      <a:r>
                        <a:rPr sz="1400" b="1" i="0">
                          <a:solidFill>
                            <a:srgbClr val="242C38"/>
                          </a:solidFill>
                          <a:latin typeface="Segoe UI"/>
                        </a:rPr>
                        <a:t>Durability</a:t>
                      </a:r>
                    </a:p>
                  </a:txBody>
                  <a:tcPr marT="36576" marB="36576" anchor="ctr">
                    <a:solidFill>
                      <a:srgbClr val="FFFFFF"/>
                    </a:solidFill>
                  </a:tcPr>
                </a:tc>
                <a:tc>
                  <a:txBody>
                    <a:bodyPr/>
                    <a:lstStyle/>
                    <a:p>
                      <a:pPr>
                        <a:lnSpc>
                          <a:spcPct val="106000"/>
                        </a:lnSpc>
                      </a:pPr>
                      <a:r>
                        <a:rPr sz="1400" b="0" i="0">
                          <a:solidFill>
                            <a:srgbClr val="242C38"/>
                          </a:solidFill>
                          <a:latin typeface="Segoe UI"/>
                        </a:rPr>
                        <a:t>once committed, a version survives a crash</a:t>
                      </a:r>
                    </a:p>
                  </a:txBody>
                  <a:tcPr marT="36576" marB="36576" anchor="ctr">
                    <a:solidFill>
                      <a:srgbClr val="FFFFFF"/>
                    </a:solidFill>
                  </a:tcPr>
                </a:tc>
                <a:extLst>
                  <a:ext uri="{0D108BD9-81ED-4DB2-BD59-A6C34878D82A}">
                    <a16:rowId xmlns:a16="http://schemas.microsoft.com/office/drawing/2014/main" val="10004"/>
                  </a:ext>
                </a:extLst>
              </a:tr>
            </a:tbl>
          </a:graphicData>
        </a:graphic>
      </p:graphicFrame>
      <p:sp>
        <p:nvSpPr>
          <p:cNvPr id="5" name="TextBox 4"/>
          <p:cNvSpPr txBox="1"/>
          <p:nvPr/>
        </p:nvSpPr>
        <p:spPr>
          <a:xfrm>
            <a:off x="658368" y="5724144"/>
            <a:ext cx="10874959" cy="502920"/>
          </a:xfrm>
          <a:prstGeom prst="rect">
            <a:avLst/>
          </a:prstGeom>
          <a:noFill/>
        </p:spPr>
        <p:txBody>
          <a:bodyPr wrap="square" lIns="0" tIns="0" rIns="0" bIns="0">
            <a:spAutoFit/>
          </a:bodyPr>
          <a:lstStyle/>
          <a:p>
            <a:r>
              <a:rPr sz="1300" b="0" i="1">
                <a:solidFill>
                  <a:srgbClr val="5B6775"/>
                </a:solidFill>
                <a:latin typeface="Segoe UI"/>
              </a:rPr>
              <a:t>Both formats get here the same way: write new Parquet files, commit a small metadata pointer.</a:t>
            </a:r>
          </a:p>
        </p:txBody>
      </p:sp>
      <p:sp>
        <p:nvSpPr>
          <p:cNvPr id="6" name="Rectangle 5"/>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11  ·  Table formats: Delta and Iceberg</a:t>
            </a:r>
          </a:p>
        </p:txBody>
      </p:sp>
      <p:sp>
        <p:nvSpPr>
          <p:cNvPr id="8" name="TextBox 7"/>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112</a:t>
            </a: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Delta: create a table like Parquet, plus a log</a:t>
            </a:r>
          </a:p>
        </p:txBody>
      </p:sp>
      <p:sp>
        <p:nvSpPr>
          <p:cNvPr id="4" name="Rectangle 3"/>
          <p:cNvSpPr/>
          <p:nvPr/>
        </p:nvSpPr>
        <p:spPr>
          <a:xfrm>
            <a:off x="658368" y="1481328"/>
            <a:ext cx="10874959" cy="2447544"/>
          </a:xfrm>
          <a:prstGeom prst="rect">
            <a:avLst/>
          </a:prstGeom>
          <a:solidFill>
            <a:srgbClr val="F5F7F9"/>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81328"/>
            <a:ext cx="43180" cy="2447544"/>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77824" y="1645920"/>
            <a:ext cx="10509199" cy="2173224"/>
          </a:xfrm>
          <a:prstGeom prst="rect">
            <a:avLst/>
          </a:prstGeom>
          <a:noFill/>
        </p:spPr>
        <p:txBody>
          <a:bodyPr wrap="square" lIns="0" tIns="0" rIns="0" bIns="0">
            <a:spAutoFit/>
          </a:bodyPr>
          <a:lstStyle/>
          <a:p>
            <a:pPr>
              <a:lnSpc>
                <a:spcPct val="116000"/>
              </a:lnSpc>
              <a:spcAft>
                <a:spcPts val="0"/>
              </a:spcAft>
            </a:pPr>
            <a:r>
              <a:rPr sz="1500" b="0" i="0">
                <a:solidFill>
                  <a:srgbClr val="242C38"/>
                </a:solidFill>
                <a:latin typeface="Consolas"/>
              </a:rPr>
              <a:t>txns = (spark.read.option(</a:t>
            </a:r>
            <a:r>
              <a:rPr sz="1500" b="0" i="0">
                <a:solidFill>
                  <a:srgbClr val="A31515"/>
                </a:solidFill>
                <a:latin typeface="Consolas"/>
              </a:rPr>
              <a:t>"header"</a:t>
            </a:r>
            <a:r>
              <a:rPr sz="1500" b="0" i="0">
                <a:solidFill>
                  <a:srgbClr val="242C38"/>
                </a:solidFill>
                <a:latin typeface="Consolas"/>
              </a:rPr>
              <a:t>, </a:t>
            </a:r>
            <a:r>
              <a:rPr sz="1500" b="0" i="0">
                <a:solidFill>
                  <a:srgbClr val="0F5BA7"/>
                </a:solidFill>
                <a:latin typeface="Consolas"/>
              </a:rPr>
              <a:t>True</a:t>
            </a:r>
            <a:r>
              <a:rPr sz="1500" b="0" i="0">
                <a:solidFill>
                  <a:srgbClr val="242C38"/>
                </a:solidFill>
                <a:latin typeface="Consolas"/>
              </a:rPr>
              <a:t>)</a:t>
            </a:r>
          </a:p>
          <a:p>
            <a:pPr>
              <a:lnSpc>
                <a:spcPct val="116000"/>
              </a:lnSpc>
              <a:spcAft>
                <a:spcPts val="0"/>
              </a:spcAft>
            </a:pPr>
            <a:r>
              <a:rPr sz="1500" b="0" i="0">
                <a:solidFill>
                  <a:srgbClr val="242C38"/>
                </a:solidFill>
                <a:latin typeface="Consolas"/>
              </a:rPr>
              <a:t>        .schema(txn_schema)</a:t>
            </a:r>
          </a:p>
          <a:p>
            <a:pPr>
              <a:lnSpc>
                <a:spcPct val="116000"/>
              </a:lnSpc>
              <a:spcAft>
                <a:spcPts val="0"/>
              </a:spcAft>
            </a:pPr>
            <a:r>
              <a:rPr sz="1500" b="0" i="0">
                <a:solidFill>
                  <a:srgbClr val="242C38"/>
                </a:solidFill>
                <a:latin typeface="Consolas"/>
              </a:rPr>
              <a:t>        .csv(f</a:t>
            </a:r>
            <a:r>
              <a:rPr sz="1500" b="0" i="0">
                <a:solidFill>
                  <a:srgbClr val="A31515"/>
                </a:solidFill>
                <a:latin typeface="Consolas"/>
              </a:rPr>
              <a:t>"{RAW}/transactions/"</a:t>
            </a:r>
            <a:r>
              <a:rPr sz="1500" b="0" i="0">
                <a:solidFill>
                  <a:srgbClr val="242C38"/>
                </a:solidFill>
                <a:latin typeface="Consolas"/>
              </a:rPr>
              <a:t>))</a:t>
            </a:r>
          </a:p>
          <a:p>
            <a:pPr>
              <a:lnSpc>
                <a:spcPct val="116000"/>
              </a:lnSpc>
              <a:spcAft>
                <a:spcPts val="0"/>
              </a:spcAft>
            </a:pPr>
            <a:r>
              <a:rPr sz="1500" b="0" i="0">
                <a:solidFill>
                  <a:srgbClr val="242C38"/>
                </a:solidFill>
                <a:latin typeface="Consolas"/>
              </a:rPr>
              <a:t> </a:t>
            </a:r>
          </a:p>
          <a:p>
            <a:pPr>
              <a:lnSpc>
                <a:spcPct val="116000"/>
              </a:lnSpc>
              <a:spcAft>
                <a:spcPts val="0"/>
              </a:spcAft>
            </a:pPr>
            <a:r>
              <a:rPr sz="1500" b="0" i="0">
                <a:solidFill>
                  <a:srgbClr val="242C38"/>
                </a:solidFill>
                <a:latin typeface="Consolas"/>
              </a:rPr>
              <a:t>(txns.write.format(</a:t>
            </a:r>
            <a:r>
              <a:rPr sz="1500" b="0" i="0">
                <a:solidFill>
                  <a:srgbClr val="A31515"/>
                </a:solidFill>
                <a:latin typeface="Consolas"/>
              </a:rPr>
              <a:t>"delta"</a:t>
            </a:r>
            <a:r>
              <a:rPr sz="1500" b="0" i="0">
                <a:solidFill>
                  <a:srgbClr val="242C38"/>
                </a:solidFill>
                <a:latin typeface="Consolas"/>
              </a:rPr>
              <a:t>).mode(</a:t>
            </a:r>
            <a:r>
              <a:rPr sz="1500" b="0" i="0">
                <a:solidFill>
                  <a:srgbClr val="A31515"/>
                </a:solidFill>
                <a:latin typeface="Consolas"/>
              </a:rPr>
              <a:t>"overwrite"</a:t>
            </a:r>
            <a:r>
              <a:rPr sz="1500" b="0" i="0">
                <a:solidFill>
                  <a:srgbClr val="242C38"/>
                </a:solidFill>
                <a:latin typeface="Consolas"/>
              </a:rPr>
              <a:t>)</a:t>
            </a:r>
          </a:p>
          <a:p>
            <a:pPr>
              <a:lnSpc>
                <a:spcPct val="116000"/>
              </a:lnSpc>
              <a:spcAft>
                <a:spcPts val="0"/>
              </a:spcAft>
            </a:pPr>
            <a:r>
              <a:rPr sz="1500" b="0" i="0">
                <a:solidFill>
                  <a:srgbClr val="242C38"/>
                </a:solidFill>
                <a:latin typeface="Consolas"/>
              </a:rPr>
              <a:t> .partitionBy(</a:t>
            </a:r>
            <a:r>
              <a:rPr sz="1500" b="0" i="0">
                <a:solidFill>
                  <a:srgbClr val="A31515"/>
                </a:solidFill>
                <a:latin typeface="Consolas"/>
              </a:rPr>
              <a:t>"status"</a:t>
            </a:r>
            <a:r>
              <a:rPr sz="1500" b="0" i="0">
                <a:solidFill>
                  <a:srgbClr val="242C38"/>
                </a:solidFill>
                <a:latin typeface="Consolas"/>
              </a:rPr>
              <a:t>)</a:t>
            </a:r>
          </a:p>
          <a:p>
            <a:pPr>
              <a:lnSpc>
                <a:spcPct val="116000"/>
              </a:lnSpc>
              <a:spcAft>
                <a:spcPts val="0"/>
              </a:spcAft>
            </a:pPr>
            <a:r>
              <a:rPr sz="1500" b="0" i="0">
                <a:solidFill>
                  <a:srgbClr val="242C38"/>
                </a:solidFill>
                <a:latin typeface="Consolas"/>
              </a:rPr>
              <a:t> .save(DELTA_PATH))</a:t>
            </a:r>
          </a:p>
        </p:txBody>
      </p:sp>
      <p:sp>
        <p:nvSpPr>
          <p:cNvPr id="7" name="TextBox 6"/>
          <p:cNvSpPr txBox="1"/>
          <p:nvPr/>
        </p:nvSpPr>
        <p:spPr>
          <a:xfrm>
            <a:off x="658368" y="4075176"/>
            <a:ext cx="10874959" cy="457200"/>
          </a:xfrm>
          <a:prstGeom prst="rect">
            <a:avLst/>
          </a:prstGeom>
          <a:noFill/>
        </p:spPr>
        <p:txBody>
          <a:bodyPr wrap="square" lIns="0" tIns="0" rIns="0" bIns="0">
            <a:spAutoFit/>
          </a:bodyPr>
          <a:lstStyle/>
          <a:p>
            <a:r>
              <a:rPr sz="1400" b="0" i="0">
                <a:solidFill>
                  <a:srgbClr val="5B6775"/>
                </a:solidFill>
                <a:latin typeface="Segoe UI"/>
              </a:rPr>
              <a:t>Same write call as Parquet. Only the format string and a new _delta_log folder change.</a:t>
            </a:r>
          </a:p>
        </p:txBody>
      </p:sp>
      <p:sp>
        <p:nvSpPr>
          <p:cNvPr id="8" name="Rectangle 7"/>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11  ·  Table formats: Delta and Iceberg</a:t>
            </a:r>
          </a:p>
        </p:txBody>
      </p:sp>
      <p:sp>
        <p:nvSpPr>
          <p:cNvPr id="10" name="TextBox 9"/>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113</a:t>
            </a: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Delta's metadata: a folder of JSON commits</a:t>
            </a:r>
          </a:p>
        </p:txBody>
      </p:sp>
      <p:sp>
        <p:nvSpPr>
          <p:cNvPr id="4" name="Rectangle 3"/>
          <p:cNvSpPr/>
          <p:nvPr/>
        </p:nvSpPr>
        <p:spPr>
          <a:xfrm>
            <a:off x="658368" y="1481328"/>
            <a:ext cx="10874959" cy="1578864"/>
          </a:xfrm>
          <a:prstGeom prst="rect">
            <a:avLst/>
          </a:prstGeom>
          <a:solidFill>
            <a:srgbClr val="F5F7F9"/>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81328"/>
            <a:ext cx="43180" cy="1578864"/>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77824" y="1645920"/>
            <a:ext cx="10509199" cy="1304544"/>
          </a:xfrm>
          <a:prstGeom prst="rect">
            <a:avLst/>
          </a:prstGeom>
          <a:noFill/>
        </p:spPr>
        <p:txBody>
          <a:bodyPr wrap="square" lIns="0" tIns="0" rIns="0" bIns="0">
            <a:spAutoFit/>
          </a:bodyPr>
          <a:lstStyle/>
          <a:p>
            <a:pPr>
              <a:lnSpc>
                <a:spcPct val="116000"/>
              </a:lnSpc>
              <a:spcAft>
                <a:spcPts val="0"/>
              </a:spcAft>
            </a:pPr>
            <a:r>
              <a:rPr sz="1500" b="0" i="0">
                <a:solidFill>
                  <a:srgbClr val="242C38"/>
                </a:solidFill>
                <a:latin typeface="Consolas"/>
              </a:rPr>
              <a:t>_delta_log/</a:t>
            </a:r>
          </a:p>
          <a:p>
            <a:pPr>
              <a:lnSpc>
                <a:spcPct val="116000"/>
              </a:lnSpc>
              <a:spcAft>
                <a:spcPts val="0"/>
              </a:spcAft>
            </a:pPr>
            <a:r>
              <a:rPr sz="1500" b="0" i="0">
                <a:solidFill>
                  <a:srgbClr val="242C38"/>
                </a:solidFill>
                <a:latin typeface="Consolas"/>
              </a:rPr>
              <a:t>  00000000000000000000.json   version 0, first write</a:t>
            </a:r>
          </a:p>
          <a:p>
            <a:pPr>
              <a:lnSpc>
                <a:spcPct val="116000"/>
              </a:lnSpc>
              <a:spcAft>
                <a:spcPts val="0"/>
              </a:spcAft>
            </a:pPr>
            <a:r>
              <a:rPr sz="1500" b="0" i="0">
                <a:solidFill>
                  <a:srgbClr val="242C38"/>
                </a:solidFill>
                <a:latin typeface="Consolas"/>
              </a:rPr>
              <a:t>  00000000000000000001.json   after the MERGE</a:t>
            </a:r>
          </a:p>
          <a:p>
            <a:pPr>
              <a:lnSpc>
                <a:spcPct val="116000"/>
              </a:lnSpc>
              <a:spcAft>
                <a:spcPts val="0"/>
              </a:spcAft>
            </a:pPr>
            <a:r>
              <a:rPr sz="1500" b="0" i="0">
                <a:solidFill>
                  <a:srgbClr val="242C38"/>
                </a:solidFill>
                <a:latin typeface="Consolas"/>
              </a:rPr>
              <a:t>  00000000000000000002.json   after OPTIMIZE</a:t>
            </a:r>
          </a:p>
        </p:txBody>
      </p:sp>
      <p:sp>
        <p:nvSpPr>
          <p:cNvPr id="7" name="TextBox 6"/>
          <p:cNvSpPr txBox="1"/>
          <p:nvPr/>
        </p:nvSpPr>
        <p:spPr>
          <a:xfrm>
            <a:off x="658368" y="3206496"/>
            <a:ext cx="10874959" cy="457200"/>
          </a:xfrm>
          <a:prstGeom prst="rect">
            <a:avLst/>
          </a:prstGeom>
          <a:noFill/>
        </p:spPr>
        <p:txBody>
          <a:bodyPr wrap="square" lIns="0" tIns="0" rIns="0" bIns="0">
            <a:spAutoFit/>
          </a:bodyPr>
          <a:lstStyle/>
          <a:p>
            <a:r>
              <a:rPr sz="1400" b="0" i="0">
                <a:solidFill>
                  <a:srgbClr val="5B6775"/>
                </a:solidFill>
                <a:latin typeface="Segoe UI"/>
              </a:rPr>
              <a:t>Each JSON commit lists files added and removed. That log is the table, no separate database.</a:t>
            </a:r>
          </a:p>
        </p:txBody>
      </p:sp>
      <p:sp>
        <p:nvSpPr>
          <p:cNvPr id="8" name="Rectangle 7"/>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11  ·  Table formats: Delta and Iceberg</a:t>
            </a:r>
          </a:p>
        </p:txBody>
      </p:sp>
      <p:sp>
        <p:nvSpPr>
          <p:cNvPr id="10" name="TextBox 9"/>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114</a:t>
            </a: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Delta MERGE: the overnight corrections</a:t>
            </a:r>
          </a:p>
        </p:txBody>
      </p:sp>
      <p:sp>
        <p:nvSpPr>
          <p:cNvPr id="4" name="Rectangle 3"/>
          <p:cNvSpPr/>
          <p:nvPr/>
        </p:nvSpPr>
        <p:spPr>
          <a:xfrm>
            <a:off x="658368" y="1481328"/>
            <a:ext cx="10874959" cy="2447544"/>
          </a:xfrm>
          <a:prstGeom prst="rect">
            <a:avLst/>
          </a:prstGeom>
          <a:solidFill>
            <a:srgbClr val="F5F7F9"/>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81328"/>
            <a:ext cx="43180" cy="2447544"/>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77824" y="1645920"/>
            <a:ext cx="10509199" cy="2173224"/>
          </a:xfrm>
          <a:prstGeom prst="rect">
            <a:avLst/>
          </a:prstGeom>
          <a:noFill/>
        </p:spPr>
        <p:txBody>
          <a:bodyPr wrap="square" lIns="0" tIns="0" rIns="0" bIns="0">
            <a:spAutoFit/>
          </a:bodyPr>
          <a:lstStyle/>
          <a:p>
            <a:pPr>
              <a:lnSpc>
                <a:spcPct val="116000"/>
              </a:lnSpc>
              <a:spcAft>
                <a:spcPts val="0"/>
              </a:spcAft>
            </a:pPr>
            <a:r>
              <a:rPr sz="1500" b="0" i="0">
                <a:solidFill>
                  <a:srgbClr val="242C38"/>
                </a:solidFill>
                <a:latin typeface="Consolas"/>
              </a:rPr>
              <a:t>target = DeltaTable.forPath(spark, DELTA_PATH)</a:t>
            </a:r>
          </a:p>
          <a:p>
            <a:pPr>
              <a:lnSpc>
                <a:spcPct val="116000"/>
              </a:lnSpc>
              <a:spcAft>
                <a:spcPts val="0"/>
              </a:spcAft>
            </a:pPr>
            <a:r>
              <a:rPr sz="1500" b="0" i="0">
                <a:solidFill>
                  <a:srgbClr val="242C38"/>
                </a:solidFill>
                <a:latin typeface="Consolas"/>
              </a:rPr>
              <a:t> </a:t>
            </a:r>
          </a:p>
          <a:p>
            <a:pPr>
              <a:lnSpc>
                <a:spcPct val="116000"/>
              </a:lnSpc>
              <a:spcAft>
                <a:spcPts val="0"/>
              </a:spcAft>
            </a:pPr>
            <a:r>
              <a:rPr sz="1500" b="0" i="0">
                <a:solidFill>
                  <a:srgbClr val="242C38"/>
                </a:solidFill>
                <a:latin typeface="Consolas"/>
              </a:rPr>
              <a:t>(target.alias(</a:t>
            </a:r>
            <a:r>
              <a:rPr sz="1500" b="0" i="0">
                <a:solidFill>
                  <a:srgbClr val="A31515"/>
                </a:solidFill>
                <a:latin typeface="Consolas"/>
              </a:rPr>
              <a:t>"t"</a:t>
            </a:r>
            <a:r>
              <a:rPr sz="1500" b="0" i="0">
                <a:solidFill>
                  <a:srgbClr val="242C38"/>
                </a:solidFill>
                <a:latin typeface="Consolas"/>
              </a:rPr>
              <a:t>)</a:t>
            </a:r>
          </a:p>
          <a:p>
            <a:pPr>
              <a:lnSpc>
                <a:spcPct val="116000"/>
              </a:lnSpc>
              <a:spcAft>
                <a:spcPts val="0"/>
              </a:spcAft>
            </a:pPr>
            <a:r>
              <a:rPr sz="1500" b="0" i="0">
                <a:solidFill>
                  <a:srgbClr val="242C38"/>
                </a:solidFill>
                <a:latin typeface="Consolas"/>
              </a:rPr>
              <a:t> .merge(updates.alias(</a:t>
            </a:r>
            <a:r>
              <a:rPr sz="1500" b="0" i="0">
                <a:solidFill>
                  <a:srgbClr val="A31515"/>
                </a:solidFill>
                <a:latin typeface="Consolas"/>
              </a:rPr>
              <a:t>"s"</a:t>
            </a:r>
            <a:r>
              <a:rPr sz="1500" b="0" i="0">
                <a:solidFill>
                  <a:srgbClr val="242C38"/>
                </a:solidFill>
                <a:latin typeface="Consolas"/>
              </a:rPr>
              <a:t>), </a:t>
            </a:r>
            <a:r>
              <a:rPr sz="1500" b="0" i="0">
                <a:solidFill>
                  <a:srgbClr val="A31515"/>
                </a:solidFill>
                <a:latin typeface="Consolas"/>
              </a:rPr>
              <a:t>"t.txn_id = s.txn_id"</a:t>
            </a:r>
            <a:r>
              <a:rPr sz="1500" b="0" i="0">
                <a:solidFill>
                  <a:srgbClr val="242C38"/>
                </a:solidFill>
                <a:latin typeface="Consolas"/>
              </a:rPr>
              <a:t>)</a:t>
            </a:r>
          </a:p>
          <a:p>
            <a:pPr>
              <a:lnSpc>
                <a:spcPct val="116000"/>
              </a:lnSpc>
              <a:spcAft>
                <a:spcPts val="0"/>
              </a:spcAft>
            </a:pPr>
            <a:r>
              <a:rPr sz="1500" b="0" i="0">
                <a:solidFill>
                  <a:srgbClr val="242C38"/>
                </a:solidFill>
                <a:latin typeface="Consolas"/>
              </a:rPr>
              <a:t> .whenMatchedUpdate(set={</a:t>
            </a:r>
            <a:r>
              <a:rPr sz="1500" b="0" i="0">
                <a:solidFill>
                  <a:srgbClr val="A31515"/>
                </a:solidFill>
                <a:latin typeface="Consolas"/>
              </a:rPr>
              <a:t>"status"</a:t>
            </a:r>
            <a:r>
              <a:rPr sz="1500" b="0" i="0">
                <a:solidFill>
                  <a:srgbClr val="242C38"/>
                </a:solidFill>
                <a:latin typeface="Consolas"/>
              </a:rPr>
              <a:t>: </a:t>
            </a:r>
            <a:r>
              <a:rPr sz="1500" b="0" i="0">
                <a:solidFill>
                  <a:srgbClr val="A31515"/>
                </a:solidFill>
                <a:latin typeface="Consolas"/>
              </a:rPr>
              <a:t>"s.status"</a:t>
            </a:r>
            <a:r>
              <a:rPr sz="1500" b="0" i="0">
                <a:solidFill>
                  <a:srgbClr val="242C38"/>
                </a:solidFill>
                <a:latin typeface="Consolas"/>
              </a:rPr>
              <a:t>})</a:t>
            </a:r>
          </a:p>
          <a:p>
            <a:pPr>
              <a:lnSpc>
                <a:spcPct val="116000"/>
              </a:lnSpc>
              <a:spcAft>
                <a:spcPts val="0"/>
              </a:spcAft>
            </a:pPr>
            <a:r>
              <a:rPr sz="1500" b="0" i="0">
                <a:solidFill>
                  <a:srgbClr val="242C38"/>
                </a:solidFill>
                <a:latin typeface="Consolas"/>
              </a:rPr>
              <a:t> .whenNotMatchedInsertAll()</a:t>
            </a:r>
          </a:p>
          <a:p>
            <a:pPr>
              <a:lnSpc>
                <a:spcPct val="116000"/>
              </a:lnSpc>
              <a:spcAft>
                <a:spcPts val="0"/>
              </a:spcAft>
            </a:pPr>
            <a:r>
              <a:rPr sz="1500" b="0" i="0">
                <a:solidFill>
                  <a:srgbClr val="242C38"/>
                </a:solidFill>
                <a:latin typeface="Consolas"/>
              </a:rPr>
              <a:t> .execute())</a:t>
            </a:r>
          </a:p>
        </p:txBody>
      </p:sp>
      <p:sp>
        <p:nvSpPr>
          <p:cNvPr id="7" name="TextBox 6"/>
          <p:cNvSpPr txBox="1"/>
          <p:nvPr/>
        </p:nvSpPr>
        <p:spPr>
          <a:xfrm>
            <a:off x="658368" y="4075176"/>
            <a:ext cx="10874959" cy="457200"/>
          </a:xfrm>
          <a:prstGeom prst="rect">
            <a:avLst/>
          </a:prstGeom>
          <a:noFill/>
        </p:spPr>
        <p:txBody>
          <a:bodyPr wrap="square" lIns="0" tIns="0" rIns="0" bIns="0">
            <a:spAutoFit/>
          </a:bodyPr>
          <a:lstStyle/>
          <a:p>
            <a:r>
              <a:rPr sz="1400" b="0" i="0">
                <a:solidFill>
                  <a:srgbClr val="5B6775"/>
                </a:solidFill>
                <a:latin typeface="Segoe UI"/>
              </a:rPr>
              <a:t>A matching txn_id gets its status corrected. A new txn_id is inserted whole.</a:t>
            </a:r>
          </a:p>
        </p:txBody>
      </p:sp>
      <p:sp>
        <p:nvSpPr>
          <p:cNvPr id="8" name="Rectangle 7"/>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11  ·  Table formats: Delta and Iceberg</a:t>
            </a:r>
          </a:p>
        </p:txBody>
      </p:sp>
      <p:sp>
        <p:nvSpPr>
          <p:cNvPr id="10" name="TextBox 9"/>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115</a:t>
            </a: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Delta time travel: reads straight off the log</a:t>
            </a:r>
          </a:p>
        </p:txBody>
      </p:sp>
      <p:sp>
        <p:nvSpPr>
          <p:cNvPr id="4" name="Rectangle 3"/>
          <p:cNvSpPr/>
          <p:nvPr/>
        </p:nvSpPr>
        <p:spPr>
          <a:xfrm>
            <a:off x="658368" y="1481328"/>
            <a:ext cx="10874959" cy="2157984"/>
          </a:xfrm>
          <a:prstGeom prst="rect">
            <a:avLst/>
          </a:prstGeom>
          <a:solidFill>
            <a:srgbClr val="F5F7F9"/>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81328"/>
            <a:ext cx="43180" cy="2157984"/>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77824" y="1645920"/>
            <a:ext cx="10509199" cy="1883664"/>
          </a:xfrm>
          <a:prstGeom prst="rect">
            <a:avLst/>
          </a:prstGeom>
          <a:noFill/>
        </p:spPr>
        <p:txBody>
          <a:bodyPr wrap="square" lIns="0" tIns="0" rIns="0" bIns="0">
            <a:spAutoFit/>
          </a:bodyPr>
          <a:lstStyle/>
          <a:p>
            <a:pPr>
              <a:lnSpc>
                <a:spcPct val="116000"/>
              </a:lnSpc>
              <a:spcAft>
                <a:spcPts val="0"/>
              </a:spcAft>
            </a:pPr>
            <a:r>
              <a:rPr sz="1500" b="0" i="0">
                <a:solidFill>
                  <a:srgbClr val="242C38"/>
                </a:solidFill>
                <a:latin typeface="Consolas"/>
              </a:rPr>
              <a:t>target.history().select(</a:t>
            </a:r>
            <a:r>
              <a:rPr sz="1500" b="0" i="0">
                <a:solidFill>
                  <a:srgbClr val="A31515"/>
                </a:solidFill>
                <a:latin typeface="Consolas"/>
              </a:rPr>
              <a:t>"version"</a:t>
            </a:r>
            <a:r>
              <a:rPr sz="1500" b="0" i="0">
                <a:solidFill>
                  <a:srgbClr val="242C38"/>
                </a:solidFill>
                <a:latin typeface="Consolas"/>
              </a:rPr>
              <a:t>, </a:t>
            </a:r>
            <a:r>
              <a:rPr sz="1500" b="0" i="0">
                <a:solidFill>
                  <a:srgbClr val="A31515"/>
                </a:solidFill>
                <a:latin typeface="Consolas"/>
              </a:rPr>
              <a:t>"timestamp"</a:t>
            </a:r>
            <a:r>
              <a:rPr sz="1500" b="0" i="0">
                <a:solidFill>
                  <a:srgbClr val="242C38"/>
                </a:solidFill>
                <a:latin typeface="Consolas"/>
              </a:rPr>
              <a:t>, </a:t>
            </a:r>
            <a:r>
              <a:rPr sz="1500" b="0" i="0">
                <a:solidFill>
                  <a:srgbClr val="A31515"/>
                </a:solidFill>
                <a:latin typeface="Consolas"/>
              </a:rPr>
              <a:t>"operation"</a:t>
            </a:r>
            <a:r>
              <a:rPr sz="1500" b="0" i="0">
                <a:solidFill>
                  <a:srgbClr val="242C38"/>
                </a:solidFill>
                <a:latin typeface="Consolas"/>
              </a:rPr>
              <a:t>).show()</a:t>
            </a:r>
          </a:p>
          <a:p>
            <a:pPr>
              <a:lnSpc>
                <a:spcPct val="116000"/>
              </a:lnSpc>
              <a:spcAft>
                <a:spcPts val="0"/>
              </a:spcAft>
            </a:pPr>
            <a:r>
              <a:rPr sz="1500" b="0" i="0">
                <a:solidFill>
                  <a:srgbClr val="242C38"/>
                </a:solidFill>
                <a:latin typeface="Consolas"/>
              </a:rPr>
              <a:t> </a:t>
            </a:r>
          </a:p>
          <a:p>
            <a:pPr>
              <a:lnSpc>
                <a:spcPct val="116000"/>
              </a:lnSpc>
              <a:spcAft>
                <a:spcPts val="0"/>
              </a:spcAft>
            </a:pPr>
            <a:r>
              <a:rPr sz="1500" b="0" i="0">
                <a:solidFill>
                  <a:srgbClr val="242C38"/>
                </a:solidFill>
                <a:latin typeface="Consolas"/>
              </a:rPr>
              <a:t>v0 = (spark.read.format(</a:t>
            </a:r>
            <a:r>
              <a:rPr sz="1500" b="0" i="0">
                <a:solidFill>
                  <a:srgbClr val="A31515"/>
                </a:solidFill>
                <a:latin typeface="Consolas"/>
              </a:rPr>
              <a:t>"delta"</a:t>
            </a:r>
            <a:r>
              <a:rPr sz="1500" b="0" i="0">
                <a:solidFill>
                  <a:srgbClr val="242C38"/>
                </a:solidFill>
                <a:latin typeface="Consolas"/>
              </a:rPr>
              <a:t>)</a:t>
            </a:r>
          </a:p>
          <a:p>
            <a:pPr>
              <a:lnSpc>
                <a:spcPct val="116000"/>
              </a:lnSpc>
              <a:spcAft>
                <a:spcPts val="0"/>
              </a:spcAft>
            </a:pPr>
            <a:r>
              <a:rPr sz="1500" b="0" i="0">
                <a:solidFill>
                  <a:srgbClr val="242C38"/>
                </a:solidFill>
                <a:latin typeface="Consolas"/>
              </a:rPr>
              <a:t>      .option(</a:t>
            </a:r>
            <a:r>
              <a:rPr sz="1500" b="0" i="0">
                <a:solidFill>
                  <a:srgbClr val="A31515"/>
                </a:solidFill>
                <a:latin typeface="Consolas"/>
              </a:rPr>
              <a:t>"versionAsOf"</a:t>
            </a:r>
            <a:r>
              <a:rPr sz="1500" b="0" i="0">
                <a:solidFill>
                  <a:srgbClr val="242C38"/>
                </a:solidFill>
                <a:latin typeface="Consolas"/>
              </a:rPr>
              <a:t>, </a:t>
            </a:r>
            <a:r>
              <a:rPr sz="1500" b="0" i="0">
                <a:solidFill>
                  <a:srgbClr val="098658"/>
                </a:solidFill>
                <a:latin typeface="Consolas"/>
              </a:rPr>
              <a:t>0</a:t>
            </a:r>
            <a:r>
              <a:rPr sz="1500" b="0" i="0">
                <a:solidFill>
                  <a:srgbClr val="242C38"/>
                </a:solidFill>
                <a:latin typeface="Consolas"/>
              </a:rPr>
              <a:t>).load(DELTA_PATH))</a:t>
            </a:r>
          </a:p>
          <a:p>
            <a:pPr>
              <a:lnSpc>
                <a:spcPct val="116000"/>
              </a:lnSpc>
              <a:spcAft>
                <a:spcPts val="0"/>
              </a:spcAft>
            </a:pPr>
            <a:r>
              <a:rPr sz="1500" b="0" i="0">
                <a:solidFill>
                  <a:srgbClr val="242C38"/>
                </a:solidFill>
                <a:latin typeface="Consolas"/>
              </a:rPr>
              <a:t> </a:t>
            </a:r>
          </a:p>
          <a:p>
            <a:pPr>
              <a:lnSpc>
                <a:spcPct val="116000"/>
              </a:lnSpc>
              <a:spcAft>
                <a:spcPts val="0"/>
              </a:spcAft>
            </a:pPr>
            <a:r>
              <a:rPr sz="1500" b="0" i="0">
                <a:solidFill>
                  <a:srgbClr val="242C38"/>
                </a:solidFill>
                <a:latin typeface="Consolas"/>
              </a:rPr>
              <a:t>latest = spark.read.format(</a:t>
            </a:r>
            <a:r>
              <a:rPr sz="1500" b="0" i="0">
                <a:solidFill>
                  <a:srgbClr val="A31515"/>
                </a:solidFill>
                <a:latin typeface="Consolas"/>
              </a:rPr>
              <a:t>"delta"</a:t>
            </a:r>
            <a:r>
              <a:rPr sz="1500" b="0" i="0">
                <a:solidFill>
                  <a:srgbClr val="242C38"/>
                </a:solidFill>
                <a:latin typeface="Consolas"/>
              </a:rPr>
              <a:t>).load(DELTA_PATH)</a:t>
            </a:r>
          </a:p>
        </p:txBody>
      </p:sp>
      <p:sp>
        <p:nvSpPr>
          <p:cNvPr id="7" name="TextBox 6"/>
          <p:cNvSpPr txBox="1"/>
          <p:nvPr/>
        </p:nvSpPr>
        <p:spPr>
          <a:xfrm>
            <a:off x="658368" y="3785616"/>
            <a:ext cx="10874959" cy="457200"/>
          </a:xfrm>
          <a:prstGeom prst="rect">
            <a:avLst/>
          </a:prstGeom>
          <a:noFill/>
        </p:spPr>
        <p:txBody>
          <a:bodyPr wrap="square" lIns="0" tIns="0" rIns="0" bIns="0">
            <a:spAutoFit/>
          </a:bodyPr>
          <a:lstStyle/>
          <a:p>
            <a:r>
              <a:rPr sz="1400" b="0" i="0">
                <a:solidFill>
                  <a:srgbClr val="5B6775"/>
                </a:solidFill>
                <a:latin typeface="Segoe UI"/>
              </a:rPr>
              <a:t>No restore step. versionAsOf reads an older version directly from the log.</a:t>
            </a:r>
          </a:p>
        </p:txBody>
      </p:sp>
      <p:sp>
        <p:nvSpPr>
          <p:cNvPr id="8" name="Rectangle 7"/>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11  ·  Table formats: Delta and Iceberg</a:t>
            </a:r>
          </a:p>
        </p:txBody>
      </p:sp>
      <p:sp>
        <p:nvSpPr>
          <p:cNvPr id="10" name="TextBox 9"/>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116</a:t>
            </a: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Delta maintenance: OPTIMIZE, then VACUUM</a:t>
            </a:r>
          </a:p>
        </p:txBody>
      </p:sp>
      <p:sp>
        <p:nvSpPr>
          <p:cNvPr id="4" name="Rectangle 3"/>
          <p:cNvSpPr/>
          <p:nvPr/>
        </p:nvSpPr>
        <p:spPr>
          <a:xfrm>
            <a:off x="658368" y="1481328"/>
            <a:ext cx="10874959" cy="1578864"/>
          </a:xfrm>
          <a:prstGeom prst="rect">
            <a:avLst/>
          </a:prstGeom>
          <a:solidFill>
            <a:srgbClr val="F5F7F9"/>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81328"/>
            <a:ext cx="43180" cy="1578864"/>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77824" y="1645920"/>
            <a:ext cx="10509199" cy="1304544"/>
          </a:xfrm>
          <a:prstGeom prst="rect">
            <a:avLst/>
          </a:prstGeom>
          <a:noFill/>
        </p:spPr>
        <p:txBody>
          <a:bodyPr wrap="square" lIns="0" tIns="0" rIns="0" bIns="0">
            <a:spAutoFit/>
          </a:bodyPr>
          <a:lstStyle/>
          <a:p>
            <a:pPr>
              <a:lnSpc>
                <a:spcPct val="116000"/>
              </a:lnSpc>
              <a:spcAft>
                <a:spcPts val="0"/>
              </a:spcAft>
            </a:pPr>
            <a:r>
              <a:rPr sz="1500" b="0" i="0">
                <a:solidFill>
                  <a:srgbClr val="242C38"/>
                </a:solidFill>
                <a:latin typeface="Consolas"/>
              </a:rPr>
              <a:t>target.optimize().executeCompaction()</a:t>
            </a:r>
          </a:p>
          <a:p>
            <a:pPr>
              <a:lnSpc>
                <a:spcPct val="116000"/>
              </a:lnSpc>
              <a:spcAft>
                <a:spcPts val="0"/>
              </a:spcAft>
            </a:pPr>
            <a:r>
              <a:rPr sz="1500" b="0" i="0">
                <a:solidFill>
                  <a:srgbClr val="242C38"/>
                </a:solidFill>
                <a:latin typeface="Consolas"/>
              </a:rPr>
              <a:t> </a:t>
            </a:r>
          </a:p>
          <a:p>
            <a:pPr>
              <a:lnSpc>
                <a:spcPct val="116000"/>
              </a:lnSpc>
              <a:spcAft>
                <a:spcPts val="0"/>
              </a:spcAft>
            </a:pPr>
            <a:r>
              <a:rPr sz="1500" b="0" i="0">
                <a:solidFill>
                  <a:srgbClr val="242C38"/>
                </a:solidFill>
                <a:latin typeface="Consolas"/>
              </a:rPr>
              <a:t>spark.sql(f</a:t>
            </a:r>
            <a:r>
              <a:rPr sz="1500" b="0" i="0">
                <a:solidFill>
                  <a:srgbClr val="A31515"/>
                </a:solidFill>
                <a:latin typeface="Consolas"/>
              </a:rPr>
              <a:t>"VACUUM delta.`{path}` RETAIN 168 HOURS"</a:t>
            </a:r>
            <a:r>
              <a:rPr sz="1500" b="0" i="0">
                <a:solidFill>
                  <a:srgbClr val="242C38"/>
                </a:solidFill>
                <a:latin typeface="Consolas"/>
              </a:rPr>
              <a:t>)</a:t>
            </a:r>
          </a:p>
          <a:p>
            <a:pPr>
              <a:lnSpc>
                <a:spcPct val="116000"/>
              </a:lnSpc>
              <a:spcAft>
                <a:spcPts val="0"/>
              </a:spcAft>
            </a:pPr>
            <a:r>
              <a:rPr sz="1500" b="0" i="1">
                <a:solidFill>
                  <a:srgbClr val="6F865C"/>
                </a:solidFill>
                <a:latin typeface="Consolas"/>
              </a:rPr>
              <a:t># 168 hours is 7 days, the safe production default</a:t>
            </a:r>
          </a:p>
        </p:txBody>
      </p:sp>
      <p:sp>
        <p:nvSpPr>
          <p:cNvPr id="7" name="TextBox 6"/>
          <p:cNvSpPr txBox="1"/>
          <p:nvPr/>
        </p:nvSpPr>
        <p:spPr>
          <a:xfrm>
            <a:off x="658368" y="3206496"/>
            <a:ext cx="10874959" cy="457200"/>
          </a:xfrm>
          <a:prstGeom prst="rect">
            <a:avLst/>
          </a:prstGeom>
          <a:noFill/>
        </p:spPr>
        <p:txBody>
          <a:bodyPr wrap="square" lIns="0" tIns="0" rIns="0" bIns="0">
            <a:spAutoFit/>
          </a:bodyPr>
          <a:lstStyle/>
          <a:p>
            <a:r>
              <a:rPr sz="1400" b="0" i="0">
                <a:solidFill>
                  <a:srgbClr val="5B6775"/>
                </a:solidFill>
                <a:latin typeface="Segoe UI"/>
              </a:rPr>
              <a:t>OPTIMIZE compacts small files. VACUUM deletes unreferenced ones. 0 hours is demo only.</a:t>
            </a:r>
          </a:p>
        </p:txBody>
      </p:sp>
      <p:sp>
        <p:nvSpPr>
          <p:cNvPr id="8" name="Rectangle 7"/>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11  ·  Table formats: Delta and Iceberg</a:t>
            </a:r>
          </a:p>
        </p:txBody>
      </p:sp>
      <p:sp>
        <p:nvSpPr>
          <p:cNvPr id="10" name="TextBox 9"/>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117</a:t>
            </a: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Iceberg: create with hidden partitioning</a:t>
            </a:r>
          </a:p>
        </p:txBody>
      </p:sp>
      <p:sp>
        <p:nvSpPr>
          <p:cNvPr id="4" name="Rectangle 3"/>
          <p:cNvSpPr/>
          <p:nvPr/>
        </p:nvSpPr>
        <p:spPr>
          <a:xfrm>
            <a:off x="658368" y="1481328"/>
            <a:ext cx="10874959" cy="1578864"/>
          </a:xfrm>
          <a:prstGeom prst="rect">
            <a:avLst/>
          </a:prstGeom>
          <a:solidFill>
            <a:srgbClr val="F5F7F9"/>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81328"/>
            <a:ext cx="43180" cy="1578864"/>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77824" y="1645920"/>
            <a:ext cx="10509199" cy="1304544"/>
          </a:xfrm>
          <a:prstGeom prst="rect">
            <a:avLst/>
          </a:prstGeom>
          <a:noFill/>
        </p:spPr>
        <p:txBody>
          <a:bodyPr wrap="square" lIns="0" tIns="0" rIns="0" bIns="0">
            <a:spAutoFit/>
          </a:bodyPr>
          <a:lstStyle/>
          <a:p>
            <a:pPr>
              <a:lnSpc>
                <a:spcPct val="116000"/>
              </a:lnSpc>
              <a:spcAft>
                <a:spcPts val="0"/>
              </a:spcAft>
            </a:pPr>
            <a:r>
              <a:rPr sz="1500" b="0" i="0">
                <a:solidFill>
                  <a:srgbClr val="0F5BA7"/>
                </a:solidFill>
                <a:latin typeface="Consolas"/>
              </a:rPr>
              <a:t>CREATE</a:t>
            </a:r>
            <a:r>
              <a:rPr sz="1500" b="0" i="0">
                <a:solidFill>
                  <a:srgbClr val="242C38"/>
                </a:solidFill>
                <a:latin typeface="Consolas"/>
              </a:rPr>
              <a:t> </a:t>
            </a:r>
            <a:r>
              <a:rPr sz="1500" b="0" i="0">
                <a:solidFill>
                  <a:srgbClr val="0F5BA7"/>
                </a:solidFill>
                <a:latin typeface="Consolas"/>
              </a:rPr>
              <a:t>OR</a:t>
            </a:r>
            <a:r>
              <a:rPr sz="1500" b="0" i="0">
                <a:solidFill>
                  <a:srgbClr val="242C38"/>
                </a:solidFill>
                <a:latin typeface="Consolas"/>
              </a:rPr>
              <a:t> REPLACE </a:t>
            </a:r>
            <a:r>
              <a:rPr sz="1500" b="0" i="0">
                <a:solidFill>
                  <a:srgbClr val="0F5BA7"/>
                </a:solidFill>
                <a:latin typeface="Consolas"/>
              </a:rPr>
              <a:t>TABLE</a:t>
            </a:r>
            <a:r>
              <a:rPr sz="1500" b="0" i="0">
                <a:solidFill>
                  <a:srgbClr val="242C38"/>
                </a:solidFill>
                <a:latin typeface="Consolas"/>
              </a:rPr>
              <a:t> local.silver.txns</a:t>
            </a:r>
          </a:p>
          <a:p>
            <a:pPr>
              <a:lnSpc>
                <a:spcPct val="116000"/>
              </a:lnSpc>
              <a:spcAft>
                <a:spcPts val="0"/>
              </a:spcAft>
            </a:pPr>
            <a:r>
              <a:rPr sz="1500" b="0" i="0">
                <a:solidFill>
                  <a:srgbClr val="0F5BA7"/>
                </a:solidFill>
                <a:latin typeface="Consolas"/>
              </a:rPr>
              <a:t>USING</a:t>
            </a:r>
            <a:r>
              <a:rPr sz="1500" b="0" i="0">
                <a:solidFill>
                  <a:srgbClr val="242C38"/>
                </a:solidFill>
                <a:latin typeface="Consolas"/>
              </a:rPr>
              <a:t> iceberg</a:t>
            </a:r>
          </a:p>
          <a:p>
            <a:pPr>
              <a:lnSpc>
                <a:spcPct val="116000"/>
              </a:lnSpc>
              <a:spcAft>
                <a:spcPts val="0"/>
              </a:spcAft>
            </a:pPr>
            <a:r>
              <a:rPr sz="1500" b="0" i="0">
                <a:solidFill>
                  <a:srgbClr val="242C38"/>
                </a:solidFill>
                <a:latin typeface="Consolas"/>
              </a:rPr>
              <a:t>PARTITIONED </a:t>
            </a:r>
            <a:r>
              <a:rPr sz="1500" b="0" i="0">
                <a:solidFill>
                  <a:srgbClr val="0F5BA7"/>
                </a:solidFill>
                <a:latin typeface="Consolas"/>
              </a:rPr>
              <a:t>BY</a:t>
            </a:r>
            <a:r>
              <a:rPr sz="1500" b="0" i="0">
                <a:solidFill>
                  <a:srgbClr val="242C38"/>
                </a:solidFill>
                <a:latin typeface="Consolas"/>
              </a:rPr>
              <a:t> (days(txn_ts))</a:t>
            </a:r>
          </a:p>
          <a:p>
            <a:pPr>
              <a:lnSpc>
                <a:spcPct val="116000"/>
              </a:lnSpc>
              <a:spcAft>
                <a:spcPts val="0"/>
              </a:spcAft>
            </a:pPr>
            <a:r>
              <a:rPr sz="1500" b="0" i="0">
                <a:solidFill>
                  <a:srgbClr val="0F5BA7"/>
                </a:solidFill>
                <a:latin typeface="Consolas"/>
              </a:rPr>
              <a:t>AS</a:t>
            </a:r>
            <a:r>
              <a:rPr sz="1500" b="0" i="0">
                <a:solidFill>
                  <a:srgbClr val="242C38"/>
                </a:solidFill>
                <a:latin typeface="Consolas"/>
              </a:rPr>
              <a:t> </a:t>
            </a:r>
            <a:r>
              <a:rPr sz="1500" b="0" i="0">
                <a:solidFill>
                  <a:srgbClr val="0F5BA7"/>
                </a:solidFill>
                <a:latin typeface="Consolas"/>
              </a:rPr>
              <a:t>SELECT</a:t>
            </a:r>
            <a:r>
              <a:rPr sz="1500" b="0" i="0">
                <a:solidFill>
                  <a:srgbClr val="242C38"/>
                </a:solidFill>
                <a:latin typeface="Consolas"/>
              </a:rPr>
              <a:t> * </a:t>
            </a:r>
            <a:r>
              <a:rPr sz="1500" b="0" i="0">
                <a:solidFill>
                  <a:srgbClr val="0F5BA7"/>
                </a:solidFill>
                <a:latin typeface="Consolas"/>
              </a:rPr>
              <a:t>FROM</a:t>
            </a:r>
            <a:r>
              <a:rPr sz="1500" b="0" i="0">
                <a:solidFill>
                  <a:srgbClr val="242C38"/>
                </a:solidFill>
                <a:latin typeface="Consolas"/>
              </a:rPr>
              <a:t> raw_txns</a:t>
            </a:r>
          </a:p>
        </p:txBody>
      </p:sp>
      <p:sp>
        <p:nvSpPr>
          <p:cNvPr id="7" name="TextBox 6"/>
          <p:cNvSpPr txBox="1"/>
          <p:nvPr/>
        </p:nvSpPr>
        <p:spPr>
          <a:xfrm>
            <a:off x="658368" y="3206496"/>
            <a:ext cx="10874959" cy="457200"/>
          </a:xfrm>
          <a:prstGeom prst="rect">
            <a:avLst/>
          </a:prstGeom>
          <a:noFill/>
        </p:spPr>
        <p:txBody>
          <a:bodyPr wrap="square" lIns="0" tIns="0" rIns="0" bIns="0">
            <a:spAutoFit/>
          </a:bodyPr>
          <a:lstStyle/>
          <a:p>
            <a:r>
              <a:rPr sz="1400" b="0" i="0">
                <a:solidFill>
                  <a:srgbClr val="5B6775"/>
                </a:solidFill>
                <a:latin typeface="Segoe UI"/>
              </a:rPr>
              <a:t>days(txn_ts) needs no separate dt column. Iceberg tracks the partition value itself.</a:t>
            </a:r>
          </a:p>
        </p:txBody>
      </p:sp>
      <p:sp>
        <p:nvSpPr>
          <p:cNvPr id="8" name="Rectangle 7"/>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11  ·  Table formats: Delta and Iceberg</a:t>
            </a:r>
          </a:p>
        </p:txBody>
      </p:sp>
      <p:sp>
        <p:nvSpPr>
          <p:cNvPr id="10" name="TextBox 9"/>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118</a:t>
            </a: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Iceberg's metadata: a small tree, not one log</a:t>
            </a:r>
          </a:p>
        </p:txBody>
      </p:sp>
      <p:sp>
        <p:nvSpPr>
          <p:cNvPr id="4" name="Rectangle 3"/>
          <p:cNvSpPr/>
          <p:nvPr/>
        </p:nvSpPr>
        <p:spPr>
          <a:xfrm>
            <a:off x="658368" y="1481328"/>
            <a:ext cx="10874959" cy="2157984"/>
          </a:xfrm>
          <a:prstGeom prst="rect">
            <a:avLst/>
          </a:prstGeom>
          <a:solidFill>
            <a:srgbClr val="F5F7F9"/>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81328"/>
            <a:ext cx="43180" cy="2157984"/>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77824" y="1645920"/>
            <a:ext cx="10509199" cy="1883664"/>
          </a:xfrm>
          <a:prstGeom prst="rect">
            <a:avLst/>
          </a:prstGeom>
          <a:noFill/>
        </p:spPr>
        <p:txBody>
          <a:bodyPr wrap="square" lIns="0" tIns="0" rIns="0" bIns="0">
            <a:spAutoFit/>
          </a:bodyPr>
          <a:lstStyle/>
          <a:p>
            <a:pPr>
              <a:lnSpc>
                <a:spcPct val="116000"/>
              </a:lnSpc>
              <a:spcAft>
                <a:spcPts val="0"/>
              </a:spcAft>
            </a:pPr>
            <a:r>
              <a:rPr sz="1500" b="0" i="0">
                <a:solidFill>
                  <a:srgbClr val="242C38"/>
                </a:solidFill>
                <a:latin typeface="Consolas"/>
              </a:rPr>
              <a:t>metadata/</a:t>
            </a:r>
          </a:p>
          <a:p>
            <a:pPr>
              <a:lnSpc>
                <a:spcPct val="116000"/>
              </a:lnSpc>
              <a:spcAft>
                <a:spcPts val="0"/>
              </a:spcAft>
            </a:pPr>
            <a:r>
              <a:rPr sz="1500" b="0" i="0">
                <a:solidFill>
                  <a:srgbClr val="242C38"/>
                </a:solidFill>
                <a:latin typeface="Consolas"/>
              </a:rPr>
              <a:t>  v1.metadata.json     points at the current snapshot</a:t>
            </a:r>
          </a:p>
          <a:p>
            <a:pPr>
              <a:lnSpc>
                <a:spcPct val="116000"/>
              </a:lnSpc>
              <a:spcAft>
                <a:spcPts val="0"/>
              </a:spcAft>
            </a:pPr>
            <a:r>
              <a:rPr sz="1500" b="0" i="0">
                <a:solidFill>
                  <a:srgbClr val="242C38"/>
                </a:solidFill>
                <a:latin typeface="Consolas"/>
              </a:rPr>
              <a:t>  snap-...-1.avro       manifest list for that snapshot</a:t>
            </a:r>
          </a:p>
          <a:p>
            <a:pPr>
              <a:lnSpc>
                <a:spcPct val="116000"/>
              </a:lnSpc>
              <a:spcAft>
                <a:spcPts val="0"/>
              </a:spcAft>
            </a:pPr>
            <a:r>
              <a:rPr sz="1500" b="0" i="0">
                <a:solidFill>
                  <a:srgbClr val="242C38"/>
                </a:solidFill>
                <a:latin typeface="Consolas"/>
              </a:rPr>
              <a:t>  &lt;uuid&gt;-m0.avro          a manifest, lists data files</a:t>
            </a:r>
          </a:p>
          <a:p>
            <a:pPr>
              <a:lnSpc>
                <a:spcPct val="116000"/>
              </a:lnSpc>
              <a:spcAft>
                <a:spcPts val="0"/>
              </a:spcAft>
            </a:pPr>
            <a:r>
              <a:rPr sz="1500" b="0" i="0">
                <a:solidFill>
                  <a:srgbClr val="242C38"/>
                </a:solidFill>
                <a:latin typeface="Consolas"/>
              </a:rPr>
              <a:t>data/</a:t>
            </a:r>
          </a:p>
          <a:p>
            <a:pPr>
              <a:lnSpc>
                <a:spcPct val="116000"/>
              </a:lnSpc>
              <a:spcAft>
                <a:spcPts val="0"/>
              </a:spcAft>
            </a:pPr>
            <a:r>
              <a:rPr sz="1500" b="0" i="0">
                <a:solidFill>
                  <a:srgbClr val="242C38"/>
                </a:solidFill>
                <a:latin typeface="Consolas"/>
              </a:rPr>
              <a:t>  status=SUCCESS/...      the actual Parquet files</a:t>
            </a:r>
          </a:p>
        </p:txBody>
      </p:sp>
      <p:sp>
        <p:nvSpPr>
          <p:cNvPr id="7" name="TextBox 6"/>
          <p:cNvSpPr txBox="1"/>
          <p:nvPr/>
        </p:nvSpPr>
        <p:spPr>
          <a:xfrm>
            <a:off x="658368" y="3785616"/>
            <a:ext cx="10874959" cy="457200"/>
          </a:xfrm>
          <a:prstGeom prst="rect">
            <a:avLst/>
          </a:prstGeom>
          <a:noFill/>
        </p:spPr>
        <p:txBody>
          <a:bodyPr wrap="square" lIns="0" tIns="0" rIns="0" bIns="0">
            <a:spAutoFit/>
          </a:bodyPr>
          <a:lstStyle/>
          <a:p>
            <a:r>
              <a:rPr sz="1400" b="0" i="0">
                <a:solidFill>
                  <a:srgbClr val="5B6775"/>
                </a:solidFill>
                <a:latin typeface="Segoe UI"/>
              </a:rPr>
              <a:t>metadata.json is the file every reader opens first, the same job _delta_log's latest entry does.</a:t>
            </a:r>
          </a:p>
        </p:txBody>
      </p:sp>
      <p:sp>
        <p:nvSpPr>
          <p:cNvPr id="8" name="Rectangle 7"/>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11  ·  Table formats: Delta and Iceberg</a:t>
            </a:r>
          </a:p>
        </p:txBody>
      </p:sp>
      <p:sp>
        <p:nvSpPr>
          <p:cNvPr id="10" name="TextBox 9"/>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119</a:t>
            </a: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Iceberg MERGE INTO: plain SQL</a:t>
            </a:r>
          </a:p>
        </p:txBody>
      </p:sp>
      <p:sp>
        <p:nvSpPr>
          <p:cNvPr id="4" name="Rectangle 3"/>
          <p:cNvSpPr/>
          <p:nvPr/>
        </p:nvSpPr>
        <p:spPr>
          <a:xfrm>
            <a:off x="658368" y="1481328"/>
            <a:ext cx="10874959" cy="1868424"/>
          </a:xfrm>
          <a:prstGeom prst="rect">
            <a:avLst/>
          </a:prstGeom>
          <a:solidFill>
            <a:srgbClr val="F5F7F9"/>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81328"/>
            <a:ext cx="43180" cy="1868424"/>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77824" y="1645920"/>
            <a:ext cx="10509199" cy="1594104"/>
          </a:xfrm>
          <a:prstGeom prst="rect">
            <a:avLst/>
          </a:prstGeom>
          <a:noFill/>
        </p:spPr>
        <p:txBody>
          <a:bodyPr wrap="square" lIns="0" tIns="0" rIns="0" bIns="0">
            <a:spAutoFit/>
          </a:bodyPr>
          <a:lstStyle/>
          <a:p>
            <a:pPr>
              <a:lnSpc>
                <a:spcPct val="116000"/>
              </a:lnSpc>
              <a:spcAft>
                <a:spcPts val="0"/>
              </a:spcAft>
            </a:pPr>
            <a:r>
              <a:rPr sz="1500" b="0" i="0">
                <a:solidFill>
                  <a:srgbClr val="0F5BA7"/>
                </a:solidFill>
                <a:latin typeface="Consolas"/>
              </a:rPr>
              <a:t>MERGE</a:t>
            </a:r>
            <a:r>
              <a:rPr sz="1500" b="0" i="0">
                <a:solidFill>
                  <a:srgbClr val="242C38"/>
                </a:solidFill>
                <a:latin typeface="Consolas"/>
              </a:rPr>
              <a:t> </a:t>
            </a:r>
            <a:r>
              <a:rPr sz="1500" b="0" i="0">
                <a:solidFill>
                  <a:srgbClr val="0F5BA7"/>
                </a:solidFill>
                <a:latin typeface="Consolas"/>
              </a:rPr>
              <a:t>INTO</a:t>
            </a:r>
            <a:r>
              <a:rPr sz="1500" b="0" i="0">
                <a:solidFill>
                  <a:srgbClr val="242C38"/>
                </a:solidFill>
                <a:latin typeface="Consolas"/>
              </a:rPr>
              <a:t> local.silver.txns t</a:t>
            </a:r>
          </a:p>
          <a:p>
            <a:pPr>
              <a:lnSpc>
                <a:spcPct val="116000"/>
              </a:lnSpc>
              <a:spcAft>
                <a:spcPts val="0"/>
              </a:spcAft>
            </a:pPr>
            <a:r>
              <a:rPr sz="1500" b="0" i="0">
                <a:solidFill>
                  <a:srgbClr val="0F5BA7"/>
                </a:solidFill>
                <a:latin typeface="Consolas"/>
              </a:rPr>
              <a:t>USING</a:t>
            </a:r>
            <a:r>
              <a:rPr sz="1500" b="0" i="0">
                <a:solidFill>
                  <a:srgbClr val="242C38"/>
                </a:solidFill>
                <a:latin typeface="Consolas"/>
              </a:rPr>
              <a:t> txn_updates s</a:t>
            </a:r>
          </a:p>
          <a:p>
            <a:pPr>
              <a:lnSpc>
                <a:spcPct val="116000"/>
              </a:lnSpc>
              <a:spcAft>
                <a:spcPts val="0"/>
              </a:spcAft>
            </a:pPr>
            <a:r>
              <a:rPr sz="1500" b="0" i="0">
                <a:solidFill>
                  <a:srgbClr val="0F5BA7"/>
                </a:solidFill>
                <a:latin typeface="Consolas"/>
              </a:rPr>
              <a:t>ON</a:t>
            </a:r>
            <a:r>
              <a:rPr sz="1500" b="0" i="0">
                <a:solidFill>
                  <a:srgbClr val="242C38"/>
                </a:solidFill>
                <a:latin typeface="Consolas"/>
              </a:rPr>
              <a:t> t.txn_id = s.txn_id</a:t>
            </a:r>
          </a:p>
          <a:p>
            <a:pPr>
              <a:lnSpc>
                <a:spcPct val="116000"/>
              </a:lnSpc>
              <a:spcAft>
                <a:spcPts val="0"/>
              </a:spcAft>
            </a:pPr>
            <a:r>
              <a:rPr sz="1500" b="0" i="0">
                <a:solidFill>
                  <a:srgbClr val="0F5BA7"/>
                </a:solidFill>
                <a:latin typeface="Consolas"/>
              </a:rPr>
              <a:t>WHEN</a:t>
            </a:r>
            <a:r>
              <a:rPr sz="1500" b="0" i="0">
                <a:solidFill>
                  <a:srgbClr val="242C38"/>
                </a:solidFill>
                <a:latin typeface="Consolas"/>
              </a:rPr>
              <a:t> </a:t>
            </a:r>
            <a:r>
              <a:rPr sz="1500" b="0" i="0">
                <a:solidFill>
                  <a:srgbClr val="0F5BA7"/>
                </a:solidFill>
                <a:latin typeface="Consolas"/>
              </a:rPr>
              <a:t>MATCHED</a:t>
            </a:r>
            <a:r>
              <a:rPr sz="1500" b="0" i="0">
                <a:solidFill>
                  <a:srgbClr val="242C38"/>
                </a:solidFill>
                <a:latin typeface="Consolas"/>
              </a:rPr>
              <a:t> </a:t>
            </a:r>
            <a:r>
              <a:rPr sz="1500" b="0" i="0">
                <a:solidFill>
                  <a:srgbClr val="0F5BA7"/>
                </a:solidFill>
                <a:latin typeface="Consolas"/>
              </a:rPr>
              <a:t>THEN</a:t>
            </a:r>
            <a:r>
              <a:rPr sz="1500" b="0" i="0">
                <a:solidFill>
                  <a:srgbClr val="242C38"/>
                </a:solidFill>
                <a:latin typeface="Consolas"/>
              </a:rPr>
              <a:t> </a:t>
            </a:r>
            <a:r>
              <a:rPr sz="1500" b="0" i="0">
                <a:solidFill>
                  <a:srgbClr val="0F5BA7"/>
                </a:solidFill>
                <a:latin typeface="Consolas"/>
              </a:rPr>
              <a:t>UPDATE</a:t>
            </a:r>
            <a:r>
              <a:rPr sz="1500" b="0" i="0">
                <a:solidFill>
                  <a:srgbClr val="242C38"/>
                </a:solidFill>
                <a:latin typeface="Consolas"/>
              </a:rPr>
              <a:t> </a:t>
            </a:r>
            <a:r>
              <a:rPr sz="1500" b="0" i="0">
                <a:solidFill>
                  <a:srgbClr val="0F5BA7"/>
                </a:solidFill>
                <a:latin typeface="Consolas"/>
              </a:rPr>
              <a:t>SET</a:t>
            </a:r>
            <a:r>
              <a:rPr sz="1500" b="0" i="0">
                <a:solidFill>
                  <a:srgbClr val="242C38"/>
                </a:solidFill>
                <a:latin typeface="Consolas"/>
              </a:rPr>
              <a:t> t.status = s.status</a:t>
            </a:r>
          </a:p>
          <a:p>
            <a:pPr>
              <a:lnSpc>
                <a:spcPct val="116000"/>
              </a:lnSpc>
              <a:spcAft>
                <a:spcPts val="0"/>
              </a:spcAft>
            </a:pPr>
            <a:r>
              <a:rPr sz="1500" b="0" i="0">
                <a:solidFill>
                  <a:srgbClr val="0F5BA7"/>
                </a:solidFill>
                <a:latin typeface="Consolas"/>
              </a:rPr>
              <a:t>WHEN</a:t>
            </a:r>
            <a:r>
              <a:rPr sz="1500" b="0" i="0">
                <a:solidFill>
                  <a:srgbClr val="242C38"/>
                </a:solidFill>
                <a:latin typeface="Consolas"/>
              </a:rPr>
              <a:t> </a:t>
            </a:r>
            <a:r>
              <a:rPr sz="1500" b="0" i="0">
                <a:solidFill>
                  <a:srgbClr val="0F5BA7"/>
                </a:solidFill>
                <a:latin typeface="Consolas"/>
              </a:rPr>
              <a:t>NOT</a:t>
            </a:r>
            <a:r>
              <a:rPr sz="1500" b="0" i="0">
                <a:solidFill>
                  <a:srgbClr val="242C38"/>
                </a:solidFill>
                <a:latin typeface="Consolas"/>
              </a:rPr>
              <a:t> </a:t>
            </a:r>
            <a:r>
              <a:rPr sz="1500" b="0" i="0">
                <a:solidFill>
                  <a:srgbClr val="0F5BA7"/>
                </a:solidFill>
                <a:latin typeface="Consolas"/>
              </a:rPr>
              <a:t>MATCHED</a:t>
            </a:r>
            <a:r>
              <a:rPr sz="1500" b="0" i="0">
                <a:solidFill>
                  <a:srgbClr val="242C38"/>
                </a:solidFill>
                <a:latin typeface="Consolas"/>
              </a:rPr>
              <a:t> </a:t>
            </a:r>
            <a:r>
              <a:rPr sz="1500" b="0" i="0">
                <a:solidFill>
                  <a:srgbClr val="0F5BA7"/>
                </a:solidFill>
                <a:latin typeface="Consolas"/>
              </a:rPr>
              <a:t>THEN</a:t>
            </a:r>
            <a:r>
              <a:rPr sz="1500" b="0" i="0">
                <a:solidFill>
                  <a:srgbClr val="242C38"/>
                </a:solidFill>
                <a:latin typeface="Consolas"/>
              </a:rPr>
              <a:t> </a:t>
            </a:r>
            <a:r>
              <a:rPr sz="1500" b="0" i="0">
                <a:solidFill>
                  <a:srgbClr val="0F5BA7"/>
                </a:solidFill>
                <a:latin typeface="Consolas"/>
              </a:rPr>
              <a:t>INSERT</a:t>
            </a:r>
            <a:r>
              <a:rPr sz="1500" b="0" i="0">
                <a:solidFill>
                  <a:srgbClr val="242C38"/>
                </a:solidFill>
                <a:latin typeface="Consolas"/>
              </a:rPr>
              <a:t> *</a:t>
            </a:r>
          </a:p>
        </p:txBody>
      </p:sp>
      <p:sp>
        <p:nvSpPr>
          <p:cNvPr id="7" name="TextBox 6"/>
          <p:cNvSpPr txBox="1"/>
          <p:nvPr/>
        </p:nvSpPr>
        <p:spPr>
          <a:xfrm>
            <a:off x="658368" y="3496056"/>
            <a:ext cx="10874959" cy="457200"/>
          </a:xfrm>
          <a:prstGeom prst="rect">
            <a:avLst/>
          </a:prstGeom>
          <a:noFill/>
        </p:spPr>
        <p:txBody>
          <a:bodyPr wrap="square" lIns="0" tIns="0" rIns="0" bIns="0">
            <a:spAutoFit/>
          </a:bodyPr>
          <a:lstStyle/>
          <a:p>
            <a:r>
              <a:rPr sz="1400" b="0" i="0">
                <a:solidFill>
                  <a:srgbClr val="5B6775"/>
                </a:solidFill>
                <a:latin typeface="Segoe UI"/>
              </a:rPr>
              <a:t>Reads almost exactly like standard SQL, because it is standard SQL.</a:t>
            </a:r>
          </a:p>
        </p:txBody>
      </p:sp>
      <p:sp>
        <p:nvSpPr>
          <p:cNvPr id="8" name="Rectangle 7"/>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11  ·  Table formats: Delta and Iceberg</a:t>
            </a:r>
          </a:p>
        </p:txBody>
      </p:sp>
      <p:sp>
        <p:nvSpPr>
          <p:cNvPr id="10" name="TextBox 9"/>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120</a:t>
            </a: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Iceberg time travel: snapshots, not versions</a:t>
            </a:r>
          </a:p>
        </p:txBody>
      </p:sp>
      <p:sp>
        <p:nvSpPr>
          <p:cNvPr id="4" name="Rectangle 3"/>
          <p:cNvSpPr/>
          <p:nvPr/>
        </p:nvSpPr>
        <p:spPr>
          <a:xfrm>
            <a:off x="658368" y="1481328"/>
            <a:ext cx="10874959" cy="1289304"/>
          </a:xfrm>
          <a:prstGeom prst="rect">
            <a:avLst/>
          </a:prstGeom>
          <a:solidFill>
            <a:srgbClr val="F5F7F9"/>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81328"/>
            <a:ext cx="43180" cy="1289304"/>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77824" y="1645920"/>
            <a:ext cx="10509199" cy="1014984"/>
          </a:xfrm>
          <a:prstGeom prst="rect">
            <a:avLst/>
          </a:prstGeom>
          <a:noFill/>
        </p:spPr>
        <p:txBody>
          <a:bodyPr wrap="square" lIns="0" tIns="0" rIns="0" bIns="0">
            <a:spAutoFit/>
          </a:bodyPr>
          <a:lstStyle/>
          <a:p>
            <a:pPr>
              <a:lnSpc>
                <a:spcPct val="116000"/>
              </a:lnSpc>
              <a:spcAft>
                <a:spcPts val="0"/>
              </a:spcAft>
            </a:pPr>
            <a:r>
              <a:rPr sz="1500" b="0" i="0">
                <a:solidFill>
                  <a:srgbClr val="0F5BA7"/>
                </a:solidFill>
                <a:latin typeface="Consolas"/>
              </a:rPr>
              <a:t>SELECT</a:t>
            </a:r>
            <a:r>
              <a:rPr sz="1500" b="0" i="0">
                <a:solidFill>
                  <a:srgbClr val="242C38"/>
                </a:solidFill>
                <a:latin typeface="Consolas"/>
              </a:rPr>
              <a:t> snapshot_id, committed_at, operation</a:t>
            </a:r>
          </a:p>
          <a:p>
            <a:pPr>
              <a:lnSpc>
                <a:spcPct val="116000"/>
              </a:lnSpc>
              <a:spcAft>
                <a:spcPts val="0"/>
              </a:spcAft>
            </a:pPr>
            <a:r>
              <a:rPr sz="1500" b="0" i="0">
                <a:solidFill>
                  <a:srgbClr val="0F5BA7"/>
                </a:solidFill>
                <a:latin typeface="Consolas"/>
              </a:rPr>
              <a:t>FROM</a:t>
            </a:r>
            <a:r>
              <a:rPr sz="1500" b="0" i="0">
                <a:solidFill>
                  <a:srgbClr val="242C38"/>
                </a:solidFill>
                <a:latin typeface="Consolas"/>
              </a:rPr>
              <a:t> local.silver.txns.snapshots</a:t>
            </a:r>
          </a:p>
          <a:p>
            <a:pPr>
              <a:lnSpc>
                <a:spcPct val="116000"/>
              </a:lnSpc>
              <a:spcAft>
                <a:spcPts val="0"/>
              </a:spcAft>
            </a:pPr>
            <a:r>
              <a:rPr sz="1500" b="0" i="0">
                <a:solidFill>
                  <a:srgbClr val="0F5BA7"/>
                </a:solidFill>
                <a:latin typeface="Consolas"/>
              </a:rPr>
              <a:t>ORDER</a:t>
            </a:r>
            <a:r>
              <a:rPr sz="1500" b="0" i="0">
                <a:solidFill>
                  <a:srgbClr val="242C38"/>
                </a:solidFill>
                <a:latin typeface="Consolas"/>
              </a:rPr>
              <a:t> </a:t>
            </a:r>
            <a:r>
              <a:rPr sz="1500" b="0" i="0">
                <a:solidFill>
                  <a:srgbClr val="0F5BA7"/>
                </a:solidFill>
                <a:latin typeface="Consolas"/>
              </a:rPr>
              <a:t>BY</a:t>
            </a:r>
            <a:r>
              <a:rPr sz="1500" b="0" i="0">
                <a:solidFill>
                  <a:srgbClr val="242C38"/>
                </a:solidFill>
                <a:latin typeface="Consolas"/>
              </a:rPr>
              <a:t> committed_at</a:t>
            </a:r>
          </a:p>
        </p:txBody>
      </p:sp>
      <p:sp>
        <p:nvSpPr>
          <p:cNvPr id="7" name="TextBox 6"/>
          <p:cNvSpPr txBox="1"/>
          <p:nvPr/>
        </p:nvSpPr>
        <p:spPr>
          <a:xfrm>
            <a:off x="658368" y="2916936"/>
            <a:ext cx="10874959" cy="457200"/>
          </a:xfrm>
          <a:prstGeom prst="rect">
            <a:avLst/>
          </a:prstGeom>
          <a:noFill/>
        </p:spPr>
        <p:txBody>
          <a:bodyPr wrap="square" lIns="0" tIns="0" rIns="0" bIns="0">
            <a:spAutoFit/>
          </a:bodyPr>
          <a:lstStyle/>
          <a:p>
            <a:r>
              <a:rPr sz="1400" b="0" i="0">
                <a:solidFill>
                  <a:srgbClr val="5B6775"/>
                </a:solidFill>
                <a:latin typeface="Segoe UI"/>
              </a:rPr>
              <a:t>Read one: spark.read.option("snapshot-id", id).table("local.silver.txns")</a:t>
            </a:r>
          </a:p>
        </p:txBody>
      </p:sp>
      <p:sp>
        <p:nvSpPr>
          <p:cNvPr id="8" name="Rectangle 7"/>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11  ·  Table formats: Delta and Iceberg</a:t>
            </a:r>
          </a:p>
        </p:txBody>
      </p:sp>
      <p:sp>
        <p:nvSpPr>
          <p:cNvPr id="10" name="TextBox 9"/>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121</a:t>
            </a: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Iceberg maintenance: two CALL procedures</a:t>
            </a:r>
          </a:p>
        </p:txBody>
      </p:sp>
      <p:sp>
        <p:nvSpPr>
          <p:cNvPr id="4" name="Rectangle 3"/>
          <p:cNvSpPr/>
          <p:nvPr/>
        </p:nvSpPr>
        <p:spPr>
          <a:xfrm>
            <a:off x="658368" y="1481328"/>
            <a:ext cx="10874959" cy="2447544"/>
          </a:xfrm>
          <a:prstGeom prst="rect">
            <a:avLst/>
          </a:prstGeom>
          <a:solidFill>
            <a:srgbClr val="F5F7F9"/>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81328"/>
            <a:ext cx="43180" cy="2447544"/>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77824" y="1645920"/>
            <a:ext cx="10509199" cy="2173224"/>
          </a:xfrm>
          <a:prstGeom prst="rect">
            <a:avLst/>
          </a:prstGeom>
          <a:noFill/>
        </p:spPr>
        <p:txBody>
          <a:bodyPr wrap="square" lIns="0" tIns="0" rIns="0" bIns="0">
            <a:spAutoFit/>
          </a:bodyPr>
          <a:lstStyle/>
          <a:p>
            <a:pPr>
              <a:lnSpc>
                <a:spcPct val="116000"/>
              </a:lnSpc>
              <a:spcAft>
                <a:spcPts val="0"/>
              </a:spcAft>
            </a:pPr>
            <a:r>
              <a:rPr sz="1500" b="0" i="0">
                <a:solidFill>
                  <a:srgbClr val="242C38"/>
                </a:solidFill>
                <a:latin typeface="Consolas"/>
              </a:rPr>
              <a:t>CALL local.system.rewrite_data_files(</a:t>
            </a:r>
          </a:p>
          <a:p>
            <a:pPr>
              <a:lnSpc>
                <a:spcPct val="116000"/>
              </a:lnSpc>
              <a:spcAft>
                <a:spcPts val="0"/>
              </a:spcAft>
            </a:pPr>
            <a:r>
              <a:rPr sz="1500" b="0" i="0">
                <a:solidFill>
                  <a:srgbClr val="242C38"/>
                </a:solidFill>
                <a:latin typeface="Consolas"/>
              </a:rPr>
              <a:t>  </a:t>
            </a:r>
            <a:r>
              <a:rPr sz="1500" b="0" i="0">
                <a:solidFill>
                  <a:srgbClr val="0F5BA7"/>
                </a:solidFill>
                <a:latin typeface="Consolas"/>
              </a:rPr>
              <a:t>table</a:t>
            </a:r>
            <a:r>
              <a:rPr sz="1500" b="0" i="0">
                <a:solidFill>
                  <a:srgbClr val="242C38"/>
                </a:solidFill>
                <a:latin typeface="Consolas"/>
              </a:rPr>
              <a:t> =&gt; </a:t>
            </a:r>
            <a:r>
              <a:rPr sz="1500" b="0" i="0">
                <a:solidFill>
                  <a:srgbClr val="A31515"/>
                </a:solidFill>
                <a:latin typeface="Consolas"/>
              </a:rPr>
              <a:t>'silver.txns'</a:t>
            </a:r>
            <a:r>
              <a:rPr sz="1500" b="0" i="0">
                <a:solidFill>
                  <a:srgbClr val="242C38"/>
                </a:solidFill>
                <a:latin typeface="Consolas"/>
              </a:rPr>
              <a:t>)</a:t>
            </a:r>
          </a:p>
          <a:p>
            <a:pPr>
              <a:lnSpc>
                <a:spcPct val="116000"/>
              </a:lnSpc>
              <a:spcAft>
                <a:spcPts val="0"/>
              </a:spcAft>
            </a:pPr>
            <a:r>
              <a:rPr sz="1500" b="0" i="0">
                <a:solidFill>
                  <a:srgbClr val="242C38"/>
                </a:solidFill>
                <a:latin typeface="Consolas"/>
              </a:rPr>
              <a:t> </a:t>
            </a:r>
          </a:p>
          <a:p>
            <a:pPr>
              <a:lnSpc>
                <a:spcPct val="116000"/>
              </a:lnSpc>
              <a:spcAft>
                <a:spcPts val="0"/>
              </a:spcAft>
            </a:pPr>
            <a:r>
              <a:rPr sz="1500" b="0" i="0">
                <a:solidFill>
                  <a:srgbClr val="242C38"/>
                </a:solidFill>
                <a:latin typeface="Consolas"/>
              </a:rPr>
              <a:t>CALL local.system.expire_snapshots(</a:t>
            </a:r>
          </a:p>
          <a:p>
            <a:pPr>
              <a:lnSpc>
                <a:spcPct val="116000"/>
              </a:lnSpc>
              <a:spcAft>
                <a:spcPts val="0"/>
              </a:spcAft>
            </a:pPr>
            <a:r>
              <a:rPr sz="1500" b="0" i="0">
                <a:solidFill>
                  <a:srgbClr val="242C38"/>
                </a:solidFill>
                <a:latin typeface="Consolas"/>
              </a:rPr>
              <a:t>  </a:t>
            </a:r>
            <a:r>
              <a:rPr sz="1500" b="0" i="0">
                <a:solidFill>
                  <a:srgbClr val="0F5BA7"/>
                </a:solidFill>
                <a:latin typeface="Consolas"/>
              </a:rPr>
              <a:t>table</a:t>
            </a:r>
            <a:r>
              <a:rPr sz="1500" b="0" i="0">
                <a:solidFill>
                  <a:srgbClr val="242C38"/>
                </a:solidFill>
                <a:latin typeface="Consolas"/>
              </a:rPr>
              <a:t> =&gt; </a:t>
            </a:r>
            <a:r>
              <a:rPr sz="1500" b="0" i="0">
                <a:solidFill>
                  <a:srgbClr val="A31515"/>
                </a:solidFill>
                <a:latin typeface="Consolas"/>
              </a:rPr>
              <a:t>'silver.txns'</a:t>
            </a:r>
            <a:r>
              <a:rPr sz="1500" b="0" i="0">
                <a:solidFill>
                  <a:srgbClr val="242C38"/>
                </a:solidFill>
                <a:latin typeface="Consolas"/>
              </a:rPr>
              <a:t>,</a:t>
            </a:r>
          </a:p>
          <a:p>
            <a:pPr>
              <a:lnSpc>
                <a:spcPct val="116000"/>
              </a:lnSpc>
              <a:spcAft>
                <a:spcPts val="0"/>
              </a:spcAft>
            </a:pPr>
            <a:r>
              <a:rPr sz="1500" b="0" i="0">
                <a:solidFill>
                  <a:srgbClr val="242C38"/>
                </a:solidFill>
                <a:latin typeface="Consolas"/>
              </a:rPr>
              <a:t>  older_than =&gt; TIMESTAMP </a:t>
            </a:r>
            <a:r>
              <a:rPr sz="1500" b="0" i="0">
                <a:solidFill>
                  <a:srgbClr val="A31515"/>
                </a:solidFill>
                <a:latin typeface="Consolas"/>
              </a:rPr>
              <a:t>'2026-09-01 00:00:00'</a:t>
            </a:r>
            <a:r>
              <a:rPr sz="1500" b="0" i="0">
                <a:solidFill>
                  <a:srgbClr val="242C38"/>
                </a:solidFill>
                <a:latin typeface="Consolas"/>
              </a:rPr>
              <a:t>,</a:t>
            </a:r>
          </a:p>
          <a:p>
            <a:pPr>
              <a:lnSpc>
                <a:spcPct val="116000"/>
              </a:lnSpc>
              <a:spcAft>
                <a:spcPts val="0"/>
              </a:spcAft>
            </a:pPr>
            <a:r>
              <a:rPr sz="1500" b="0" i="0">
                <a:solidFill>
                  <a:srgbClr val="242C38"/>
                </a:solidFill>
                <a:latin typeface="Consolas"/>
              </a:rPr>
              <a:t>  retain_last =&gt; </a:t>
            </a:r>
            <a:r>
              <a:rPr sz="1500" b="0" i="0">
                <a:solidFill>
                  <a:srgbClr val="098658"/>
                </a:solidFill>
                <a:latin typeface="Consolas"/>
              </a:rPr>
              <a:t>1</a:t>
            </a:r>
            <a:r>
              <a:rPr sz="1500" b="0" i="0">
                <a:solidFill>
                  <a:srgbClr val="242C38"/>
                </a:solidFill>
                <a:latin typeface="Consolas"/>
              </a:rPr>
              <a:t>)</a:t>
            </a:r>
          </a:p>
        </p:txBody>
      </p:sp>
      <p:sp>
        <p:nvSpPr>
          <p:cNvPr id="7" name="TextBox 6"/>
          <p:cNvSpPr txBox="1"/>
          <p:nvPr/>
        </p:nvSpPr>
        <p:spPr>
          <a:xfrm>
            <a:off x="658368" y="4075176"/>
            <a:ext cx="10874959" cy="457200"/>
          </a:xfrm>
          <a:prstGeom prst="rect">
            <a:avLst/>
          </a:prstGeom>
          <a:noFill/>
        </p:spPr>
        <p:txBody>
          <a:bodyPr wrap="square" lIns="0" tIns="0" rIns="0" bIns="0">
            <a:spAutoFit/>
          </a:bodyPr>
          <a:lstStyle/>
          <a:p>
            <a:r>
              <a:rPr sz="1400" b="0" i="0">
                <a:solidFill>
                  <a:srgbClr val="5B6775"/>
                </a:solidFill>
                <a:latin typeface="Segoe UI"/>
              </a:rPr>
              <a:t>Same two jobs as Delta's OPTIMIZE and VACUUM, called as system procedures instead.</a:t>
            </a:r>
          </a:p>
        </p:txBody>
      </p:sp>
      <p:sp>
        <p:nvSpPr>
          <p:cNvPr id="8" name="Rectangle 7"/>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11  ·  Table formats: Delta and Iceberg</a:t>
            </a:r>
          </a:p>
        </p:txBody>
      </p:sp>
      <p:sp>
        <p:nvSpPr>
          <p:cNvPr id="10" name="TextBox 9"/>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122</a:t>
            </a: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Delta versus Iceberg, one honest table</a:t>
            </a:r>
          </a:p>
        </p:txBody>
      </p:sp>
      <p:graphicFrame>
        <p:nvGraphicFramePr>
          <p:cNvPr id="4" name="Table 3"/>
          <p:cNvGraphicFramePr>
            <a:graphicFrameLocks noGrp="1"/>
          </p:cNvGraphicFramePr>
          <p:nvPr/>
        </p:nvGraphicFramePr>
        <p:xfrm>
          <a:off x="658368" y="1481328"/>
          <a:ext cx="10874957" cy="3255264"/>
        </p:xfrm>
        <a:graphic>
          <a:graphicData uri="http://schemas.openxmlformats.org/drawingml/2006/table">
            <a:tbl>
              <a:tblPr firstRow="1" bandRow="1">
                <a:tableStyleId>{5C22544A-7EE6-4342-B048-85BDC9FD1C3A}</a:tableStyleId>
              </a:tblPr>
              <a:tblGrid>
                <a:gridCol w="2848203">
                  <a:extLst>
                    <a:ext uri="{9D8B030D-6E8A-4147-A177-3AD203B41FA5}">
                      <a16:colId xmlns:a16="http://schemas.microsoft.com/office/drawing/2014/main" val="20000"/>
                    </a:ext>
                  </a:extLst>
                </a:gridCol>
                <a:gridCol w="3883913">
                  <a:extLst>
                    <a:ext uri="{9D8B030D-6E8A-4147-A177-3AD203B41FA5}">
                      <a16:colId xmlns:a16="http://schemas.microsoft.com/office/drawing/2014/main" val="20001"/>
                    </a:ext>
                  </a:extLst>
                </a:gridCol>
                <a:gridCol w="4142841">
                  <a:extLst>
                    <a:ext uri="{9D8B030D-6E8A-4147-A177-3AD203B41FA5}">
                      <a16:colId xmlns:a16="http://schemas.microsoft.com/office/drawing/2014/main" val="20002"/>
                    </a:ext>
                  </a:extLst>
                </a:gridCol>
              </a:tblGrid>
              <a:tr h="402336">
                <a:tc>
                  <a:txBody>
                    <a:bodyPr/>
                    <a:lstStyle/>
                    <a:p>
                      <a:endParaRPr/>
                    </a:p>
                  </a:txBody>
                  <a:tcPr anchor="ctr">
                    <a:solidFill>
                      <a:srgbClr val="1F4E79"/>
                    </a:solidFill>
                  </a:tcPr>
                </a:tc>
                <a:tc>
                  <a:txBody>
                    <a:bodyPr/>
                    <a:lstStyle/>
                    <a:p>
                      <a:r>
                        <a:rPr sz="1450" b="1" i="0">
                          <a:solidFill>
                            <a:srgbClr val="FFFFFF"/>
                          </a:solidFill>
                          <a:latin typeface="Segoe UI Semibold"/>
                        </a:rPr>
                        <a:t>Delta Lake</a:t>
                      </a:r>
                    </a:p>
                  </a:txBody>
                  <a:tcPr anchor="ctr">
                    <a:solidFill>
                      <a:srgbClr val="1F4E79"/>
                    </a:solidFill>
                  </a:tcPr>
                </a:tc>
                <a:tc>
                  <a:txBody>
                    <a:bodyPr/>
                    <a:lstStyle/>
                    <a:p>
                      <a:r>
                        <a:rPr sz="1450" b="1" i="0">
                          <a:solidFill>
                            <a:srgbClr val="FFFFFF"/>
                          </a:solidFill>
                          <a:latin typeface="Segoe UI Semibold"/>
                        </a:rPr>
                        <a:t>Apache Iceberg</a:t>
                      </a:r>
                    </a:p>
                  </a:txBody>
                  <a:tcPr anchor="ctr">
                    <a:solidFill>
                      <a:srgbClr val="1F4E79"/>
                    </a:solidFill>
                  </a:tcPr>
                </a:tc>
                <a:extLst>
                  <a:ext uri="{0D108BD9-81ED-4DB2-BD59-A6C34878D82A}">
                    <a16:rowId xmlns:a16="http://schemas.microsoft.com/office/drawing/2014/main" val="10000"/>
                  </a:ext>
                </a:extLst>
              </a:tr>
              <a:tr h="475488">
                <a:tc>
                  <a:txBody>
                    <a:bodyPr/>
                    <a:lstStyle/>
                    <a:p>
                      <a:pPr>
                        <a:lnSpc>
                          <a:spcPct val="106000"/>
                        </a:lnSpc>
                      </a:pPr>
                      <a:r>
                        <a:rPr sz="1400" b="1" i="0">
                          <a:solidFill>
                            <a:srgbClr val="242C38"/>
                          </a:solidFill>
                          <a:latin typeface="Segoe UI"/>
                        </a:rPr>
                        <a:t>Metadata</a:t>
                      </a:r>
                    </a:p>
                  </a:txBody>
                  <a:tcPr marT="36576" marB="36576" anchor="ctr">
                    <a:solidFill>
                      <a:srgbClr val="EEF3F8"/>
                    </a:solidFill>
                  </a:tcPr>
                </a:tc>
                <a:tc>
                  <a:txBody>
                    <a:bodyPr/>
                    <a:lstStyle/>
                    <a:p>
                      <a:pPr>
                        <a:lnSpc>
                          <a:spcPct val="106000"/>
                        </a:lnSpc>
                      </a:pPr>
                      <a:r>
                        <a:rPr sz="1350" b="0" i="0">
                          <a:solidFill>
                            <a:srgbClr val="2E74B5"/>
                          </a:solidFill>
                          <a:latin typeface="Consolas"/>
                        </a:rPr>
                        <a:t>_delta_log/</a:t>
                      </a:r>
                      <a:r>
                        <a:rPr sz="1400" b="0" i="0">
                          <a:solidFill>
                            <a:srgbClr val="242C38"/>
                          </a:solidFill>
                          <a:latin typeface="Segoe UI"/>
                        </a:rPr>
                        <a:t> JSON commits</a:t>
                      </a:r>
                    </a:p>
                  </a:txBody>
                  <a:tcPr marT="36576" marB="36576" anchor="ctr">
                    <a:solidFill>
                      <a:srgbClr val="EEF3F8"/>
                    </a:solidFill>
                  </a:tcPr>
                </a:tc>
                <a:tc>
                  <a:txBody>
                    <a:bodyPr/>
                    <a:lstStyle/>
                    <a:p>
                      <a:pPr>
                        <a:lnSpc>
                          <a:spcPct val="106000"/>
                        </a:lnSpc>
                      </a:pPr>
                      <a:r>
                        <a:rPr sz="1400" b="0" i="0">
                          <a:solidFill>
                            <a:srgbClr val="242C38"/>
                          </a:solidFill>
                          <a:latin typeface="Segoe UI"/>
                        </a:rPr>
                        <a:t>a metadata tree of manifests</a:t>
                      </a:r>
                    </a:p>
                  </a:txBody>
                  <a:tcPr marT="36576" marB="36576" anchor="ctr">
                    <a:solidFill>
                      <a:srgbClr val="EEF3F8"/>
                    </a:solidFill>
                  </a:tcPr>
                </a:tc>
                <a:extLst>
                  <a:ext uri="{0D108BD9-81ED-4DB2-BD59-A6C34878D82A}">
                    <a16:rowId xmlns:a16="http://schemas.microsoft.com/office/drawing/2014/main" val="10001"/>
                  </a:ext>
                </a:extLst>
              </a:tr>
              <a:tr h="475488">
                <a:tc>
                  <a:txBody>
                    <a:bodyPr/>
                    <a:lstStyle/>
                    <a:p>
                      <a:pPr>
                        <a:lnSpc>
                          <a:spcPct val="106000"/>
                        </a:lnSpc>
                      </a:pPr>
                      <a:r>
                        <a:rPr sz="1400" b="1" i="0">
                          <a:solidFill>
                            <a:srgbClr val="242C38"/>
                          </a:solidFill>
                          <a:latin typeface="Segoe UI"/>
                        </a:rPr>
                        <a:t>Table address</a:t>
                      </a:r>
                    </a:p>
                  </a:txBody>
                  <a:tcPr marT="36576" marB="36576" anchor="ctr">
                    <a:solidFill>
                      <a:srgbClr val="FFFFFF"/>
                    </a:solidFill>
                  </a:tcPr>
                </a:tc>
                <a:tc>
                  <a:txBody>
                    <a:bodyPr/>
                    <a:lstStyle/>
                    <a:p>
                      <a:pPr>
                        <a:lnSpc>
                          <a:spcPct val="106000"/>
                        </a:lnSpc>
                      </a:pPr>
                      <a:r>
                        <a:rPr sz="1400" b="0" i="0">
                          <a:solidFill>
                            <a:srgbClr val="242C38"/>
                          </a:solidFill>
                          <a:latin typeface="Segoe UI"/>
                        </a:rPr>
                        <a:t>a file path or catalog name</a:t>
                      </a:r>
                    </a:p>
                  </a:txBody>
                  <a:tcPr marT="36576" marB="36576" anchor="ctr">
                    <a:solidFill>
                      <a:srgbClr val="FFFFFF"/>
                    </a:solidFill>
                  </a:tcPr>
                </a:tc>
                <a:tc>
                  <a:txBody>
                    <a:bodyPr/>
                    <a:lstStyle/>
                    <a:p>
                      <a:pPr>
                        <a:lnSpc>
                          <a:spcPct val="106000"/>
                        </a:lnSpc>
                      </a:pPr>
                      <a:r>
                        <a:rPr sz="1400" b="0" i="0">
                          <a:solidFill>
                            <a:srgbClr val="242C38"/>
                          </a:solidFill>
                          <a:latin typeface="Segoe UI"/>
                        </a:rPr>
                        <a:t>always </a:t>
                      </a:r>
                      <a:r>
                        <a:rPr sz="1350" b="0" i="0">
                          <a:solidFill>
                            <a:srgbClr val="2E74B5"/>
                          </a:solidFill>
                          <a:latin typeface="Consolas"/>
                        </a:rPr>
                        <a:t>catalog.db.table</a:t>
                      </a:r>
                    </a:p>
                  </a:txBody>
                  <a:tcPr marT="36576" marB="36576" anchor="ctr">
                    <a:solidFill>
                      <a:srgbClr val="FFFFFF"/>
                    </a:solidFill>
                  </a:tcPr>
                </a:tc>
                <a:extLst>
                  <a:ext uri="{0D108BD9-81ED-4DB2-BD59-A6C34878D82A}">
                    <a16:rowId xmlns:a16="http://schemas.microsoft.com/office/drawing/2014/main" val="10002"/>
                  </a:ext>
                </a:extLst>
              </a:tr>
              <a:tr h="475488">
                <a:tc>
                  <a:txBody>
                    <a:bodyPr/>
                    <a:lstStyle/>
                    <a:p>
                      <a:pPr>
                        <a:lnSpc>
                          <a:spcPct val="106000"/>
                        </a:lnSpc>
                      </a:pPr>
                      <a:r>
                        <a:rPr sz="1400" b="1" i="0">
                          <a:solidFill>
                            <a:srgbClr val="242C38"/>
                          </a:solidFill>
                          <a:latin typeface="Segoe UI"/>
                        </a:rPr>
                        <a:t>Partitioning</a:t>
                      </a:r>
                    </a:p>
                  </a:txBody>
                  <a:tcPr marT="36576" marB="36576" anchor="ctr">
                    <a:solidFill>
                      <a:srgbClr val="EEF3F8"/>
                    </a:solidFill>
                  </a:tcPr>
                </a:tc>
                <a:tc>
                  <a:txBody>
                    <a:bodyPr/>
                    <a:lstStyle/>
                    <a:p>
                      <a:pPr>
                        <a:lnSpc>
                          <a:spcPct val="106000"/>
                        </a:lnSpc>
                      </a:pPr>
                      <a:r>
                        <a:rPr sz="1400" b="0" i="0">
                          <a:solidFill>
                            <a:srgbClr val="242C38"/>
                          </a:solidFill>
                          <a:latin typeface="Segoe UI"/>
                        </a:rPr>
                        <a:t>explicit columns you maintain</a:t>
                      </a:r>
                    </a:p>
                  </a:txBody>
                  <a:tcPr marT="36576" marB="36576" anchor="ctr">
                    <a:solidFill>
                      <a:srgbClr val="EEF3F8"/>
                    </a:solidFill>
                  </a:tcPr>
                </a:tc>
                <a:tc>
                  <a:txBody>
                    <a:bodyPr/>
                    <a:lstStyle/>
                    <a:p>
                      <a:pPr>
                        <a:lnSpc>
                          <a:spcPct val="106000"/>
                        </a:lnSpc>
                      </a:pPr>
                      <a:r>
                        <a:rPr sz="1400" b="0" i="0">
                          <a:solidFill>
                            <a:srgbClr val="242C38"/>
                          </a:solidFill>
                          <a:latin typeface="Segoe UI"/>
                        </a:rPr>
                        <a:t>hidden, tracked from a real column</a:t>
                      </a:r>
                    </a:p>
                  </a:txBody>
                  <a:tcPr marT="36576" marB="36576" anchor="ctr">
                    <a:solidFill>
                      <a:srgbClr val="EEF3F8"/>
                    </a:solidFill>
                  </a:tcPr>
                </a:tc>
                <a:extLst>
                  <a:ext uri="{0D108BD9-81ED-4DB2-BD59-A6C34878D82A}">
                    <a16:rowId xmlns:a16="http://schemas.microsoft.com/office/drawing/2014/main" val="10003"/>
                  </a:ext>
                </a:extLst>
              </a:tr>
              <a:tr h="475488">
                <a:tc>
                  <a:txBody>
                    <a:bodyPr/>
                    <a:lstStyle/>
                    <a:p>
                      <a:pPr>
                        <a:lnSpc>
                          <a:spcPct val="106000"/>
                        </a:lnSpc>
                      </a:pPr>
                      <a:r>
                        <a:rPr sz="1400" b="1" i="0">
                          <a:solidFill>
                            <a:srgbClr val="242C38"/>
                          </a:solidFill>
                          <a:latin typeface="Segoe UI"/>
                        </a:rPr>
                        <a:t>MERGE</a:t>
                      </a:r>
                    </a:p>
                  </a:txBody>
                  <a:tcPr marT="36576" marB="36576" anchor="ctr">
                    <a:solidFill>
                      <a:srgbClr val="FFFFFF"/>
                    </a:solidFill>
                  </a:tcPr>
                </a:tc>
                <a:tc>
                  <a:txBody>
                    <a:bodyPr/>
                    <a:lstStyle/>
                    <a:p>
                      <a:pPr>
                        <a:lnSpc>
                          <a:spcPct val="106000"/>
                        </a:lnSpc>
                      </a:pPr>
                      <a:r>
                        <a:rPr sz="1350" b="0" i="0">
                          <a:solidFill>
                            <a:srgbClr val="2E74B5"/>
                          </a:solidFill>
                          <a:latin typeface="Consolas"/>
                        </a:rPr>
                        <a:t>DeltaTable.merge()</a:t>
                      </a:r>
                      <a:r>
                        <a:rPr sz="1400" b="0" i="0">
                          <a:solidFill>
                            <a:srgbClr val="242C38"/>
                          </a:solidFill>
                          <a:latin typeface="Segoe UI"/>
                        </a:rPr>
                        <a:t>, Python API</a:t>
                      </a:r>
                    </a:p>
                  </a:txBody>
                  <a:tcPr marT="36576" marB="36576" anchor="ctr">
                    <a:solidFill>
                      <a:srgbClr val="FFFFFF"/>
                    </a:solidFill>
                  </a:tcPr>
                </a:tc>
                <a:tc>
                  <a:txBody>
                    <a:bodyPr/>
                    <a:lstStyle/>
                    <a:p>
                      <a:pPr>
                        <a:lnSpc>
                          <a:spcPct val="106000"/>
                        </a:lnSpc>
                      </a:pPr>
                      <a:r>
                        <a:rPr sz="1350" b="0" i="0">
                          <a:solidFill>
                            <a:srgbClr val="2E74B5"/>
                          </a:solidFill>
                          <a:latin typeface="Consolas"/>
                        </a:rPr>
                        <a:t>MERGE INTO</a:t>
                      </a:r>
                      <a:r>
                        <a:rPr sz="1400" b="0" i="0">
                          <a:solidFill>
                            <a:srgbClr val="242C38"/>
                          </a:solidFill>
                          <a:latin typeface="Segoe UI"/>
                        </a:rPr>
                        <a:t>, plain SQL</a:t>
                      </a:r>
                    </a:p>
                  </a:txBody>
                  <a:tcPr marT="36576" marB="36576" anchor="ctr">
                    <a:solidFill>
                      <a:srgbClr val="FFFFFF"/>
                    </a:solidFill>
                  </a:tcPr>
                </a:tc>
                <a:extLst>
                  <a:ext uri="{0D108BD9-81ED-4DB2-BD59-A6C34878D82A}">
                    <a16:rowId xmlns:a16="http://schemas.microsoft.com/office/drawing/2014/main" val="10004"/>
                  </a:ext>
                </a:extLst>
              </a:tr>
              <a:tr h="475488">
                <a:tc>
                  <a:txBody>
                    <a:bodyPr/>
                    <a:lstStyle/>
                    <a:p>
                      <a:pPr>
                        <a:lnSpc>
                          <a:spcPct val="106000"/>
                        </a:lnSpc>
                      </a:pPr>
                      <a:r>
                        <a:rPr sz="1400" b="1" i="0">
                          <a:solidFill>
                            <a:srgbClr val="242C38"/>
                          </a:solidFill>
                          <a:latin typeface="Segoe UI"/>
                        </a:rPr>
                        <a:t>Maintenance</a:t>
                      </a:r>
                    </a:p>
                  </a:txBody>
                  <a:tcPr marT="36576" marB="36576" anchor="ctr">
                    <a:solidFill>
                      <a:srgbClr val="EEF3F8"/>
                    </a:solidFill>
                  </a:tcPr>
                </a:tc>
                <a:tc>
                  <a:txBody>
                    <a:bodyPr/>
                    <a:lstStyle/>
                    <a:p>
                      <a:pPr>
                        <a:lnSpc>
                          <a:spcPct val="106000"/>
                        </a:lnSpc>
                      </a:pPr>
                      <a:r>
                        <a:rPr sz="1350" b="0" i="0">
                          <a:solidFill>
                            <a:srgbClr val="2E74B5"/>
                          </a:solidFill>
                          <a:latin typeface="Consolas"/>
                        </a:rPr>
                        <a:t>OPTIMIZE</a:t>
                      </a:r>
                      <a:r>
                        <a:rPr sz="1400" b="0" i="0">
                          <a:solidFill>
                            <a:srgbClr val="242C38"/>
                          </a:solidFill>
                          <a:latin typeface="Segoe UI"/>
                        </a:rPr>
                        <a:t> and </a:t>
                      </a:r>
                      <a:r>
                        <a:rPr sz="1350" b="0" i="0">
                          <a:solidFill>
                            <a:srgbClr val="2E74B5"/>
                          </a:solidFill>
                          <a:latin typeface="Consolas"/>
                        </a:rPr>
                        <a:t>VACUUM</a:t>
                      </a:r>
                    </a:p>
                  </a:txBody>
                  <a:tcPr marT="36576" marB="36576" anchor="ctr">
                    <a:solidFill>
                      <a:srgbClr val="EEF3F8"/>
                    </a:solidFill>
                  </a:tcPr>
                </a:tc>
                <a:tc>
                  <a:txBody>
                    <a:bodyPr/>
                    <a:lstStyle/>
                    <a:p>
                      <a:pPr>
                        <a:lnSpc>
                          <a:spcPct val="106000"/>
                        </a:lnSpc>
                      </a:pPr>
                      <a:r>
                        <a:rPr sz="1350" b="0" i="0">
                          <a:solidFill>
                            <a:srgbClr val="2E74B5"/>
                          </a:solidFill>
                          <a:latin typeface="Consolas"/>
                        </a:rPr>
                        <a:t>rewrite_data_files</a:t>
                      </a:r>
                      <a:r>
                        <a:rPr sz="1400" b="0" i="0">
                          <a:solidFill>
                            <a:srgbClr val="242C38"/>
                          </a:solidFill>
                          <a:latin typeface="Segoe UI"/>
                        </a:rPr>
                        <a:t>, </a:t>
                      </a:r>
                      <a:r>
                        <a:rPr sz="1350" b="0" i="0">
                          <a:solidFill>
                            <a:srgbClr val="2E74B5"/>
                          </a:solidFill>
                          <a:latin typeface="Consolas"/>
                        </a:rPr>
                        <a:t>expire_snapshots</a:t>
                      </a:r>
                    </a:p>
                  </a:txBody>
                  <a:tcPr marT="36576" marB="36576" anchor="ctr">
                    <a:solidFill>
                      <a:srgbClr val="EEF3F8"/>
                    </a:solidFill>
                  </a:tcPr>
                </a:tc>
                <a:extLst>
                  <a:ext uri="{0D108BD9-81ED-4DB2-BD59-A6C34878D82A}">
                    <a16:rowId xmlns:a16="http://schemas.microsoft.com/office/drawing/2014/main" val="10005"/>
                  </a:ext>
                </a:extLst>
              </a:tr>
              <a:tr h="475488">
                <a:tc>
                  <a:txBody>
                    <a:bodyPr/>
                    <a:lstStyle/>
                    <a:p>
                      <a:pPr>
                        <a:lnSpc>
                          <a:spcPct val="106000"/>
                        </a:lnSpc>
                      </a:pPr>
                      <a:r>
                        <a:rPr sz="1400" b="1" i="0">
                          <a:solidFill>
                            <a:srgbClr val="242C38"/>
                          </a:solidFill>
                          <a:latin typeface="Segoe UI"/>
                        </a:rPr>
                        <a:t>Typical adopter</a:t>
                      </a:r>
                    </a:p>
                  </a:txBody>
                  <a:tcPr marT="36576" marB="36576" anchor="ctr">
                    <a:solidFill>
                      <a:srgbClr val="FFFFFF"/>
                    </a:solidFill>
                  </a:tcPr>
                </a:tc>
                <a:tc>
                  <a:txBody>
                    <a:bodyPr/>
                    <a:lstStyle/>
                    <a:p>
                      <a:pPr>
                        <a:lnSpc>
                          <a:spcPct val="106000"/>
                        </a:lnSpc>
                      </a:pPr>
                      <a:r>
                        <a:rPr sz="1400" b="0" i="0">
                          <a:solidFill>
                            <a:srgbClr val="242C38"/>
                          </a:solidFill>
                          <a:latin typeface="Segoe UI"/>
                        </a:rPr>
                        <a:t>Spark or Databricks-first shop</a:t>
                      </a:r>
                    </a:p>
                  </a:txBody>
                  <a:tcPr marT="36576" marB="36576" anchor="ctr">
                    <a:solidFill>
                      <a:srgbClr val="FFFFFF"/>
                    </a:solidFill>
                  </a:tcPr>
                </a:tc>
                <a:tc>
                  <a:txBody>
                    <a:bodyPr/>
                    <a:lstStyle/>
                    <a:p>
                      <a:pPr>
                        <a:lnSpc>
                          <a:spcPct val="106000"/>
                        </a:lnSpc>
                      </a:pPr>
                      <a:r>
                        <a:rPr sz="1400" b="0" i="0">
                          <a:solidFill>
                            <a:srgbClr val="242C38"/>
                          </a:solidFill>
                          <a:latin typeface="Segoe UI"/>
                        </a:rPr>
                        <a:t>a lake with Trino or Snowflake too</a:t>
                      </a:r>
                    </a:p>
                  </a:txBody>
                  <a:tcPr marT="36576" marB="36576" anchor="ctr">
                    <a:solidFill>
                      <a:srgbClr val="FFFFFF"/>
                    </a:solidFill>
                  </a:tcPr>
                </a:tc>
                <a:extLst>
                  <a:ext uri="{0D108BD9-81ED-4DB2-BD59-A6C34878D82A}">
                    <a16:rowId xmlns:a16="http://schemas.microsoft.com/office/drawing/2014/main" val="10006"/>
                  </a:ext>
                </a:extLst>
              </a:tr>
            </a:tbl>
          </a:graphicData>
        </a:graphic>
      </p:graphicFrame>
      <p:sp>
        <p:nvSpPr>
          <p:cNvPr id="5" name="TextBox 4"/>
          <p:cNvSpPr txBox="1"/>
          <p:nvPr/>
        </p:nvSpPr>
        <p:spPr>
          <a:xfrm>
            <a:off x="658368" y="5724144"/>
            <a:ext cx="10874959" cy="502920"/>
          </a:xfrm>
          <a:prstGeom prst="rect">
            <a:avLst/>
          </a:prstGeom>
          <a:noFill/>
        </p:spPr>
        <p:txBody>
          <a:bodyPr wrap="square" lIns="0" tIns="0" rIns="0" bIns="0">
            <a:spAutoFit/>
          </a:bodyPr>
          <a:lstStyle/>
          <a:p>
            <a:r>
              <a:rPr sz="1300" b="0" i="1">
                <a:solidFill>
                  <a:srgbClr val="5B6775"/>
                </a:solidFill>
                <a:latin typeface="Segoe UI"/>
              </a:rPr>
              <a:t>Neither is simply better. The rest of the bank's estate usually decides which one.</a:t>
            </a:r>
          </a:p>
        </p:txBody>
      </p:sp>
      <p:sp>
        <p:nvSpPr>
          <p:cNvPr id="6" name="Rectangle 5"/>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11  ·  Table formats: Delta and Iceberg</a:t>
            </a:r>
          </a:p>
        </p:txBody>
      </p:sp>
      <p:sp>
        <p:nvSpPr>
          <p:cNvPr id="8" name="TextBox 7"/>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123</a:t>
            </a: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Module 11 in one screen</a:t>
            </a:r>
          </a:p>
        </p:txBody>
      </p:sp>
      <p:sp>
        <p:nvSpPr>
          <p:cNvPr id="4" name="TextBox 3"/>
          <p:cNvSpPr txBox="1"/>
          <p:nvPr/>
        </p:nvSpPr>
        <p:spPr>
          <a:xfrm>
            <a:off x="658368" y="1481328"/>
            <a:ext cx="10874959" cy="4526280"/>
          </a:xfrm>
          <a:prstGeom prst="rect">
            <a:avLst/>
          </a:prstGeom>
          <a:noFill/>
        </p:spPr>
        <p:txBody>
          <a:bodyPr wrap="square" lIns="0" tIns="0" rIns="0" bIns="0">
            <a:spAutoFit/>
          </a:bodyPr>
          <a:lstStyle/>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Plain Parquet has no log, so it has no safe MERGE or undo.</a:t>
            </a:r>
          </a:p>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Delta's log is JSON commits in `_delta_log/`, one file per write.</a:t>
            </a:r>
          </a:p>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Iceberg's metadata is a tree behind a catalog: `catalog.database.table`.</a:t>
            </a:r>
          </a:p>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MERGE, time travel and maintenance exist in both, Delta by API, Iceberg by SQL.</a:t>
            </a:r>
          </a:p>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Pick Delta for a Databricks-first shop, Iceberg for a multi-engine lake.</a:t>
            </a:r>
          </a:p>
        </p:txBody>
      </p:sp>
      <p:sp>
        <p:nvSpPr>
          <p:cNvPr id="5" name="Rectangle 4"/>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11  ·  Table formats: Delta and Iceberg</a:t>
            </a:r>
          </a:p>
        </p:txBody>
      </p:sp>
      <p:sp>
        <p:nvSpPr>
          <p:cNvPr id="7" name="TextBox 6"/>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124</a:t>
            </a: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858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51560" y="2057400"/>
            <a:ext cx="9692640" cy="457200"/>
          </a:xfrm>
          <a:prstGeom prst="rect">
            <a:avLst/>
          </a:prstGeom>
          <a:noFill/>
        </p:spPr>
        <p:txBody>
          <a:bodyPr wrap="square" lIns="0" tIns="0" rIns="0" bIns="0">
            <a:spAutoFit/>
          </a:bodyPr>
          <a:lstStyle/>
          <a:p>
            <a:r>
              <a:rPr sz="1300" b="1" i="0">
                <a:solidFill>
                  <a:srgbClr val="2E74B5"/>
                </a:solidFill>
                <a:latin typeface="Segoe UI Semibold"/>
              </a:rPr>
              <a:t>MODULE 12</a:t>
            </a:r>
          </a:p>
        </p:txBody>
      </p:sp>
      <p:sp>
        <p:nvSpPr>
          <p:cNvPr id="5" name="TextBox 4"/>
          <p:cNvSpPr txBox="1"/>
          <p:nvPr/>
        </p:nvSpPr>
        <p:spPr>
          <a:xfrm>
            <a:off x="1051560" y="2578608"/>
            <a:ext cx="9692640" cy="1371600"/>
          </a:xfrm>
          <a:prstGeom prst="rect">
            <a:avLst/>
          </a:prstGeom>
          <a:noFill/>
        </p:spPr>
        <p:txBody>
          <a:bodyPr wrap="square" lIns="0" tIns="0" rIns="0" bIns="0">
            <a:spAutoFit/>
          </a:bodyPr>
          <a:lstStyle/>
          <a:p>
            <a:pPr>
              <a:lnSpc>
                <a:spcPct val="95000"/>
              </a:lnSpc>
            </a:pPr>
            <a:r>
              <a:rPr sz="4200" b="1" i="0">
                <a:solidFill>
                  <a:srgbClr val="1F4E79"/>
                </a:solidFill>
                <a:latin typeface="Segoe UI Semibold"/>
              </a:rPr>
              <a:t>Polyglot persistence</a:t>
            </a:r>
          </a:p>
        </p:txBody>
      </p:sp>
      <p:sp>
        <p:nvSpPr>
          <p:cNvPr id="6" name="TextBox 5"/>
          <p:cNvSpPr txBox="1"/>
          <p:nvPr/>
        </p:nvSpPr>
        <p:spPr>
          <a:xfrm>
            <a:off x="1051560" y="3950208"/>
            <a:ext cx="8778240" cy="822960"/>
          </a:xfrm>
          <a:prstGeom prst="rect">
            <a:avLst/>
          </a:prstGeom>
          <a:noFill/>
        </p:spPr>
        <p:txBody>
          <a:bodyPr wrap="square" lIns="0" tIns="0" rIns="0" bIns="0">
            <a:spAutoFit/>
          </a:bodyPr>
          <a:lstStyle/>
          <a:p>
            <a:pPr>
              <a:lnSpc>
                <a:spcPct val="115000"/>
              </a:lnSpc>
            </a:pPr>
            <a:r>
              <a:rPr sz="1700" b="0" i="0">
                <a:solidFill>
                  <a:srgbClr val="5B6775"/>
                </a:solidFill>
                <a:latin typeface="Segoe UI"/>
              </a:rPr>
              <a:t>The right file format for the job, and why Spark must never hammer the core banking database</a:t>
            </a: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58368" y="2148840"/>
            <a:ext cx="82296" cy="219456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42416" y="2084831"/>
            <a:ext cx="9777679" cy="1828800"/>
          </a:xfrm>
          <a:prstGeom prst="rect">
            <a:avLst/>
          </a:prstGeom>
          <a:noFill/>
        </p:spPr>
        <p:txBody>
          <a:bodyPr wrap="square" lIns="0" tIns="0" rIns="0" bIns="0">
            <a:spAutoFit/>
          </a:bodyPr>
          <a:lstStyle/>
          <a:p>
            <a:pPr>
              <a:lnSpc>
                <a:spcPct val="112000"/>
              </a:lnSpc>
            </a:pPr>
            <a:r>
              <a:rPr sz="3000" b="1" i="0">
                <a:solidFill>
                  <a:srgbClr val="1F4E79"/>
                </a:solidFill>
                <a:latin typeface="Segoe UI Semibold"/>
              </a:rPr>
              <a:t>No bank runs on one store. Spark's job is to read each one correctly.</a:t>
            </a:r>
          </a:p>
        </p:txBody>
      </p:sp>
      <p:sp>
        <p:nvSpPr>
          <p:cNvPr id="5" name="TextBox 4"/>
          <p:cNvSpPr txBox="1"/>
          <p:nvPr/>
        </p:nvSpPr>
        <p:spPr>
          <a:xfrm>
            <a:off x="1042416" y="4041648"/>
            <a:ext cx="9411919" cy="1005840"/>
          </a:xfrm>
          <a:prstGeom prst="rect">
            <a:avLst/>
          </a:prstGeom>
          <a:noFill/>
        </p:spPr>
        <p:txBody>
          <a:bodyPr wrap="square" lIns="0" tIns="0" rIns="0" bIns="0">
            <a:spAutoFit/>
          </a:bodyPr>
          <a:lstStyle/>
          <a:p>
            <a:pPr>
              <a:lnSpc>
                <a:spcPct val="120000"/>
              </a:lnSpc>
            </a:pPr>
            <a:r>
              <a:rPr sz="1700" b="0" i="0">
                <a:solidFill>
                  <a:srgbClr val="5B6775"/>
                </a:solidFill>
                <a:latin typeface="Segoe UI"/>
              </a:rPr>
              <a:t>The core ledger lives in a relational database, KYC sits in a document store, history sits in a lake. Spark does not replace any of them. It reads and writes each one correctly, without becoming the job that overloads a database at 2am.</a:t>
            </a:r>
          </a:p>
        </p:txBody>
      </p:sp>
      <p:sp>
        <p:nvSpPr>
          <p:cNvPr id="6" name="Rectangle 5"/>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12  ·  Polyglot persistence</a:t>
            </a:r>
          </a:p>
        </p:txBody>
      </p:sp>
      <p:sp>
        <p:nvSpPr>
          <p:cNvPr id="8" name="TextBox 7"/>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125</a:t>
            </a: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File format decision table</a:t>
            </a:r>
          </a:p>
        </p:txBody>
      </p:sp>
      <p:graphicFrame>
        <p:nvGraphicFramePr>
          <p:cNvPr id="4" name="Table 3"/>
          <p:cNvGraphicFramePr>
            <a:graphicFrameLocks noGrp="1"/>
          </p:cNvGraphicFramePr>
          <p:nvPr/>
        </p:nvGraphicFramePr>
        <p:xfrm>
          <a:off x="658368" y="1481328"/>
          <a:ext cx="10874956" cy="2779776"/>
        </p:xfrm>
        <a:graphic>
          <a:graphicData uri="http://schemas.openxmlformats.org/drawingml/2006/table">
            <a:tbl>
              <a:tblPr firstRow="1" bandRow="1">
                <a:tableStyleId>{5C22544A-7EE6-4342-B048-85BDC9FD1C3A}</a:tableStyleId>
              </a:tblPr>
              <a:tblGrid>
                <a:gridCol w="1957492">
                  <a:extLst>
                    <a:ext uri="{9D8B030D-6E8A-4147-A177-3AD203B41FA5}">
                      <a16:colId xmlns:a16="http://schemas.microsoft.com/office/drawing/2014/main" val="20000"/>
                    </a:ext>
                  </a:extLst>
                </a:gridCol>
                <a:gridCol w="2392490">
                  <a:extLst>
                    <a:ext uri="{9D8B030D-6E8A-4147-A177-3AD203B41FA5}">
                      <a16:colId xmlns:a16="http://schemas.microsoft.com/office/drawing/2014/main" val="20001"/>
                    </a:ext>
                  </a:extLst>
                </a:gridCol>
                <a:gridCol w="2392490">
                  <a:extLst>
                    <a:ext uri="{9D8B030D-6E8A-4147-A177-3AD203B41FA5}">
                      <a16:colId xmlns:a16="http://schemas.microsoft.com/office/drawing/2014/main" val="20002"/>
                    </a:ext>
                  </a:extLst>
                </a:gridCol>
                <a:gridCol w="4132484">
                  <a:extLst>
                    <a:ext uri="{9D8B030D-6E8A-4147-A177-3AD203B41FA5}">
                      <a16:colId xmlns:a16="http://schemas.microsoft.com/office/drawing/2014/main" val="20003"/>
                    </a:ext>
                  </a:extLst>
                </a:gridCol>
              </a:tblGrid>
              <a:tr h="402336">
                <a:tc>
                  <a:txBody>
                    <a:bodyPr/>
                    <a:lstStyle/>
                    <a:p>
                      <a:r>
                        <a:rPr sz="1450" b="1" i="0">
                          <a:solidFill>
                            <a:srgbClr val="FFFFFF"/>
                          </a:solidFill>
                          <a:latin typeface="Segoe UI Semibold"/>
                        </a:rPr>
                        <a:t>Format</a:t>
                      </a:r>
                    </a:p>
                  </a:txBody>
                  <a:tcPr anchor="ctr">
                    <a:solidFill>
                      <a:srgbClr val="1F4E79"/>
                    </a:solidFill>
                  </a:tcPr>
                </a:tc>
                <a:tc>
                  <a:txBody>
                    <a:bodyPr/>
                    <a:lstStyle/>
                    <a:p>
                      <a:r>
                        <a:rPr sz="1450" b="1" i="0">
                          <a:solidFill>
                            <a:srgbClr val="FFFFFF"/>
                          </a:solidFill>
                          <a:latin typeface="Segoe UI Semibold"/>
                        </a:rPr>
                        <a:t>Compression</a:t>
                      </a:r>
                    </a:p>
                  </a:txBody>
                  <a:tcPr anchor="ctr">
                    <a:solidFill>
                      <a:srgbClr val="1F4E79"/>
                    </a:solidFill>
                  </a:tcPr>
                </a:tc>
                <a:tc>
                  <a:txBody>
                    <a:bodyPr/>
                    <a:lstStyle/>
                    <a:p>
                      <a:r>
                        <a:rPr sz="1450" b="1" i="0">
                          <a:solidFill>
                            <a:srgbClr val="FFFFFF"/>
                          </a:solidFill>
                          <a:latin typeface="Segoe UI Semibold"/>
                        </a:rPr>
                        <a:t>Row or column</a:t>
                      </a:r>
                    </a:p>
                  </a:txBody>
                  <a:tcPr anchor="ctr">
                    <a:solidFill>
                      <a:srgbClr val="1F4E79"/>
                    </a:solidFill>
                  </a:tcPr>
                </a:tc>
                <a:tc>
                  <a:txBody>
                    <a:bodyPr/>
                    <a:lstStyle/>
                    <a:p>
                      <a:r>
                        <a:rPr sz="1450" b="1" i="0">
                          <a:solidFill>
                            <a:srgbClr val="FFFFFF"/>
                          </a:solidFill>
                          <a:latin typeface="Segoe UI Semibold"/>
                        </a:rPr>
                        <a:t>Where it belongs</a:t>
                      </a:r>
                    </a:p>
                  </a:txBody>
                  <a:tcPr anchor="ctr">
                    <a:solidFill>
                      <a:srgbClr val="1F4E79"/>
                    </a:solidFill>
                  </a:tcPr>
                </a:tc>
                <a:extLst>
                  <a:ext uri="{0D108BD9-81ED-4DB2-BD59-A6C34878D82A}">
                    <a16:rowId xmlns:a16="http://schemas.microsoft.com/office/drawing/2014/main" val="10000"/>
                  </a:ext>
                </a:extLst>
              </a:tr>
              <a:tr h="475488">
                <a:tc>
                  <a:txBody>
                    <a:bodyPr/>
                    <a:lstStyle/>
                    <a:p>
                      <a:pPr>
                        <a:lnSpc>
                          <a:spcPct val="106000"/>
                        </a:lnSpc>
                      </a:pPr>
                      <a:r>
                        <a:rPr sz="1400" b="1" i="0">
                          <a:solidFill>
                            <a:srgbClr val="242C38"/>
                          </a:solidFill>
                          <a:latin typeface="Segoe UI"/>
                        </a:rPr>
                        <a:t>CSV</a:t>
                      </a:r>
                    </a:p>
                  </a:txBody>
                  <a:tcPr marT="36576" marB="36576" anchor="ctr">
                    <a:solidFill>
                      <a:srgbClr val="EEF3F8"/>
                    </a:solidFill>
                  </a:tcPr>
                </a:tc>
                <a:tc>
                  <a:txBody>
                    <a:bodyPr/>
                    <a:lstStyle/>
                    <a:p>
                      <a:pPr>
                        <a:lnSpc>
                          <a:spcPct val="106000"/>
                        </a:lnSpc>
                      </a:pPr>
                      <a:r>
                        <a:rPr sz="1400" b="0" i="0">
                          <a:solidFill>
                            <a:srgbClr val="242C38"/>
                          </a:solidFill>
                          <a:latin typeface="Segoe UI"/>
                        </a:rPr>
                        <a:t>none built in</a:t>
                      </a:r>
                    </a:p>
                  </a:txBody>
                  <a:tcPr marT="36576" marB="36576" anchor="ctr">
                    <a:solidFill>
                      <a:srgbClr val="EEF3F8"/>
                    </a:solidFill>
                  </a:tcPr>
                </a:tc>
                <a:tc>
                  <a:txBody>
                    <a:bodyPr/>
                    <a:lstStyle/>
                    <a:p>
                      <a:pPr>
                        <a:lnSpc>
                          <a:spcPct val="106000"/>
                        </a:lnSpc>
                      </a:pPr>
                      <a:r>
                        <a:rPr sz="1400" b="0" i="0">
                          <a:solidFill>
                            <a:srgbClr val="242C38"/>
                          </a:solidFill>
                          <a:latin typeface="Segoe UI"/>
                        </a:rPr>
                        <a:t>row</a:t>
                      </a:r>
                    </a:p>
                  </a:txBody>
                  <a:tcPr marT="36576" marB="36576" anchor="ctr">
                    <a:solidFill>
                      <a:srgbClr val="EEF3F8"/>
                    </a:solidFill>
                  </a:tcPr>
                </a:tc>
                <a:tc>
                  <a:txBody>
                    <a:bodyPr/>
                    <a:lstStyle/>
                    <a:p>
                      <a:pPr>
                        <a:lnSpc>
                          <a:spcPct val="106000"/>
                        </a:lnSpc>
                      </a:pPr>
                      <a:r>
                        <a:rPr sz="1400" b="0" i="0">
                          <a:solidFill>
                            <a:srgbClr val="242C38"/>
                          </a:solidFill>
                          <a:latin typeface="Segoe UI"/>
                        </a:rPr>
                        <a:t>source exports, never a curated table</a:t>
                      </a:r>
                    </a:p>
                  </a:txBody>
                  <a:tcPr marT="36576" marB="36576" anchor="ctr">
                    <a:solidFill>
                      <a:srgbClr val="EEF3F8"/>
                    </a:solidFill>
                  </a:tcPr>
                </a:tc>
                <a:extLst>
                  <a:ext uri="{0D108BD9-81ED-4DB2-BD59-A6C34878D82A}">
                    <a16:rowId xmlns:a16="http://schemas.microsoft.com/office/drawing/2014/main" val="10001"/>
                  </a:ext>
                </a:extLst>
              </a:tr>
              <a:tr h="475488">
                <a:tc>
                  <a:txBody>
                    <a:bodyPr/>
                    <a:lstStyle/>
                    <a:p>
                      <a:pPr>
                        <a:lnSpc>
                          <a:spcPct val="106000"/>
                        </a:lnSpc>
                      </a:pPr>
                      <a:r>
                        <a:rPr sz="1400" b="1" i="0">
                          <a:solidFill>
                            <a:srgbClr val="242C38"/>
                          </a:solidFill>
                          <a:latin typeface="Segoe UI"/>
                        </a:rPr>
                        <a:t>JSON</a:t>
                      </a:r>
                    </a:p>
                  </a:txBody>
                  <a:tcPr marT="36576" marB="36576" anchor="ctr">
                    <a:solidFill>
                      <a:srgbClr val="FFFFFF"/>
                    </a:solidFill>
                  </a:tcPr>
                </a:tc>
                <a:tc>
                  <a:txBody>
                    <a:bodyPr/>
                    <a:lstStyle/>
                    <a:p>
                      <a:pPr>
                        <a:lnSpc>
                          <a:spcPct val="106000"/>
                        </a:lnSpc>
                      </a:pPr>
                      <a:r>
                        <a:rPr sz="1400" b="0" i="0">
                          <a:solidFill>
                            <a:srgbClr val="242C38"/>
                          </a:solidFill>
                          <a:latin typeface="Segoe UI"/>
                        </a:rPr>
                        <a:t>none built in</a:t>
                      </a:r>
                    </a:p>
                  </a:txBody>
                  <a:tcPr marT="36576" marB="36576" anchor="ctr">
                    <a:solidFill>
                      <a:srgbClr val="FFFFFF"/>
                    </a:solidFill>
                  </a:tcPr>
                </a:tc>
                <a:tc>
                  <a:txBody>
                    <a:bodyPr/>
                    <a:lstStyle/>
                    <a:p>
                      <a:pPr>
                        <a:lnSpc>
                          <a:spcPct val="106000"/>
                        </a:lnSpc>
                      </a:pPr>
                      <a:r>
                        <a:rPr sz="1400" b="0" i="0">
                          <a:solidFill>
                            <a:srgbClr val="242C38"/>
                          </a:solidFill>
                          <a:latin typeface="Segoe UI"/>
                        </a:rPr>
                        <a:t>row</a:t>
                      </a:r>
                    </a:p>
                  </a:txBody>
                  <a:tcPr marT="36576" marB="36576" anchor="ctr">
                    <a:solidFill>
                      <a:srgbClr val="FFFFFF"/>
                    </a:solidFill>
                  </a:tcPr>
                </a:tc>
                <a:tc>
                  <a:txBody>
                    <a:bodyPr/>
                    <a:lstStyle/>
                    <a:p>
                      <a:pPr>
                        <a:lnSpc>
                          <a:spcPct val="106000"/>
                        </a:lnSpc>
                      </a:pPr>
                      <a:r>
                        <a:rPr sz="1400" b="0" i="0">
                          <a:solidFill>
                            <a:srgbClr val="242C38"/>
                          </a:solidFill>
                          <a:latin typeface="Segoe UI"/>
                        </a:rPr>
                        <a:t>API payloads, event logs</a:t>
                      </a:r>
                    </a:p>
                  </a:txBody>
                  <a:tcPr marT="36576" marB="36576" anchor="ctr">
                    <a:solidFill>
                      <a:srgbClr val="FFFFFF"/>
                    </a:solidFill>
                  </a:tcPr>
                </a:tc>
                <a:extLst>
                  <a:ext uri="{0D108BD9-81ED-4DB2-BD59-A6C34878D82A}">
                    <a16:rowId xmlns:a16="http://schemas.microsoft.com/office/drawing/2014/main" val="10002"/>
                  </a:ext>
                </a:extLst>
              </a:tr>
              <a:tr h="475488">
                <a:tc>
                  <a:txBody>
                    <a:bodyPr/>
                    <a:lstStyle/>
                    <a:p>
                      <a:pPr>
                        <a:lnSpc>
                          <a:spcPct val="106000"/>
                        </a:lnSpc>
                      </a:pPr>
                      <a:r>
                        <a:rPr sz="1400" b="1" i="0">
                          <a:solidFill>
                            <a:srgbClr val="242C38"/>
                          </a:solidFill>
                          <a:latin typeface="Segoe UI"/>
                        </a:rPr>
                        <a:t>Avro</a:t>
                      </a:r>
                    </a:p>
                  </a:txBody>
                  <a:tcPr marT="36576" marB="36576" anchor="ctr">
                    <a:solidFill>
                      <a:srgbClr val="EEF3F8"/>
                    </a:solidFill>
                  </a:tcPr>
                </a:tc>
                <a:tc>
                  <a:txBody>
                    <a:bodyPr/>
                    <a:lstStyle/>
                    <a:p>
                      <a:pPr>
                        <a:lnSpc>
                          <a:spcPct val="106000"/>
                        </a:lnSpc>
                      </a:pPr>
                      <a:r>
                        <a:rPr sz="1400" b="0" i="0">
                          <a:solidFill>
                            <a:srgbClr val="242C38"/>
                          </a:solidFill>
                          <a:latin typeface="Segoe UI"/>
                        </a:rPr>
                        <a:t>good</a:t>
                      </a:r>
                    </a:p>
                  </a:txBody>
                  <a:tcPr marT="36576" marB="36576" anchor="ctr">
                    <a:solidFill>
                      <a:srgbClr val="EEF3F8"/>
                    </a:solidFill>
                  </a:tcPr>
                </a:tc>
                <a:tc>
                  <a:txBody>
                    <a:bodyPr/>
                    <a:lstStyle/>
                    <a:p>
                      <a:pPr>
                        <a:lnSpc>
                          <a:spcPct val="106000"/>
                        </a:lnSpc>
                      </a:pPr>
                      <a:r>
                        <a:rPr sz="1400" b="0" i="0">
                          <a:solidFill>
                            <a:srgbClr val="242C38"/>
                          </a:solidFill>
                          <a:latin typeface="Segoe UI"/>
                        </a:rPr>
                        <a:t>row</a:t>
                      </a:r>
                    </a:p>
                  </a:txBody>
                  <a:tcPr marT="36576" marB="36576" anchor="ctr">
                    <a:solidFill>
                      <a:srgbClr val="EEF3F8"/>
                    </a:solidFill>
                  </a:tcPr>
                </a:tc>
                <a:tc>
                  <a:txBody>
                    <a:bodyPr/>
                    <a:lstStyle/>
                    <a:p>
                      <a:pPr>
                        <a:lnSpc>
                          <a:spcPct val="106000"/>
                        </a:lnSpc>
                      </a:pPr>
                      <a:r>
                        <a:rPr sz="1400" b="0" i="0">
                          <a:solidFill>
                            <a:srgbClr val="242C38"/>
                          </a:solidFill>
                          <a:latin typeface="Segoe UI"/>
                        </a:rPr>
                        <a:t>Kafka payloads, schema replayed years later</a:t>
                      </a:r>
                    </a:p>
                  </a:txBody>
                  <a:tcPr marT="36576" marB="36576" anchor="ctr">
                    <a:solidFill>
                      <a:srgbClr val="EEF3F8"/>
                    </a:solidFill>
                  </a:tcPr>
                </a:tc>
                <a:extLst>
                  <a:ext uri="{0D108BD9-81ED-4DB2-BD59-A6C34878D82A}">
                    <a16:rowId xmlns:a16="http://schemas.microsoft.com/office/drawing/2014/main" val="10003"/>
                  </a:ext>
                </a:extLst>
              </a:tr>
              <a:tr h="475488">
                <a:tc>
                  <a:txBody>
                    <a:bodyPr/>
                    <a:lstStyle/>
                    <a:p>
                      <a:pPr>
                        <a:lnSpc>
                          <a:spcPct val="106000"/>
                        </a:lnSpc>
                      </a:pPr>
                      <a:r>
                        <a:rPr sz="1400" b="1" i="0">
                          <a:solidFill>
                            <a:srgbClr val="242C38"/>
                          </a:solidFill>
                          <a:latin typeface="Segoe UI"/>
                        </a:rPr>
                        <a:t>ORC</a:t>
                      </a:r>
                    </a:p>
                  </a:txBody>
                  <a:tcPr marT="36576" marB="36576" anchor="ctr">
                    <a:solidFill>
                      <a:srgbClr val="FFFFFF"/>
                    </a:solidFill>
                  </a:tcPr>
                </a:tc>
                <a:tc>
                  <a:txBody>
                    <a:bodyPr/>
                    <a:lstStyle/>
                    <a:p>
                      <a:pPr>
                        <a:lnSpc>
                          <a:spcPct val="106000"/>
                        </a:lnSpc>
                      </a:pPr>
                      <a:r>
                        <a:rPr sz="1400" b="0" i="0">
                          <a:solidFill>
                            <a:srgbClr val="242C38"/>
                          </a:solidFill>
                          <a:latin typeface="Segoe UI"/>
                        </a:rPr>
                        <a:t>good</a:t>
                      </a:r>
                    </a:p>
                  </a:txBody>
                  <a:tcPr marT="36576" marB="36576" anchor="ctr">
                    <a:solidFill>
                      <a:srgbClr val="FFFFFF"/>
                    </a:solidFill>
                  </a:tcPr>
                </a:tc>
                <a:tc>
                  <a:txBody>
                    <a:bodyPr/>
                    <a:lstStyle/>
                    <a:p>
                      <a:pPr>
                        <a:lnSpc>
                          <a:spcPct val="106000"/>
                        </a:lnSpc>
                      </a:pPr>
                      <a:r>
                        <a:rPr sz="1400" b="0" i="0">
                          <a:solidFill>
                            <a:srgbClr val="242C38"/>
                          </a:solidFill>
                          <a:latin typeface="Segoe UI"/>
                        </a:rPr>
                        <a:t>column</a:t>
                      </a:r>
                    </a:p>
                  </a:txBody>
                  <a:tcPr marT="36576" marB="36576" anchor="ctr">
                    <a:solidFill>
                      <a:srgbClr val="FFFFFF"/>
                    </a:solidFill>
                  </a:tcPr>
                </a:tc>
                <a:tc>
                  <a:txBody>
                    <a:bodyPr/>
                    <a:lstStyle/>
                    <a:p>
                      <a:pPr>
                        <a:lnSpc>
                          <a:spcPct val="106000"/>
                        </a:lnSpc>
                      </a:pPr>
                      <a:r>
                        <a:rPr sz="1400" b="0" i="0">
                          <a:solidFill>
                            <a:srgbClr val="242C38"/>
                          </a:solidFill>
                          <a:latin typeface="Segoe UI"/>
                        </a:rPr>
                        <a:t>Hive-heritage warehouses</a:t>
                      </a:r>
                    </a:p>
                  </a:txBody>
                  <a:tcPr marT="36576" marB="36576" anchor="ctr">
                    <a:solidFill>
                      <a:srgbClr val="FFFFFF"/>
                    </a:solidFill>
                  </a:tcPr>
                </a:tc>
                <a:extLst>
                  <a:ext uri="{0D108BD9-81ED-4DB2-BD59-A6C34878D82A}">
                    <a16:rowId xmlns:a16="http://schemas.microsoft.com/office/drawing/2014/main" val="10004"/>
                  </a:ext>
                </a:extLst>
              </a:tr>
              <a:tr h="475488">
                <a:tc>
                  <a:txBody>
                    <a:bodyPr/>
                    <a:lstStyle/>
                    <a:p>
                      <a:pPr>
                        <a:lnSpc>
                          <a:spcPct val="106000"/>
                        </a:lnSpc>
                      </a:pPr>
                      <a:r>
                        <a:rPr sz="1400" b="1" i="0">
                          <a:solidFill>
                            <a:srgbClr val="242C38"/>
                          </a:solidFill>
                          <a:latin typeface="Segoe UI"/>
                        </a:rPr>
                        <a:t>Parquet</a:t>
                      </a:r>
                    </a:p>
                  </a:txBody>
                  <a:tcPr marT="36576" marB="36576" anchor="ctr">
                    <a:solidFill>
                      <a:srgbClr val="EEF3F8"/>
                    </a:solidFill>
                  </a:tcPr>
                </a:tc>
                <a:tc>
                  <a:txBody>
                    <a:bodyPr/>
                    <a:lstStyle/>
                    <a:p>
                      <a:pPr>
                        <a:lnSpc>
                          <a:spcPct val="106000"/>
                        </a:lnSpc>
                      </a:pPr>
                      <a:r>
                        <a:rPr sz="1400" b="0" i="0">
                          <a:solidFill>
                            <a:srgbClr val="242C38"/>
                          </a:solidFill>
                          <a:latin typeface="Segoe UI"/>
                        </a:rPr>
                        <a:t>very good</a:t>
                      </a:r>
                    </a:p>
                  </a:txBody>
                  <a:tcPr marT="36576" marB="36576" anchor="ctr">
                    <a:solidFill>
                      <a:srgbClr val="EEF3F8"/>
                    </a:solidFill>
                  </a:tcPr>
                </a:tc>
                <a:tc>
                  <a:txBody>
                    <a:bodyPr/>
                    <a:lstStyle/>
                    <a:p>
                      <a:pPr>
                        <a:lnSpc>
                          <a:spcPct val="106000"/>
                        </a:lnSpc>
                      </a:pPr>
                      <a:r>
                        <a:rPr sz="1400" b="0" i="0">
                          <a:solidFill>
                            <a:srgbClr val="242C38"/>
                          </a:solidFill>
                          <a:latin typeface="Segoe UI"/>
                        </a:rPr>
                        <a:t>column</a:t>
                      </a:r>
                    </a:p>
                  </a:txBody>
                  <a:tcPr marT="36576" marB="36576" anchor="ctr">
                    <a:solidFill>
                      <a:srgbClr val="EEF3F8"/>
                    </a:solidFill>
                  </a:tcPr>
                </a:tc>
                <a:tc>
                  <a:txBody>
                    <a:bodyPr/>
                    <a:lstStyle/>
                    <a:p>
                      <a:pPr>
                        <a:lnSpc>
                          <a:spcPct val="106000"/>
                        </a:lnSpc>
                      </a:pPr>
                      <a:r>
                        <a:rPr sz="1400" b="0" i="0">
                          <a:solidFill>
                            <a:srgbClr val="242C38"/>
                          </a:solidFill>
                          <a:latin typeface="Segoe UI"/>
                        </a:rPr>
                        <a:t>the default, every silver and gold table</a:t>
                      </a:r>
                    </a:p>
                  </a:txBody>
                  <a:tcPr marT="36576" marB="36576" anchor="ctr">
                    <a:solidFill>
                      <a:srgbClr val="EEF3F8"/>
                    </a:solidFill>
                  </a:tcPr>
                </a:tc>
                <a:extLst>
                  <a:ext uri="{0D108BD9-81ED-4DB2-BD59-A6C34878D82A}">
                    <a16:rowId xmlns:a16="http://schemas.microsoft.com/office/drawing/2014/main" val="10005"/>
                  </a:ext>
                </a:extLst>
              </a:tr>
            </a:tbl>
          </a:graphicData>
        </a:graphic>
      </p:graphicFrame>
      <p:sp>
        <p:nvSpPr>
          <p:cNvPr id="5" name="TextBox 4"/>
          <p:cNvSpPr txBox="1"/>
          <p:nvPr/>
        </p:nvSpPr>
        <p:spPr>
          <a:xfrm>
            <a:off x="658368" y="5724144"/>
            <a:ext cx="10874959" cy="502920"/>
          </a:xfrm>
          <a:prstGeom prst="rect">
            <a:avLst/>
          </a:prstGeom>
          <a:noFill/>
        </p:spPr>
        <p:txBody>
          <a:bodyPr wrap="square" lIns="0" tIns="0" rIns="0" bIns="0">
            <a:spAutoFit/>
          </a:bodyPr>
          <a:lstStyle/>
          <a:p>
            <a:r>
              <a:rPr sz="1300" b="0" i="1">
                <a:solidFill>
                  <a:srgbClr val="5B6775"/>
                </a:solidFill>
                <a:latin typeface="Segoe UI"/>
              </a:rPr>
              <a:t>Column formats win when a query reads a few columns out of many, most of a bank's reporting.</a:t>
            </a:r>
          </a:p>
        </p:txBody>
      </p:sp>
      <p:sp>
        <p:nvSpPr>
          <p:cNvPr id="6" name="Rectangle 5"/>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12  ·  Polyglot persistence</a:t>
            </a:r>
          </a:p>
        </p:txBody>
      </p:sp>
      <p:sp>
        <p:nvSpPr>
          <p:cNvPr id="8" name="TextBox 7"/>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126</a:t>
            </a: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A Parquet file, footer last</a:t>
            </a:r>
          </a:p>
        </p:txBody>
      </p:sp>
      <p:sp>
        <p:nvSpPr>
          <p:cNvPr id="4" name="Rectangle 3"/>
          <p:cNvSpPr/>
          <p:nvPr/>
        </p:nvSpPr>
        <p:spPr>
          <a:xfrm>
            <a:off x="658368" y="1481328"/>
            <a:ext cx="10874959" cy="1289304"/>
          </a:xfrm>
          <a:prstGeom prst="rect">
            <a:avLst/>
          </a:prstGeom>
          <a:solidFill>
            <a:srgbClr val="F5F7F9"/>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81328"/>
            <a:ext cx="43180" cy="1289304"/>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77824" y="1645920"/>
            <a:ext cx="10509199" cy="1014984"/>
          </a:xfrm>
          <a:prstGeom prst="rect">
            <a:avLst/>
          </a:prstGeom>
          <a:noFill/>
        </p:spPr>
        <p:txBody>
          <a:bodyPr wrap="square" lIns="0" tIns="0" rIns="0" bIns="0">
            <a:spAutoFit/>
          </a:bodyPr>
          <a:lstStyle/>
          <a:p>
            <a:pPr>
              <a:lnSpc>
                <a:spcPct val="116000"/>
              </a:lnSpc>
              <a:spcAft>
                <a:spcPts val="0"/>
              </a:spcAft>
            </a:pPr>
            <a:r>
              <a:rPr sz="1500" b="0" i="0">
                <a:solidFill>
                  <a:srgbClr val="242C38"/>
                </a:solidFill>
                <a:latin typeface="Consolas"/>
              </a:rPr>
              <a:t>row group 0:  chunk(txn_id) | chunk(amount) | ...</a:t>
            </a:r>
          </a:p>
          <a:p>
            <a:pPr>
              <a:lnSpc>
                <a:spcPct val="116000"/>
              </a:lnSpc>
              <a:spcAft>
                <a:spcPts val="0"/>
              </a:spcAft>
            </a:pPr>
            <a:r>
              <a:rPr sz="1500" b="0" i="0">
                <a:solidFill>
                  <a:srgbClr val="242C38"/>
                </a:solidFill>
                <a:latin typeface="Consolas"/>
              </a:rPr>
              <a:t>row group 1:  chunk(txn_id) | chunk(amount) | ...</a:t>
            </a:r>
          </a:p>
          <a:p>
            <a:pPr>
              <a:lnSpc>
                <a:spcPct val="116000"/>
              </a:lnSpc>
              <a:spcAft>
                <a:spcPts val="0"/>
              </a:spcAft>
            </a:pPr>
            <a:r>
              <a:rPr sz="1500" b="0" i="0">
                <a:solidFill>
                  <a:srgbClr val="242C38"/>
                </a:solidFill>
                <a:latin typeface="Consolas"/>
              </a:rPr>
              <a:t>footer:       schema + min/max/null stats per chunk</a:t>
            </a:r>
          </a:p>
        </p:txBody>
      </p:sp>
      <p:sp>
        <p:nvSpPr>
          <p:cNvPr id="7" name="TextBox 6"/>
          <p:cNvSpPr txBox="1"/>
          <p:nvPr/>
        </p:nvSpPr>
        <p:spPr>
          <a:xfrm>
            <a:off x="658368" y="2916936"/>
            <a:ext cx="10874959" cy="457200"/>
          </a:xfrm>
          <a:prstGeom prst="rect">
            <a:avLst/>
          </a:prstGeom>
          <a:noFill/>
        </p:spPr>
        <p:txBody>
          <a:bodyPr wrap="square" lIns="0" tIns="0" rIns="0" bIns="0">
            <a:spAutoFit/>
          </a:bodyPr>
          <a:lstStyle/>
          <a:p>
            <a:r>
              <a:rPr sz="1400" b="0" i="0">
                <a:solidFill>
                  <a:srgbClr val="5B6775"/>
                </a:solidFill>
                <a:latin typeface="Segoe UI"/>
              </a:rPr>
              <a:t>A row group's min/max stats let a filtered query skip it unread, without decompressing it.</a:t>
            </a:r>
          </a:p>
        </p:txBody>
      </p:sp>
      <p:sp>
        <p:nvSpPr>
          <p:cNvPr id="8" name="Rectangle 7"/>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12  ·  Polyglot persistence</a:t>
            </a:r>
          </a:p>
        </p:txBody>
      </p:sp>
      <p:sp>
        <p:nvSpPr>
          <p:cNvPr id="10" name="TextBox 9"/>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127</a:t>
            </a: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7534A19-B185-2B79-D464-86803048FC4B}"/>
              </a:ext>
            </a:extLst>
          </p:cNvPr>
          <p:cNvPicPr>
            <a:picLocks noChangeAspect="1"/>
          </p:cNvPicPr>
          <p:nvPr/>
        </p:nvPicPr>
        <p:blipFill>
          <a:blip r:embed="rId2"/>
          <a:stretch>
            <a:fillRect/>
          </a:stretch>
        </p:blipFill>
        <p:spPr>
          <a:xfrm>
            <a:off x="1218519" y="676273"/>
            <a:ext cx="9754961" cy="5487166"/>
          </a:xfrm>
          <a:prstGeom prst="rect">
            <a:avLst/>
          </a:prstGeom>
        </p:spPr>
      </p:pic>
    </p:spTree>
    <p:extLst>
      <p:ext uri="{BB962C8B-B14F-4D97-AF65-F5344CB8AC3E}">
        <p14:creationId xmlns:p14="http://schemas.microsoft.com/office/powerpoint/2010/main" val="3621140249"/>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Compression codecs, briefly</a:t>
            </a:r>
          </a:p>
        </p:txBody>
      </p:sp>
      <p:graphicFrame>
        <p:nvGraphicFramePr>
          <p:cNvPr id="4" name="Table 3"/>
          <p:cNvGraphicFramePr>
            <a:graphicFrameLocks noGrp="1"/>
          </p:cNvGraphicFramePr>
          <p:nvPr/>
        </p:nvGraphicFramePr>
        <p:xfrm>
          <a:off x="658368" y="1481328"/>
          <a:ext cx="10874957" cy="2304288"/>
        </p:xfrm>
        <a:graphic>
          <a:graphicData uri="http://schemas.openxmlformats.org/drawingml/2006/table">
            <a:tbl>
              <a:tblPr firstRow="1" bandRow="1">
                <a:tableStyleId>{5C22544A-7EE6-4342-B048-85BDC9FD1C3A}</a:tableStyleId>
              </a:tblPr>
              <a:tblGrid>
                <a:gridCol w="2174991">
                  <a:extLst>
                    <a:ext uri="{9D8B030D-6E8A-4147-A177-3AD203B41FA5}">
                      <a16:colId xmlns:a16="http://schemas.microsoft.com/office/drawing/2014/main" val="20000"/>
                    </a:ext>
                  </a:extLst>
                </a:gridCol>
                <a:gridCol w="2990613">
                  <a:extLst>
                    <a:ext uri="{9D8B030D-6E8A-4147-A177-3AD203B41FA5}">
                      <a16:colId xmlns:a16="http://schemas.microsoft.com/office/drawing/2014/main" val="20001"/>
                    </a:ext>
                  </a:extLst>
                </a:gridCol>
                <a:gridCol w="5709353">
                  <a:extLst>
                    <a:ext uri="{9D8B030D-6E8A-4147-A177-3AD203B41FA5}">
                      <a16:colId xmlns:a16="http://schemas.microsoft.com/office/drawing/2014/main" val="20002"/>
                    </a:ext>
                  </a:extLst>
                </a:gridCol>
              </a:tblGrid>
              <a:tr h="402336">
                <a:tc>
                  <a:txBody>
                    <a:bodyPr/>
                    <a:lstStyle/>
                    <a:p>
                      <a:r>
                        <a:rPr sz="1450" b="1" i="0">
                          <a:solidFill>
                            <a:srgbClr val="FFFFFF"/>
                          </a:solidFill>
                          <a:latin typeface="Segoe UI Semibold"/>
                        </a:rPr>
                        <a:t>Codec</a:t>
                      </a:r>
                    </a:p>
                  </a:txBody>
                  <a:tcPr anchor="ctr">
                    <a:solidFill>
                      <a:srgbClr val="1F4E79"/>
                    </a:solidFill>
                  </a:tcPr>
                </a:tc>
                <a:tc>
                  <a:txBody>
                    <a:bodyPr/>
                    <a:lstStyle/>
                    <a:p>
                      <a:r>
                        <a:rPr sz="1450" b="1" i="0">
                          <a:solidFill>
                            <a:srgbClr val="FFFFFF"/>
                          </a:solidFill>
                          <a:latin typeface="Segoe UI Semibold"/>
                        </a:rPr>
                        <a:t>Speed</a:t>
                      </a:r>
                    </a:p>
                  </a:txBody>
                  <a:tcPr anchor="ctr">
                    <a:solidFill>
                      <a:srgbClr val="1F4E79"/>
                    </a:solidFill>
                  </a:tcPr>
                </a:tc>
                <a:tc>
                  <a:txBody>
                    <a:bodyPr/>
                    <a:lstStyle/>
                    <a:p>
                      <a:r>
                        <a:rPr sz="1450" b="1" i="0">
                          <a:solidFill>
                            <a:srgbClr val="FFFFFF"/>
                          </a:solidFill>
                          <a:latin typeface="Segoe UI Semibold"/>
                        </a:rPr>
                        <a:t>Use when</a:t>
                      </a:r>
                    </a:p>
                  </a:txBody>
                  <a:tcPr anchor="ctr">
                    <a:solidFill>
                      <a:srgbClr val="1F4E79"/>
                    </a:solidFill>
                  </a:tcPr>
                </a:tc>
                <a:extLst>
                  <a:ext uri="{0D108BD9-81ED-4DB2-BD59-A6C34878D82A}">
                    <a16:rowId xmlns:a16="http://schemas.microsoft.com/office/drawing/2014/main" val="10000"/>
                  </a:ext>
                </a:extLst>
              </a:tr>
              <a:tr h="475488">
                <a:tc>
                  <a:txBody>
                    <a:bodyPr/>
                    <a:lstStyle/>
                    <a:p>
                      <a:pPr>
                        <a:lnSpc>
                          <a:spcPct val="106000"/>
                        </a:lnSpc>
                      </a:pPr>
                      <a:r>
                        <a:rPr sz="1400" b="1" i="0">
                          <a:solidFill>
                            <a:srgbClr val="242C38"/>
                          </a:solidFill>
                          <a:latin typeface="Segoe UI"/>
                        </a:rPr>
                        <a:t>snappy</a:t>
                      </a:r>
                    </a:p>
                  </a:txBody>
                  <a:tcPr marT="36576" marB="36576" anchor="ctr">
                    <a:solidFill>
                      <a:srgbClr val="EEF3F8"/>
                    </a:solidFill>
                  </a:tcPr>
                </a:tc>
                <a:tc>
                  <a:txBody>
                    <a:bodyPr/>
                    <a:lstStyle/>
                    <a:p>
                      <a:pPr>
                        <a:lnSpc>
                          <a:spcPct val="106000"/>
                        </a:lnSpc>
                      </a:pPr>
                      <a:r>
                        <a:rPr sz="1400" b="0" i="0">
                          <a:solidFill>
                            <a:srgbClr val="242C38"/>
                          </a:solidFill>
                          <a:latin typeface="Segoe UI"/>
                        </a:rPr>
                        <a:t>fastest</a:t>
                      </a:r>
                    </a:p>
                  </a:txBody>
                  <a:tcPr marT="36576" marB="36576" anchor="ctr">
                    <a:solidFill>
                      <a:srgbClr val="EEF3F8"/>
                    </a:solidFill>
                  </a:tcPr>
                </a:tc>
                <a:tc>
                  <a:txBody>
                    <a:bodyPr/>
                    <a:lstStyle/>
                    <a:p>
                      <a:pPr>
                        <a:lnSpc>
                          <a:spcPct val="106000"/>
                        </a:lnSpc>
                      </a:pPr>
                      <a:r>
                        <a:rPr sz="1400" b="0" i="0">
                          <a:solidFill>
                            <a:srgbClr val="242C38"/>
                          </a:solidFill>
                          <a:latin typeface="Segoe UI"/>
                        </a:rPr>
                        <a:t>hot, frequently-read tables, Spark's own default</a:t>
                      </a:r>
                    </a:p>
                  </a:txBody>
                  <a:tcPr marT="36576" marB="36576" anchor="ctr">
                    <a:solidFill>
                      <a:srgbClr val="EEF3F8"/>
                    </a:solidFill>
                  </a:tcPr>
                </a:tc>
                <a:extLst>
                  <a:ext uri="{0D108BD9-81ED-4DB2-BD59-A6C34878D82A}">
                    <a16:rowId xmlns:a16="http://schemas.microsoft.com/office/drawing/2014/main" val="10001"/>
                  </a:ext>
                </a:extLst>
              </a:tr>
              <a:tr h="475488">
                <a:tc>
                  <a:txBody>
                    <a:bodyPr/>
                    <a:lstStyle/>
                    <a:p>
                      <a:pPr>
                        <a:lnSpc>
                          <a:spcPct val="106000"/>
                        </a:lnSpc>
                      </a:pPr>
                      <a:r>
                        <a:rPr sz="1400" b="1" i="0">
                          <a:solidFill>
                            <a:srgbClr val="242C38"/>
                          </a:solidFill>
                          <a:latin typeface="Segoe UI"/>
                        </a:rPr>
                        <a:t>zstd</a:t>
                      </a:r>
                    </a:p>
                  </a:txBody>
                  <a:tcPr marT="36576" marB="36576" anchor="ctr">
                    <a:solidFill>
                      <a:srgbClr val="FFFFFF"/>
                    </a:solidFill>
                  </a:tcPr>
                </a:tc>
                <a:tc>
                  <a:txBody>
                    <a:bodyPr/>
                    <a:lstStyle/>
                    <a:p>
                      <a:pPr>
                        <a:lnSpc>
                          <a:spcPct val="106000"/>
                        </a:lnSpc>
                      </a:pPr>
                      <a:r>
                        <a:rPr sz="1400" b="0" i="0">
                          <a:solidFill>
                            <a:srgbClr val="242C38"/>
                          </a:solidFill>
                          <a:latin typeface="Segoe UI"/>
                        </a:rPr>
                        <a:t>fast, tunable</a:t>
                      </a:r>
                    </a:p>
                  </a:txBody>
                  <a:tcPr marT="36576" marB="36576" anchor="ctr">
                    <a:solidFill>
                      <a:srgbClr val="FFFFFF"/>
                    </a:solidFill>
                  </a:tcPr>
                </a:tc>
                <a:tc>
                  <a:txBody>
                    <a:bodyPr/>
                    <a:lstStyle/>
                    <a:p>
                      <a:pPr>
                        <a:lnSpc>
                          <a:spcPct val="106000"/>
                        </a:lnSpc>
                      </a:pPr>
                      <a:r>
                        <a:rPr sz="1400" b="0" i="0">
                          <a:solidFill>
                            <a:srgbClr val="242C38"/>
                          </a:solidFill>
                          <a:latin typeface="Segoe UI"/>
                        </a:rPr>
                        <a:t>the modern default once every reader supports it</a:t>
                      </a:r>
                    </a:p>
                  </a:txBody>
                  <a:tcPr marT="36576" marB="36576" anchor="ctr">
                    <a:solidFill>
                      <a:srgbClr val="FFFFFF"/>
                    </a:solidFill>
                  </a:tcPr>
                </a:tc>
                <a:extLst>
                  <a:ext uri="{0D108BD9-81ED-4DB2-BD59-A6C34878D82A}">
                    <a16:rowId xmlns:a16="http://schemas.microsoft.com/office/drawing/2014/main" val="10002"/>
                  </a:ext>
                </a:extLst>
              </a:tr>
              <a:tr h="475488">
                <a:tc>
                  <a:txBody>
                    <a:bodyPr/>
                    <a:lstStyle/>
                    <a:p>
                      <a:pPr>
                        <a:lnSpc>
                          <a:spcPct val="106000"/>
                        </a:lnSpc>
                      </a:pPr>
                      <a:r>
                        <a:rPr sz="1400" b="1" i="0">
                          <a:solidFill>
                            <a:srgbClr val="242C38"/>
                          </a:solidFill>
                          <a:latin typeface="Segoe UI"/>
                        </a:rPr>
                        <a:t>gzip</a:t>
                      </a:r>
                    </a:p>
                  </a:txBody>
                  <a:tcPr marT="36576" marB="36576" anchor="ctr">
                    <a:solidFill>
                      <a:srgbClr val="EEF3F8"/>
                    </a:solidFill>
                  </a:tcPr>
                </a:tc>
                <a:tc>
                  <a:txBody>
                    <a:bodyPr/>
                    <a:lstStyle/>
                    <a:p>
                      <a:pPr>
                        <a:lnSpc>
                          <a:spcPct val="106000"/>
                        </a:lnSpc>
                      </a:pPr>
                      <a:r>
                        <a:rPr sz="1400" b="0" i="0">
                          <a:solidFill>
                            <a:srgbClr val="242C38"/>
                          </a:solidFill>
                          <a:latin typeface="Segoe UI"/>
                        </a:rPr>
                        <a:t>slow to write</a:t>
                      </a:r>
                    </a:p>
                  </a:txBody>
                  <a:tcPr marT="36576" marB="36576" anchor="ctr">
                    <a:solidFill>
                      <a:srgbClr val="EEF3F8"/>
                    </a:solidFill>
                  </a:tcPr>
                </a:tc>
                <a:tc>
                  <a:txBody>
                    <a:bodyPr/>
                    <a:lstStyle/>
                    <a:p>
                      <a:pPr>
                        <a:lnSpc>
                          <a:spcPct val="106000"/>
                        </a:lnSpc>
                      </a:pPr>
                      <a:r>
                        <a:rPr sz="1400" b="0" i="0">
                          <a:solidFill>
                            <a:srgbClr val="242C38"/>
                          </a:solidFill>
                          <a:latin typeface="Segoe UI"/>
                        </a:rPr>
                        <a:t>cold archives rewritten rarely</a:t>
                      </a:r>
                    </a:p>
                  </a:txBody>
                  <a:tcPr marT="36576" marB="36576" anchor="ctr">
                    <a:solidFill>
                      <a:srgbClr val="EEF3F8"/>
                    </a:solidFill>
                  </a:tcPr>
                </a:tc>
                <a:extLst>
                  <a:ext uri="{0D108BD9-81ED-4DB2-BD59-A6C34878D82A}">
                    <a16:rowId xmlns:a16="http://schemas.microsoft.com/office/drawing/2014/main" val="10003"/>
                  </a:ext>
                </a:extLst>
              </a:tr>
              <a:tr h="475488">
                <a:tc>
                  <a:txBody>
                    <a:bodyPr/>
                    <a:lstStyle/>
                    <a:p>
                      <a:pPr>
                        <a:lnSpc>
                          <a:spcPct val="106000"/>
                        </a:lnSpc>
                      </a:pPr>
                      <a:r>
                        <a:rPr sz="1400" b="1" i="0">
                          <a:solidFill>
                            <a:srgbClr val="242C38"/>
                          </a:solidFill>
                          <a:latin typeface="Segoe UI"/>
                        </a:rPr>
                        <a:t>none</a:t>
                      </a:r>
                    </a:p>
                  </a:txBody>
                  <a:tcPr marT="36576" marB="36576" anchor="ctr">
                    <a:solidFill>
                      <a:srgbClr val="FFFFFF"/>
                    </a:solidFill>
                  </a:tcPr>
                </a:tc>
                <a:tc>
                  <a:txBody>
                    <a:bodyPr/>
                    <a:lstStyle/>
                    <a:p>
                      <a:pPr>
                        <a:lnSpc>
                          <a:spcPct val="106000"/>
                        </a:lnSpc>
                      </a:pPr>
                      <a:r>
                        <a:rPr sz="1400" b="0" i="0">
                          <a:solidFill>
                            <a:srgbClr val="242C38"/>
                          </a:solidFill>
                          <a:latin typeface="Segoe UI"/>
                        </a:rPr>
                        <a:t>fastest write</a:t>
                      </a:r>
                    </a:p>
                  </a:txBody>
                  <a:tcPr marT="36576" marB="36576" anchor="ctr">
                    <a:solidFill>
                      <a:srgbClr val="FFFFFF"/>
                    </a:solidFill>
                  </a:tcPr>
                </a:tc>
                <a:tc>
                  <a:txBody>
                    <a:bodyPr/>
                    <a:lstStyle/>
                    <a:p>
                      <a:pPr>
                        <a:lnSpc>
                          <a:spcPct val="106000"/>
                        </a:lnSpc>
                      </a:pPr>
                      <a:r>
                        <a:rPr sz="1400" b="0" i="0">
                          <a:solidFill>
                            <a:srgbClr val="242C38"/>
                          </a:solidFill>
                          <a:latin typeface="Segoe UI"/>
                        </a:rPr>
                        <a:t>debugging only</a:t>
                      </a:r>
                    </a:p>
                  </a:txBody>
                  <a:tcPr marT="36576" marB="36576" anchor="ctr">
                    <a:solidFill>
                      <a:srgbClr val="FFFFFF"/>
                    </a:solidFill>
                  </a:tcPr>
                </a:tc>
                <a:extLst>
                  <a:ext uri="{0D108BD9-81ED-4DB2-BD59-A6C34878D82A}">
                    <a16:rowId xmlns:a16="http://schemas.microsoft.com/office/drawing/2014/main" val="10004"/>
                  </a:ext>
                </a:extLst>
              </a:tr>
            </a:tbl>
          </a:graphicData>
        </a:graphic>
      </p:graphicFrame>
      <p:sp>
        <p:nvSpPr>
          <p:cNvPr id="5" name="Rectangle 4"/>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12  ·  Polyglot persistence</a:t>
            </a:r>
          </a:p>
        </p:txBody>
      </p:sp>
      <p:sp>
        <p:nvSpPr>
          <p:cNvPr id="7" name="TextBox 6"/>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128</a:t>
            </a: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Predicate pushdown and column pruning, proven</a:t>
            </a:r>
          </a:p>
        </p:txBody>
      </p:sp>
      <p:sp>
        <p:nvSpPr>
          <p:cNvPr id="4" name="Rectangle 3"/>
          <p:cNvSpPr/>
          <p:nvPr/>
        </p:nvSpPr>
        <p:spPr>
          <a:xfrm>
            <a:off x="658368" y="1481328"/>
            <a:ext cx="10874959" cy="2447544"/>
          </a:xfrm>
          <a:prstGeom prst="rect">
            <a:avLst/>
          </a:prstGeom>
          <a:solidFill>
            <a:srgbClr val="F5F7F9"/>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81328"/>
            <a:ext cx="43180" cy="2447544"/>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77824" y="1645920"/>
            <a:ext cx="10509199" cy="2173224"/>
          </a:xfrm>
          <a:prstGeom prst="rect">
            <a:avLst/>
          </a:prstGeom>
          <a:noFill/>
        </p:spPr>
        <p:txBody>
          <a:bodyPr wrap="square" lIns="0" tIns="0" rIns="0" bIns="0">
            <a:spAutoFit/>
          </a:bodyPr>
          <a:lstStyle/>
          <a:p>
            <a:pPr>
              <a:lnSpc>
                <a:spcPct val="116000"/>
              </a:lnSpc>
              <a:spcAft>
                <a:spcPts val="0"/>
              </a:spcAft>
            </a:pPr>
            <a:r>
              <a:rPr sz="1500" b="0" i="0">
                <a:solidFill>
                  <a:srgbClr val="242C38"/>
                </a:solidFill>
                <a:latin typeface="Consolas"/>
              </a:rPr>
              <a:t>filtered = parquet_txns.filter(F.col(</a:t>
            </a:r>
            <a:r>
              <a:rPr sz="1500" b="0" i="0">
                <a:solidFill>
                  <a:srgbClr val="A31515"/>
                </a:solidFill>
                <a:latin typeface="Consolas"/>
              </a:rPr>
              <a:t>"status"</a:t>
            </a:r>
            <a:r>
              <a:rPr sz="1500" b="0" i="0">
                <a:solidFill>
                  <a:srgbClr val="242C38"/>
                </a:solidFill>
                <a:latin typeface="Consolas"/>
              </a:rPr>
              <a:t>) == </a:t>
            </a:r>
            <a:r>
              <a:rPr sz="1500" b="0" i="0">
                <a:solidFill>
                  <a:srgbClr val="A31515"/>
                </a:solidFill>
                <a:latin typeface="Consolas"/>
              </a:rPr>
              <a:t>"SUCCESS"</a:t>
            </a:r>
            <a:r>
              <a:rPr sz="1500" b="0" i="0">
                <a:solidFill>
                  <a:srgbClr val="242C38"/>
                </a:solidFill>
                <a:latin typeface="Consolas"/>
              </a:rPr>
              <a:t>)</a:t>
            </a:r>
          </a:p>
          <a:p>
            <a:pPr>
              <a:lnSpc>
                <a:spcPct val="116000"/>
              </a:lnSpc>
              <a:spcAft>
                <a:spcPts val="0"/>
              </a:spcAft>
            </a:pPr>
            <a:r>
              <a:rPr sz="1500" b="0" i="0">
                <a:solidFill>
                  <a:srgbClr val="242C38"/>
                </a:solidFill>
                <a:latin typeface="Consolas"/>
              </a:rPr>
              <a:t>plan = filtered._jdf.queryExecution().executedPlan().toString()</a:t>
            </a:r>
          </a:p>
          <a:p>
            <a:pPr>
              <a:lnSpc>
                <a:spcPct val="116000"/>
              </a:lnSpc>
              <a:spcAft>
                <a:spcPts val="0"/>
              </a:spcAft>
            </a:pPr>
            <a:r>
              <a:rPr sz="1500" b="0" i="0">
                <a:solidFill>
                  <a:srgbClr val="A31515"/>
                </a:solidFill>
                <a:latin typeface="Consolas"/>
              </a:rPr>
              <a:t>"PushedFilters"</a:t>
            </a:r>
            <a:r>
              <a:rPr sz="1500" b="0" i="0">
                <a:solidFill>
                  <a:srgbClr val="242C38"/>
                </a:solidFill>
                <a:latin typeface="Consolas"/>
              </a:rPr>
              <a:t> </a:t>
            </a:r>
            <a:r>
              <a:rPr sz="1500" b="0" i="0">
                <a:solidFill>
                  <a:srgbClr val="0F5BA7"/>
                </a:solidFill>
                <a:latin typeface="Consolas"/>
              </a:rPr>
              <a:t>in</a:t>
            </a:r>
            <a:r>
              <a:rPr sz="1500" b="0" i="0">
                <a:solidFill>
                  <a:srgbClr val="242C38"/>
                </a:solidFill>
                <a:latin typeface="Consolas"/>
              </a:rPr>
              <a:t> plan          </a:t>
            </a:r>
            <a:r>
              <a:rPr sz="1500" b="0" i="1">
                <a:solidFill>
                  <a:srgbClr val="6F865C"/>
                </a:solidFill>
                <a:latin typeface="Consolas"/>
              </a:rPr>
              <a:t># True</a:t>
            </a:r>
          </a:p>
          <a:p>
            <a:pPr>
              <a:lnSpc>
                <a:spcPct val="116000"/>
              </a:lnSpc>
              <a:spcAft>
                <a:spcPts val="0"/>
              </a:spcAft>
            </a:pPr>
            <a:r>
              <a:rPr sz="1500" b="0" i="0">
                <a:solidFill>
                  <a:srgbClr val="242C38"/>
                </a:solidFill>
                <a:latin typeface="Consolas"/>
              </a:rPr>
              <a:t> </a:t>
            </a:r>
          </a:p>
          <a:p>
            <a:pPr>
              <a:lnSpc>
                <a:spcPct val="116000"/>
              </a:lnSpc>
              <a:spcAft>
                <a:spcPts val="0"/>
              </a:spcAft>
            </a:pPr>
            <a:r>
              <a:rPr sz="1500" b="0" i="0">
                <a:solidFill>
                  <a:srgbClr val="242C38"/>
                </a:solidFill>
                <a:latin typeface="Consolas"/>
              </a:rPr>
              <a:t>narrow = parquet_txns.select(</a:t>
            </a:r>
            <a:r>
              <a:rPr sz="1500" b="0" i="0">
                <a:solidFill>
                  <a:srgbClr val="A31515"/>
                </a:solidFill>
                <a:latin typeface="Consolas"/>
              </a:rPr>
              <a:t>"txn_id"</a:t>
            </a:r>
            <a:r>
              <a:rPr sz="1500" b="0" i="0">
                <a:solidFill>
                  <a:srgbClr val="242C38"/>
                </a:solidFill>
                <a:latin typeface="Consolas"/>
              </a:rPr>
              <a:t>, </a:t>
            </a:r>
            <a:r>
              <a:rPr sz="1500" b="0" i="0">
                <a:solidFill>
                  <a:srgbClr val="A31515"/>
                </a:solidFill>
                <a:latin typeface="Consolas"/>
              </a:rPr>
              <a:t>"amount"</a:t>
            </a:r>
            <a:r>
              <a:rPr sz="1500" b="0" i="0">
                <a:solidFill>
                  <a:srgbClr val="242C38"/>
                </a:solidFill>
                <a:latin typeface="Consolas"/>
              </a:rPr>
              <a:t>)</a:t>
            </a:r>
          </a:p>
          <a:p>
            <a:pPr>
              <a:lnSpc>
                <a:spcPct val="116000"/>
              </a:lnSpc>
              <a:spcAft>
                <a:spcPts val="0"/>
              </a:spcAft>
            </a:pPr>
            <a:r>
              <a:rPr sz="1500" b="0" i="0">
                <a:solidFill>
                  <a:srgbClr val="242C38"/>
                </a:solidFill>
                <a:latin typeface="Consolas"/>
              </a:rPr>
              <a:t>plan2 = narrow._jdf.queryExecution().executedPlan().toString()</a:t>
            </a:r>
          </a:p>
          <a:p>
            <a:pPr>
              <a:lnSpc>
                <a:spcPct val="116000"/>
              </a:lnSpc>
              <a:spcAft>
                <a:spcPts val="0"/>
              </a:spcAft>
            </a:pPr>
            <a:r>
              <a:rPr sz="1500" b="0" i="0">
                <a:solidFill>
                  <a:srgbClr val="A31515"/>
                </a:solidFill>
                <a:latin typeface="Consolas"/>
              </a:rPr>
              <a:t>"device_id"</a:t>
            </a:r>
            <a:r>
              <a:rPr sz="1500" b="0" i="0">
                <a:solidFill>
                  <a:srgbClr val="242C38"/>
                </a:solidFill>
                <a:latin typeface="Consolas"/>
              </a:rPr>
              <a:t> </a:t>
            </a:r>
            <a:r>
              <a:rPr sz="1500" b="0" i="0">
                <a:solidFill>
                  <a:srgbClr val="0F5BA7"/>
                </a:solidFill>
                <a:latin typeface="Consolas"/>
              </a:rPr>
              <a:t>in</a:t>
            </a:r>
            <a:r>
              <a:rPr sz="1500" b="0" i="0">
                <a:solidFill>
                  <a:srgbClr val="242C38"/>
                </a:solidFill>
                <a:latin typeface="Consolas"/>
              </a:rPr>
              <a:t> plan2             </a:t>
            </a:r>
            <a:r>
              <a:rPr sz="1500" b="0" i="1">
                <a:solidFill>
                  <a:srgbClr val="6F865C"/>
                </a:solidFill>
                <a:latin typeface="Consolas"/>
              </a:rPr>
              <a:t># False, pruned</a:t>
            </a:r>
          </a:p>
        </p:txBody>
      </p:sp>
      <p:sp>
        <p:nvSpPr>
          <p:cNvPr id="7" name="TextBox 6"/>
          <p:cNvSpPr txBox="1"/>
          <p:nvPr/>
        </p:nvSpPr>
        <p:spPr>
          <a:xfrm>
            <a:off x="658368" y="4075176"/>
            <a:ext cx="10874959" cy="457200"/>
          </a:xfrm>
          <a:prstGeom prst="rect">
            <a:avLst/>
          </a:prstGeom>
          <a:noFill/>
        </p:spPr>
        <p:txBody>
          <a:bodyPr wrap="square" lIns="0" tIns="0" rIns="0" bIns="0">
            <a:spAutoFit/>
          </a:bodyPr>
          <a:lstStyle/>
          <a:p>
            <a:r>
              <a:rPr sz="1400" b="0" i="0">
                <a:solidFill>
                  <a:srgbClr val="5B6775"/>
                </a:solidFill>
                <a:latin typeface="Segoe UI"/>
              </a:rPr>
              <a:t>Do not trust a filter or a select() is free. Check explain() for the proof.</a:t>
            </a:r>
          </a:p>
        </p:txBody>
      </p:sp>
      <p:sp>
        <p:nvSpPr>
          <p:cNvPr id="8" name="Rectangle 7"/>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12  ·  Polyglot persistence</a:t>
            </a:r>
          </a:p>
        </p:txBody>
      </p:sp>
      <p:sp>
        <p:nvSpPr>
          <p:cNvPr id="10" name="TextBox 9"/>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129</a:t>
            </a: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JDBC to the core banking database</a:t>
            </a:r>
          </a:p>
        </p:txBody>
      </p:sp>
      <p:sp>
        <p:nvSpPr>
          <p:cNvPr id="4" name="Rectangle 3"/>
          <p:cNvSpPr/>
          <p:nvPr/>
        </p:nvSpPr>
        <p:spPr>
          <a:xfrm>
            <a:off x="658368" y="1481328"/>
            <a:ext cx="10874959" cy="2157984"/>
          </a:xfrm>
          <a:prstGeom prst="rect">
            <a:avLst/>
          </a:prstGeom>
          <a:solidFill>
            <a:srgbClr val="F5F7F9"/>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81328"/>
            <a:ext cx="43180" cy="2157984"/>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77824" y="1645920"/>
            <a:ext cx="10509199" cy="1883664"/>
          </a:xfrm>
          <a:prstGeom prst="rect">
            <a:avLst/>
          </a:prstGeom>
          <a:noFill/>
        </p:spPr>
        <p:txBody>
          <a:bodyPr wrap="square" lIns="0" tIns="0" rIns="0" bIns="0">
            <a:spAutoFit/>
          </a:bodyPr>
          <a:lstStyle/>
          <a:p>
            <a:pPr>
              <a:lnSpc>
                <a:spcPct val="116000"/>
              </a:lnSpc>
              <a:spcAft>
                <a:spcPts val="0"/>
              </a:spcAft>
            </a:pPr>
            <a:r>
              <a:rPr sz="1500" b="0" i="0">
                <a:solidFill>
                  <a:srgbClr val="242C38"/>
                </a:solidFill>
                <a:latin typeface="Consolas"/>
              </a:rPr>
              <a:t>spark.read.format(</a:t>
            </a:r>
            <a:r>
              <a:rPr sz="1500" b="0" i="0">
                <a:solidFill>
                  <a:srgbClr val="A31515"/>
                </a:solidFill>
                <a:latin typeface="Consolas"/>
              </a:rPr>
              <a:t>"jdbc"</a:t>
            </a:r>
            <a:r>
              <a:rPr sz="1500" b="0" i="0">
                <a:solidFill>
                  <a:srgbClr val="242C38"/>
                </a:solidFill>
                <a:latin typeface="Consolas"/>
              </a:rPr>
              <a:t>) \</a:t>
            </a:r>
          </a:p>
          <a:p>
            <a:pPr>
              <a:lnSpc>
                <a:spcPct val="116000"/>
              </a:lnSpc>
              <a:spcAft>
                <a:spcPts val="0"/>
              </a:spcAft>
            </a:pPr>
            <a:r>
              <a:rPr sz="1500" b="0" i="0">
                <a:solidFill>
                  <a:srgbClr val="242C38"/>
                </a:solidFill>
                <a:latin typeface="Consolas"/>
              </a:rPr>
              <a:t>  .option(</a:t>
            </a:r>
            <a:r>
              <a:rPr sz="1500" b="0" i="0">
                <a:solidFill>
                  <a:srgbClr val="A31515"/>
                </a:solidFill>
                <a:latin typeface="Consolas"/>
              </a:rPr>
              <a:t>"url"</a:t>
            </a:r>
            <a:r>
              <a:rPr sz="1500" b="0" i="0">
                <a:solidFill>
                  <a:srgbClr val="242C38"/>
                </a:solidFill>
                <a:latin typeface="Consolas"/>
              </a:rPr>
              <a:t>, </a:t>
            </a:r>
            <a:r>
              <a:rPr sz="1500" b="0" i="0">
                <a:solidFill>
                  <a:srgbClr val="A31515"/>
                </a:solidFill>
                <a:latin typeface="Consolas"/>
              </a:rPr>
              <a:t>"jdbc:postgresql://core-banking-REPLICA:5432/ledger"</a:t>
            </a:r>
            <a:r>
              <a:rPr sz="1500" b="0" i="0">
                <a:solidFill>
                  <a:srgbClr val="242C38"/>
                </a:solidFill>
                <a:latin typeface="Consolas"/>
              </a:rPr>
              <a:t>) \</a:t>
            </a:r>
          </a:p>
          <a:p>
            <a:pPr>
              <a:lnSpc>
                <a:spcPct val="116000"/>
              </a:lnSpc>
              <a:spcAft>
                <a:spcPts val="0"/>
              </a:spcAft>
            </a:pPr>
            <a:r>
              <a:rPr sz="1500" b="0" i="0">
                <a:solidFill>
                  <a:srgbClr val="242C38"/>
                </a:solidFill>
                <a:latin typeface="Consolas"/>
              </a:rPr>
              <a:t>  .option(</a:t>
            </a:r>
            <a:r>
              <a:rPr sz="1500" b="0" i="0">
                <a:solidFill>
                  <a:srgbClr val="A31515"/>
                </a:solidFill>
                <a:latin typeface="Consolas"/>
              </a:rPr>
              <a:t>"dbtable"</a:t>
            </a:r>
            <a:r>
              <a:rPr sz="1500" b="0" i="0">
                <a:solidFill>
                  <a:srgbClr val="242C38"/>
                </a:solidFill>
                <a:latin typeface="Consolas"/>
              </a:rPr>
              <a:t>, </a:t>
            </a:r>
            <a:r>
              <a:rPr sz="1500" b="0" i="0">
                <a:solidFill>
                  <a:srgbClr val="A31515"/>
                </a:solidFill>
                <a:latin typeface="Consolas"/>
              </a:rPr>
              <a:t>"(SELECT txn_id, amount FROM transactions) t"</a:t>
            </a:r>
            <a:r>
              <a:rPr sz="1500" b="0" i="0">
                <a:solidFill>
                  <a:srgbClr val="242C38"/>
                </a:solidFill>
                <a:latin typeface="Consolas"/>
              </a:rPr>
              <a:t>) \</a:t>
            </a:r>
          </a:p>
          <a:p>
            <a:pPr>
              <a:lnSpc>
                <a:spcPct val="116000"/>
              </a:lnSpc>
              <a:spcAft>
                <a:spcPts val="0"/>
              </a:spcAft>
            </a:pPr>
            <a:r>
              <a:rPr sz="1500" b="0" i="0">
                <a:solidFill>
                  <a:srgbClr val="242C38"/>
                </a:solidFill>
                <a:latin typeface="Consolas"/>
              </a:rPr>
              <a:t>  .option(</a:t>
            </a:r>
            <a:r>
              <a:rPr sz="1500" b="0" i="0">
                <a:solidFill>
                  <a:srgbClr val="A31515"/>
                </a:solidFill>
                <a:latin typeface="Consolas"/>
              </a:rPr>
              <a:t>"numPartitions"</a:t>
            </a:r>
            <a:r>
              <a:rPr sz="1500" b="0" i="0">
                <a:solidFill>
                  <a:srgbClr val="242C38"/>
                </a:solidFill>
                <a:latin typeface="Consolas"/>
              </a:rPr>
              <a:t>, </a:t>
            </a:r>
            <a:r>
              <a:rPr sz="1500" b="0" i="0">
                <a:solidFill>
                  <a:srgbClr val="A31515"/>
                </a:solidFill>
                <a:latin typeface="Consolas"/>
              </a:rPr>
              <a:t>"8"</a:t>
            </a:r>
            <a:r>
              <a:rPr sz="1500" b="0" i="0">
                <a:solidFill>
                  <a:srgbClr val="242C38"/>
                </a:solidFill>
                <a:latin typeface="Consolas"/>
              </a:rPr>
              <a:t>) \</a:t>
            </a:r>
          </a:p>
          <a:p>
            <a:pPr>
              <a:lnSpc>
                <a:spcPct val="116000"/>
              </a:lnSpc>
              <a:spcAft>
                <a:spcPts val="0"/>
              </a:spcAft>
            </a:pPr>
            <a:r>
              <a:rPr sz="1500" b="0" i="0">
                <a:solidFill>
                  <a:srgbClr val="242C38"/>
                </a:solidFill>
                <a:latin typeface="Consolas"/>
              </a:rPr>
              <a:t>  .option(</a:t>
            </a:r>
            <a:r>
              <a:rPr sz="1500" b="0" i="0">
                <a:solidFill>
                  <a:srgbClr val="A31515"/>
                </a:solidFill>
                <a:latin typeface="Consolas"/>
              </a:rPr>
              <a:t>"fetchsize"</a:t>
            </a:r>
            <a:r>
              <a:rPr sz="1500" b="0" i="0">
                <a:solidFill>
                  <a:srgbClr val="242C38"/>
                </a:solidFill>
                <a:latin typeface="Consolas"/>
              </a:rPr>
              <a:t>, </a:t>
            </a:r>
            <a:r>
              <a:rPr sz="1500" b="0" i="0">
                <a:solidFill>
                  <a:srgbClr val="A31515"/>
                </a:solidFill>
                <a:latin typeface="Consolas"/>
              </a:rPr>
              <a:t>"10000"</a:t>
            </a:r>
            <a:r>
              <a:rPr sz="1500" b="0" i="0">
                <a:solidFill>
                  <a:srgbClr val="242C38"/>
                </a:solidFill>
                <a:latin typeface="Consolas"/>
              </a:rPr>
              <a:t>) \</a:t>
            </a:r>
          </a:p>
          <a:p>
            <a:pPr>
              <a:lnSpc>
                <a:spcPct val="116000"/>
              </a:lnSpc>
              <a:spcAft>
                <a:spcPts val="0"/>
              </a:spcAft>
            </a:pPr>
            <a:r>
              <a:rPr sz="1500" b="0" i="0">
                <a:solidFill>
                  <a:srgbClr val="242C38"/>
                </a:solidFill>
                <a:latin typeface="Consolas"/>
              </a:rPr>
              <a:t>  .load()</a:t>
            </a:r>
          </a:p>
        </p:txBody>
      </p:sp>
      <p:sp>
        <p:nvSpPr>
          <p:cNvPr id="7" name="TextBox 6"/>
          <p:cNvSpPr txBox="1"/>
          <p:nvPr/>
        </p:nvSpPr>
        <p:spPr>
          <a:xfrm>
            <a:off x="658368" y="3785616"/>
            <a:ext cx="10874959" cy="457200"/>
          </a:xfrm>
          <a:prstGeom prst="rect">
            <a:avLst/>
          </a:prstGeom>
          <a:noFill/>
        </p:spPr>
        <p:txBody>
          <a:bodyPr wrap="square" lIns="0" tIns="0" rIns="0" bIns="0">
            <a:spAutoFit/>
          </a:bodyPr>
          <a:lstStyle/>
          <a:p>
            <a:r>
              <a:rPr sz="1400" b="0" i="0">
                <a:solidFill>
                  <a:srgbClr val="5B6775"/>
                </a:solidFill>
                <a:latin typeface="Segoe UI"/>
              </a:rPr>
              <a:t>numPartitions with partitionColumn splits one read into N parallel connections.</a:t>
            </a:r>
          </a:p>
        </p:txBody>
      </p:sp>
      <p:sp>
        <p:nvSpPr>
          <p:cNvPr id="8" name="Rectangle 7"/>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12  ·  Polyglot persistence</a:t>
            </a:r>
          </a:p>
        </p:txBody>
      </p:sp>
      <p:sp>
        <p:nvSpPr>
          <p:cNvPr id="10" name="TextBox 9"/>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130</a:t>
            </a: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237744"/>
          </a:xfrm>
          <a:prstGeom prst="rect">
            <a:avLst/>
          </a:prstGeom>
          <a:noFill/>
        </p:spPr>
        <p:txBody>
          <a:bodyPr wrap="square" lIns="0" tIns="0" rIns="0" bIns="0">
            <a:spAutoFit/>
          </a:bodyPr>
          <a:lstStyle/>
          <a:p>
            <a:r>
              <a:rPr sz="1000" b="1" i="0">
                <a:solidFill>
                  <a:srgbClr val="2E74B5"/>
                </a:solidFill>
                <a:latin typeface="Segoe UI Semibold"/>
              </a:rPr>
              <a:t>THE WARNING</a:t>
            </a:r>
          </a:p>
        </p:txBody>
      </p:sp>
      <p:sp>
        <p:nvSpPr>
          <p:cNvPr id="4" name="TextBox 3"/>
          <p:cNvSpPr txBox="1"/>
          <p:nvPr/>
        </p:nvSpPr>
        <p:spPr>
          <a:xfrm>
            <a:off x="658368" y="768096"/>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Never point Spark at the live core</a:t>
            </a:r>
          </a:p>
        </p:txBody>
      </p:sp>
      <p:sp>
        <p:nvSpPr>
          <p:cNvPr id="5" name="TextBox 4"/>
          <p:cNvSpPr txBox="1"/>
          <p:nvPr/>
        </p:nvSpPr>
        <p:spPr>
          <a:xfrm>
            <a:off x="658368" y="1481328"/>
            <a:ext cx="10874959" cy="4526280"/>
          </a:xfrm>
          <a:prstGeom prst="rect">
            <a:avLst/>
          </a:prstGeom>
          <a:noFill/>
        </p:spPr>
        <p:txBody>
          <a:bodyPr wrap="square" lIns="0" tIns="0" rIns="0" bIns="0">
            <a:spAutoFit/>
          </a:bodyPr>
          <a:lstStyle/>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A core database is sized for online transactions, not 8 to 32 parallel scans</a:t>
            </a:r>
          </a:p>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Always read from a replica, never the live core banking database</a:t>
            </a:r>
          </a:p>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Agree numPartitions and fetchsize with the DBA before the first run</a:t>
            </a:r>
          </a:p>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Push a filtering subquery into dbtable, do not filter inside Spark instead</a:t>
            </a:r>
          </a:p>
        </p:txBody>
      </p:sp>
      <p:sp>
        <p:nvSpPr>
          <p:cNvPr id="6" name="TextBox 5"/>
          <p:cNvSpPr txBox="1"/>
          <p:nvPr/>
        </p:nvSpPr>
        <p:spPr>
          <a:xfrm>
            <a:off x="658368" y="5687568"/>
            <a:ext cx="10874959" cy="548640"/>
          </a:xfrm>
          <a:prstGeom prst="rect">
            <a:avLst/>
          </a:prstGeom>
          <a:noFill/>
        </p:spPr>
        <p:txBody>
          <a:bodyPr wrap="square" lIns="0" tIns="0" rIns="0" bIns="0">
            <a:spAutoFit/>
          </a:bodyPr>
          <a:lstStyle/>
          <a:p>
            <a:r>
              <a:rPr sz="1300" b="0" i="1">
                <a:solidFill>
                  <a:srgbClr val="5B6775"/>
                </a:solidFill>
                <a:latin typeface="Segoe UI"/>
              </a:rPr>
              <a:t>This warning matters more than any JDBC option on the previous slide.</a:t>
            </a:r>
          </a:p>
        </p:txBody>
      </p:sp>
      <p:sp>
        <p:nvSpPr>
          <p:cNvPr id="7" name="Rectangle 6"/>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12  ·  Polyglot persistence</a:t>
            </a:r>
          </a:p>
        </p:txBody>
      </p:sp>
      <p:sp>
        <p:nvSpPr>
          <p:cNvPr id="9" name="TextBox 8"/>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131</a:t>
            </a: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Module 12 in one screen</a:t>
            </a:r>
          </a:p>
        </p:txBody>
      </p:sp>
      <p:sp>
        <p:nvSpPr>
          <p:cNvPr id="4" name="TextBox 3"/>
          <p:cNvSpPr txBox="1"/>
          <p:nvPr/>
        </p:nvSpPr>
        <p:spPr>
          <a:xfrm>
            <a:off x="658368" y="1481328"/>
            <a:ext cx="10874959" cy="4526280"/>
          </a:xfrm>
          <a:prstGeom prst="rect">
            <a:avLst/>
          </a:prstGeom>
          <a:noFill/>
        </p:spPr>
        <p:txBody>
          <a:bodyPr wrap="square" lIns="0" tIns="0" rIns="0" bIns="0">
            <a:spAutoFit/>
          </a:bodyPr>
          <a:lstStyle/>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Parquet wins for curated tables: columnar, compressed, and its footer skips data.</a:t>
            </a:r>
          </a:p>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Predicate pushdown and column pruning are provable in explain(), do not assume.</a:t>
            </a:r>
          </a:p>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Delta and Iceberg solve MERGE and upserts, that is all Module 11, not repeated here.</a:t>
            </a:r>
          </a:p>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A Spark JDBC job against the live core banking database is an outage waiting to happen.</a:t>
            </a:r>
          </a:p>
        </p:txBody>
      </p:sp>
      <p:sp>
        <p:nvSpPr>
          <p:cNvPr id="5" name="Rectangle 4"/>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12  ·  Polyglot persistence</a:t>
            </a:r>
          </a:p>
        </p:txBody>
      </p:sp>
      <p:sp>
        <p:nvSpPr>
          <p:cNvPr id="7" name="TextBox 6"/>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132</a:t>
            </a: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858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51560" y="2057400"/>
            <a:ext cx="9692640" cy="457200"/>
          </a:xfrm>
          <a:prstGeom prst="rect">
            <a:avLst/>
          </a:prstGeom>
          <a:noFill/>
        </p:spPr>
        <p:txBody>
          <a:bodyPr wrap="square" lIns="0" tIns="0" rIns="0" bIns="0">
            <a:spAutoFit/>
          </a:bodyPr>
          <a:lstStyle/>
          <a:p>
            <a:r>
              <a:rPr sz="1300" b="1" i="0">
                <a:solidFill>
                  <a:srgbClr val="2E74B5"/>
                </a:solidFill>
                <a:latin typeface="Segoe UI Semibold"/>
              </a:rPr>
              <a:t>MODULE 13</a:t>
            </a:r>
          </a:p>
        </p:txBody>
      </p:sp>
      <p:sp>
        <p:nvSpPr>
          <p:cNvPr id="5" name="TextBox 4"/>
          <p:cNvSpPr txBox="1"/>
          <p:nvPr/>
        </p:nvSpPr>
        <p:spPr>
          <a:xfrm>
            <a:off x="1051560" y="2578608"/>
            <a:ext cx="9692640" cy="1371600"/>
          </a:xfrm>
          <a:prstGeom prst="rect">
            <a:avLst/>
          </a:prstGeom>
          <a:noFill/>
        </p:spPr>
        <p:txBody>
          <a:bodyPr wrap="square" lIns="0" tIns="0" rIns="0" bIns="0">
            <a:spAutoFit/>
          </a:bodyPr>
          <a:lstStyle/>
          <a:p>
            <a:pPr>
              <a:lnSpc>
                <a:spcPct val="95000"/>
              </a:lnSpc>
            </a:pPr>
            <a:r>
              <a:rPr sz="4200" b="1" i="0">
                <a:solidFill>
                  <a:srgbClr val="1F4E79"/>
                </a:solidFill>
                <a:latin typeface="Segoe UI Semibold"/>
              </a:rPr>
              <a:t>Structured streaming</a:t>
            </a:r>
          </a:p>
        </p:txBody>
      </p:sp>
      <p:sp>
        <p:nvSpPr>
          <p:cNvPr id="6" name="TextBox 5"/>
          <p:cNvSpPr txBox="1"/>
          <p:nvPr/>
        </p:nvSpPr>
        <p:spPr>
          <a:xfrm>
            <a:off x="1051560" y="3950208"/>
            <a:ext cx="8778240" cy="822960"/>
          </a:xfrm>
          <a:prstGeom prst="rect">
            <a:avLst/>
          </a:prstGeom>
          <a:noFill/>
        </p:spPr>
        <p:txBody>
          <a:bodyPr wrap="square" lIns="0" tIns="0" rIns="0" bIns="0">
            <a:spAutoFit/>
          </a:bodyPr>
          <a:lstStyle/>
          <a:p>
            <a:pPr>
              <a:lnSpc>
                <a:spcPct val="115000"/>
              </a:lnSpc>
            </a:pPr>
            <a:r>
              <a:rPr sz="1700" b="0" i="0">
                <a:solidFill>
                  <a:srgbClr val="5B6775"/>
                </a:solidFill>
                <a:latin typeface="Segoe UI"/>
              </a:rPr>
              <a:t>The same DataFrame code, run continuously, with a trigger, a watermark and a checkpoint</a:t>
            </a: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58368" y="2148840"/>
            <a:ext cx="82296" cy="219456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42416" y="2084831"/>
            <a:ext cx="9777679" cy="1828800"/>
          </a:xfrm>
          <a:prstGeom prst="rect">
            <a:avLst/>
          </a:prstGeom>
          <a:noFill/>
        </p:spPr>
        <p:txBody>
          <a:bodyPr wrap="square" lIns="0" tIns="0" rIns="0" bIns="0">
            <a:spAutoFit/>
          </a:bodyPr>
          <a:lstStyle/>
          <a:p>
            <a:pPr>
              <a:lnSpc>
                <a:spcPct val="112000"/>
              </a:lnSpc>
            </a:pPr>
            <a:r>
              <a:rPr sz="3000" b="1" i="0">
                <a:solidFill>
                  <a:srgbClr val="1F4E79"/>
                </a:solidFill>
                <a:latin typeface="Segoe UI Semibold"/>
              </a:rPr>
              <a:t>A stream is an unbounded table. The same DataFrame code just keeps running.</a:t>
            </a:r>
          </a:p>
        </p:txBody>
      </p:sp>
      <p:sp>
        <p:nvSpPr>
          <p:cNvPr id="5" name="TextBox 4"/>
          <p:cNvSpPr txBox="1"/>
          <p:nvPr/>
        </p:nvSpPr>
        <p:spPr>
          <a:xfrm>
            <a:off x="1042416" y="4041648"/>
            <a:ext cx="9411919" cy="1005840"/>
          </a:xfrm>
          <a:prstGeom prst="rect">
            <a:avLst/>
          </a:prstGeom>
          <a:noFill/>
        </p:spPr>
        <p:txBody>
          <a:bodyPr wrap="square" lIns="0" tIns="0" rIns="0" bIns="0">
            <a:spAutoFit/>
          </a:bodyPr>
          <a:lstStyle/>
          <a:p>
            <a:pPr>
              <a:lnSpc>
                <a:spcPct val="120000"/>
              </a:lnSpc>
            </a:pPr>
            <a:r>
              <a:rPr sz="1700" b="0" i="0">
                <a:solidFill>
                  <a:srgbClr val="5B6775"/>
                </a:solidFill>
                <a:latin typeface="Segoe UI"/>
              </a:rPr>
              <a:t>Fraud alerts and card authorisation cannot wait for tonight's batch. Structured Streaming reruns your ordinary filter, join and groupBy code against rows that keep arriving, instead of a fixed file read once.</a:t>
            </a:r>
          </a:p>
        </p:txBody>
      </p:sp>
      <p:sp>
        <p:nvSpPr>
          <p:cNvPr id="6" name="Rectangle 5"/>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13  ·  Structured streaming</a:t>
            </a:r>
          </a:p>
        </p:txBody>
      </p:sp>
      <p:sp>
        <p:nvSpPr>
          <p:cNvPr id="8" name="TextBox 7"/>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133</a:t>
            </a: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Opening a stream: readStream, not read</a:t>
            </a:r>
          </a:p>
        </p:txBody>
      </p:sp>
      <p:sp>
        <p:nvSpPr>
          <p:cNvPr id="4" name="Rectangle 3"/>
          <p:cNvSpPr/>
          <p:nvPr/>
        </p:nvSpPr>
        <p:spPr>
          <a:xfrm>
            <a:off x="658368" y="1481328"/>
            <a:ext cx="10874959" cy="1868424"/>
          </a:xfrm>
          <a:prstGeom prst="rect">
            <a:avLst/>
          </a:prstGeom>
          <a:solidFill>
            <a:srgbClr val="F5F7F9"/>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81328"/>
            <a:ext cx="43180" cy="1868424"/>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77824" y="1645920"/>
            <a:ext cx="10509199" cy="1594104"/>
          </a:xfrm>
          <a:prstGeom prst="rect">
            <a:avLst/>
          </a:prstGeom>
          <a:noFill/>
        </p:spPr>
        <p:txBody>
          <a:bodyPr wrap="square" lIns="0" tIns="0" rIns="0" bIns="0">
            <a:spAutoFit/>
          </a:bodyPr>
          <a:lstStyle/>
          <a:p>
            <a:pPr>
              <a:lnSpc>
                <a:spcPct val="116000"/>
              </a:lnSpc>
              <a:spcAft>
                <a:spcPts val="0"/>
              </a:spcAft>
            </a:pPr>
            <a:r>
              <a:rPr sz="1500" b="0" i="0">
                <a:solidFill>
                  <a:srgbClr val="242C38"/>
                </a:solidFill>
                <a:latin typeface="Consolas"/>
              </a:rPr>
              <a:t>raw_stream = (spark.readStream</a:t>
            </a:r>
          </a:p>
          <a:p>
            <a:pPr>
              <a:lnSpc>
                <a:spcPct val="116000"/>
              </a:lnSpc>
              <a:spcAft>
                <a:spcPts val="0"/>
              </a:spcAft>
            </a:pPr>
            <a:r>
              <a:rPr sz="1500" b="0" i="0">
                <a:solidFill>
                  <a:srgbClr val="242C38"/>
                </a:solidFill>
                <a:latin typeface="Consolas"/>
              </a:rPr>
              <a:t>              .schema(txn_schema)      </a:t>
            </a:r>
            <a:r>
              <a:rPr sz="1500" b="0" i="1">
                <a:solidFill>
                  <a:srgbClr val="6F865C"/>
                </a:solidFill>
                <a:latin typeface="Consolas"/>
              </a:rPr>
              <a:t># never inferSchema on a stream</a:t>
            </a:r>
          </a:p>
          <a:p>
            <a:pPr>
              <a:lnSpc>
                <a:spcPct val="116000"/>
              </a:lnSpc>
              <a:spcAft>
                <a:spcPts val="0"/>
              </a:spcAft>
            </a:pPr>
            <a:r>
              <a:rPr sz="1500" b="0" i="0">
                <a:solidFill>
                  <a:srgbClr val="242C38"/>
                </a:solidFill>
                <a:latin typeface="Consolas"/>
              </a:rPr>
              <a:t>              .option(</a:t>
            </a:r>
            <a:r>
              <a:rPr sz="1500" b="0" i="0">
                <a:solidFill>
                  <a:srgbClr val="A31515"/>
                </a:solidFill>
                <a:latin typeface="Consolas"/>
              </a:rPr>
              <a:t>"header"</a:t>
            </a:r>
            <a:r>
              <a:rPr sz="1500" b="0" i="0">
                <a:solidFill>
                  <a:srgbClr val="242C38"/>
                </a:solidFill>
                <a:latin typeface="Consolas"/>
              </a:rPr>
              <a:t>, </a:t>
            </a:r>
            <a:r>
              <a:rPr sz="1500" b="0" i="0">
                <a:solidFill>
                  <a:srgbClr val="0F5BA7"/>
                </a:solidFill>
                <a:latin typeface="Consolas"/>
              </a:rPr>
              <a:t>True</a:t>
            </a:r>
            <a:r>
              <a:rPr sz="1500" b="0" i="0">
                <a:solidFill>
                  <a:srgbClr val="242C38"/>
                </a:solidFill>
                <a:latin typeface="Consolas"/>
              </a:rPr>
              <a:t>)</a:t>
            </a:r>
          </a:p>
          <a:p>
            <a:pPr>
              <a:lnSpc>
                <a:spcPct val="116000"/>
              </a:lnSpc>
              <a:spcAft>
                <a:spcPts val="0"/>
              </a:spcAft>
            </a:pPr>
            <a:r>
              <a:rPr sz="1500" b="0" i="0">
                <a:solidFill>
                  <a:srgbClr val="242C38"/>
                </a:solidFill>
                <a:latin typeface="Consolas"/>
              </a:rPr>
              <a:t>              .option(</a:t>
            </a:r>
            <a:r>
              <a:rPr sz="1500" b="0" i="0">
                <a:solidFill>
                  <a:srgbClr val="A31515"/>
                </a:solidFill>
                <a:latin typeface="Consolas"/>
              </a:rPr>
              <a:t>"maxFilesPerTrigger"</a:t>
            </a:r>
            <a:r>
              <a:rPr sz="1500" b="0" i="0">
                <a:solidFill>
                  <a:srgbClr val="242C38"/>
                </a:solidFill>
                <a:latin typeface="Consolas"/>
              </a:rPr>
              <a:t>, </a:t>
            </a:r>
            <a:r>
              <a:rPr sz="1500" b="0" i="0">
                <a:solidFill>
                  <a:srgbClr val="098658"/>
                </a:solidFill>
                <a:latin typeface="Consolas"/>
              </a:rPr>
              <a:t>5</a:t>
            </a:r>
            <a:r>
              <a:rPr sz="1500" b="0" i="0">
                <a:solidFill>
                  <a:srgbClr val="242C38"/>
                </a:solidFill>
                <a:latin typeface="Consolas"/>
              </a:rPr>
              <a:t>)</a:t>
            </a:r>
          </a:p>
          <a:p>
            <a:pPr>
              <a:lnSpc>
                <a:spcPct val="116000"/>
              </a:lnSpc>
              <a:spcAft>
                <a:spcPts val="0"/>
              </a:spcAft>
            </a:pPr>
            <a:r>
              <a:rPr sz="1500" b="0" i="0">
                <a:solidFill>
                  <a:srgbClr val="242C38"/>
                </a:solidFill>
                <a:latin typeface="Consolas"/>
              </a:rPr>
              <a:t>              .csv(STREAM_IN))</a:t>
            </a:r>
          </a:p>
        </p:txBody>
      </p:sp>
      <p:sp>
        <p:nvSpPr>
          <p:cNvPr id="7" name="TextBox 6"/>
          <p:cNvSpPr txBox="1"/>
          <p:nvPr/>
        </p:nvSpPr>
        <p:spPr>
          <a:xfrm>
            <a:off x="658368" y="3496056"/>
            <a:ext cx="10874959" cy="457200"/>
          </a:xfrm>
          <a:prstGeom prst="rect">
            <a:avLst/>
          </a:prstGeom>
          <a:noFill/>
        </p:spPr>
        <p:txBody>
          <a:bodyPr wrap="square" lIns="0" tIns="0" rIns="0" bIns="0">
            <a:spAutoFit/>
          </a:bodyPr>
          <a:lstStyle/>
          <a:p>
            <a:r>
              <a:rPr sz="1400" b="0" i="0">
                <a:solidFill>
                  <a:srgbClr val="5B6775"/>
                </a:solidFill>
                <a:latin typeface="Segoe UI"/>
              </a:rPr>
              <a:t>Everything after this line is a normal DataFrame, until writeStream replaces write.</a:t>
            </a:r>
          </a:p>
        </p:txBody>
      </p:sp>
      <p:sp>
        <p:nvSpPr>
          <p:cNvPr id="8" name="Rectangle 7"/>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13  ·  Structured streaming</a:t>
            </a:r>
          </a:p>
        </p:txBody>
      </p:sp>
      <p:sp>
        <p:nvSpPr>
          <p:cNvPr id="10" name="TextBox 9"/>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134</a:t>
            </a: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Micro-batch triggers</a:t>
            </a:r>
          </a:p>
        </p:txBody>
      </p:sp>
      <p:graphicFrame>
        <p:nvGraphicFramePr>
          <p:cNvPr id="4" name="Table 3"/>
          <p:cNvGraphicFramePr>
            <a:graphicFrameLocks noGrp="1"/>
          </p:cNvGraphicFramePr>
          <p:nvPr/>
        </p:nvGraphicFramePr>
        <p:xfrm>
          <a:off x="658368" y="1481328"/>
          <a:ext cx="10874958" cy="2304288"/>
        </p:xfrm>
        <a:graphic>
          <a:graphicData uri="http://schemas.openxmlformats.org/drawingml/2006/table">
            <a:tbl>
              <a:tblPr firstRow="1" bandRow="1">
                <a:tableStyleId>{5C22544A-7EE6-4342-B048-85BDC9FD1C3A}</a:tableStyleId>
              </a:tblPr>
              <a:tblGrid>
                <a:gridCol w="4660696">
                  <a:extLst>
                    <a:ext uri="{9D8B030D-6E8A-4147-A177-3AD203B41FA5}">
                      <a16:colId xmlns:a16="http://schemas.microsoft.com/office/drawing/2014/main" val="20000"/>
                    </a:ext>
                  </a:extLst>
                </a:gridCol>
                <a:gridCol w="6214262">
                  <a:extLst>
                    <a:ext uri="{9D8B030D-6E8A-4147-A177-3AD203B41FA5}">
                      <a16:colId xmlns:a16="http://schemas.microsoft.com/office/drawing/2014/main" val="20001"/>
                    </a:ext>
                  </a:extLst>
                </a:gridCol>
              </a:tblGrid>
              <a:tr h="402336">
                <a:tc>
                  <a:txBody>
                    <a:bodyPr/>
                    <a:lstStyle/>
                    <a:p>
                      <a:r>
                        <a:rPr sz="1450" b="1" i="0">
                          <a:solidFill>
                            <a:srgbClr val="FFFFFF"/>
                          </a:solidFill>
                          <a:latin typeface="Segoe UI Semibold"/>
                        </a:rPr>
                        <a:t>Trigger</a:t>
                      </a:r>
                    </a:p>
                  </a:txBody>
                  <a:tcPr anchor="ctr">
                    <a:solidFill>
                      <a:srgbClr val="1F4E79"/>
                    </a:solidFill>
                  </a:tcPr>
                </a:tc>
                <a:tc>
                  <a:txBody>
                    <a:bodyPr/>
                    <a:lstStyle/>
                    <a:p>
                      <a:r>
                        <a:rPr sz="1450" b="1" i="0">
                          <a:solidFill>
                            <a:srgbClr val="FFFFFF"/>
                          </a:solidFill>
                          <a:latin typeface="Segoe UI Semibold"/>
                        </a:rPr>
                        <a:t>When to use it</a:t>
                      </a:r>
                    </a:p>
                  </a:txBody>
                  <a:tcPr anchor="ctr">
                    <a:solidFill>
                      <a:srgbClr val="1F4E79"/>
                    </a:solidFill>
                  </a:tcPr>
                </a:tc>
                <a:extLst>
                  <a:ext uri="{0D108BD9-81ED-4DB2-BD59-A6C34878D82A}">
                    <a16:rowId xmlns:a16="http://schemas.microsoft.com/office/drawing/2014/main" val="10000"/>
                  </a:ext>
                </a:extLst>
              </a:tr>
              <a:tr h="475488">
                <a:tc>
                  <a:txBody>
                    <a:bodyPr/>
                    <a:lstStyle/>
                    <a:p>
                      <a:pPr>
                        <a:lnSpc>
                          <a:spcPct val="106000"/>
                        </a:lnSpc>
                      </a:pPr>
                      <a:r>
                        <a:rPr sz="1400" b="1" i="0">
                          <a:solidFill>
                            <a:srgbClr val="242C38"/>
                          </a:solidFill>
                          <a:latin typeface="Segoe UI"/>
                        </a:rPr>
                        <a:t>no trigger set</a:t>
                      </a:r>
                    </a:p>
                  </a:txBody>
                  <a:tcPr marT="36576" marB="36576" anchor="ctr">
                    <a:solidFill>
                      <a:srgbClr val="EEF3F8"/>
                    </a:solidFill>
                  </a:tcPr>
                </a:tc>
                <a:tc>
                  <a:txBody>
                    <a:bodyPr/>
                    <a:lstStyle/>
                    <a:p>
                      <a:pPr>
                        <a:lnSpc>
                          <a:spcPct val="106000"/>
                        </a:lnSpc>
                      </a:pPr>
                      <a:r>
                        <a:rPr sz="1400" b="0" i="0">
                          <a:solidFill>
                            <a:srgbClr val="242C38"/>
                          </a:solidFill>
                          <a:latin typeface="Segoe UI"/>
                        </a:rPr>
                        <a:t>simplest, runs as fast as the source allows</a:t>
                      </a:r>
                    </a:p>
                  </a:txBody>
                  <a:tcPr marT="36576" marB="36576" anchor="ctr">
                    <a:solidFill>
                      <a:srgbClr val="EEF3F8"/>
                    </a:solidFill>
                  </a:tcPr>
                </a:tc>
                <a:extLst>
                  <a:ext uri="{0D108BD9-81ED-4DB2-BD59-A6C34878D82A}">
                    <a16:rowId xmlns:a16="http://schemas.microsoft.com/office/drawing/2014/main" val="10001"/>
                  </a:ext>
                </a:extLst>
              </a:tr>
              <a:tr h="475488">
                <a:tc>
                  <a:txBody>
                    <a:bodyPr/>
                    <a:lstStyle/>
                    <a:p>
                      <a:pPr>
                        <a:lnSpc>
                          <a:spcPct val="106000"/>
                        </a:lnSpc>
                      </a:pPr>
                      <a:r>
                        <a:rPr sz="1350" b="0" i="0">
                          <a:solidFill>
                            <a:srgbClr val="2E74B5"/>
                          </a:solidFill>
                          <a:latin typeface="Consolas"/>
                        </a:rPr>
                        <a:t>processingTime="N seconds"</a:t>
                      </a:r>
                    </a:p>
                  </a:txBody>
                  <a:tcPr marT="36576" marB="36576" anchor="ctr">
                    <a:solidFill>
                      <a:srgbClr val="FFFFFF"/>
                    </a:solidFill>
                  </a:tcPr>
                </a:tc>
                <a:tc>
                  <a:txBody>
                    <a:bodyPr/>
                    <a:lstStyle/>
                    <a:p>
                      <a:pPr>
                        <a:lnSpc>
                          <a:spcPct val="106000"/>
                        </a:lnSpc>
                      </a:pPr>
                      <a:r>
                        <a:rPr sz="1400" b="0" i="0">
                          <a:solidFill>
                            <a:srgbClr val="242C38"/>
                          </a:solidFill>
                          <a:latin typeface="Segoe UI"/>
                        </a:rPr>
                        <a:t>predictable cadence, this module's choice</a:t>
                      </a:r>
                    </a:p>
                  </a:txBody>
                  <a:tcPr marT="36576" marB="36576" anchor="ctr">
                    <a:solidFill>
                      <a:srgbClr val="FFFFFF"/>
                    </a:solidFill>
                  </a:tcPr>
                </a:tc>
                <a:extLst>
                  <a:ext uri="{0D108BD9-81ED-4DB2-BD59-A6C34878D82A}">
                    <a16:rowId xmlns:a16="http://schemas.microsoft.com/office/drawing/2014/main" val="10002"/>
                  </a:ext>
                </a:extLst>
              </a:tr>
              <a:tr h="475488">
                <a:tc>
                  <a:txBody>
                    <a:bodyPr/>
                    <a:lstStyle/>
                    <a:p>
                      <a:pPr>
                        <a:lnSpc>
                          <a:spcPct val="106000"/>
                        </a:lnSpc>
                      </a:pPr>
                      <a:r>
                        <a:rPr sz="1350" b="0" i="0">
                          <a:solidFill>
                            <a:srgbClr val="2E74B5"/>
                          </a:solidFill>
                          <a:latin typeface="Consolas"/>
                        </a:rPr>
                        <a:t>availableNow=True</a:t>
                      </a:r>
                    </a:p>
                  </a:txBody>
                  <a:tcPr marT="36576" marB="36576" anchor="ctr">
                    <a:solidFill>
                      <a:srgbClr val="EEF3F8"/>
                    </a:solidFill>
                  </a:tcPr>
                </a:tc>
                <a:tc>
                  <a:txBody>
                    <a:bodyPr/>
                    <a:lstStyle/>
                    <a:p>
                      <a:pPr>
                        <a:lnSpc>
                          <a:spcPct val="106000"/>
                        </a:lnSpc>
                      </a:pPr>
                      <a:r>
                        <a:rPr sz="1400" b="0" i="0">
                          <a:solidFill>
                            <a:srgbClr val="242C38"/>
                          </a:solidFill>
                          <a:latin typeface="Segoe UI"/>
                        </a:rPr>
                        <a:t>scheduled batch-like runs, every 15 minutes</a:t>
                      </a:r>
                    </a:p>
                  </a:txBody>
                  <a:tcPr marT="36576" marB="36576" anchor="ctr">
                    <a:solidFill>
                      <a:srgbClr val="EEF3F8"/>
                    </a:solidFill>
                  </a:tcPr>
                </a:tc>
                <a:extLst>
                  <a:ext uri="{0D108BD9-81ED-4DB2-BD59-A6C34878D82A}">
                    <a16:rowId xmlns:a16="http://schemas.microsoft.com/office/drawing/2014/main" val="10003"/>
                  </a:ext>
                </a:extLst>
              </a:tr>
              <a:tr h="475488">
                <a:tc>
                  <a:txBody>
                    <a:bodyPr/>
                    <a:lstStyle/>
                    <a:p>
                      <a:pPr>
                        <a:lnSpc>
                          <a:spcPct val="106000"/>
                        </a:lnSpc>
                      </a:pPr>
                      <a:r>
                        <a:rPr sz="1350" b="0" i="0">
                          <a:solidFill>
                            <a:srgbClr val="2E74B5"/>
                          </a:solidFill>
                          <a:latin typeface="Consolas"/>
                        </a:rPr>
                        <a:t>continuous="N seconds"</a:t>
                      </a:r>
                    </a:p>
                  </a:txBody>
                  <a:tcPr marT="36576" marB="36576" anchor="ctr">
                    <a:solidFill>
                      <a:srgbClr val="FFFFFF"/>
                    </a:solidFill>
                  </a:tcPr>
                </a:tc>
                <a:tc>
                  <a:txBody>
                    <a:bodyPr/>
                    <a:lstStyle/>
                    <a:p>
                      <a:pPr>
                        <a:lnSpc>
                          <a:spcPct val="106000"/>
                        </a:lnSpc>
                      </a:pPr>
                      <a:r>
                        <a:rPr sz="1400" b="0" i="0">
                          <a:solidFill>
                            <a:srgbClr val="242C38"/>
                          </a:solidFill>
                          <a:latin typeface="Segoe UI"/>
                        </a:rPr>
                        <a:t>experimental, narrow operator support</a:t>
                      </a:r>
                    </a:p>
                  </a:txBody>
                  <a:tcPr marT="36576" marB="36576" anchor="ctr">
                    <a:solidFill>
                      <a:srgbClr val="FFFFFF"/>
                    </a:solidFill>
                  </a:tcPr>
                </a:tc>
                <a:extLst>
                  <a:ext uri="{0D108BD9-81ED-4DB2-BD59-A6C34878D82A}">
                    <a16:rowId xmlns:a16="http://schemas.microsoft.com/office/drawing/2014/main" val="10004"/>
                  </a:ext>
                </a:extLst>
              </a:tr>
            </a:tbl>
          </a:graphicData>
        </a:graphic>
      </p:graphicFrame>
      <p:sp>
        <p:nvSpPr>
          <p:cNvPr id="5" name="Rectangle 4"/>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13  ·  Structured streaming</a:t>
            </a:r>
          </a:p>
        </p:txBody>
      </p:sp>
      <p:sp>
        <p:nvSpPr>
          <p:cNvPr id="7" name="TextBox 6"/>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135</a:t>
            </a: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A watermark: a real cutoff for late data</a:t>
            </a:r>
          </a:p>
        </p:txBody>
      </p:sp>
      <p:sp>
        <p:nvSpPr>
          <p:cNvPr id="4" name="Rectangle 3"/>
          <p:cNvSpPr/>
          <p:nvPr/>
        </p:nvSpPr>
        <p:spPr>
          <a:xfrm>
            <a:off x="658368" y="1481328"/>
            <a:ext cx="10874959" cy="1578864"/>
          </a:xfrm>
          <a:prstGeom prst="rect">
            <a:avLst/>
          </a:prstGeom>
          <a:solidFill>
            <a:srgbClr val="F5F7F9"/>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81328"/>
            <a:ext cx="43180" cy="1578864"/>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77824" y="1645920"/>
            <a:ext cx="10509199" cy="1304544"/>
          </a:xfrm>
          <a:prstGeom prst="rect">
            <a:avLst/>
          </a:prstGeom>
          <a:noFill/>
        </p:spPr>
        <p:txBody>
          <a:bodyPr wrap="square" lIns="0" tIns="0" rIns="0" bIns="0">
            <a:spAutoFit/>
          </a:bodyPr>
          <a:lstStyle/>
          <a:p>
            <a:pPr>
              <a:lnSpc>
                <a:spcPct val="116000"/>
              </a:lnSpc>
              <a:spcAft>
                <a:spcPts val="0"/>
              </a:spcAft>
            </a:pPr>
            <a:r>
              <a:rPr sz="1500" b="0" i="0">
                <a:solidFill>
                  <a:srgbClr val="242C38"/>
                </a:solidFill>
                <a:latin typeface="Consolas"/>
              </a:rPr>
              <a:t>watermarked = raw_stream.withWatermark(</a:t>
            </a:r>
            <a:r>
              <a:rPr sz="1500" b="0" i="0">
                <a:solidFill>
                  <a:srgbClr val="A31515"/>
                </a:solidFill>
                <a:latin typeface="Consolas"/>
              </a:rPr>
              <a:t>"txn_ts"</a:t>
            </a:r>
            <a:r>
              <a:rPr sz="1500" b="0" i="0">
                <a:solidFill>
                  <a:srgbClr val="242C38"/>
                </a:solidFill>
                <a:latin typeface="Consolas"/>
              </a:rPr>
              <a:t>, </a:t>
            </a:r>
            <a:r>
              <a:rPr sz="1500" b="0" i="0">
                <a:solidFill>
                  <a:srgbClr val="A31515"/>
                </a:solidFill>
                <a:latin typeface="Consolas"/>
              </a:rPr>
              <a:t>"2 minutes"</a:t>
            </a:r>
            <a:r>
              <a:rPr sz="1500" b="0" i="0">
                <a:solidFill>
                  <a:srgbClr val="242C38"/>
                </a:solidFill>
                <a:latin typeface="Consolas"/>
              </a:rPr>
              <a:t>)</a:t>
            </a:r>
          </a:p>
          <a:p>
            <a:pPr>
              <a:lnSpc>
                <a:spcPct val="116000"/>
              </a:lnSpc>
              <a:spcAft>
                <a:spcPts val="0"/>
              </a:spcAft>
            </a:pPr>
            <a:r>
              <a:rPr sz="1500" b="0" i="0">
                <a:solidFill>
                  <a:srgbClr val="242C38"/>
                </a:solidFill>
                <a:latin typeface="Consolas"/>
              </a:rPr>
              <a:t> </a:t>
            </a:r>
          </a:p>
          <a:p>
            <a:pPr>
              <a:lnSpc>
                <a:spcPct val="116000"/>
              </a:lnSpc>
              <a:spcAft>
                <a:spcPts val="0"/>
              </a:spcAft>
            </a:pPr>
            <a:r>
              <a:rPr sz="1500" b="0" i="1">
                <a:solidFill>
                  <a:srgbClr val="6F865C"/>
                </a:solidFill>
                <a:latin typeface="Consolas"/>
              </a:rPr>
              <a:t># once the newest txn_ts seen passes T, any row older than</a:t>
            </a:r>
          </a:p>
          <a:p>
            <a:pPr>
              <a:lnSpc>
                <a:spcPct val="116000"/>
              </a:lnSpc>
              <a:spcAft>
                <a:spcPts val="0"/>
              </a:spcAft>
            </a:pPr>
            <a:r>
              <a:rPr sz="1500" b="0" i="1">
                <a:solidFill>
                  <a:srgbClr val="6F865C"/>
                </a:solidFill>
                <a:latin typeface="Consolas"/>
              </a:rPr>
              <a:t># T minus 2 minutes is DROPPED, not queued, not an error</a:t>
            </a:r>
          </a:p>
        </p:txBody>
      </p:sp>
      <p:sp>
        <p:nvSpPr>
          <p:cNvPr id="7" name="TextBox 6"/>
          <p:cNvSpPr txBox="1"/>
          <p:nvPr/>
        </p:nvSpPr>
        <p:spPr>
          <a:xfrm>
            <a:off x="658368" y="3206496"/>
            <a:ext cx="10874959" cy="457200"/>
          </a:xfrm>
          <a:prstGeom prst="rect">
            <a:avLst/>
          </a:prstGeom>
          <a:noFill/>
        </p:spPr>
        <p:txBody>
          <a:bodyPr wrap="square" lIns="0" tIns="0" rIns="0" bIns="0">
            <a:spAutoFit/>
          </a:bodyPr>
          <a:lstStyle/>
          <a:p>
            <a:r>
              <a:rPr sz="1400" b="0" i="0">
                <a:solidFill>
                  <a:srgbClr val="5B6775"/>
                </a:solidFill>
                <a:latin typeface="Segoe UI"/>
              </a:rPr>
              <a:t>A watermark is what lets Spark forget old keys safely. Choose the width deliberately.</a:t>
            </a:r>
          </a:p>
        </p:txBody>
      </p:sp>
      <p:sp>
        <p:nvSpPr>
          <p:cNvPr id="8" name="Rectangle 7"/>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13  ·  Structured streaming</a:t>
            </a:r>
          </a:p>
        </p:txBody>
      </p:sp>
      <p:sp>
        <p:nvSpPr>
          <p:cNvPr id="10" name="TextBox 9"/>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136</a:t>
            </a:r>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A tumbling window: activity per channel</a:t>
            </a:r>
          </a:p>
        </p:txBody>
      </p:sp>
      <p:sp>
        <p:nvSpPr>
          <p:cNvPr id="4" name="Rectangle 3"/>
          <p:cNvSpPr/>
          <p:nvPr/>
        </p:nvSpPr>
        <p:spPr>
          <a:xfrm>
            <a:off x="658368" y="1481328"/>
            <a:ext cx="10874959" cy="1289304"/>
          </a:xfrm>
          <a:prstGeom prst="rect">
            <a:avLst/>
          </a:prstGeom>
          <a:solidFill>
            <a:srgbClr val="F5F7F9"/>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81328"/>
            <a:ext cx="43180" cy="1289304"/>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77824" y="1645920"/>
            <a:ext cx="10509199" cy="1014984"/>
          </a:xfrm>
          <a:prstGeom prst="rect">
            <a:avLst/>
          </a:prstGeom>
          <a:noFill/>
        </p:spPr>
        <p:txBody>
          <a:bodyPr wrap="square" lIns="0" tIns="0" rIns="0" bIns="0">
            <a:spAutoFit/>
          </a:bodyPr>
          <a:lstStyle/>
          <a:p>
            <a:pPr>
              <a:lnSpc>
                <a:spcPct val="116000"/>
              </a:lnSpc>
              <a:spcAft>
                <a:spcPts val="0"/>
              </a:spcAft>
            </a:pPr>
            <a:r>
              <a:rPr sz="1500" b="0" i="0">
                <a:solidFill>
                  <a:srgbClr val="242C38"/>
                </a:solidFill>
                <a:latin typeface="Consolas"/>
              </a:rPr>
              <a:t>windowed = (watermarked</a:t>
            </a:r>
          </a:p>
          <a:p>
            <a:pPr>
              <a:lnSpc>
                <a:spcPct val="116000"/>
              </a:lnSpc>
              <a:spcAft>
                <a:spcPts val="0"/>
              </a:spcAft>
            </a:pPr>
            <a:r>
              <a:rPr sz="1500" b="0" i="0">
                <a:solidFill>
                  <a:srgbClr val="242C38"/>
                </a:solidFill>
                <a:latin typeface="Consolas"/>
              </a:rPr>
              <a:t>            .groupBy(F.window(</a:t>
            </a:r>
            <a:r>
              <a:rPr sz="1500" b="0" i="0">
                <a:solidFill>
                  <a:srgbClr val="A31515"/>
                </a:solidFill>
                <a:latin typeface="Consolas"/>
              </a:rPr>
              <a:t>"txn_ts"</a:t>
            </a:r>
            <a:r>
              <a:rPr sz="1500" b="0" i="0">
                <a:solidFill>
                  <a:srgbClr val="242C38"/>
                </a:solidFill>
                <a:latin typeface="Consolas"/>
              </a:rPr>
              <a:t>, </a:t>
            </a:r>
            <a:r>
              <a:rPr sz="1500" b="0" i="0">
                <a:solidFill>
                  <a:srgbClr val="A31515"/>
                </a:solidFill>
                <a:latin typeface="Consolas"/>
              </a:rPr>
              <a:t>"20 seconds"</a:t>
            </a:r>
            <a:r>
              <a:rPr sz="1500" b="0" i="0">
                <a:solidFill>
                  <a:srgbClr val="242C38"/>
                </a:solidFill>
                <a:latin typeface="Consolas"/>
              </a:rPr>
              <a:t>), </a:t>
            </a:r>
            <a:r>
              <a:rPr sz="1500" b="0" i="0">
                <a:solidFill>
                  <a:srgbClr val="A31515"/>
                </a:solidFill>
                <a:latin typeface="Consolas"/>
              </a:rPr>
              <a:t>"channel"</a:t>
            </a:r>
            <a:r>
              <a:rPr sz="1500" b="0" i="0">
                <a:solidFill>
                  <a:srgbClr val="242C38"/>
                </a:solidFill>
                <a:latin typeface="Consolas"/>
              </a:rPr>
              <a:t>)</a:t>
            </a:r>
          </a:p>
          <a:p>
            <a:pPr>
              <a:lnSpc>
                <a:spcPct val="116000"/>
              </a:lnSpc>
              <a:spcAft>
                <a:spcPts val="0"/>
              </a:spcAft>
            </a:pPr>
            <a:r>
              <a:rPr sz="1500" b="0" i="0">
                <a:solidFill>
                  <a:srgbClr val="242C38"/>
                </a:solidFill>
                <a:latin typeface="Consolas"/>
              </a:rPr>
              <a:t>            .agg(F.count(</a:t>
            </a:r>
            <a:r>
              <a:rPr sz="1500" b="0" i="0">
                <a:solidFill>
                  <a:srgbClr val="A31515"/>
                </a:solidFill>
                <a:latin typeface="Consolas"/>
              </a:rPr>
              <a:t>"*"</a:t>
            </a:r>
            <a:r>
              <a:rPr sz="1500" b="0" i="0">
                <a:solidFill>
                  <a:srgbClr val="242C38"/>
                </a:solidFill>
                <a:latin typeface="Consolas"/>
              </a:rPr>
              <a:t>).alias(</a:t>
            </a:r>
            <a:r>
              <a:rPr sz="1500" b="0" i="0">
                <a:solidFill>
                  <a:srgbClr val="A31515"/>
                </a:solidFill>
                <a:latin typeface="Consolas"/>
              </a:rPr>
              <a:t>"txn_count"</a:t>
            </a:r>
            <a:r>
              <a:rPr sz="1500" b="0" i="0">
                <a:solidFill>
                  <a:srgbClr val="242C38"/>
                </a:solidFill>
                <a:latin typeface="Consolas"/>
              </a:rPr>
              <a:t>)))</a:t>
            </a:r>
          </a:p>
        </p:txBody>
      </p:sp>
      <p:sp>
        <p:nvSpPr>
          <p:cNvPr id="7" name="TextBox 6"/>
          <p:cNvSpPr txBox="1"/>
          <p:nvPr/>
        </p:nvSpPr>
        <p:spPr>
          <a:xfrm>
            <a:off x="658368" y="2916936"/>
            <a:ext cx="10874959" cy="457200"/>
          </a:xfrm>
          <a:prstGeom prst="rect">
            <a:avLst/>
          </a:prstGeom>
          <a:noFill/>
        </p:spPr>
        <p:txBody>
          <a:bodyPr wrap="square" lIns="0" tIns="0" rIns="0" bIns="0">
            <a:spAutoFit/>
          </a:bodyPr>
          <a:lstStyle/>
          <a:p>
            <a:r>
              <a:rPr sz="1400" b="0" i="0">
                <a:solidFill>
                  <a:srgbClr val="5B6775"/>
                </a:solidFill>
                <a:latin typeface="Segoe UI"/>
              </a:rPr>
              <a:t>Fixed, non-overlapping 20 second buckets, counted per channel.</a:t>
            </a:r>
          </a:p>
        </p:txBody>
      </p:sp>
      <p:sp>
        <p:nvSpPr>
          <p:cNvPr id="8" name="Rectangle 7"/>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13  ·  Structured streaming</a:t>
            </a:r>
          </a:p>
        </p:txBody>
      </p:sp>
      <p:sp>
        <p:nvSpPr>
          <p:cNvPr id="10" name="TextBox 9"/>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137</a:t>
            </a: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Tumbling, sliding, session: pick the shape</a:t>
            </a:r>
          </a:p>
        </p:txBody>
      </p:sp>
      <p:graphicFrame>
        <p:nvGraphicFramePr>
          <p:cNvPr id="4" name="Table 3"/>
          <p:cNvGraphicFramePr>
            <a:graphicFrameLocks noGrp="1"/>
          </p:cNvGraphicFramePr>
          <p:nvPr/>
        </p:nvGraphicFramePr>
        <p:xfrm>
          <a:off x="658368" y="1481328"/>
          <a:ext cx="10874958" cy="1828800"/>
        </p:xfrm>
        <a:graphic>
          <a:graphicData uri="http://schemas.openxmlformats.org/drawingml/2006/table">
            <a:tbl>
              <a:tblPr firstRow="1" bandRow="1">
                <a:tableStyleId>{5C22544A-7EE6-4342-B048-85BDC9FD1C3A}</a:tableStyleId>
              </a:tblPr>
              <a:tblGrid>
                <a:gridCol w="2387186">
                  <a:extLst>
                    <a:ext uri="{9D8B030D-6E8A-4147-A177-3AD203B41FA5}">
                      <a16:colId xmlns:a16="http://schemas.microsoft.com/office/drawing/2014/main" val="20000"/>
                    </a:ext>
                  </a:extLst>
                </a:gridCol>
                <a:gridCol w="3448157">
                  <a:extLst>
                    <a:ext uri="{9D8B030D-6E8A-4147-A177-3AD203B41FA5}">
                      <a16:colId xmlns:a16="http://schemas.microsoft.com/office/drawing/2014/main" val="20001"/>
                    </a:ext>
                  </a:extLst>
                </a:gridCol>
                <a:gridCol w="5039615">
                  <a:extLst>
                    <a:ext uri="{9D8B030D-6E8A-4147-A177-3AD203B41FA5}">
                      <a16:colId xmlns:a16="http://schemas.microsoft.com/office/drawing/2014/main" val="20002"/>
                    </a:ext>
                  </a:extLst>
                </a:gridCol>
              </a:tblGrid>
              <a:tr h="402336">
                <a:tc>
                  <a:txBody>
                    <a:bodyPr/>
                    <a:lstStyle/>
                    <a:p>
                      <a:r>
                        <a:rPr sz="1450" b="1" i="0">
                          <a:solidFill>
                            <a:srgbClr val="FFFFFF"/>
                          </a:solidFill>
                          <a:latin typeface="Segoe UI Semibold"/>
                        </a:rPr>
                        <a:t>Window type</a:t>
                      </a:r>
                    </a:p>
                  </a:txBody>
                  <a:tcPr anchor="ctr">
                    <a:solidFill>
                      <a:srgbClr val="1F4E79"/>
                    </a:solidFill>
                  </a:tcPr>
                </a:tc>
                <a:tc>
                  <a:txBody>
                    <a:bodyPr/>
                    <a:lstStyle/>
                    <a:p>
                      <a:r>
                        <a:rPr sz="1450" b="1" i="0">
                          <a:solidFill>
                            <a:srgbClr val="FFFFFF"/>
                          </a:solidFill>
                          <a:latin typeface="Segoe UI Semibold"/>
                        </a:rPr>
                        <a:t>Shape</a:t>
                      </a:r>
                    </a:p>
                  </a:txBody>
                  <a:tcPr anchor="ctr">
                    <a:solidFill>
                      <a:srgbClr val="1F4E79"/>
                    </a:solidFill>
                  </a:tcPr>
                </a:tc>
                <a:tc>
                  <a:txBody>
                    <a:bodyPr/>
                    <a:lstStyle/>
                    <a:p>
                      <a:r>
                        <a:rPr sz="1450" b="1" i="0">
                          <a:solidFill>
                            <a:srgbClr val="FFFFFF"/>
                          </a:solidFill>
                          <a:latin typeface="Segoe UI Semibold"/>
                        </a:rPr>
                        <a:t>Example use</a:t>
                      </a:r>
                    </a:p>
                  </a:txBody>
                  <a:tcPr anchor="ctr">
                    <a:solidFill>
                      <a:srgbClr val="1F4E79"/>
                    </a:solidFill>
                  </a:tcPr>
                </a:tc>
                <a:extLst>
                  <a:ext uri="{0D108BD9-81ED-4DB2-BD59-A6C34878D82A}">
                    <a16:rowId xmlns:a16="http://schemas.microsoft.com/office/drawing/2014/main" val="10000"/>
                  </a:ext>
                </a:extLst>
              </a:tr>
              <a:tr h="475488">
                <a:tc>
                  <a:txBody>
                    <a:bodyPr/>
                    <a:lstStyle/>
                    <a:p>
                      <a:pPr>
                        <a:lnSpc>
                          <a:spcPct val="106000"/>
                        </a:lnSpc>
                      </a:pPr>
                      <a:r>
                        <a:rPr sz="1400" b="1" i="0">
                          <a:solidFill>
                            <a:srgbClr val="242C38"/>
                          </a:solidFill>
                          <a:latin typeface="Segoe UI"/>
                        </a:rPr>
                        <a:t>Tumbling</a:t>
                      </a:r>
                    </a:p>
                  </a:txBody>
                  <a:tcPr marT="36576" marB="36576" anchor="ctr">
                    <a:solidFill>
                      <a:srgbClr val="EEF3F8"/>
                    </a:solidFill>
                  </a:tcPr>
                </a:tc>
                <a:tc>
                  <a:txBody>
                    <a:bodyPr/>
                    <a:lstStyle/>
                    <a:p>
                      <a:pPr>
                        <a:lnSpc>
                          <a:spcPct val="106000"/>
                        </a:lnSpc>
                      </a:pPr>
                      <a:r>
                        <a:rPr sz="1400" b="0" i="0">
                          <a:solidFill>
                            <a:srgbClr val="242C38"/>
                          </a:solidFill>
                          <a:latin typeface="Segoe UI"/>
                        </a:rPr>
                        <a:t>fixed, non-overlapping</a:t>
                      </a:r>
                    </a:p>
                  </a:txBody>
                  <a:tcPr marT="36576" marB="36576" anchor="ctr">
                    <a:solidFill>
                      <a:srgbClr val="EEF3F8"/>
                    </a:solidFill>
                  </a:tcPr>
                </a:tc>
                <a:tc>
                  <a:txBody>
                    <a:bodyPr/>
                    <a:lstStyle/>
                    <a:p>
                      <a:pPr>
                        <a:lnSpc>
                          <a:spcPct val="106000"/>
                        </a:lnSpc>
                      </a:pPr>
                      <a:r>
                        <a:rPr sz="1400" b="0" i="0">
                          <a:solidFill>
                            <a:srgbClr val="242C38"/>
                          </a:solidFill>
                          <a:latin typeface="Segoe UI"/>
                        </a:rPr>
                        <a:t>this lab's channel activity count</a:t>
                      </a:r>
                    </a:p>
                  </a:txBody>
                  <a:tcPr marT="36576" marB="36576" anchor="ctr">
                    <a:solidFill>
                      <a:srgbClr val="EEF3F8"/>
                    </a:solidFill>
                  </a:tcPr>
                </a:tc>
                <a:extLst>
                  <a:ext uri="{0D108BD9-81ED-4DB2-BD59-A6C34878D82A}">
                    <a16:rowId xmlns:a16="http://schemas.microsoft.com/office/drawing/2014/main" val="10001"/>
                  </a:ext>
                </a:extLst>
              </a:tr>
              <a:tr h="475488">
                <a:tc>
                  <a:txBody>
                    <a:bodyPr/>
                    <a:lstStyle/>
                    <a:p>
                      <a:pPr>
                        <a:lnSpc>
                          <a:spcPct val="106000"/>
                        </a:lnSpc>
                      </a:pPr>
                      <a:r>
                        <a:rPr sz="1400" b="1" i="0">
                          <a:solidFill>
                            <a:srgbClr val="242C38"/>
                          </a:solidFill>
                          <a:latin typeface="Segoe UI"/>
                        </a:rPr>
                        <a:t>Sliding</a:t>
                      </a:r>
                    </a:p>
                  </a:txBody>
                  <a:tcPr marT="36576" marB="36576" anchor="ctr">
                    <a:solidFill>
                      <a:srgbClr val="FFFFFF"/>
                    </a:solidFill>
                  </a:tcPr>
                </a:tc>
                <a:tc>
                  <a:txBody>
                    <a:bodyPr/>
                    <a:lstStyle/>
                    <a:p>
                      <a:pPr>
                        <a:lnSpc>
                          <a:spcPct val="106000"/>
                        </a:lnSpc>
                      </a:pPr>
                      <a:r>
                        <a:rPr sz="1400" b="0" i="0">
                          <a:solidFill>
                            <a:srgbClr val="242C38"/>
                          </a:solidFill>
                          <a:latin typeface="Segoe UI"/>
                        </a:rPr>
                        <a:t>overlapping windows</a:t>
                      </a:r>
                    </a:p>
                  </a:txBody>
                  <a:tcPr marT="36576" marB="36576" anchor="ctr">
                    <a:solidFill>
                      <a:srgbClr val="FFFFFF"/>
                    </a:solidFill>
                  </a:tcPr>
                </a:tc>
                <a:tc>
                  <a:txBody>
                    <a:bodyPr/>
                    <a:lstStyle/>
                    <a:p>
                      <a:pPr>
                        <a:lnSpc>
                          <a:spcPct val="106000"/>
                        </a:lnSpc>
                      </a:pPr>
                      <a:r>
                        <a:rPr sz="1400" b="0" i="0">
                          <a:solidFill>
                            <a:srgbClr val="242C38"/>
                          </a:solidFill>
                          <a:latin typeface="Segoe UI"/>
                        </a:rPr>
                        <a:t>a rolling velocity check, several lookbacks</a:t>
                      </a:r>
                    </a:p>
                  </a:txBody>
                  <a:tcPr marT="36576" marB="36576" anchor="ctr">
                    <a:solidFill>
                      <a:srgbClr val="FFFFFF"/>
                    </a:solidFill>
                  </a:tcPr>
                </a:tc>
                <a:extLst>
                  <a:ext uri="{0D108BD9-81ED-4DB2-BD59-A6C34878D82A}">
                    <a16:rowId xmlns:a16="http://schemas.microsoft.com/office/drawing/2014/main" val="10002"/>
                  </a:ext>
                </a:extLst>
              </a:tr>
              <a:tr h="475488">
                <a:tc>
                  <a:txBody>
                    <a:bodyPr/>
                    <a:lstStyle/>
                    <a:p>
                      <a:pPr>
                        <a:lnSpc>
                          <a:spcPct val="106000"/>
                        </a:lnSpc>
                      </a:pPr>
                      <a:r>
                        <a:rPr sz="1400" b="1" i="0">
                          <a:solidFill>
                            <a:srgbClr val="242C38"/>
                          </a:solidFill>
                          <a:latin typeface="Segoe UI"/>
                        </a:rPr>
                        <a:t>Session</a:t>
                      </a:r>
                    </a:p>
                  </a:txBody>
                  <a:tcPr marT="36576" marB="36576" anchor="ctr">
                    <a:solidFill>
                      <a:srgbClr val="EEF3F8"/>
                    </a:solidFill>
                  </a:tcPr>
                </a:tc>
                <a:tc>
                  <a:txBody>
                    <a:bodyPr/>
                    <a:lstStyle/>
                    <a:p>
                      <a:pPr>
                        <a:lnSpc>
                          <a:spcPct val="106000"/>
                        </a:lnSpc>
                      </a:pPr>
                      <a:r>
                        <a:rPr sz="1400" b="0" i="0">
                          <a:solidFill>
                            <a:srgbClr val="242C38"/>
                          </a:solidFill>
                          <a:latin typeface="Segoe UI"/>
                        </a:rPr>
                        <a:t>closes after a gap</a:t>
                      </a:r>
                    </a:p>
                  </a:txBody>
                  <a:tcPr marT="36576" marB="36576" anchor="ctr">
                    <a:solidFill>
                      <a:srgbClr val="EEF3F8"/>
                    </a:solidFill>
                  </a:tcPr>
                </a:tc>
                <a:tc>
                  <a:txBody>
                    <a:bodyPr/>
                    <a:lstStyle/>
                    <a:p>
                      <a:pPr>
                        <a:lnSpc>
                          <a:spcPct val="106000"/>
                        </a:lnSpc>
                      </a:pPr>
                      <a:r>
                        <a:rPr sz="1400" b="0" i="0">
                          <a:solidFill>
                            <a:srgbClr val="242C38"/>
                          </a:solidFill>
                          <a:latin typeface="Segoe UI"/>
                        </a:rPr>
                        <a:t>a card session, a burst of attempts</a:t>
                      </a:r>
                    </a:p>
                  </a:txBody>
                  <a:tcPr marT="36576" marB="36576" anchor="ctr">
                    <a:solidFill>
                      <a:srgbClr val="EEF3F8"/>
                    </a:solidFill>
                  </a:tcPr>
                </a:tc>
                <a:extLst>
                  <a:ext uri="{0D108BD9-81ED-4DB2-BD59-A6C34878D82A}">
                    <a16:rowId xmlns:a16="http://schemas.microsoft.com/office/drawing/2014/main" val="10003"/>
                  </a:ext>
                </a:extLst>
              </a:tr>
            </a:tbl>
          </a:graphicData>
        </a:graphic>
      </p:graphicFrame>
      <p:sp>
        <p:nvSpPr>
          <p:cNvPr id="5" name="Rectangle 4"/>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13  ·  Structured streaming</a:t>
            </a:r>
          </a:p>
        </p:txBody>
      </p:sp>
      <p:sp>
        <p:nvSpPr>
          <p:cNvPr id="7" name="TextBox 6"/>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138</a:t>
            </a: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foreachBatch: the general-purpose sink</a:t>
            </a:r>
          </a:p>
        </p:txBody>
      </p:sp>
      <p:sp>
        <p:nvSpPr>
          <p:cNvPr id="4" name="Rectangle 3"/>
          <p:cNvSpPr/>
          <p:nvPr/>
        </p:nvSpPr>
        <p:spPr>
          <a:xfrm>
            <a:off x="658368" y="1481328"/>
            <a:ext cx="10874959" cy="2447544"/>
          </a:xfrm>
          <a:prstGeom prst="rect">
            <a:avLst/>
          </a:prstGeom>
          <a:solidFill>
            <a:srgbClr val="F5F7F9"/>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81328"/>
            <a:ext cx="43180" cy="2447544"/>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77824" y="1645920"/>
            <a:ext cx="10509199" cy="2173224"/>
          </a:xfrm>
          <a:prstGeom prst="rect">
            <a:avLst/>
          </a:prstGeom>
          <a:noFill/>
        </p:spPr>
        <p:txBody>
          <a:bodyPr wrap="square" lIns="0" tIns="0" rIns="0" bIns="0">
            <a:spAutoFit/>
          </a:bodyPr>
          <a:lstStyle/>
          <a:p>
            <a:pPr>
              <a:lnSpc>
                <a:spcPct val="116000"/>
              </a:lnSpc>
              <a:spcAft>
                <a:spcPts val="0"/>
              </a:spcAft>
            </a:pPr>
            <a:r>
              <a:rPr sz="1500" b="0" i="0">
                <a:solidFill>
                  <a:srgbClr val="0F5BA7"/>
                </a:solidFill>
                <a:latin typeface="Consolas"/>
              </a:rPr>
              <a:t>def</a:t>
            </a:r>
            <a:r>
              <a:rPr sz="1500" b="0" i="0">
                <a:solidFill>
                  <a:srgbClr val="242C38"/>
                </a:solidFill>
                <a:latin typeface="Consolas"/>
              </a:rPr>
              <a:t> write_alerts(batch_df, batch_id):</a:t>
            </a:r>
          </a:p>
          <a:p>
            <a:pPr>
              <a:lnSpc>
                <a:spcPct val="116000"/>
              </a:lnSpc>
              <a:spcAft>
                <a:spcPts val="0"/>
              </a:spcAft>
            </a:pPr>
            <a:r>
              <a:rPr sz="1500" b="0" i="0">
                <a:solidFill>
                  <a:srgbClr val="242C38"/>
                </a:solidFill>
                <a:latin typeface="Consolas"/>
              </a:rPr>
              <a:t>    large = batch_df.filter(F.col(</a:t>
            </a:r>
            <a:r>
              <a:rPr sz="1500" b="0" i="0">
                <a:solidFill>
                  <a:srgbClr val="A31515"/>
                </a:solidFill>
                <a:latin typeface="Consolas"/>
              </a:rPr>
              <a:t>"amount"</a:t>
            </a:r>
            <a:r>
              <a:rPr sz="1500" b="0" i="0">
                <a:solidFill>
                  <a:srgbClr val="242C38"/>
                </a:solidFill>
                <a:latin typeface="Consolas"/>
              </a:rPr>
              <a:t>) &gt; LARGE_AMOUNT)</a:t>
            </a:r>
          </a:p>
          <a:p>
            <a:pPr>
              <a:lnSpc>
                <a:spcPct val="116000"/>
              </a:lnSpc>
              <a:spcAft>
                <a:spcPts val="0"/>
              </a:spcAft>
            </a:pPr>
            <a:r>
              <a:rPr sz="1500" b="0" i="0">
                <a:solidFill>
                  <a:srgbClr val="242C38"/>
                </a:solidFill>
                <a:latin typeface="Consolas"/>
              </a:rPr>
              <a:t>    </a:t>
            </a:r>
            <a:r>
              <a:rPr sz="1500" b="0" i="0">
                <a:solidFill>
                  <a:srgbClr val="0F5BA7"/>
                </a:solidFill>
                <a:latin typeface="Consolas"/>
              </a:rPr>
              <a:t>if</a:t>
            </a:r>
            <a:r>
              <a:rPr sz="1500" b="0" i="0">
                <a:solidFill>
                  <a:srgbClr val="242C38"/>
                </a:solidFill>
                <a:latin typeface="Consolas"/>
              </a:rPr>
              <a:t> large.count() &gt; </a:t>
            </a:r>
            <a:r>
              <a:rPr sz="1500" b="0" i="0">
                <a:solidFill>
                  <a:srgbClr val="098658"/>
                </a:solidFill>
                <a:latin typeface="Consolas"/>
              </a:rPr>
              <a:t>0</a:t>
            </a:r>
            <a:r>
              <a:rPr sz="1500" b="0" i="0">
                <a:solidFill>
                  <a:srgbClr val="242C38"/>
                </a:solidFill>
                <a:latin typeface="Consolas"/>
              </a:rPr>
              <a:t>:</a:t>
            </a:r>
          </a:p>
          <a:p>
            <a:pPr>
              <a:lnSpc>
                <a:spcPct val="116000"/>
              </a:lnSpc>
              <a:spcAft>
                <a:spcPts val="0"/>
              </a:spcAft>
            </a:pPr>
            <a:r>
              <a:rPr sz="1500" b="0" i="0">
                <a:solidFill>
                  <a:srgbClr val="242C38"/>
                </a:solidFill>
                <a:latin typeface="Consolas"/>
              </a:rPr>
              <a:t>        large.write.mode(</a:t>
            </a:r>
            <a:r>
              <a:rPr sz="1500" b="0" i="0">
                <a:solidFill>
                  <a:srgbClr val="A31515"/>
                </a:solidFill>
                <a:latin typeface="Consolas"/>
              </a:rPr>
              <a:t>"append"</a:t>
            </a:r>
            <a:r>
              <a:rPr sz="1500" b="0" i="0">
                <a:solidFill>
                  <a:srgbClr val="242C38"/>
                </a:solidFill>
                <a:latin typeface="Consolas"/>
              </a:rPr>
              <a:t>).parquet(ALERTS_PATH)</a:t>
            </a:r>
          </a:p>
          <a:p>
            <a:pPr>
              <a:lnSpc>
                <a:spcPct val="116000"/>
              </a:lnSpc>
              <a:spcAft>
                <a:spcPts val="0"/>
              </a:spcAft>
            </a:pPr>
            <a:r>
              <a:rPr sz="1500" b="0" i="0">
                <a:solidFill>
                  <a:srgbClr val="242C38"/>
                </a:solidFill>
                <a:latin typeface="Consolas"/>
              </a:rPr>
              <a:t> </a:t>
            </a:r>
          </a:p>
          <a:p>
            <a:pPr>
              <a:lnSpc>
                <a:spcPct val="116000"/>
              </a:lnSpc>
              <a:spcAft>
                <a:spcPts val="0"/>
              </a:spcAft>
            </a:pPr>
            <a:r>
              <a:rPr sz="1500" b="0" i="0">
                <a:solidFill>
                  <a:srgbClr val="242C38"/>
                </a:solidFill>
                <a:latin typeface="Consolas"/>
              </a:rPr>
              <a:t>(watermarked.writeStream.foreachBatch(write_alerts)</a:t>
            </a:r>
          </a:p>
          <a:p>
            <a:pPr>
              <a:lnSpc>
                <a:spcPct val="116000"/>
              </a:lnSpc>
              <a:spcAft>
                <a:spcPts val="0"/>
              </a:spcAft>
            </a:pPr>
            <a:r>
              <a:rPr sz="1500" b="0" i="0">
                <a:solidFill>
                  <a:srgbClr val="242C38"/>
                </a:solidFill>
                <a:latin typeface="Consolas"/>
              </a:rPr>
              <a:t> .option(</a:t>
            </a:r>
            <a:r>
              <a:rPr sz="1500" b="0" i="0">
                <a:solidFill>
                  <a:srgbClr val="A31515"/>
                </a:solidFill>
                <a:latin typeface="Consolas"/>
              </a:rPr>
              <a:t>"checkpointLocation"</a:t>
            </a:r>
            <a:r>
              <a:rPr sz="1500" b="0" i="0">
                <a:solidFill>
                  <a:srgbClr val="242C38"/>
                </a:solidFill>
                <a:latin typeface="Consolas"/>
              </a:rPr>
              <a:t>, ckpt).start())</a:t>
            </a:r>
          </a:p>
        </p:txBody>
      </p:sp>
      <p:sp>
        <p:nvSpPr>
          <p:cNvPr id="7" name="TextBox 6"/>
          <p:cNvSpPr txBox="1"/>
          <p:nvPr/>
        </p:nvSpPr>
        <p:spPr>
          <a:xfrm>
            <a:off x="658368" y="4075176"/>
            <a:ext cx="10874959" cy="457200"/>
          </a:xfrm>
          <a:prstGeom prst="rect">
            <a:avLst/>
          </a:prstGeom>
          <a:noFill/>
        </p:spPr>
        <p:txBody>
          <a:bodyPr wrap="square" lIns="0" tIns="0" rIns="0" bIns="0">
            <a:spAutoFit/>
          </a:bodyPr>
          <a:lstStyle/>
          <a:p>
            <a:r>
              <a:rPr sz="1400" b="0" i="0">
                <a:solidFill>
                  <a:srgbClr val="5B6775"/>
                </a:solidFill>
                <a:latin typeface="Segoe UI"/>
              </a:rPr>
              <a:t>Any batch-side write is legal inside it: Parquet here, a JDBC upsert in a real job.</a:t>
            </a:r>
          </a:p>
        </p:txBody>
      </p:sp>
      <p:sp>
        <p:nvSpPr>
          <p:cNvPr id="8" name="Rectangle 7"/>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13  ·  Structured streaming</a:t>
            </a:r>
          </a:p>
        </p:txBody>
      </p:sp>
      <p:sp>
        <p:nvSpPr>
          <p:cNvPr id="10" name="TextBox 9"/>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139</a:t>
            </a: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Output modes</a:t>
            </a:r>
          </a:p>
        </p:txBody>
      </p:sp>
      <p:graphicFrame>
        <p:nvGraphicFramePr>
          <p:cNvPr id="4" name="Table 3"/>
          <p:cNvGraphicFramePr>
            <a:graphicFrameLocks noGrp="1"/>
          </p:cNvGraphicFramePr>
          <p:nvPr/>
        </p:nvGraphicFramePr>
        <p:xfrm>
          <a:off x="658368" y="1481328"/>
          <a:ext cx="10874958" cy="1828800"/>
        </p:xfrm>
        <a:graphic>
          <a:graphicData uri="http://schemas.openxmlformats.org/drawingml/2006/table">
            <a:tbl>
              <a:tblPr firstRow="1" bandRow="1">
                <a:tableStyleId>{5C22544A-7EE6-4342-B048-85BDC9FD1C3A}</a:tableStyleId>
              </a:tblPr>
              <a:tblGrid>
                <a:gridCol w="3020821">
                  <a:extLst>
                    <a:ext uri="{9D8B030D-6E8A-4147-A177-3AD203B41FA5}">
                      <a16:colId xmlns:a16="http://schemas.microsoft.com/office/drawing/2014/main" val="20000"/>
                    </a:ext>
                  </a:extLst>
                </a:gridCol>
                <a:gridCol w="7854137">
                  <a:extLst>
                    <a:ext uri="{9D8B030D-6E8A-4147-A177-3AD203B41FA5}">
                      <a16:colId xmlns:a16="http://schemas.microsoft.com/office/drawing/2014/main" val="20001"/>
                    </a:ext>
                  </a:extLst>
                </a:gridCol>
              </a:tblGrid>
              <a:tr h="402336">
                <a:tc>
                  <a:txBody>
                    <a:bodyPr/>
                    <a:lstStyle/>
                    <a:p>
                      <a:r>
                        <a:rPr sz="1450" b="1" i="0">
                          <a:solidFill>
                            <a:srgbClr val="FFFFFF"/>
                          </a:solidFill>
                          <a:latin typeface="Segoe UI Semibold"/>
                        </a:rPr>
                        <a:t>Output mode</a:t>
                      </a:r>
                    </a:p>
                  </a:txBody>
                  <a:tcPr anchor="ctr">
                    <a:solidFill>
                      <a:srgbClr val="1F4E79"/>
                    </a:solidFill>
                  </a:tcPr>
                </a:tc>
                <a:tc>
                  <a:txBody>
                    <a:bodyPr/>
                    <a:lstStyle/>
                    <a:p>
                      <a:r>
                        <a:rPr sz="1450" b="1" i="0">
                          <a:solidFill>
                            <a:srgbClr val="FFFFFF"/>
                          </a:solidFill>
                          <a:latin typeface="Segoe UI Semibold"/>
                        </a:rPr>
                        <a:t>Meaning</a:t>
                      </a:r>
                    </a:p>
                  </a:txBody>
                  <a:tcPr anchor="ctr">
                    <a:solidFill>
                      <a:srgbClr val="1F4E79"/>
                    </a:solidFill>
                  </a:tcPr>
                </a:tc>
                <a:extLst>
                  <a:ext uri="{0D108BD9-81ED-4DB2-BD59-A6C34878D82A}">
                    <a16:rowId xmlns:a16="http://schemas.microsoft.com/office/drawing/2014/main" val="10000"/>
                  </a:ext>
                </a:extLst>
              </a:tr>
              <a:tr h="475488">
                <a:tc>
                  <a:txBody>
                    <a:bodyPr/>
                    <a:lstStyle/>
                    <a:p>
                      <a:pPr>
                        <a:lnSpc>
                          <a:spcPct val="106000"/>
                        </a:lnSpc>
                      </a:pPr>
                      <a:r>
                        <a:rPr sz="1400" b="1" i="0">
                          <a:solidFill>
                            <a:srgbClr val="242C38"/>
                          </a:solidFill>
                          <a:latin typeface="Segoe UI"/>
                        </a:rPr>
                        <a:t>append</a:t>
                      </a:r>
                    </a:p>
                  </a:txBody>
                  <a:tcPr marT="36576" marB="36576" anchor="ctr">
                    <a:solidFill>
                      <a:srgbClr val="EEF3F8"/>
                    </a:solidFill>
                  </a:tcPr>
                </a:tc>
                <a:tc>
                  <a:txBody>
                    <a:bodyPr/>
                    <a:lstStyle/>
                    <a:p>
                      <a:pPr>
                        <a:lnSpc>
                          <a:spcPct val="106000"/>
                        </a:lnSpc>
                      </a:pPr>
                      <a:r>
                        <a:rPr sz="1400" b="0" i="0">
                          <a:solidFill>
                            <a:srgbClr val="242C38"/>
                          </a:solidFill>
                          <a:latin typeface="Segoe UI"/>
                        </a:rPr>
                        <a:t>only new rows since the last batch, ever</a:t>
                      </a:r>
                    </a:p>
                  </a:txBody>
                  <a:tcPr marT="36576" marB="36576" anchor="ctr">
                    <a:solidFill>
                      <a:srgbClr val="EEF3F8"/>
                    </a:solidFill>
                  </a:tcPr>
                </a:tc>
                <a:extLst>
                  <a:ext uri="{0D108BD9-81ED-4DB2-BD59-A6C34878D82A}">
                    <a16:rowId xmlns:a16="http://schemas.microsoft.com/office/drawing/2014/main" val="10001"/>
                  </a:ext>
                </a:extLst>
              </a:tr>
              <a:tr h="475488">
                <a:tc>
                  <a:txBody>
                    <a:bodyPr/>
                    <a:lstStyle/>
                    <a:p>
                      <a:pPr>
                        <a:lnSpc>
                          <a:spcPct val="106000"/>
                        </a:lnSpc>
                      </a:pPr>
                      <a:r>
                        <a:rPr sz="1400" b="1" i="0">
                          <a:solidFill>
                            <a:srgbClr val="242C38"/>
                          </a:solidFill>
                          <a:latin typeface="Segoe UI"/>
                        </a:rPr>
                        <a:t>update</a:t>
                      </a:r>
                    </a:p>
                  </a:txBody>
                  <a:tcPr marT="36576" marB="36576" anchor="ctr">
                    <a:solidFill>
                      <a:srgbClr val="FFFFFF"/>
                    </a:solidFill>
                  </a:tcPr>
                </a:tc>
                <a:tc>
                  <a:txBody>
                    <a:bodyPr/>
                    <a:lstStyle/>
                    <a:p>
                      <a:pPr>
                        <a:lnSpc>
                          <a:spcPct val="106000"/>
                        </a:lnSpc>
                      </a:pPr>
                      <a:r>
                        <a:rPr sz="1400" b="0" i="0">
                          <a:solidFill>
                            <a:srgbClr val="242C38"/>
                          </a:solidFill>
                          <a:latin typeface="Segoe UI"/>
                        </a:rPr>
                        <a:t>rows that changed since the last batch</a:t>
                      </a:r>
                    </a:p>
                  </a:txBody>
                  <a:tcPr marT="36576" marB="36576" anchor="ctr">
                    <a:solidFill>
                      <a:srgbClr val="FFFFFF"/>
                    </a:solidFill>
                  </a:tcPr>
                </a:tc>
                <a:extLst>
                  <a:ext uri="{0D108BD9-81ED-4DB2-BD59-A6C34878D82A}">
                    <a16:rowId xmlns:a16="http://schemas.microsoft.com/office/drawing/2014/main" val="10002"/>
                  </a:ext>
                </a:extLst>
              </a:tr>
              <a:tr h="475488">
                <a:tc>
                  <a:txBody>
                    <a:bodyPr/>
                    <a:lstStyle/>
                    <a:p>
                      <a:pPr>
                        <a:lnSpc>
                          <a:spcPct val="106000"/>
                        </a:lnSpc>
                      </a:pPr>
                      <a:r>
                        <a:rPr sz="1400" b="1" i="0">
                          <a:solidFill>
                            <a:srgbClr val="242C38"/>
                          </a:solidFill>
                          <a:latin typeface="Segoe UI"/>
                        </a:rPr>
                        <a:t>complete</a:t>
                      </a:r>
                    </a:p>
                  </a:txBody>
                  <a:tcPr marT="36576" marB="36576" anchor="ctr">
                    <a:solidFill>
                      <a:srgbClr val="EEF3F8"/>
                    </a:solidFill>
                  </a:tcPr>
                </a:tc>
                <a:tc>
                  <a:txBody>
                    <a:bodyPr/>
                    <a:lstStyle/>
                    <a:p>
                      <a:pPr>
                        <a:lnSpc>
                          <a:spcPct val="106000"/>
                        </a:lnSpc>
                      </a:pPr>
                      <a:r>
                        <a:rPr sz="1400" b="0" i="0">
                          <a:solidFill>
                            <a:srgbClr val="242C38"/>
                          </a:solidFill>
                          <a:latin typeface="Segoe UI"/>
                        </a:rPr>
                        <a:t>the whole result table, re-emitted every batch</a:t>
                      </a:r>
                    </a:p>
                  </a:txBody>
                  <a:tcPr marT="36576" marB="36576" anchor="ctr">
                    <a:solidFill>
                      <a:srgbClr val="EEF3F8"/>
                    </a:solidFill>
                  </a:tcPr>
                </a:tc>
                <a:extLst>
                  <a:ext uri="{0D108BD9-81ED-4DB2-BD59-A6C34878D82A}">
                    <a16:rowId xmlns:a16="http://schemas.microsoft.com/office/drawing/2014/main" val="10003"/>
                  </a:ext>
                </a:extLst>
              </a:tr>
            </a:tbl>
          </a:graphicData>
        </a:graphic>
      </p:graphicFrame>
      <p:sp>
        <p:nvSpPr>
          <p:cNvPr id="5" name="Rectangle 4"/>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13  ·  Structured streaming</a:t>
            </a:r>
          </a:p>
        </p:txBody>
      </p:sp>
      <p:sp>
        <p:nvSpPr>
          <p:cNvPr id="7" name="TextBox 6"/>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140</a:t>
            </a: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Exactly-once is two things together</a:t>
            </a:r>
          </a:p>
        </p:txBody>
      </p:sp>
      <p:sp>
        <p:nvSpPr>
          <p:cNvPr id="4" name="Rectangle 3"/>
          <p:cNvSpPr/>
          <p:nvPr/>
        </p:nvSpPr>
        <p:spPr>
          <a:xfrm>
            <a:off x="658368" y="1481328"/>
            <a:ext cx="5245455" cy="420624"/>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1581912"/>
            <a:ext cx="4971135" cy="274320"/>
          </a:xfrm>
          <a:prstGeom prst="rect">
            <a:avLst/>
          </a:prstGeom>
          <a:noFill/>
        </p:spPr>
        <p:txBody>
          <a:bodyPr wrap="square" lIns="0" tIns="0" rIns="0" bIns="0">
            <a:spAutoFit/>
          </a:bodyPr>
          <a:lstStyle/>
          <a:p>
            <a:r>
              <a:rPr sz="1450" b="1" i="0">
                <a:solidFill>
                  <a:srgbClr val="1F4E79"/>
                </a:solidFill>
                <a:latin typeface="Segoe UI Semibold"/>
              </a:rPr>
              <a:t>The checkpoint</a:t>
            </a:r>
          </a:p>
        </p:txBody>
      </p:sp>
      <p:sp>
        <p:nvSpPr>
          <p:cNvPr id="6" name="TextBox 5"/>
          <p:cNvSpPr txBox="1"/>
          <p:nvPr/>
        </p:nvSpPr>
        <p:spPr>
          <a:xfrm>
            <a:off x="704088" y="2103120"/>
            <a:ext cx="5154015" cy="3794760"/>
          </a:xfrm>
          <a:prstGeom prst="rect">
            <a:avLst/>
          </a:prstGeom>
          <a:noFill/>
        </p:spPr>
        <p:txBody>
          <a:bodyPr wrap="square" lIns="0" tIns="0" rIns="0" bIns="0">
            <a:spAutoFit/>
          </a:bodyPr>
          <a:lstStyle/>
          <a:p>
            <a:pPr marL="274320" indent="-274320">
              <a:lnSpc>
                <a:spcPct val="118000"/>
              </a:lnSpc>
              <a:spcAft>
                <a:spcPts val="900"/>
              </a:spcAft>
            </a:pPr>
            <a:r>
              <a:rPr sz="1600" b="1" i="0">
                <a:solidFill>
                  <a:srgbClr val="2E74B5"/>
                </a:solidFill>
                <a:latin typeface="Segoe UI"/>
              </a:rPr>
              <a:t>▪   </a:t>
            </a:r>
            <a:r>
              <a:rPr sz="1600" b="0" i="0">
                <a:solidFill>
                  <a:srgbClr val="242C38"/>
                </a:solidFill>
                <a:latin typeface="Segoe UI"/>
              </a:rPr>
              <a:t>Remembers exactly which input files fed each batch</a:t>
            </a:r>
          </a:p>
          <a:p>
            <a:pPr marL="274320" indent="-274320">
              <a:lnSpc>
                <a:spcPct val="118000"/>
              </a:lnSpc>
              <a:spcAft>
                <a:spcPts val="900"/>
              </a:spcAft>
            </a:pPr>
            <a:r>
              <a:rPr sz="1600" b="1" i="0">
                <a:solidFill>
                  <a:srgbClr val="2E74B5"/>
                </a:solidFill>
                <a:latin typeface="Segoe UI"/>
              </a:rPr>
              <a:t>▪   </a:t>
            </a:r>
            <a:r>
              <a:rPr sz="1600" b="0" i="0">
                <a:solidFill>
                  <a:srgbClr val="242C38"/>
                </a:solidFill>
                <a:latin typeface="Segoe UI"/>
              </a:rPr>
              <a:t>A restart reprocesses the same batch, never a different one</a:t>
            </a:r>
          </a:p>
          <a:p>
            <a:pPr marL="274320" indent="-274320">
              <a:lnSpc>
                <a:spcPct val="118000"/>
              </a:lnSpc>
              <a:spcAft>
                <a:spcPts val="900"/>
              </a:spcAft>
            </a:pPr>
            <a:r>
              <a:rPr sz="1600" b="1" i="0">
                <a:solidFill>
                  <a:srgbClr val="2E74B5"/>
                </a:solidFill>
                <a:latin typeface="Segoe UI"/>
              </a:rPr>
              <a:t>▪   </a:t>
            </a:r>
            <a:r>
              <a:rPr sz="1600" b="0" i="0">
                <a:solidFill>
                  <a:srgbClr val="242C38"/>
                </a:solidFill>
                <a:latin typeface="Segoe UI"/>
              </a:rPr>
              <a:t>Change a groupBy key or watermark, use a new checkpoint path</a:t>
            </a:r>
          </a:p>
        </p:txBody>
      </p:sp>
      <p:sp>
        <p:nvSpPr>
          <p:cNvPr id="7" name="Rectangle 6"/>
          <p:cNvSpPr/>
          <p:nvPr/>
        </p:nvSpPr>
        <p:spPr>
          <a:xfrm>
            <a:off x="6287871" y="1481328"/>
            <a:ext cx="5245455" cy="420624"/>
          </a:xfrm>
          <a:prstGeom prst="rect">
            <a:avLst/>
          </a:prstGeom>
          <a:solidFill>
            <a:srgbClr val="FFFFFF"/>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52463" y="1581912"/>
            <a:ext cx="4971135" cy="274320"/>
          </a:xfrm>
          <a:prstGeom prst="rect">
            <a:avLst/>
          </a:prstGeom>
          <a:noFill/>
        </p:spPr>
        <p:txBody>
          <a:bodyPr wrap="square" lIns="0" tIns="0" rIns="0" bIns="0">
            <a:spAutoFit/>
          </a:bodyPr>
          <a:lstStyle/>
          <a:p>
            <a:r>
              <a:rPr sz="1450" b="1" i="0">
                <a:solidFill>
                  <a:srgbClr val="5B6775"/>
                </a:solidFill>
                <a:latin typeface="Segoe UI Semibold"/>
              </a:rPr>
              <a:t>The idempotent sink</a:t>
            </a:r>
          </a:p>
        </p:txBody>
      </p:sp>
      <p:sp>
        <p:nvSpPr>
          <p:cNvPr id="9" name="TextBox 8"/>
          <p:cNvSpPr txBox="1"/>
          <p:nvPr/>
        </p:nvSpPr>
        <p:spPr>
          <a:xfrm>
            <a:off x="6333591" y="2103120"/>
            <a:ext cx="5154015" cy="3794760"/>
          </a:xfrm>
          <a:prstGeom prst="rect">
            <a:avLst/>
          </a:prstGeom>
          <a:noFill/>
        </p:spPr>
        <p:txBody>
          <a:bodyPr wrap="square" lIns="0" tIns="0" rIns="0" bIns="0">
            <a:spAutoFit/>
          </a:bodyPr>
          <a:lstStyle/>
          <a:p>
            <a:pPr marL="274320" indent="-274320">
              <a:lnSpc>
                <a:spcPct val="118000"/>
              </a:lnSpc>
              <a:spcAft>
                <a:spcPts val="900"/>
              </a:spcAft>
            </a:pPr>
            <a:r>
              <a:rPr sz="1600" b="1" i="0">
                <a:solidFill>
                  <a:srgbClr val="2E74B5"/>
                </a:solidFill>
                <a:latin typeface="Segoe UI"/>
              </a:rPr>
              <a:t>▪   </a:t>
            </a:r>
            <a:r>
              <a:rPr sz="1600" b="0" i="0">
                <a:solidFill>
                  <a:srgbClr val="242C38"/>
                </a:solidFill>
                <a:latin typeface="Segoe UI"/>
              </a:rPr>
              <a:t>Re-writing the same batch twice gives the same end state</a:t>
            </a:r>
          </a:p>
          <a:p>
            <a:pPr marL="274320" indent="-274320">
              <a:lnSpc>
                <a:spcPct val="118000"/>
              </a:lnSpc>
              <a:spcAft>
                <a:spcPts val="900"/>
              </a:spcAft>
            </a:pPr>
            <a:r>
              <a:rPr sz="1600" b="1" i="0">
                <a:solidFill>
                  <a:srgbClr val="2E74B5"/>
                </a:solidFill>
                <a:latin typeface="Segoe UI"/>
              </a:rPr>
              <a:t>▪   </a:t>
            </a:r>
            <a:r>
              <a:rPr sz="1600" b="0" i="0">
                <a:solidFill>
                  <a:srgbClr val="242C38"/>
                </a:solidFill>
                <a:latin typeface="Segoe UI"/>
              </a:rPr>
              <a:t>Parquet append works because txn_id was already deduped</a:t>
            </a:r>
          </a:p>
          <a:p>
            <a:pPr marL="274320" indent="-274320">
              <a:lnSpc>
                <a:spcPct val="118000"/>
              </a:lnSpc>
              <a:spcAft>
                <a:spcPts val="900"/>
              </a:spcAft>
            </a:pPr>
            <a:r>
              <a:rPr sz="1600" b="1" i="0">
                <a:solidFill>
                  <a:srgbClr val="2E74B5"/>
                </a:solidFill>
                <a:latin typeface="Segoe UI"/>
              </a:rPr>
              <a:t>▪   </a:t>
            </a:r>
            <a:r>
              <a:rPr sz="1600" b="0" i="0">
                <a:solidFill>
                  <a:srgbClr val="242C38"/>
                </a:solidFill>
                <a:latin typeface="Segoe UI"/>
              </a:rPr>
              <a:t>A JDBC counter needs its own upsert key to match this</a:t>
            </a:r>
          </a:p>
        </p:txBody>
      </p:sp>
      <p:sp>
        <p:nvSpPr>
          <p:cNvPr id="10" name="Rectangle 9"/>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13  ·  Structured streaming</a:t>
            </a:r>
          </a:p>
        </p:txBody>
      </p:sp>
      <p:sp>
        <p:nvSpPr>
          <p:cNvPr id="12" name="TextBox 11"/>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141</a:t>
            </a:r>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Module 13 in one screen</a:t>
            </a:r>
          </a:p>
        </p:txBody>
      </p:sp>
      <p:sp>
        <p:nvSpPr>
          <p:cNvPr id="4" name="TextBox 3"/>
          <p:cNvSpPr txBox="1"/>
          <p:nvPr/>
        </p:nvSpPr>
        <p:spPr>
          <a:xfrm>
            <a:off x="658368" y="1481328"/>
            <a:ext cx="10874959" cy="4526280"/>
          </a:xfrm>
          <a:prstGeom prst="rect">
            <a:avLst/>
          </a:prstGeom>
          <a:noFill/>
        </p:spPr>
        <p:txBody>
          <a:bodyPr wrap="square" lIns="0" tIns="0" rIns="0" bIns="0">
            <a:spAutoFit/>
          </a:bodyPr>
          <a:lstStyle/>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A stream is an unbounded table, only readStream/writeStream and triggers are new.</a:t>
            </a:r>
          </a:p>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A watermark lets Spark forget old state, and genuinely drops late data past it.</a:t>
            </a:r>
          </a:p>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foreachBatch is the general-purpose sink, any batch-side write is legal inside it.</a:t>
            </a:r>
          </a:p>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Exactly-once is checkpoint plus idempotent sink, nothing more exotic than that.</a:t>
            </a:r>
          </a:p>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Always stop every query you started, and always run with a wall-clock deadline.</a:t>
            </a:r>
          </a:p>
        </p:txBody>
      </p:sp>
      <p:sp>
        <p:nvSpPr>
          <p:cNvPr id="5" name="Rectangle 4"/>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13  ·  Structured streaming</a:t>
            </a:r>
          </a:p>
        </p:txBody>
      </p:sp>
      <p:sp>
        <p:nvSpPr>
          <p:cNvPr id="7" name="TextBox 6"/>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142</a:t>
            </a:r>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858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51560" y="2057400"/>
            <a:ext cx="9692640" cy="457200"/>
          </a:xfrm>
          <a:prstGeom prst="rect">
            <a:avLst/>
          </a:prstGeom>
          <a:noFill/>
        </p:spPr>
        <p:txBody>
          <a:bodyPr wrap="square" lIns="0" tIns="0" rIns="0" bIns="0">
            <a:spAutoFit/>
          </a:bodyPr>
          <a:lstStyle/>
          <a:p>
            <a:r>
              <a:rPr sz="1300" b="1" i="0">
                <a:solidFill>
                  <a:srgbClr val="2E74B5"/>
                </a:solidFill>
                <a:latin typeface="Segoe UI Semibold"/>
              </a:rPr>
              <a:t>MODULE 14</a:t>
            </a:r>
          </a:p>
        </p:txBody>
      </p:sp>
      <p:sp>
        <p:nvSpPr>
          <p:cNvPr id="5" name="TextBox 4"/>
          <p:cNvSpPr txBox="1"/>
          <p:nvPr/>
        </p:nvSpPr>
        <p:spPr>
          <a:xfrm>
            <a:off x="1051560" y="2578608"/>
            <a:ext cx="9692640" cy="1371600"/>
          </a:xfrm>
          <a:prstGeom prst="rect">
            <a:avLst/>
          </a:prstGeom>
          <a:noFill/>
        </p:spPr>
        <p:txBody>
          <a:bodyPr wrap="square" lIns="0" tIns="0" rIns="0" bIns="0">
            <a:spAutoFit/>
          </a:bodyPr>
          <a:lstStyle/>
          <a:p>
            <a:pPr>
              <a:lnSpc>
                <a:spcPct val="95000"/>
              </a:lnSpc>
            </a:pPr>
            <a:r>
              <a:rPr sz="4200" b="1" i="0">
                <a:solidFill>
                  <a:srgbClr val="1F4E79"/>
                </a:solidFill>
                <a:latin typeface="Segoe UI Semibold"/>
              </a:rPr>
              <a:t>Performance tuning</a:t>
            </a:r>
          </a:p>
        </p:txBody>
      </p:sp>
      <p:sp>
        <p:nvSpPr>
          <p:cNvPr id="6" name="TextBox 5"/>
          <p:cNvSpPr txBox="1"/>
          <p:nvPr/>
        </p:nvSpPr>
        <p:spPr>
          <a:xfrm>
            <a:off x="1051560" y="3950208"/>
            <a:ext cx="8778240" cy="822960"/>
          </a:xfrm>
          <a:prstGeom prst="rect">
            <a:avLst/>
          </a:prstGeom>
          <a:noFill/>
        </p:spPr>
        <p:txBody>
          <a:bodyPr wrap="square" lIns="0" tIns="0" rIns="0" bIns="0">
            <a:spAutoFit/>
          </a:bodyPr>
          <a:lstStyle/>
          <a:p>
            <a:pPr>
              <a:lnSpc>
                <a:spcPct val="115000"/>
              </a:lnSpc>
            </a:pPr>
            <a:r>
              <a:rPr sz="1700" b="0" i="0">
                <a:solidFill>
                  <a:srgbClr val="5B6775"/>
                </a:solidFill>
                <a:latin typeface="Segoe UI"/>
              </a:rPr>
              <a:t>Measure the real cause, apply the one fix that matches it, then measure again</a:t>
            </a:r>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58368" y="2148840"/>
            <a:ext cx="82296" cy="219456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42416" y="2084831"/>
            <a:ext cx="9777679" cy="1828800"/>
          </a:xfrm>
          <a:prstGeom prst="rect">
            <a:avLst/>
          </a:prstGeom>
          <a:noFill/>
        </p:spPr>
        <p:txBody>
          <a:bodyPr wrap="square" lIns="0" tIns="0" rIns="0" bIns="0">
            <a:spAutoFit/>
          </a:bodyPr>
          <a:lstStyle/>
          <a:p>
            <a:pPr>
              <a:lnSpc>
                <a:spcPct val="112000"/>
              </a:lnSpc>
            </a:pPr>
            <a:r>
              <a:rPr sz="3000" b="1" i="0">
                <a:solidFill>
                  <a:srgbClr val="1F4E79"/>
                </a:solidFill>
                <a:latin typeface="Segoe UI Semibold"/>
              </a:rPr>
              <a:t>Slow is not a diagnosis. Measure the cause, then apply one fix.</a:t>
            </a:r>
          </a:p>
        </p:txBody>
      </p:sp>
      <p:sp>
        <p:nvSpPr>
          <p:cNvPr id="5" name="TextBox 4"/>
          <p:cNvSpPr txBox="1"/>
          <p:nvPr/>
        </p:nvSpPr>
        <p:spPr>
          <a:xfrm>
            <a:off x="1042416" y="4041648"/>
            <a:ext cx="9411919" cy="1005840"/>
          </a:xfrm>
          <a:prstGeom prst="rect">
            <a:avLst/>
          </a:prstGeom>
          <a:noFill/>
        </p:spPr>
        <p:txBody>
          <a:bodyPr wrap="square" lIns="0" tIns="0" rIns="0" bIns="0">
            <a:spAutoFit/>
          </a:bodyPr>
          <a:lstStyle/>
          <a:p>
            <a:pPr>
              <a:lnSpc>
                <a:spcPct val="120000"/>
              </a:lnSpc>
            </a:pPr>
            <a:r>
              <a:rPr sz="1700" b="0" i="0">
                <a:solidFill>
                  <a:srgbClr val="5B6775"/>
                </a:solidFill>
                <a:latin typeface="Segoe UI"/>
              </a:rPr>
              <a:t>A report that finished in 20 minutes and now takes 3 hours is a real incident: month-end close and regulatory reporting depend on a fixed window. Guessing at three settings at once teaches you nothing about which one helped.</a:t>
            </a:r>
          </a:p>
        </p:txBody>
      </p:sp>
      <p:sp>
        <p:nvSpPr>
          <p:cNvPr id="6" name="Rectangle 5"/>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14  ·  Performance tuning</a:t>
            </a:r>
          </a:p>
        </p:txBody>
      </p:sp>
      <p:sp>
        <p:nvSpPr>
          <p:cNvPr id="8" name="TextBox 7"/>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143</a:t>
            </a:r>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The method, every time</a:t>
            </a:r>
          </a:p>
        </p:txBody>
      </p:sp>
      <p:sp>
        <p:nvSpPr>
          <p:cNvPr id="4" name="Rectangle 3"/>
          <p:cNvSpPr/>
          <p:nvPr/>
        </p:nvSpPr>
        <p:spPr>
          <a:xfrm>
            <a:off x="658368" y="1801368"/>
            <a:ext cx="2540431" cy="2834640"/>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801368"/>
            <a:ext cx="2540431" cy="40640"/>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2020824"/>
            <a:ext cx="2211247" cy="310896"/>
          </a:xfrm>
          <a:prstGeom prst="rect">
            <a:avLst/>
          </a:prstGeom>
          <a:noFill/>
        </p:spPr>
        <p:txBody>
          <a:bodyPr wrap="square" lIns="0" tIns="0" rIns="0" bIns="0">
            <a:spAutoFit/>
          </a:bodyPr>
          <a:lstStyle/>
          <a:p>
            <a:r>
              <a:rPr sz="2000" b="1" i="0">
                <a:solidFill>
                  <a:srgbClr val="2E74B5"/>
                </a:solidFill>
                <a:latin typeface="Segoe UI Semibold"/>
              </a:rPr>
              <a:t>1</a:t>
            </a:r>
          </a:p>
        </p:txBody>
      </p:sp>
      <p:sp>
        <p:nvSpPr>
          <p:cNvPr id="7" name="TextBox 6"/>
          <p:cNvSpPr txBox="1"/>
          <p:nvPr/>
        </p:nvSpPr>
        <p:spPr>
          <a:xfrm>
            <a:off x="822960" y="2404872"/>
            <a:ext cx="2211247" cy="566928"/>
          </a:xfrm>
          <a:prstGeom prst="rect">
            <a:avLst/>
          </a:prstGeom>
          <a:noFill/>
        </p:spPr>
        <p:txBody>
          <a:bodyPr wrap="square" lIns="0" tIns="0" rIns="0" bIns="0">
            <a:spAutoFit/>
          </a:bodyPr>
          <a:lstStyle/>
          <a:p>
            <a:pPr>
              <a:lnSpc>
                <a:spcPct val="105000"/>
              </a:lnSpc>
            </a:pPr>
            <a:r>
              <a:rPr sz="1550" b="1" i="0">
                <a:solidFill>
                  <a:srgbClr val="1F4E79"/>
                </a:solidFill>
                <a:latin typeface="Segoe UI Semibold"/>
              </a:rPr>
              <a:t>Measure</a:t>
            </a:r>
          </a:p>
        </p:txBody>
      </p:sp>
      <p:sp>
        <p:nvSpPr>
          <p:cNvPr id="8" name="TextBox 7"/>
          <p:cNvSpPr txBox="1"/>
          <p:nvPr/>
        </p:nvSpPr>
        <p:spPr>
          <a:xfrm>
            <a:off x="822960" y="3044952"/>
            <a:ext cx="2211247" cy="1417320"/>
          </a:xfrm>
          <a:prstGeom prst="rect">
            <a:avLst/>
          </a:prstGeom>
          <a:noFill/>
        </p:spPr>
        <p:txBody>
          <a:bodyPr wrap="square" lIns="0" tIns="0" rIns="0" bIns="0">
            <a:spAutoFit/>
          </a:bodyPr>
          <a:lstStyle/>
          <a:p>
            <a:pPr>
              <a:lnSpc>
                <a:spcPct val="116000"/>
              </a:lnSpc>
            </a:pPr>
            <a:r>
              <a:rPr sz="1300" b="0" i="0">
                <a:solidFill>
                  <a:srgbClr val="5B6775"/>
                </a:solidFill>
                <a:latin typeface="Segoe UI"/>
              </a:rPr>
              <a:t>time the query, or read the Spark UI, before changing anything</a:t>
            </a:r>
          </a:p>
        </p:txBody>
      </p:sp>
      <p:sp>
        <p:nvSpPr>
          <p:cNvPr id="9" name="Rectangle 8"/>
          <p:cNvSpPr/>
          <p:nvPr/>
        </p:nvSpPr>
        <p:spPr>
          <a:xfrm>
            <a:off x="3436543" y="1801368"/>
            <a:ext cx="2540431" cy="2834640"/>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436543" y="1801368"/>
            <a:ext cx="2540431" cy="40640"/>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01135" y="2020824"/>
            <a:ext cx="2211247" cy="310896"/>
          </a:xfrm>
          <a:prstGeom prst="rect">
            <a:avLst/>
          </a:prstGeom>
          <a:noFill/>
        </p:spPr>
        <p:txBody>
          <a:bodyPr wrap="square" lIns="0" tIns="0" rIns="0" bIns="0">
            <a:spAutoFit/>
          </a:bodyPr>
          <a:lstStyle/>
          <a:p>
            <a:r>
              <a:rPr sz="2000" b="1" i="0">
                <a:solidFill>
                  <a:srgbClr val="2E74B5"/>
                </a:solidFill>
                <a:latin typeface="Segoe UI Semibold"/>
              </a:rPr>
              <a:t>2</a:t>
            </a:r>
          </a:p>
        </p:txBody>
      </p:sp>
      <p:sp>
        <p:nvSpPr>
          <p:cNvPr id="12" name="TextBox 11"/>
          <p:cNvSpPr txBox="1"/>
          <p:nvPr/>
        </p:nvSpPr>
        <p:spPr>
          <a:xfrm>
            <a:off x="3601135" y="2404872"/>
            <a:ext cx="2211247" cy="566928"/>
          </a:xfrm>
          <a:prstGeom prst="rect">
            <a:avLst/>
          </a:prstGeom>
          <a:noFill/>
        </p:spPr>
        <p:txBody>
          <a:bodyPr wrap="square" lIns="0" tIns="0" rIns="0" bIns="0">
            <a:spAutoFit/>
          </a:bodyPr>
          <a:lstStyle/>
          <a:p>
            <a:pPr>
              <a:lnSpc>
                <a:spcPct val="105000"/>
              </a:lnSpc>
            </a:pPr>
            <a:r>
              <a:rPr sz="1550" b="1" i="0">
                <a:solidFill>
                  <a:srgbClr val="1F4E79"/>
                </a:solidFill>
                <a:latin typeface="Segoe UI Semibold"/>
              </a:rPr>
              <a:t>Identify</a:t>
            </a:r>
          </a:p>
        </p:txBody>
      </p:sp>
      <p:sp>
        <p:nvSpPr>
          <p:cNvPr id="13" name="TextBox 12"/>
          <p:cNvSpPr txBox="1"/>
          <p:nvPr/>
        </p:nvSpPr>
        <p:spPr>
          <a:xfrm>
            <a:off x="3601135" y="3044952"/>
            <a:ext cx="2211247" cy="1417320"/>
          </a:xfrm>
          <a:prstGeom prst="rect">
            <a:avLst/>
          </a:prstGeom>
          <a:noFill/>
        </p:spPr>
        <p:txBody>
          <a:bodyPr wrap="square" lIns="0" tIns="0" rIns="0" bIns="0">
            <a:spAutoFit/>
          </a:bodyPr>
          <a:lstStyle/>
          <a:p>
            <a:pPr>
              <a:lnSpc>
                <a:spcPct val="116000"/>
              </a:lnSpc>
            </a:pPr>
            <a:r>
              <a:rPr sz="1300" b="0" i="0">
                <a:solidFill>
                  <a:srgbClr val="5B6775"/>
                </a:solidFill>
                <a:latin typeface="Segoe UI"/>
              </a:rPr>
              <a:t>shuffle-bound, spill-bound, skew-bound, or genuinely a lot of data?</a:t>
            </a:r>
          </a:p>
        </p:txBody>
      </p:sp>
      <p:sp>
        <p:nvSpPr>
          <p:cNvPr id="14" name="Rectangle 13"/>
          <p:cNvSpPr/>
          <p:nvPr/>
        </p:nvSpPr>
        <p:spPr>
          <a:xfrm>
            <a:off x="6214719" y="1801368"/>
            <a:ext cx="2540431" cy="2834640"/>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214719" y="1801368"/>
            <a:ext cx="2540431" cy="40640"/>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379311" y="2020824"/>
            <a:ext cx="2211247" cy="310896"/>
          </a:xfrm>
          <a:prstGeom prst="rect">
            <a:avLst/>
          </a:prstGeom>
          <a:noFill/>
        </p:spPr>
        <p:txBody>
          <a:bodyPr wrap="square" lIns="0" tIns="0" rIns="0" bIns="0">
            <a:spAutoFit/>
          </a:bodyPr>
          <a:lstStyle/>
          <a:p>
            <a:r>
              <a:rPr sz="2000" b="1" i="0">
                <a:solidFill>
                  <a:srgbClr val="2E74B5"/>
                </a:solidFill>
                <a:latin typeface="Segoe UI Semibold"/>
              </a:rPr>
              <a:t>3</a:t>
            </a:r>
          </a:p>
        </p:txBody>
      </p:sp>
      <p:sp>
        <p:nvSpPr>
          <p:cNvPr id="17" name="TextBox 16"/>
          <p:cNvSpPr txBox="1"/>
          <p:nvPr/>
        </p:nvSpPr>
        <p:spPr>
          <a:xfrm>
            <a:off x="6379311" y="2404872"/>
            <a:ext cx="2211247" cy="566928"/>
          </a:xfrm>
          <a:prstGeom prst="rect">
            <a:avLst/>
          </a:prstGeom>
          <a:noFill/>
        </p:spPr>
        <p:txBody>
          <a:bodyPr wrap="square" lIns="0" tIns="0" rIns="0" bIns="0">
            <a:spAutoFit/>
          </a:bodyPr>
          <a:lstStyle/>
          <a:p>
            <a:pPr>
              <a:lnSpc>
                <a:spcPct val="105000"/>
              </a:lnSpc>
            </a:pPr>
            <a:r>
              <a:rPr sz="1550" b="1" i="0">
                <a:solidFill>
                  <a:srgbClr val="1F4E79"/>
                </a:solidFill>
                <a:latin typeface="Segoe UI Semibold"/>
              </a:rPr>
              <a:t>Fix</a:t>
            </a:r>
          </a:p>
        </p:txBody>
      </p:sp>
      <p:sp>
        <p:nvSpPr>
          <p:cNvPr id="18" name="TextBox 17"/>
          <p:cNvSpPr txBox="1"/>
          <p:nvPr/>
        </p:nvSpPr>
        <p:spPr>
          <a:xfrm>
            <a:off x="6379311" y="3044952"/>
            <a:ext cx="2211247" cy="1417320"/>
          </a:xfrm>
          <a:prstGeom prst="rect">
            <a:avLst/>
          </a:prstGeom>
          <a:noFill/>
        </p:spPr>
        <p:txBody>
          <a:bodyPr wrap="square" lIns="0" tIns="0" rIns="0" bIns="0">
            <a:spAutoFit/>
          </a:bodyPr>
          <a:lstStyle/>
          <a:p>
            <a:pPr>
              <a:lnSpc>
                <a:spcPct val="116000"/>
              </a:lnSpc>
            </a:pPr>
            <a:r>
              <a:rPr sz="1300" b="0" i="0">
                <a:solidFill>
                  <a:srgbClr val="5B6775"/>
                </a:solidFill>
                <a:latin typeface="Segoe UI"/>
              </a:rPr>
              <a:t>apply the ONE change that matches what you identified</a:t>
            </a:r>
          </a:p>
        </p:txBody>
      </p:sp>
      <p:sp>
        <p:nvSpPr>
          <p:cNvPr id="19" name="Rectangle 18"/>
          <p:cNvSpPr/>
          <p:nvPr/>
        </p:nvSpPr>
        <p:spPr>
          <a:xfrm>
            <a:off x="8992895" y="1801368"/>
            <a:ext cx="2540431" cy="2834640"/>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992895" y="1801368"/>
            <a:ext cx="2540431" cy="40640"/>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157487" y="2020824"/>
            <a:ext cx="2211247" cy="310896"/>
          </a:xfrm>
          <a:prstGeom prst="rect">
            <a:avLst/>
          </a:prstGeom>
          <a:noFill/>
        </p:spPr>
        <p:txBody>
          <a:bodyPr wrap="square" lIns="0" tIns="0" rIns="0" bIns="0">
            <a:spAutoFit/>
          </a:bodyPr>
          <a:lstStyle/>
          <a:p>
            <a:r>
              <a:rPr sz="2000" b="1" i="0">
                <a:solidFill>
                  <a:srgbClr val="2E74B5"/>
                </a:solidFill>
                <a:latin typeface="Segoe UI Semibold"/>
              </a:rPr>
              <a:t>4</a:t>
            </a:r>
          </a:p>
        </p:txBody>
      </p:sp>
      <p:sp>
        <p:nvSpPr>
          <p:cNvPr id="22" name="TextBox 21"/>
          <p:cNvSpPr txBox="1"/>
          <p:nvPr/>
        </p:nvSpPr>
        <p:spPr>
          <a:xfrm>
            <a:off x="9157487" y="2404872"/>
            <a:ext cx="2211247" cy="566928"/>
          </a:xfrm>
          <a:prstGeom prst="rect">
            <a:avLst/>
          </a:prstGeom>
          <a:noFill/>
        </p:spPr>
        <p:txBody>
          <a:bodyPr wrap="square" lIns="0" tIns="0" rIns="0" bIns="0">
            <a:spAutoFit/>
          </a:bodyPr>
          <a:lstStyle/>
          <a:p>
            <a:pPr>
              <a:lnSpc>
                <a:spcPct val="105000"/>
              </a:lnSpc>
            </a:pPr>
            <a:r>
              <a:rPr sz="1550" b="1" i="0">
                <a:solidFill>
                  <a:srgbClr val="1F4E79"/>
                </a:solidFill>
                <a:latin typeface="Segoe UI Semibold"/>
              </a:rPr>
              <a:t>Re-measure</a:t>
            </a:r>
          </a:p>
        </p:txBody>
      </p:sp>
      <p:sp>
        <p:nvSpPr>
          <p:cNvPr id="23" name="TextBox 22"/>
          <p:cNvSpPr txBox="1"/>
          <p:nvPr/>
        </p:nvSpPr>
        <p:spPr>
          <a:xfrm>
            <a:off x="9157487" y="3044952"/>
            <a:ext cx="2211247" cy="1417320"/>
          </a:xfrm>
          <a:prstGeom prst="rect">
            <a:avLst/>
          </a:prstGeom>
          <a:noFill/>
        </p:spPr>
        <p:txBody>
          <a:bodyPr wrap="square" lIns="0" tIns="0" rIns="0" bIns="0">
            <a:spAutoFit/>
          </a:bodyPr>
          <a:lstStyle/>
          <a:p>
            <a:pPr>
              <a:lnSpc>
                <a:spcPct val="116000"/>
              </a:lnSpc>
            </a:pPr>
            <a:r>
              <a:rPr sz="1300" b="0" i="0">
                <a:solidFill>
                  <a:srgbClr val="5B6775"/>
                </a:solidFill>
                <a:latin typeface="Segoe UI"/>
              </a:rPr>
              <a:t>the same way, and keep the before and after number</a:t>
            </a:r>
          </a:p>
        </p:txBody>
      </p:sp>
      <p:sp>
        <p:nvSpPr>
          <p:cNvPr id="24" name="TextBox 23"/>
          <p:cNvSpPr txBox="1"/>
          <p:nvPr/>
        </p:nvSpPr>
        <p:spPr>
          <a:xfrm>
            <a:off x="658368" y="4910328"/>
            <a:ext cx="10874959" cy="457200"/>
          </a:xfrm>
          <a:prstGeom prst="rect">
            <a:avLst/>
          </a:prstGeom>
          <a:noFill/>
        </p:spPr>
        <p:txBody>
          <a:bodyPr wrap="square" lIns="0" tIns="0" rIns="0" bIns="0">
            <a:spAutoFit/>
          </a:bodyPr>
          <a:lstStyle/>
          <a:p>
            <a:r>
              <a:rPr sz="1350" b="0" i="1">
                <a:solidFill>
                  <a:srgbClr val="5B6775"/>
                </a:solidFill>
                <a:latin typeface="Segoe UI"/>
              </a:rPr>
              <a:t>Every section in this module follows this same four-step shape.</a:t>
            </a:r>
          </a:p>
        </p:txBody>
      </p:sp>
      <p:sp>
        <p:nvSpPr>
          <p:cNvPr id="25" name="Rectangle 24"/>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14  ·  Performance tuning</a:t>
            </a:r>
          </a:p>
        </p:txBody>
      </p:sp>
      <p:sp>
        <p:nvSpPr>
          <p:cNvPr id="27" name="TextBox 26"/>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144</a:t>
            </a:r>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Reading the Spark UI: symptom to cause</a:t>
            </a:r>
          </a:p>
        </p:txBody>
      </p:sp>
      <p:graphicFrame>
        <p:nvGraphicFramePr>
          <p:cNvPr id="4" name="Table 3"/>
          <p:cNvGraphicFramePr>
            <a:graphicFrameLocks noGrp="1"/>
          </p:cNvGraphicFramePr>
          <p:nvPr/>
        </p:nvGraphicFramePr>
        <p:xfrm>
          <a:off x="658368" y="1481328"/>
          <a:ext cx="10874958" cy="2779776"/>
        </p:xfrm>
        <a:graphic>
          <a:graphicData uri="http://schemas.openxmlformats.org/drawingml/2006/table">
            <a:tbl>
              <a:tblPr firstRow="1" bandRow="1">
                <a:tableStyleId>{5C22544A-7EE6-4342-B048-85BDC9FD1C3A}</a:tableStyleId>
              </a:tblPr>
              <a:tblGrid>
                <a:gridCol w="5135397">
                  <a:extLst>
                    <a:ext uri="{9D8B030D-6E8A-4147-A177-3AD203B41FA5}">
                      <a16:colId xmlns:a16="http://schemas.microsoft.com/office/drawing/2014/main" val="20000"/>
                    </a:ext>
                  </a:extLst>
                </a:gridCol>
                <a:gridCol w="5739561">
                  <a:extLst>
                    <a:ext uri="{9D8B030D-6E8A-4147-A177-3AD203B41FA5}">
                      <a16:colId xmlns:a16="http://schemas.microsoft.com/office/drawing/2014/main" val="20001"/>
                    </a:ext>
                  </a:extLst>
                </a:gridCol>
              </a:tblGrid>
              <a:tr h="402336">
                <a:tc>
                  <a:txBody>
                    <a:bodyPr/>
                    <a:lstStyle/>
                    <a:p>
                      <a:r>
                        <a:rPr sz="1450" b="1" i="0">
                          <a:solidFill>
                            <a:srgbClr val="FFFFFF"/>
                          </a:solidFill>
                          <a:latin typeface="Segoe UI Semibold"/>
                        </a:rPr>
                        <a:t>Symptom</a:t>
                      </a:r>
                    </a:p>
                  </a:txBody>
                  <a:tcPr anchor="ctr">
                    <a:solidFill>
                      <a:srgbClr val="1F4E79"/>
                    </a:solidFill>
                  </a:tcPr>
                </a:tc>
                <a:tc>
                  <a:txBody>
                    <a:bodyPr/>
                    <a:lstStyle/>
                    <a:p>
                      <a:r>
                        <a:rPr sz="1450" b="1" i="0">
                          <a:solidFill>
                            <a:srgbClr val="FFFFFF"/>
                          </a:solidFill>
                          <a:latin typeface="Segoe UI Semibold"/>
                        </a:rPr>
                        <a:t>Likely cause</a:t>
                      </a:r>
                    </a:p>
                  </a:txBody>
                  <a:tcPr anchor="ctr">
                    <a:solidFill>
                      <a:srgbClr val="1F4E79"/>
                    </a:solidFill>
                  </a:tcPr>
                </a:tc>
                <a:extLst>
                  <a:ext uri="{0D108BD9-81ED-4DB2-BD59-A6C34878D82A}">
                    <a16:rowId xmlns:a16="http://schemas.microsoft.com/office/drawing/2014/main" val="10000"/>
                  </a:ext>
                </a:extLst>
              </a:tr>
              <a:tr h="475488">
                <a:tc>
                  <a:txBody>
                    <a:bodyPr/>
                    <a:lstStyle/>
                    <a:p>
                      <a:pPr>
                        <a:lnSpc>
                          <a:spcPct val="106000"/>
                        </a:lnSpc>
                      </a:pPr>
                      <a:r>
                        <a:rPr sz="1400" b="1" i="0">
                          <a:solidFill>
                            <a:srgbClr val="242C38"/>
                          </a:solidFill>
                          <a:latin typeface="Segoe UI"/>
                        </a:rPr>
                        <a:t>One task far longer than the rest</a:t>
                      </a:r>
                    </a:p>
                  </a:txBody>
                  <a:tcPr marT="36576" marB="36576" anchor="ctr">
                    <a:solidFill>
                      <a:srgbClr val="EEF3F8"/>
                    </a:solidFill>
                  </a:tcPr>
                </a:tc>
                <a:tc>
                  <a:txBody>
                    <a:bodyPr/>
                    <a:lstStyle/>
                    <a:p>
                      <a:pPr>
                        <a:lnSpc>
                          <a:spcPct val="106000"/>
                        </a:lnSpc>
                      </a:pPr>
                      <a:r>
                        <a:rPr sz="1400" b="0" i="0">
                          <a:solidFill>
                            <a:srgbClr val="242C38"/>
                          </a:solidFill>
                          <a:latin typeface="Segoe UI"/>
                        </a:rPr>
                        <a:t>skew on the shuffle or join key</a:t>
                      </a:r>
                    </a:p>
                  </a:txBody>
                  <a:tcPr marT="36576" marB="36576" anchor="ctr">
                    <a:solidFill>
                      <a:srgbClr val="EEF3F8"/>
                    </a:solidFill>
                  </a:tcPr>
                </a:tc>
                <a:extLst>
                  <a:ext uri="{0D108BD9-81ED-4DB2-BD59-A6C34878D82A}">
                    <a16:rowId xmlns:a16="http://schemas.microsoft.com/office/drawing/2014/main" val="10001"/>
                  </a:ext>
                </a:extLst>
              </a:tr>
              <a:tr h="475488">
                <a:tc>
                  <a:txBody>
                    <a:bodyPr/>
                    <a:lstStyle/>
                    <a:p>
                      <a:pPr>
                        <a:lnSpc>
                          <a:spcPct val="106000"/>
                        </a:lnSpc>
                      </a:pPr>
                      <a:r>
                        <a:rPr sz="1400" b="1" i="0">
                          <a:solidFill>
                            <a:srgbClr val="242C38"/>
                          </a:solidFill>
                          <a:latin typeface="Segoe UI"/>
                        </a:rPr>
                        <a:t>Shuffle bytes large vs input size</a:t>
                      </a:r>
                    </a:p>
                  </a:txBody>
                  <a:tcPr marT="36576" marB="36576" anchor="ctr">
                    <a:solidFill>
                      <a:srgbClr val="FFFFFF"/>
                    </a:solidFill>
                  </a:tcPr>
                </a:tc>
                <a:tc>
                  <a:txBody>
                    <a:bodyPr/>
                    <a:lstStyle/>
                    <a:p>
                      <a:pPr>
                        <a:lnSpc>
                          <a:spcPct val="106000"/>
                        </a:lnSpc>
                      </a:pPr>
                      <a:r>
                        <a:rPr sz="1400" b="0" i="0">
                          <a:solidFill>
                            <a:srgbClr val="242C38"/>
                          </a:solidFill>
                          <a:latin typeface="Segoe UI"/>
                        </a:rPr>
                        <a:t>an avoidable wide shuffle, often a join</a:t>
                      </a:r>
                    </a:p>
                  </a:txBody>
                  <a:tcPr marT="36576" marB="36576" anchor="ctr">
                    <a:solidFill>
                      <a:srgbClr val="FFFFFF"/>
                    </a:solidFill>
                  </a:tcPr>
                </a:tc>
                <a:extLst>
                  <a:ext uri="{0D108BD9-81ED-4DB2-BD59-A6C34878D82A}">
                    <a16:rowId xmlns:a16="http://schemas.microsoft.com/office/drawing/2014/main" val="10002"/>
                  </a:ext>
                </a:extLst>
              </a:tr>
              <a:tr h="475488">
                <a:tc>
                  <a:txBody>
                    <a:bodyPr/>
                    <a:lstStyle/>
                    <a:p>
                      <a:pPr>
                        <a:lnSpc>
                          <a:spcPct val="106000"/>
                        </a:lnSpc>
                      </a:pPr>
                      <a:r>
                        <a:rPr sz="1350" b="0" i="0">
                          <a:solidFill>
                            <a:srgbClr val="2E74B5"/>
                          </a:solidFill>
                          <a:latin typeface="Consolas"/>
                        </a:rPr>
                        <a:t>memoryBytesSpilled</a:t>
                      </a:r>
                      <a:r>
                        <a:rPr sz="1400" b="1" i="0">
                          <a:solidFill>
                            <a:srgbClr val="242C38"/>
                          </a:solidFill>
                          <a:latin typeface="Segoe UI"/>
                        </a:rPr>
                        <a:t> above zero</a:t>
                      </a:r>
                    </a:p>
                  </a:txBody>
                  <a:tcPr marT="36576" marB="36576" anchor="ctr">
                    <a:solidFill>
                      <a:srgbClr val="EEF3F8"/>
                    </a:solidFill>
                  </a:tcPr>
                </a:tc>
                <a:tc>
                  <a:txBody>
                    <a:bodyPr/>
                    <a:lstStyle/>
                    <a:p>
                      <a:pPr>
                        <a:lnSpc>
                          <a:spcPct val="106000"/>
                        </a:lnSpc>
                      </a:pPr>
                      <a:r>
                        <a:rPr sz="1400" b="0" i="0">
                          <a:solidFill>
                            <a:srgbClr val="242C38"/>
                          </a:solidFill>
                          <a:latin typeface="Segoe UI"/>
                        </a:rPr>
                        <a:t>not enough execution memory for a task</a:t>
                      </a:r>
                    </a:p>
                  </a:txBody>
                  <a:tcPr marT="36576" marB="36576" anchor="ctr">
                    <a:solidFill>
                      <a:srgbClr val="EEF3F8"/>
                    </a:solidFill>
                  </a:tcPr>
                </a:tc>
                <a:extLst>
                  <a:ext uri="{0D108BD9-81ED-4DB2-BD59-A6C34878D82A}">
                    <a16:rowId xmlns:a16="http://schemas.microsoft.com/office/drawing/2014/main" val="10003"/>
                  </a:ext>
                </a:extLst>
              </a:tr>
              <a:tr h="475488">
                <a:tc>
                  <a:txBody>
                    <a:bodyPr/>
                    <a:lstStyle/>
                    <a:p>
                      <a:pPr>
                        <a:lnSpc>
                          <a:spcPct val="106000"/>
                        </a:lnSpc>
                      </a:pPr>
                      <a:r>
                        <a:rPr sz="1400" b="1" i="0">
                          <a:solidFill>
                            <a:srgbClr val="242C38"/>
                          </a:solidFill>
                          <a:latin typeface="Segoe UI"/>
                        </a:rPr>
                        <a:t>Many tiny tasks</a:t>
                      </a:r>
                    </a:p>
                  </a:txBody>
                  <a:tcPr marT="36576" marB="36576" anchor="ctr">
                    <a:solidFill>
                      <a:srgbClr val="FFFFFF"/>
                    </a:solidFill>
                  </a:tcPr>
                </a:tc>
                <a:tc>
                  <a:txBody>
                    <a:bodyPr/>
                    <a:lstStyle/>
                    <a:p>
                      <a:pPr>
                        <a:lnSpc>
                          <a:spcPct val="106000"/>
                        </a:lnSpc>
                      </a:pPr>
                      <a:r>
                        <a:rPr sz="1400" b="0" i="0">
                          <a:solidFill>
                            <a:srgbClr val="242C38"/>
                          </a:solidFill>
                          <a:latin typeface="Segoe UI"/>
                        </a:rPr>
                        <a:t>too many partitions for the data volume</a:t>
                      </a:r>
                    </a:p>
                  </a:txBody>
                  <a:tcPr marT="36576" marB="36576" anchor="ctr">
                    <a:solidFill>
                      <a:srgbClr val="FFFFFF"/>
                    </a:solidFill>
                  </a:tcPr>
                </a:tc>
                <a:extLst>
                  <a:ext uri="{0D108BD9-81ED-4DB2-BD59-A6C34878D82A}">
                    <a16:rowId xmlns:a16="http://schemas.microsoft.com/office/drawing/2014/main" val="10004"/>
                  </a:ext>
                </a:extLst>
              </a:tr>
              <a:tr h="475488">
                <a:tc>
                  <a:txBody>
                    <a:bodyPr/>
                    <a:lstStyle/>
                    <a:p>
                      <a:pPr>
                        <a:lnSpc>
                          <a:spcPct val="106000"/>
                        </a:lnSpc>
                      </a:pPr>
                      <a:r>
                        <a:rPr sz="1400" b="1" i="0">
                          <a:solidFill>
                            <a:srgbClr val="242C38"/>
                          </a:solidFill>
                          <a:latin typeface="Segoe UI"/>
                        </a:rPr>
                        <a:t>Few, very large tasks</a:t>
                      </a:r>
                    </a:p>
                  </a:txBody>
                  <a:tcPr marT="36576" marB="36576" anchor="ctr">
                    <a:solidFill>
                      <a:srgbClr val="EEF3F8"/>
                    </a:solidFill>
                  </a:tcPr>
                </a:tc>
                <a:tc>
                  <a:txBody>
                    <a:bodyPr/>
                    <a:lstStyle/>
                    <a:p>
                      <a:pPr>
                        <a:lnSpc>
                          <a:spcPct val="106000"/>
                        </a:lnSpc>
                      </a:pPr>
                      <a:r>
                        <a:rPr sz="1400" b="0" i="0">
                          <a:solidFill>
                            <a:srgbClr val="242C38"/>
                          </a:solidFill>
                          <a:latin typeface="Segoe UI"/>
                        </a:rPr>
                        <a:t>too few partitions, or uneven sizes</a:t>
                      </a:r>
                    </a:p>
                  </a:txBody>
                  <a:tcPr marT="36576" marB="36576" anchor="ctr">
                    <a:solidFill>
                      <a:srgbClr val="EEF3F8"/>
                    </a:solidFill>
                  </a:tcPr>
                </a:tc>
                <a:extLst>
                  <a:ext uri="{0D108BD9-81ED-4DB2-BD59-A6C34878D82A}">
                    <a16:rowId xmlns:a16="http://schemas.microsoft.com/office/drawing/2014/main" val="10005"/>
                  </a:ext>
                </a:extLst>
              </a:tr>
            </a:tbl>
          </a:graphicData>
        </a:graphic>
      </p:graphicFrame>
      <p:sp>
        <p:nvSpPr>
          <p:cNvPr id="5" name="Rectangle 4"/>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14  ·  Performance tuning</a:t>
            </a:r>
          </a:p>
        </p:txBody>
      </p:sp>
      <p:sp>
        <p:nvSpPr>
          <p:cNvPr id="7" name="TextBox 6"/>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145</a:t>
            </a:r>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The skew: BR011 carries 10x a branch's share</a:t>
            </a:r>
          </a:p>
        </p:txBody>
      </p:sp>
      <p:sp>
        <p:nvSpPr>
          <p:cNvPr id="4" name="Rectangle 3"/>
          <p:cNvSpPr/>
          <p:nvPr/>
        </p:nvSpPr>
        <p:spPr>
          <a:xfrm>
            <a:off x="658368" y="1481328"/>
            <a:ext cx="10874959" cy="2157984"/>
          </a:xfrm>
          <a:prstGeom prst="rect">
            <a:avLst/>
          </a:prstGeom>
          <a:solidFill>
            <a:srgbClr val="F5F7F9"/>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81328"/>
            <a:ext cx="43180" cy="2157984"/>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77824" y="1645920"/>
            <a:ext cx="10509199" cy="1883664"/>
          </a:xfrm>
          <a:prstGeom prst="rect">
            <a:avLst/>
          </a:prstGeom>
          <a:noFill/>
        </p:spPr>
        <p:txBody>
          <a:bodyPr wrap="square" lIns="0" tIns="0" rIns="0" bIns="0">
            <a:spAutoFit/>
          </a:bodyPr>
          <a:lstStyle/>
          <a:p>
            <a:pPr>
              <a:lnSpc>
                <a:spcPct val="116000"/>
              </a:lnSpc>
              <a:spcAft>
                <a:spcPts val="0"/>
              </a:spcAft>
            </a:pPr>
            <a:r>
              <a:rPr sz="1500" b="0" i="0">
                <a:solidFill>
                  <a:srgbClr val="242C38"/>
                </a:solidFill>
                <a:latin typeface="Consolas"/>
              </a:rPr>
              <a:t>skewed = txns.join(</a:t>
            </a:r>
          </a:p>
          <a:p>
            <a:pPr>
              <a:lnSpc>
                <a:spcPct val="116000"/>
              </a:lnSpc>
              <a:spcAft>
                <a:spcPts val="0"/>
              </a:spcAft>
            </a:pPr>
            <a:r>
              <a:rPr sz="1500" b="0" i="0">
                <a:solidFill>
                  <a:srgbClr val="242C38"/>
                </a:solidFill>
                <a:latin typeface="Consolas"/>
              </a:rPr>
              <a:t>    F.broadcast(accounts.select(</a:t>
            </a:r>
            <a:r>
              <a:rPr sz="1500" b="0" i="0">
                <a:solidFill>
                  <a:srgbClr val="A31515"/>
                </a:solidFill>
                <a:latin typeface="Consolas"/>
              </a:rPr>
              <a:t>"account_id"</a:t>
            </a:r>
            <a:r>
              <a:rPr sz="1500" b="0" i="0">
                <a:solidFill>
                  <a:srgbClr val="242C38"/>
                </a:solidFill>
                <a:latin typeface="Consolas"/>
              </a:rPr>
              <a:t>, </a:t>
            </a:r>
            <a:r>
              <a:rPr sz="1500" b="0" i="0">
                <a:solidFill>
                  <a:srgbClr val="A31515"/>
                </a:solidFill>
                <a:latin typeface="Consolas"/>
              </a:rPr>
              <a:t>"branch_code"</a:t>
            </a:r>
            <a:r>
              <a:rPr sz="1500" b="0" i="0">
                <a:solidFill>
                  <a:srgbClr val="242C38"/>
                </a:solidFill>
                <a:latin typeface="Consolas"/>
              </a:rPr>
              <a:t>)),</a:t>
            </a:r>
          </a:p>
          <a:p>
            <a:pPr>
              <a:lnSpc>
                <a:spcPct val="116000"/>
              </a:lnSpc>
              <a:spcAft>
                <a:spcPts val="0"/>
              </a:spcAft>
            </a:pPr>
            <a:r>
              <a:rPr sz="1500" b="0" i="0">
                <a:solidFill>
                  <a:srgbClr val="242C38"/>
                </a:solidFill>
                <a:latin typeface="Consolas"/>
              </a:rPr>
              <a:t>    </a:t>
            </a:r>
            <a:r>
              <a:rPr sz="1500" b="0" i="0">
                <a:solidFill>
                  <a:srgbClr val="A31515"/>
                </a:solidFill>
                <a:latin typeface="Consolas"/>
              </a:rPr>
              <a:t>"account_id"</a:t>
            </a:r>
            <a:r>
              <a:rPr sz="1500" b="0" i="0">
                <a:solidFill>
                  <a:srgbClr val="242C38"/>
                </a:solidFill>
                <a:latin typeface="Consolas"/>
              </a:rPr>
              <a:t>).cache()</a:t>
            </a:r>
          </a:p>
          <a:p>
            <a:pPr>
              <a:lnSpc>
                <a:spcPct val="116000"/>
              </a:lnSpc>
              <a:spcAft>
                <a:spcPts val="0"/>
              </a:spcAft>
            </a:pPr>
            <a:r>
              <a:rPr sz="1500" b="0" i="0">
                <a:solidFill>
                  <a:srgbClr val="242C38"/>
                </a:solidFill>
                <a:latin typeface="Consolas"/>
              </a:rPr>
              <a:t> </a:t>
            </a:r>
          </a:p>
          <a:p>
            <a:pPr>
              <a:lnSpc>
                <a:spcPct val="116000"/>
              </a:lnSpc>
              <a:spcAft>
                <a:spcPts val="0"/>
              </a:spcAft>
            </a:pPr>
            <a:r>
              <a:rPr sz="1500" b="0" i="0">
                <a:solidFill>
                  <a:srgbClr val="242C38"/>
                </a:solidFill>
                <a:latin typeface="Consolas"/>
              </a:rPr>
              <a:t>skewed.groupBy(</a:t>
            </a:r>
            <a:r>
              <a:rPr sz="1500" b="0" i="0">
                <a:solidFill>
                  <a:srgbClr val="A31515"/>
                </a:solidFill>
                <a:latin typeface="Consolas"/>
              </a:rPr>
              <a:t>"branch_code"</a:t>
            </a:r>
            <a:r>
              <a:rPr sz="1500" b="0" i="0">
                <a:solidFill>
                  <a:srgbClr val="242C38"/>
                </a:solidFill>
                <a:latin typeface="Consolas"/>
              </a:rPr>
              <a:t>).count() \</a:t>
            </a:r>
          </a:p>
          <a:p>
            <a:pPr>
              <a:lnSpc>
                <a:spcPct val="116000"/>
              </a:lnSpc>
              <a:spcAft>
                <a:spcPts val="0"/>
              </a:spcAft>
            </a:pPr>
            <a:r>
              <a:rPr sz="1500" b="0" i="0">
                <a:solidFill>
                  <a:srgbClr val="242C38"/>
                </a:solidFill>
                <a:latin typeface="Consolas"/>
              </a:rPr>
              <a:t>      .orderBy(F.desc(</a:t>
            </a:r>
            <a:r>
              <a:rPr sz="1500" b="0" i="0">
                <a:solidFill>
                  <a:srgbClr val="A31515"/>
                </a:solidFill>
                <a:latin typeface="Consolas"/>
              </a:rPr>
              <a:t>"count"</a:t>
            </a:r>
            <a:r>
              <a:rPr sz="1500" b="0" i="0">
                <a:solidFill>
                  <a:srgbClr val="242C38"/>
                </a:solidFill>
                <a:latin typeface="Consolas"/>
              </a:rPr>
              <a:t>)).show(</a:t>
            </a:r>
            <a:r>
              <a:rPr sz="1500" b="0" i="0">
                <a:solidFill>
                  <a:srgbClr val="098658"/>
                </a:solidFill>
                <a:latin typeface="Consolas"/>
              </a:rPr>
              <a:t>5</a:t>
            </a:r>
            <a:r>
              <a:rPr sz="1500" b="0" i="0">
                <a:solidFill>
                  <a:srgbClr val="242C38"/>
                </a:solidFill>
                <a:latin typeface="Consolas"/>
              </a:rPr>
              <a:t>)</a:t>
            </a:r>
          </a:p>
        </p:txBody>
      </p:sp>
      <p:sp>
        <p:nvSpPr>
          <p:cNvPr id="7" name="TextBox 6"/>
          <p:cNvSpPr txBox="1"/>
          <p:nvPr/>
        </p:nvSpPr>
        <p:spPr>
          <a:xfrm>
            <a:off x="658368" y="3785616"/>
            <a:ext cx="10874959" cy="457200"/>
          </a:xfrm>
          <a:prstGeom prst="rect">
            <a:avLst/>
          </a:prstGeom>
          <a:noFill/>
        </p:spPr>
        <p:txBody>
          <a:bodyPr wrap="square" lIns="0" tIns="0" rIns="0" bIns="0">
            <a:spAutoFit/>
          </a:bodyPr>
          <a:lstStyle/>
          <a:p>
            <a:r>
              <a:rPr sz="1400" b="0" i="0">
                <a:solidFill>
                  <a:srgbClr val="5B6775"/>
                </a:solidFill>
                <a:latin typeface="Segoe UI"/>
              </a:rPr>
              <a:t>Any shuffle keyed on branch_code sends BR011's share to one reduce task.</a:t>
            </a:r>
          </a:p>
        </p:txBody>
      </p:sp>
      <p:sp>
        <p:nvSpPr>
          <p:cNvPr id="8" name="Rectangle 7"/>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14  ·  Performance tuning</a:t>
            </a:r>
          </a:p>
        </p:txBody>
      </p:sp>
      <p:sp>
        <p:nvSpPr>
          <p:cNvPr id="10" name="TextBox 9"/>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146</a:t>
            </a:r>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Shuffle partitions: 200 vs 8, timed</a:t>
            </a:r>
          </a:p>
        </p:txBody>
      </p:sp>
      <p:sp>
        <p:nvSpPr>
          <p:cNvPr id="4" name="Rectangle 3"/>
          <p:cNvSpPr/>
          <p:nvPr/>
        </p:nvSpPr>
        <p:spPr>
          <a:xfrm>
            <a:off x="658368" y="1481328"/>
            <a:ext cx="10874959" cy="2447544"/>
          </a:xfrm>
          <a:prstGeom prst="rect">
            <a:avLst/>
          </a:prstGeom>
          <a:solidFill>
            <a:srgbClr val="F5F7F9"/>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81328"/>
            <a:ext cx="43180" cy="2447544"/>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77824" y="1645920"/>
            <a:ext cx="10509199" cy="2173224"/>
          </a:xfrm>
          <a:prstGeom prst="rect">
            <a:avLst/>
          </a:prstGeom>
          <a:noFill/>
        </p:spPr>
        <p:txBody>
          <a:bodyPr wrap="square" lIns="0" tIns="0" rIns="0" bIns="0">
            <a:spAutoFit/>
          </a:bodyPr>
          <a:lstStyle/>
          <a:p>
            <a:pPr>
              <a:lnSpc>
                <a:spcPct val="116000"/>
              </a:lnSpc>
              <a:spcAft>
                <a:spcPts val="0"/>
              </a:spcAft>
            </a:pPr>
            <a:r>
              <a:rPr sz="1500" b="0" i="0">
                <a:solidFill>
                  <a:srgbClr val="242C38"/>
                </a:solidFill>
                <a:latin typeface="Consolas"/>
              </a:rPr>
              <a:t>spark.conf.set(</a:t>
            </a:r>
            <a:r>
              <a:rPr sz="1500" b="0" i="0">
                <a:solidFill>
                  <a:srgbClr val="A31515"/>
                </a:solidFill>
                <a:latin typeface="Consolas"/>
              </a:rPr>
              <a:t>"spark.sql.shuffle.partitions"</a:t>
            </a:r>
            <a:r>
              <a:rPr sz="1500" b="0" i="0">
                <a:solidFill>
                  <a:srgbClr val="242C38"/>
                </a:solidFill>
                <a:latin typeface="Consolas"/>
              </a:rPr>
              <a:t>, </a:t>
            </a:r>
            <a:r>
              <a:rPr sz="1500" b="0" i="0">
                <a:solidFill>
                  <a:srgbClr val="A31515"/>
                </a:solidFill>
                <a:latin typeface="Consolas"/>
              </a:rPr>
              <a:t>"200"</a:t>
            </a:r>
            <a:r>
              <a:rPr sz="1500" b="0" i="0">
                <a:solidFill>
                  <a:srgbClr val="242C38"/>
                </a:solidFill>
                <a:latin typeface="Consolas"/>
              </a:rPr>
              <a:t>)</a:t>
            </a:r>
          </a:p>
          <a:p>
            <a:pPr>
              <a:lnSpc>
                <a:spcPct val="116000"/>
              </a:lnSpc>
              <a:spcAft>
                <a:spcPts val="0"/>
              </a:spcAft>
            </a:pPr>
            <a:r>
              <a:rPr sz="1500" b="0" i="0">
                <a:solidFill>
                  <a:srgbClr val="242C38"/>
                </a:solidFill>
                <a:latin typeface="Consolas"/>
              </a:rPr>
              <a:t>skewed.groupBy(</a:t>
            </a:r>
            <a:r>
              <a:rPr sz="1500" b="0" i="0">
                <a:solidFill>
                  <a:srgbClr val="A31515"/>
                </a:solidFill>
                <a:latin typeface="Consolas"/>
              </a:rPr>
              <a:t>"branch_code"</a:t>
            </a:r>
            <a:r>
              <a:rPr sz="1500" b="0" i="0">
                <a:solidFill>
                  <a:srgbClr val="242C38"/>
                </a:solidFill>
                <a:latin typeface="Consolas"/>
              </a:rPr>
              <a:t>).agg(F.sum(</a:t>
            </a:r>
            <a:r>
              <a:rPr sz="1500" b="0" i="0">
                <a:solidFill>
                  <a:srgbClr val="A31515"/>
                </a:solidFill>
                <a:latin typeface="Consolas"/>
              </a:rPr>
              <a:t>"amount"</a:t>
            </a:r>
            <a:r>
              <a:rPr sz="1500" b="0" i="0">
                <a:solidFill>
                  <a:srgbClr val="242C38"/>
                </a:solidFill>
                <a:latin typeface="Consolas"/>
              </a:rPr>
              <a:t>)).collect()</a:t>
            </a:r>
          </a:p>
          <a:p>
            <a:pPr>
              <a:lnSpc>
                <a:spcPct val="116000"/>
              </a:lnSpc>
              <a:spcAft>
                <a:spcPts val="0"/>
              </a:spcAft>
            </a:pPr>
            <a:r>
              <a:rPr sz="1500" b="0" i="1">
                <a:solidFill>
                  <a:srgbClr val="6F865C"/>
                </a:solidFill>
                <a:latin typeface="Consolas"/>
              </a:rPr>
              <a:t># about 3.8s</a:t>
            </a:r>
          </a:p>
          <a:p>
            <a:pPr>
              <a:lnSpc>
                <a:spcPct val="116000"/>
              </a:lnSpc>
              <a:spcAft>
                <a:spcPts val="0"/>
              </a:spcAft>
            </a:pPr>
            <a:r>
              <a:rPr sz="1500" b="0" i="0">
                <a:solidFill>
                  <a:srgbClr val="242C38"/>
                </a:solidFill>
                <a:latin typeface="Consolas"/>
              </a:rPr>
              <a:t> </a:t>
            </a:r>
          </a:p>
          <a:p>
            <a:pPr>
              <a:lnSpc>
                <a:spcPct val="116000"/>
              </a:lnSpc>
              <a:spcAft>
                <a:spcPts val="0"/>
              </a:spcAft>
            </a:pPr>
            <a:r>
              <a:rPr sz="1500" b="0" i="0">
                <a:solidFill>
                  <a:srgbClr val="242C38"/>
                </a:solidFill>
                <a:latin typeface="Consolas"/>
              </a:rPr>
              <a:t>spark.conf.set(</a:t>
            </a:r>
            <a:r>
              <a:rPr sz="1500" b="0" i="0">
                <a:solidFill>
                  <a:srgbClr val="A31515"/>
                </a:solidFill>
                <a:latin typeface="Consolas"/>
              </a:rPr>
              <a:t>"spark.sql.shuffle.partitions"</a:t>
            </a:r>
            <a:r>
              <a:rPr sz="1500" b="0" i="0">
                <a:solidFill>
                  <a:srgbClr val="242C38"/>
                </a:solidFill>
                <a:latin typeface="Consolas"/>
              </a:rPr>
              <a:t>, </a:t>
            </a:r>
            <a:r>
              <a:rPr sz="1500" b="0" i="0">
                <a:solidFill>
                  <a:srgbClr val="A31515"/>
                </a:solidFill>
                <a:latin typeface="Consolas"/>
              </a:rPr>
              <a:t>"8"</a:t>
            </a:r>
            <a:r>
              <a:rPr sz="1500" b="0" i="0">
                <a:solidFill>
                  <a:srgbClr val="242C38"/>
                </a:solidFill>
                <a:latin typeface="Consolas"/>
              </a:rPr>
              <a:t>)</a:t>
            </a:r>
          </a:p>
          <a:p>
            <a:pPr>
              <a:lnSpc>
                <a:spcPct val="116000"/>
              </a:lnSpc>
              <a:spcAft>
                <a:spcPts val="0"/>
              </a:spcAft>
            </a:pPr>
            <a:r>
              <a:rPr sz="1500" b="0" i="0">
                <a:solidFill>
                  <a:srgbClr val="242C38"/>
                </a:solidFill>
                <a:latin typeface="Consolas"/>
              </a:rPr>
              <a:t>skewed.groupBy(</a:t>
            </a:r>
            <a:r>
              <a:rPr sz="1500" b="0" i="0">
                <a:solidFill>
                  <a:srgbClr val="A31515"/>
                </a:solidFill>
                <a:latin typeface="Consolas"/>
              </a:rPr>
              <a:t>"branch_code"</a:t>
            </a:r>
            <a:r>
              <a:rPr sz="1500" b="0" i="0">
                <a:solidFill>
                  <a:srgbClr val="242C38"/>
                </a:solidFill>
                <a:latin typeface="Consolas"/>
              </a:rPr>
              <a:t>).agg(F.sum(</a:t>
            </a:r>
            <a:r>
              <a:rPr sz="1500" b="0" i="0">
                <a:solidFill>
                  <a:srgbClr val="A31515"/>
                </a:solidFill>
                <a:latin typeface="Consolas"/>
              </a:rPr>
              <a:t>"amount"</a:t>
            </a:r>
            <a:r>
              <a:rPr sz="1500" b="0" i="0">
                <a:solidFill>
                  <a:srgbClr val="242C38"/>
                </a:solidFill>
                <a:latin typeface="Consolas"/>
              </a:rPr>
              <a:t>)).collect()</a:t>
            </a:r>
          </a:p>
          <a:p>
            <a:pPr>
              <a:lnSpc>
                <a:spcPct val="116000"/>
              </a:lnSpc>
              <a:spcAft>
                <a:spcPts val="0"/>
              </a:spcAft>
            </a:pPr>
            <a:r>
              <a:rPr sz="1500" b="0" i="1">
                <a:solidFill>
                  <a:srgbClr val="6F865C"/>
                </a:solidFill>
                <a:latin typeface="Consolas"/>
              </a:rPr>
              <a:t># about 0.4s</a:t>
            </a:r>
          </a:p>
        </p:txBody>
      </p:sp>
      <p:sp>
        <p:nvSpPr>
          <p:cNvPr id="7" name="TextBox 6"/>
          <p:cNvSpPr txBox="1"/>
          <p:nvPr/>
        </p:nvSpPr>
        <p:spPr>
          <a:xfrm>
            <a:off x="658368" y="4075176"/>
            <a:ext cx="10874959" cy="457200"/>
          </a:xfrm>
          <a:prstGeom prst="rect">
            <a:avLst/>
          </a:prstGeom>
          <a:noFill/>
        </p:spPr>
        <p:txBody>
          <a:bodyPr wrap="square" lIns="0" tIns="0" rIns="0" bIns="0">
            <a:spAutoFit/>
          </a:bodyPr>
          <a:lstStyle/>
          <a:p>
            <a:r>
              <a:rPr sz="1400" b="0" i="0">
                <a:solidFill>
                  <a:srgbClr val="5B6775"/>
                </a:solidFill>
                <a:latin typeface="Segoe UI"/>
              </a:rPr>
              <a:t>200 tasks for 36 branch codes is pure scheduling overhead. This course sets 8.</a:t>
            </a:r>
          </a:p>
        </p:txBody>
      </p:sp>
      <p:sp>
        <p:nvSpPr>
          <p:cNvPr id="8" name="Rectangle 7"/>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14  ·  Performance tuning</a:t>
            </a:r>
          </a:p>
        </p:txBody>
      </p:sp>
      <p:sp>
        <p:nvSpPr>
          <p:cNvPr id="10" name="TextBox 9"/>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147</a:t>
            </a:r>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Skew, measured directly, no UI needed</a:t>
            </a:r>
          </a:p>
        </p:txBody>
      </p:sp>
      <p:sp>
        <p:nvSpPr>
          <p:cNvPr id="4" name="Rectangle 3"/>
          <p:cNvSpPr/>
          <p:nvPr/>
        </p:nvSpPr>
        <p:spPr>
          <a:xfrm>
            <a:off x="658368" y="1481328"/>
            <a:ext cx="10874959" cy="2447544"/>
          </a:xfrm>
          <a:prstGeom prst="rect">
            <a:avLst/>
          </a:prstGeom>
          <a:solidFill>
            <a:srgbClr val="F5F7F9"/>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81328"/>
            <a:ext cx="43180" cy="2447544"/>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77824" y="1645920"/>
            <a:ext cx="10509199" cy="2173224"/>
          </a:xfrm>
          <a:prstGeom prst="rect">
            <a:avLst/>
          </a:prstGeom>
          <a:noFill/>
        </p:spPr>
        <p:txBody>
          <a:bodyPr wrap="square" lIns="0" tIns="0" rIns="0" bIns="0">
            <a:spAutoFit/>
          </a:bodyPr>
          <a:lstStyle/>
          <a:p>
            <a:pPr>
              <a:lnSpc>
                <a:spcPct val="116000"/>
              </a:lnSpc>
              <a:spcAft>
                <a:spcPts val="0"/>
              </a:spcAft>
            </a:pPr>
            <a:r>
              <a:rPr sz="1500" b="0" i="0">
                <a:solidFill>
                  <a:srgbClr val="242C38"/>
                </a:solidFill>
                <a:latin typeface="Consolas"/>
              </a:rPr>
              <a:t>by_branch = skewed.repartition(</a:t>
            </a:r>
            <a:r>
              <a:rPr sz="1500" b="0" i="0">
                <a:solidFill>
                  <a:srgbClr val="098658"/>
                </a:solidFill>
                <a:latin typeface="Consolas"/>
              </a:rPr>
              <a:t>8</a:t>
            </a:r>
            <a:r>
              <a:rPr sz="1500" b="0" i="0">
                <a:solidFill>
                  <a:srgbClr val="242C38"/>
                </a:solidFill>
                <a:latin typeface="Consolas"/>
              </a:rPr>
              <a:t>, </a:t>
            </a:r>
            <a:r>
              <a:rPr sz="1500" b="0" i="0">
                <a:solidFill>
                  <a:srgbClr val="A31515"/>
                </a:solidFill>
                <a:latin typeface="Consolas"/>
              </a:rPr>
              <a:t>"branch_code"</a:t>
            </a:r>
            <a:r>
              <a:rPr sz="1500" b="0" i="0">
                <a:solidFill>
                  <a:srgbClr val="242C38"/>
                </a:solidFill>
                <a:latin typeface="Consolas"/>
              </a:rPr>
              <a:t>)</a:t>
            </a:r>
          </a:p>
          <a:p>
            <a:pPr>
              <a:lnSpc>
                <a:spcPct val="116000"/>
              </a:lnSpc>
              <a:spcAft>
                <a:spcPts val="0"/>
              </a:spcAft>
            </a:pPr>
            <a:r>
              <a:rPr sz="1500" b="0" i="0">
                <a:solidFill>
                  <a:srgbClr val="242C38"/>
                </a:solidFill>
                <a:latin typeface="Consolas"/>
              </a:rPr>
              <a:t>sizes = (by_branch.withColumn(</a:t>
            </a:r>
            <a:r>
              <a:rPr sz="1500" b="0" i="0">
                <a:solidFill>
                  <a:srgbClr val="A31515"/>
                </a:solidFill>
                <a:latin typeface="Consolas"/>
              </a:rPr>
              <a:t>"pid"</a:t>
            </a:r>
            <a:r>
              <a:rPr sz="1500" b="0" i="0">
                <a:solidFill>
                  <a:srgbClr val="242C38"/>
                </a:solidFill>
                <a:latin typeface="Consolas"/>
              </a:rPr>
              <a:t>, F.spark_partition_id())</a:t>
            </a:r>
          </a:p>
          <a:p>
            <a:pPr>
              <a:lnSpc>
                <a:spcPct val="116000"/>
              </a:lnSpc>
              <a:spcAft>
                <a:spcPts val="0"/>
              </a:spcAft>
            </a:pPr>
            <a:r>
              <a:rPr sz="1500" b="0" i="0">
                <a:solidFill>
                  <a:srgbClr val="242C38"/>
                </a:solidFill>
                <a:latin typeface="Consolas"/>
              </a:rPr>
              <a:t>         .groupBy(</a:t>
            </a:r>
            <a:r>
              <a:rPr sz="1500" b="0" i="0">
                <a:solidFill>
                  <a:srgbClr val="A31515"/>
                </a:solidFill>
                <a:latin typeface="Consolas"/>
              </a:rPr>
              <a:t>"pid"</a:t>
            </a:r>
            <a:r>
              <a:rPr sz="1500" b="0" i="0">
                <a:solidFill>
                  <a:srgbClr val="242C38"/>
                </a:solidFill>
                <a:latin typeface="Consolas"/>
              </a:rPr>
              <a:t>).count())</a:t>
            </a:r>
          </a:p>
          <a:p>
            <a:pPr>
              <a:lnSpc>
                <a:spcPct val="116000"/>
              </a:lnSpc>
              <a:spcAft>
                <a:spcPts val="0"/>
              </a:spcAft>
            </a:pPr>
            <a:r>
              <a:rPr sz="1500" b="0" i="0">
                <a:solidFill>
                  <a:srgbClr val="242C38"/>
                </a:solidFill>
                <a:latin typeface="Consolas"/>
              </a:rPr>
              <a:t>counts = [r[</a:t>
            </a:r>
            <a:r>
              <a:rPr sz="1500" b="0" i="0">
                <a:solidFill>
                  <a:srgbClr val="A31515"/>
                </a:solidFill>
                <a:latin typeface="Consolas"/>
              </a:rPr>
              <a:t>"count"</a:t>
            </a:r>
            <a:r>
              <a:rPr sz="1500" b="0" i="0">
                <a:solidFill>
                  <a:srgbClr val="242C38"/>
                </a:solidFill>
                <a:latin typeface="Consolas"/>
              </a:rPr>
              <a:t>] </a:t>
            </a:r>
            <a:r>
              <a:rPr sz="1500" b="0" i="0">
                <a:solidFill>
                  <a:srgbClr val="0F5BA7"/>
                </a:solidFill>
                <a:latin typeface="Consolas"/>
              </a:rPr>
              <a:t>for</a:t>
            </a:r>
            <a:r>
              <a:rPr sz="1500" b="0" i="0">
                <a:solidFill>
                  <a:srgbClr val="242C38"/>
                </a:solidFill>
                <a:latin typeface="Consolas"/>
              </a:rPr>
              <a:t> r </a:t>
            </a:r>
            <a:r>
              <a:rPr sz="1500" b="0" i="0">
                <a:solidFill>
                  <a:srgbClr val="0F5BA7"/>
                </a:solidFill>
                <a:latin typeface="Consolas"/>
              </a:rPr>
              <a:t>in</a:t>
            </a:r>
            <a:r>
              <a:rPr sz="1500" b="0" i="0">
                <a:solidFill>
                  <a:srgbClr val="242C38"/>
                </a:solidFill>
                <a:latin typeface="Consolas"/>
              </a:rPr>
              <a:t> sizes.collect()]</a:t>
            </a:r>
          </a:p>
          <a:p>
            <a:pPr>
              <a:lnSpc>
                <a:spcPct val="116000"/>
              </a:lnSpc>
              <a:spcAft>
                <a:spcPts val="0"/>
              </a:spcAft>
            </a:pPr>
            <a:r>
              <a:rPr sz="1500" b="0" i="0">
                <a:solidFill>
                  <a:srgbClr val="242C38"/>
                </a:solidFill>
                <a:latin typeface="Consolas"/>
              </a:rPr>
              <a:t> </a:t>
            </a:r>
          </a:p>
          <a:p>
            <a:pPr>
              <a:lnSpc>
                <a:spcPct val="116000"/>
              </a:lnSpc>
              <a:spcAft>
                <a:spcPts val="0"/>
              </a:spcAft>
            </a:pPr>
            <a:r>
              <a:rPr sz="1500" b="0" i="0">
                <a:solidFill>
                  <a:srgbClr val="242C38"/>
                </a:solidFill>
                <a:latin typeface="Consolas"/>
              </a:rPr>
              <a:t>ratio = max(counts) / min(counts)</a:t>
            </a:r>
          </a:p>
          <a:p>
            <a:pPr>
              <a:lnSpc>
                <a:spcPct val="116000"/>
              </a:lnSpc>
              <a:spcAft>
                <a:spcPts val="0"/>
              </a:spcAft>
            </a:pPr>
            <a:r>
              <a:rPr sz="1500" b="0" i="1">
                <a:solidFill>
                  <a:srgbClr val="6F865C"/>
                </a:solidFill>
                <a:latin typeface="Consolas"/>
              </a:rPr>
              <a:t># about 8.7x, largest partition to smallest</a:t>
            </a:r>
          </a:p>
        </p:txBody>
      </p:sp>
      <p:sp>
        <p:nvSpPr>
          <p:cNvPr id="7" name="TextBox 6"/>
          <p:cNvSpPr txBox="1"/>
          <p:nvPr/>
        </p:nvSpPr>
        <p:spPr>
          <a:xfrm>
            <a:off x="658368" y="4075176"/>
            <a:ext cx="10874959" cy="457200"/>
          </a:xfrm>
          <a:prstGeom prst="rect">
            <a:avLst/>
          </a:prstGeom>
          <a:noFill/>
        </p:spPr>
        <p:txBody>
          <a:bodyPr wrap="square" lIns="0" tIns="0" rIns="0" bIns="0">
            <a:spAutoFit/>
          </a:bodyPr>
          <a:lstStyle/>
          <a:p>
            <a:r>
              <a:rPr sz="1400" b="0" i="0">
                <a:solidFill>
                  <a:srgbClr val="5B6775"/>
                </a:solidFill>
                <a:latin typeface="Segoe UI"/>
              </a:rPr>
              <a:t>That ratio, not a vague "it feels slow", is the number to trust.</a:t>
            </a:r>
          </a:p>
        </p:txBody>
      </p:sp>
      <p:sp>
        <p:nvSpPr>
          <p:cNvPr id="8" name="Rectangle 7"/>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14  ·  Performance tuning</a:t>
            </a:r>
          </a:p>
        </p:txBody>
      </p:sp>
      <p:sp>
        <p:nvSpPr>
          <p:cNvPr id="10" name="TextBox 9"/>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148</a:t>
            </a:r>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Salting: spread the hot key across N buckets</a:t>
            </a:r>
          </a:p>
        </p:txBody>
      </p:sp>
      <p:sp>
        <p:nvSpPr>
          <p:cNvPr id="4" name="Rectangle 3"/>
          <p:cNvSpPr/>
          <p:nvPr/>
        </p:nvSpPr>
        <p:spPr>
          <a:xfrm>
            <a:off x="658368" y="1481328"/>
            <a:ext cx="10874959" cy="1868424"/>
          </a:xfrm>
          <a:prstGeom prst="rect">
            <a:avLst/>
          </a:prstGeom>
          <a:solidFill>
            <a:srgbClr val="F5F7F9"/>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81328"/>
            <a:ext cx="43180" cy="1868424"/>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77824" y="1645920"/>
            <a:ext cx="10509199" cy="1594104"/>
          </a:xfrm>
          <a:prstGeom prst="rect">
            <a:avLst/>
          </a:prstGeom>
          <a:noFill/>
        </p:spPr>
        <p:txBody>
          <a:bodyPr wrap="square" lIns="0" tIns="0" rIns="0" bIns="0">
            <a:spAutoFit/>
          </a:bodyPr>
          <a:lstStyle/>
          <a:p>
            <a:pPr>
              <a:lnSpc>
                <a:spcPct val="116000"/>
              </a:lnSpc>
              <a:spcAft>
                <a:spcPts val="0"/>
              </a:spcAft>
            </a:pPr>
            <a:r>
              <a:rPr sz="1500" b="0" i="0">
                <a:solidFill>
                  <a:srgbClr val="242C38"/>
                </a:solidFill>
                <a:latin typeface="Consolas"/>
              </a:rPr>
              <a:t>N = </a:t>
            </a:r>
            <a:r>
              <a:rPr sz="1500" b="0" i="0">
                <a:solidFill>
                  <a:srgbClr val="098658"/>
                </a:solidFill>
                <a:latin typeface="Consolas"/>
              </a:rPr>
              <a:t>8</a:t>
            </a:r>
          </a:p>
          <a:p>
            <a:pPr>
              <a:lnSpc>
                <a:spcPct val="116000"/>
              </a:lnSpc>
              <a:spcAft>
                <a:spcPts val="0"/>
              </a:spcAft>
            </a:pPr>
            <a:r>
              <a:rPr sz="1500" b="0" i="0">
                <a:solidFill>
                  <a:srgbClr val="242C38"/>
                </a:solidFill>
                <a:latin typeface="Consolas"/>
              </a:rPr>
              <a:t>salted = skewed.withColumn(</a:t>
            </a:r>
          </a:p>
          <a:p>
            <a:pPr>
              <a:lnSpc>
                <a:spcPct val="116000"/>
              </a:lnSpc>
              <a:spcAft>
                <a:spcPts val="0"/>
              </a:spcAft>
            </a:pPr>
            <a:r>
              <a:rPr sz="1500" b="0" i="0">
                <a:solidFill>
                  <a:srgbClr val="242C38"/>
                </a:solidFill>
                <a:latin typeface="Consolas"/>
              </a:rPr>
              <a:t>    </a:t>
            </a:r>
            <a:r>
              <a:rPr sz="1500" b="0" i="0">
                <a:solidFill>
                  <a:srgbClr val="A31515"/>
                </a:solidFill>
                <a:latin typeface="Consolas"/>
              </a:rPr>
              <a:t>"salt"</a:t>
            </a:r>
            <a:r>
              <a:rPr sz="1500" b="0" i="0">
                <a:solidFill>
                  <a:srgbClr val="242C38"/>
                </a:solidFill>
                <a:latin typeface="Consolas"/>
              </a:rPr>
              <a:t>, (F.rand(seed=</a:t>
            </a:r>
            <a:r>
              <a:rPr sz="1500" b="0" i="0">
                <a:solidFill>
                  <a:srgbClr val="098658"/>
                </a:solidFill>
                <a:latin typeface="Consolas"/>
              </a:rPr>
              <a:t>42</a:t>
            </a:r>
            <a:r>
              <a:rPr sz="1500" b="0" i="0">
                <a:solidFill>
                  <a:srgbClr val="242C38"/>
                </a:solidFill>
                <a:latin typeface="Consolas"/>
              </a:rPr>
              <a:t>) * N).cast(</a:t>
            </a:r>
            <a:r>
              <a:rPr sz="1500" b="0" i="0">
                <a:solidFill>
                  <a:srgbClr val="A31515"/>
                </a:solidFill>
                <a:latin typeface="Consolas"/>
              </a:rPr>
              <a:t>"int"</a:t>
            </a:r>
            <a:r>
              <a:rPr sz="1500" b="0" i="0">
                <a:solidFill>
                  <a:srgbClr val="242C38"/>
                </a:solidFill>
                <a:latin typeface="Consolas"/>
              </a:rPr>
              <a:t>))</a:t>
            </a:r>
          </a:p>
          <a:p>
            <a:pPr>
              <a:lnSpc>
                <a:spcPct val="116000"/>
              </a:lnSpc>
              <a:spcAft>
                <a:spcPts val="0"/>
              </a:spcAft>
            </a:pPr>
            <a:r>
              <a:rPr sz="1500" b="0" i="0">
                <a:solidFill>
                  <a:srgbClr val="242C38"/>
                </a:solidFill>
                <a:latin typeface="Consolas"/>
              </a:rPr>
              <a:t>by_salted = salted.repartition(</a:t>
            </a:r>
            <a:r>
              <a:rPr sz="1500" b="0" i="0">
                <a:solidFill>
                  <a:srgbClr val="098658"/>
                </a:solidFill>
                <a:latin typeface="Consolas"/>
              </a:rPr>
              <a:t>8</a:t>
            </a:r>
            <a:r>
              <a:rPr sz="1500" b="0" i="0">
                <a:solidFill>
                  <a:srgbClr val="242C38"/>
                </a:solidFill>
                <a:latin typeface="Consolas"/>
              </a:rPr>
              <a:t>, </a:t>
            </a:r>
            <a:r>
              <a:rPr sz="1500" b="0" i="0">
                <a:solidFill>
                  <a:srgbClr val="A31515"/>
                </a:solidFill>
                <a:latin typeface="Consolas"/>
              </a:rPr>
              <a:t>"branch_code"</a:t>
            </a:r>
            <a:r>
              <a:rPr sz="1500" b="0" i="0">
                <a:solidFill>
                  <a:srgbClr val="242C38"/>
                </a:solidFill>
                <a:latin typeface="Consolas"/>
              </a:rPr>
              <a:t>, </a:t>
            </a:r>
            <a:r>
              <a:rPr sz="1500" b="0" i="0">
                <a:solidFill>
                  <a:srgbClr val="A31515"/>
                </a:solidFill>
                <a:latin typeface="Consolas"/>
              </a:rPr>
              <a:t>"salt"</a:t>
            </a:r>
            <a:r>
              <a:rPr sz="1500" b="0" i="0">
                <a:solidFill>
                  <a:srgbClr val="242C38"/>
                </a:solidFill>
                <a:latin typeface="Consolas"/>
              </a:rPr>
              <a:t>)</a:t>
            </a:r>
          </a:p>
          <a:p>
            <a:pPr>
              <a:lnSpc>
                <a:spcPct val="116000"/>
              </a:lnSpc>
              <a:spcAft>
                <a:spcPts val="0"/>
              </a:spcAft>
            </a:pPr>
            <a:r>
              <a:rPr sz="1500" b="0" i="1">
                <a:solidFill>
                  <a:srgbClr val="6F865C"/>
                </a:solidFill>
                <a:latin typeface="Consolas"/>
              </a:rPr>
              <a:t># skew ratio: 8.7x before salting -&gt; 1.9x after</a:t>
            </a:r>
          </a:p>
        </p:txBody>
      </p:sp>
      <p:sp>
        <p:nvSpPr>
          <p:cNvPr id="7" name="TextBox 6"/>
          <p:cNvSpPr txBox="1"/>
          <p:nvPr/>
        </p:nvSpPr>
        <p:spPr>
          <a:xfrm>
            <a:off x="658368" y="3496056"/>
            <a:ext cx="10874959" cy="457200"/>
          </a:xfrm>
          <a:prstGeom prst="rect">
            <a:avLst/>
          </a:prstGeom>
          <a:noFill/>
        </p:spPr>
        <p:txBody>
          <a:bodyPr wrap="square" lIns="0" tIns="0" rIns="0" bIns="0">
            <a:spAutoFit/>
          </a:bodyPr>
          <a:lstStyle/>
          <a:p>
            <a:r>
              <a:rPr sz="1400" b="0" i="0">
                <a:solidFill>
                  <a:srgbClr val="5B6775"/>
                </a:solidFill>
                <a:latin typeface="Segoe UI"/>
              </a:rPr>
              <a:t>Row count stays exactly the same. Salting only changes how rows spread across partitions.</a:t>
            </a:r>
          </a:p>
        </p:txBody>
      </p:sp>
      <p:sp>
        <p:nvSpPr>
          <p:cNvPr id="8" name="Rectangle 7"/>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14  ·  Performance tuning</a:t>
            </a:r>
          </a:p>
        </p:txBody>
      </p:sp>
      <p:sp>
        <p:nvSpPr>
          <p:cNvPr id="10" name="TextBox 9"/>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149</a:t>
            </a:r>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Two skew fixes, two different situations</a:t>
            </a:r>
          </a:p>
        </p:txBody>
      </p:sp>
      <p:sp>
        <p:nvSpPr>
          <p:cNvPr id="4" name="Rectangle 3"/>
          <p:cNvSpPr/>
          <p:nvPr/>
        </p:nvSpPr>
        <p:spPr>
          <a:xfrm>
            <a:off x="658368" y="1481328"/>
            <a:ext cx="5245455" cy="420624"/>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1581912"/>
            <a:ext cx="4971135" cy="274320"/>
          </a:xfrm>
          <a:prstGeom prst="rect">
            <a:avLst/>
          </a:prstGeom>
          <a:noFill/>
        </p:spPr>
        <p:txBody>
          <a:bodyPr wrap="square" lIns="0" tIns="0" rIns="0" bIns="0">
            <a:spAutoFit/>
          </a:bodyPr>
          <a:lstStyle/>
          <a:p>
            <a:r>
              <a:rPr sz="1450" b="1" i="0">
                <a:solidFill>
                  <a:srgbClr val="1F4E79"/>
                </a:solidFill>
                <a:latin typeface="Segoe UI Semibold"/>
              </a:rPr>
              <a:t>Broadcast, when the small side fits</a:t>
            </a:r>
          </a:p>
        </p:txBody>
      </p:sp>
      <p:sp>
        <p:nvSpPr>
          <p:cNvPr id="6" name="TextBox 5"/>
          <p:cNvSpPr txBox="1"/>
          <p:nvPr/>
        </p:nvSpPr>
        <p:spPr>
          <a:xfrm>
            <a:off x="704088" y="2103120"/>
            <a:ext cx="5154015" cy="3794760"/>
          </a:xfrm>
          <a:prstGeom prst="rect">
            <a:avLst/>
          </a:prstGeom>
          <a:noFill/>
        </p:spPr>
        <p:txBody>
          <a:bodyPr wrap="square" lIns="0" tIns="0" rIns="0" bIns="0">
            <a:spAutoFit/>
          </a:bodyPr>
          <a:lstStyle/>
          <a:p>
            <a:pPr marL="274320" indent="-274320">
              <a:lnSpc>
                <a:spcPct val="118000"/>
              </a:lnSpc>
              <a:spcAft>
                <a:spcPts val="900"/>
              </a:spcAft>
            </a:pPr>
            <a:r>
              <a:rPr sz="1600" b="1" i="0">
                <a:solidFill>
                  <a:srgbClr val="2E74B5"/>
                </a:solidFill>
                <a:latin typeface="Segoe UI"/>
              </a:rPr>
              <a:t>▪   </a:t>
            </a:r>
            <a:r>
              <a:rPr sz="1600" b="0" i="0">
                <a:solidFill>
                  <a:srgbClr val="242C38"/>
                </a:solidFill>
                <a:latin typeface="Segoe UI"/>
              </a:rPr>
              <a:t>Neither side needs to shuffle by the key at all</a:t>
            </a:r>
          </a:p>
          <a:p>
            <a:pPr marL="274320" indent="-274320">
              <a:lnSpc>
                <a:spcPct val="118000"/>
              </a:lnSpc>
              <a:spcAft>
                <a:spcPts val="900"/>
              </a:spcAft>
            </a:pPr>
            <a:r>
              <a:rPr sz="1600" b="1" i="0">
                <a:solidFill>
                  <a:srgbClr val="2E74B5"/>
                </a:solidFill>
                <a:latin typeface="Segoe UI"/>
              </a:rPr>
              <a:t>▪   </a:t>
            </a:r>
            <a:r>
              <a:rPr sz="1600" b="0" i="0">
                <a:solidFill>
                  <a:srgbClr val="242C38"/>
                </a:solidFill>
                <a:latin typeface="Segoe UI"/>
              </a:rPr>
              <a:t>The right first move whenever the small table qualifies</a:t>
            </a:r>
          </a:p>
          <a:p>
            <a:pPr marL="274320" indent="-274320">
              <a:lnSpc>
                <a:spcPct val="118000"/>
              </a:lnSpc>
              <a:spcAft>
                <a:spcPts val="900"/>
              </a:spcAft>
            </a:pPr>
            <a:r>
              <a:rPr sz="1600" b="1" i="0">
                <a:solidFill>
                  <a:srgbClr val="2E74B5"/>
                </a:solidFill>
                <a:latin typeface="Segoe UI"/>
              </a:rPr>
              <a:t>▪   </a:t>
            </a:r>
            <a:r>
              <a:rPr sz="1600" b="0" i="0">
                <a:solidFill>
                  <a:srgbClr val="242C38"/>
                </a:solidFill>
                <a:latin typeface="Segoe UI"/>
              </a:rPr>
              <a:t>Default threshold is 10MB, `F.broadcast(df)` documents intent</a:t>
            </a:r>
          </a:p>
        </p:txBody>
      </p:sp>
      <p:sp>
        <p:nvSpPr>
          <p:cNvPr id="7" name="Rectangle 6"/>
          <p:cNvSpPr/>
          <p:nvPr/>
        </p:nvSpPr>
        <p:spPr>
          <a:xfrm>
            <a:off x="6287871" y="1481328"/>
            <a:ext cx="5245455" cy="420624"/>
          </a:xfrm>
          <a:prstGeom prst="rect">
            <a:avLst/>
          </a:prstGeom>
          <a:solidFill>
            <a:srgbClr val="FFFFFF"/>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52463" y="1581912"/>
            <a:ext cx="4971135" cy="274320"/>
          </a:xfrm>
          <a:prstGeom prst="rect">
            <a:avLst/>
          </a:prstGeom>
          <a:noFill/>
        </p:spPr>
        <p:txBody>
          <a:bodyPr wrap="square" lIns="0" tIns="0" rIns="0" bIns="0">
            <a:spAutoFit/>
          </a:bodyPr>
          <a:lstStyle/>
          <a:p>
            <a:r>
              <a:rPr sz="1450" b="1" i="0">
                <a:solidFill>
                  <a:srgbClr val="5B6775"/>
                </a:solidFill>
                <a:latin typeface="Segoe UI Semibold"/>
              </a:rPr>
              <a:t>Salting, only when both sides are large</a:t>
            </a:r>
          </a:p>
        </p:txBody>
      </p:sp>
      <p:sp>
        <p:nvSpPr>
          <p:cNvPr id="9" name="TextBox 8"/>
          <p:cNvSpPr txBox="1"/>
          <p:nvPr/>
        </p:nvSpPr>
        <p:spPr>
          <a:xfrm>
            <a:off x="6333591" y="2103120"/>
            <a:ext cx="5154015" cy="3794760"/>
          </a:xfrm>
          <a:prstGeom prst="rect">
            <a:avLst/>
          </a:prstGeom>
          <a:noFill/>
        </p:spPr>
        <p:txBody>
          <a:bodyPr wrap="square" lIns="0" tIns="0" rIns="0" bIns="0">
            <a:spAutoFit/>
          </a:bodyPr>
          <a:lstStyle/>
          <a:p>
            <a:pPr marL="274320" indent="-274320">
              <a:lnSpc>
                <a:spcPct val="118000"/>
              </a:lnSpc>
              <a:spcAft>
                <a:spcPts val="900"/>
              </a:spcAft>
            </a:pPr>
            <a:r>
              <a:rPr sz="1600" b="1" i="0">
                <a:solidFill>
                  <a:srgbClr val="2E74B5"/>
                </a:solidFill>
                <a:latin typeface="Segoe UI"/>
              </a:rPr>
              <a:t>▪   </a:t>
            </a:r>
            <a:r>
              <a:rPr sz="1600" b="0" i="0">
                <a:solidFill>
                  <a:srgbClr val="242C38"/>
                </a:solidFill>
                <a:latin typeface="Segoe UI"/>
              </a:rPr>
              <a:t>Spreads a hot key when neither side can broadcast</a:t>
            </a:r>
          </a:p>
          <a:p>
            <a:pPr marL="274320" indent="-274320">
              <a:lnSpc>
                <a:spcPct val="118000"/>
              </a:lnSpc>
              <a:spcAft>
                <a:spcPts val="900"/>
              </a:spcAft>
            </a:pPr>
            <a:r>
              <a:rPr sz="1600" b="1" i="0">
                <a:solidFill>
                  <a:srgbClr val="2E74B5"/>
                </a:solidFill>
                <a:latin typeface="Segoe UI"/>
              </a:rPr>
              <a:t>▪   </a:t>
            </a:r>
            <a:r>
              <a:rPr sz="1600" b="0" i="0">
                <a:solidFill>
                  <a:srgbClr val="242C38"/>
                </a:solidFill>
                <a:latin typeface="Segoe UI"/>
              </a:rPr>
              <a:t>Fixes the skew ratio, real payoff needs real cluster cores</a:t>
            </a:r>
          </a:p>
          <a:p>
            <a:pPr marL="274320" indent="-274320">
              <a:lnSpc>
                <a:spcPct val="118000"/>
              </a:lnSpc>
              <a:spcAft>
                <a:spcPts val="900"/>
              </a:spcAft>
            </a:pPr>
            <a:r>
              <a:rPr sz="1600" b="1" i="0">
                <a:solidFill>
                  <a:srgbClr val="2E74B5"/>
                </a:solidFill>
                <a:latin typeface="Segoe UI"/>
              </a:rPr>
              <a:t>▪   </a:t>
            </a:r>
            <a:r>
              <a:rPr sz="1600" b="0" i="0">
                <a:solidFill>
                  <a:srgbClr val="242C38"/>
                </a:solidFill>
                <a:latin typeface="Segoe UI"/>
              </a:rPr>
              <a:t>AQE's skew join handling often does this automatically</a:t>
            </a:r>
          </a:p>
        </p:txBody>
      </p:sp>
      <p:sp>
        <p:nvSpPr>
          <p:cNvPr id="10" name="Rectangle 9"/>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14  ·  Performance tuning</a:t>
            </a:r>
          </a:p>
        </p:txBody>
      </p:sp>
      <p:sp>
        <p:nvSpPr>
          <p:cNvPr id="12" name="TextBox 11"/>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150</a:t>
            </a:r>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AQE off vs on, same query</a:t>
            </a:r>
          </a:p>
        </p:txBody>
      </p:sp>
      <p:sp>
        <p:nvSpPr>
          <p:cNvPr id="4" name="Rectangle 3"/>
          <p:cNvSpPr/>
          <p:nvPr/>
        </p:nvSpPr>
        <p:spPr>
          <a:xfrm>
            <a:off x="658368" y="1481328"/>
            <a:ext cx="10874959" cy="2157984"/>
          </a:xfrm>
          <a:prstGeom prst="rect">
            <a:avLst/>
          </a:prstGeom>
          <a:solidFill>
            <a:srgbClr val="F5F7F9"/>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81328"/>
            <a:ext cx="43180" cy="2157984"/>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77824" y="1645920"/>
            <a:ext cx="10509199" cy="1883664"/>
          </a:xfrm>
          <a:prstGeom prst="rect">
            <a:avLst/>
          </a:prstGeom>
          <a:noFill/>
        </p:spPr>
        <p:txBody>
          <a:bodyPr wrap="square" lIns="0" tIns="0" rIns="0" bIns="0">
            <a:spAutoFit/>
          </a:bodyPr>
          <a:lstStyle/>
          <a:p>
            <a:pPr>
              <a:lnSpc>
                <a:spcPct val="116000"/>
              </a:lnSpc>
              <a:spcAft>
                <a:spcPts val="0"/>
              </a:spcAft>
            </a:pPr>
            <a:r>
              <a:rPr sz="1500" b="0" i="0">
                <a:solidFill>
                  <a:srgbClr val="242C38"/>
                </a:solidFill>
                <a:latin typeface="Consolas"/>
              </a:rPr>
              <a:t>spark = get_spark(</a:t>
            </a:r>
            <a:r>
              <a:rPr sz="1500" b="0" i="0">
                <a:solidFill>
                  <a:srgbClr val="A31515"/>
                </a:solidFill>
                <a:latin typeface="Consolas"/>
              </a:rPr>
              <a:t>"lab-14-aqe"</a:t>
            </a:r>
            <a:r>
              <a:rPr sz="1500" b="0" i="0">
                <a:solidFill>
                  <a:srgbClr val="242C38"/>
                </a:solidFill>
                <a:latin typeface="Consolas"/>
              </a:rPr>
              <a:t>, aqe=</a:t>
            </a:r>
            <a:r>
              <a:rPr sz="1500" b="0" i="0">
                <a:solidFill>
                  <a:srgbClr val="0F5BA7"/>
                </a:solidFill>
                <a:latin typeface="Consolas"/>
              </a:rPr>
              <a:t>False</a:t>
            </a:r>
            <a:r>
              <a:rPr sz="1500" b="0" i="0">
                <a:solidFill>
                  <a:srgbClr val="242C38"/>
                </a:solidFill>
                <a:latin typeface="Consolas"/>
              </a:rPr>
              <a:t>, shuffle_partitions=</a:t>
            </a:r>
            <a:r>
              <a:rPr sz="1500" b="0" i="0">
                <a:solidFill>
                  <a:srgbClr val="098658"/>
                </a:solidFill>
                <a:latin typeface="Consolas"/>
              </a:rPr>
              <a:t>200</a:t>
            </a:r>
            <a:r>
              <a:rPr sz="1500" b="0" i="0">
                <a:solidFill>
                  <a:srgbClr val="242C38"/>
                </a:solidFill>
                <a:latin typeface="Consolas"/>
              </a:rPr>
              <a:t>)</a:t>
            </a:r>
          </a:p>
          <a:p>
            <a:pPr>
              <a:lnSpc>
                <a:spcPct val="116000"/>
              </a:lnSpc>
              <a:spcAft>
                <a:spcPts val="0"/>
              </a:spcAft>
            </a:pPr>
            <a:r>
              <a:rPr sz="1500" b="0" i="1">
                <a:solidFill>
                  <a:srgbClr val="6F865C"/>
                </a:solidFill>
                <a:latin typeface="Consolas"/>
              </a:rPr>
              <a:t># ... run, collect ...</a:t>
            </a:r>
          </a:p>
          <a:p>
            <a:pPr>
              <a:lnSpc>
                <a:spcPct val="116000"/>
              </a:lnSpc>
              <a:spcAft>
                <a:spcPts val="0"/>
              </a:spcAft>
            </a:pPr>
            <a:r>
              <a:rPr sz="1500" b="0" i="0">
                <a:solidFill>
                  <a:srgbClr val="242C38"/>
                </a:solidFill>
                <a:latin typeface="Consolas"/>
              </a:rPr>
              <a:t>spark.stop()</a:t>
            </a:r>
          </a:p>
          <a:p>
            <a:pPr>
              <a:lnSpc>
                <a:spcPct val="116000"/>
              </a:lnSpc>
              <a:spcAft>
                <a:spcPts val="0"/>
              </a:spcAft>
            </a:pPr>
            <a:r>
              <a:rPr sz="1500" b="0" i="0">
                <a:solidFill>
                  <a:srgbClr val="242C38"/>
                </a:solidFill>
                <a:latin typeface="Consolas"/>
              </a:rPr>
              <a:t> </a:t>
            </a:r>
          </a:p>
          <a:p>
            <a:pPr>
              <a:lnSpc>
                <a:spcPct val="116000"/>
              </a:lnSpc>
              <a:spcAft>
                <a:spcPts val="0"/>
              </a:spcAft>
            </a:pPr>
            <a:r>
              <a:rPr sz="1500" b="0" i="0">
                <a:solidFill>
                  <a:srgbClr val="242C38"/>
                </a:solidFill>
                <a:latin typeface="Consolas"/>
              </a:rPr>
              <a:t>spark = get_spark(</a:t>
            </a:r>
            <a:r>
              <a:rPr sz="1500" b="0" i="0">
                <a:solidFill>
                  <a:srgbClr val="A31515"/>
                </a:solidFill>
                <a:latin typeface="Consolas"/>
              </a:rPr>
              <a:t>"lab-14-aqe"</a:t>
            </a:r>
            <a:r>
              <a:rPr sz="1500" b="0" i="0">
                <a:solidFill>
                  <a:srgbClr val="242C38"/>
                </a:solidFill>
                <a:latin typeface="Consolas"/>
              </a:rPr>
              <a:t>, aqe=</a:t>
            </a:r>
            <a:r>
              <a:rPr sz="1500" b="0" i="0">
                <a:solidFill>
                  <a:srgbClr val="0F5BA7"/>
                </a:solidFill>
                <a:latin typeface="Consolas"/>
              </a:rPr>
              <a:t>True</a:t>
            </a:r>
            <a:r>
              <a:rPr sz="1500" b="0" i="0">
                <a:solidFill>
                  <a:srgbClr val="242C38"/>
                </a:solidFill>
                <a:latin typeface="Consolas"/>
              </a:rPr>
              <a:t>, shuffle_partitions=</a:t>
            </a:r>
            <a:r>
              <a:rPr sz="1500" b="0" i="0">
                <a:solidFill>
                  <a:srgbClr val="098658"/>
                </a:solidFill>
                <a:latin typeface="Consolas"/>
              </a:rPr>
              <a:t>200</a:t>
            </a:r>
            <a:r>
              <a:rPr sz="1500" b="0" i="0">
                <a:solidFill>
                  <a:srgbClr val="242C38"/>
                </a:solidFill>
                <a:latin typeface="Consolas"/>
              </a:rPr>
              <a:t>)</a:t>
            </a:r>
          </a:p>
          <a:p>
            <a:pPr>
              <a:lnSpc>
                <a:spcPct val="116000"/>
              </a:lnSpc>
              <a:spcAft>
                <a:spcPts val="0"/>
              </a:spcAft>
            </a:pPr>
            <a:r>
              <a:rPr sz="1500" b="0" i="1">
                <a:solidFill>
                  <a:srgbClr val="6F865C"/>
                </a:solidFill>
                <a:latin typeface="Consolas"/>
              </a:rPr>
              <a:t># same query, Spark coalesces 200 down to what the data needs</a:t>
            </a:r>
          </a:p>
        </p:txBody>
      </p:sp>
      <p:sp>
        <p:nvSpPr>
          <p:cNvPr id="7" name="TextBox 6"/>
          <p:cNvSpPr txBox="1"/>
          <p:nvPr/>
        </p:nvSpPr>
        <p:spPr>
          <a:xfrm>
            <a:off x="658368" y="3785616"/>
            <a:ext cx="10874959" cy="457200"/>
          </a:xfrm>
          <a:prstGeom prst="rect">
            <a:avLst/>
          </a:prstGeom>
          <a:noFill/>
        </p:spPr>
        <p:txBody>
          <a:bodyPr wrap="square" lIns="0" tIns="0" rIns="0" bIns="0">
            <a:spAutoFit/>
          </a:bodyPr>
          <a:lstStyle/>
          <a:p>
            <a:r>
              <a:rPr sz="1400" b="0" i="0">
                <a:solidFill>
                  <a:srgbClr val="5B6775"/>
                </a:solidFill>
                <a:latin typeface="Segoe UI"/>
              </a:rPr>
              <a:t>aqe is a build-time choice on this course's session, not a mid-query conf.set.</a:t>
            </a:r>
          </a:p>
        </p:txBody>
      </p:sp>
      <p:sp>
        <p:nvSpPr>
          <p:cNvPr id="8" name="Rectangle 7"/>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14  ·  Performance tuning</a:t>
            </a:r>
          </a:p>
        </p:txBody>
      </p:sp>
      <p:sp>
        <p:nvSpPr>
          <p:cNvPr id="10" name="TextBox 9"/>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151</a:t>
            </a:r>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The calls that control partitioning</a:t>
            </a:r>
          </a:p>
        </p:txBody>
      </p:sp>
      <p:graphicFrame>
        <p:nvGraphicFramePr>
          <p:cNvPr id="4" name="Table 3"/>
          <p:cNvGraphicFramePr>
            <a:graphicFrameLocks noGrp="1"/>
          </p:cNvGraphicFramePr>
          <p:nvPr/>
        </p:nvGraphicFramePr>
        <p:xfrm>
          <a:off x="658368" y="1481328"/>
          <a:ext cx="10874958" cy="2304288"/>
        </p:xfrm>
        <a:graphic>
          <a:graphicData uri="http://schemas.openxmlformats.org/drawingml/2006/table">
            <a:tbl>
              <a:tblPr firstRow="1" bandRow="1">
                <a:tableStyleId>{5C22544A-7EE6-4342-B048-85BDC9FD1C3A}</a:tableStyleId>
              </a:tblPr>
              <a:tblGrid>
                <a:gridCol w="5290520">
                  <a:extLst>
                    <a:ext uri="{9D8B030D-6E8A-4147-A177-3AD203B41FA5}">
                      <a16:colId xmlns:a16="http://schemas.microsoft.com/office/drawing/2014/main" val="20000"/>
                    </a:ext>
                  </a:extLst>
                </a:gridCol>
                <a:gridCol w="5584438">
                  <a:extLst>
                    <a:ext uri="{9D8B030D-6E8A-4147-A177-3AD203B41FA5}">
                      <a16:colId xmlns:a16="http://schemas.microsoft.com/office/drawing/2014/main" val="20001"/>
                    </a:ext>
                  </a:extLst>
                </a:gridCol>
              </a:tblGrid>
              <a:tr h="402336">
                <a:tc>
                  <a:txBody>
                    <a:bodyPr/>
                    <a:lstStyle/>
                    <a:p>
                      <a:r>
                        <a:rPr sz="1450" b="1" i="0">
                          <a:solidFill>
                            <a:srgbClr val="FFFFFF"/>
                          </a:solidFill>
                          <a:latin typeface="Segoe UI Semibold"/>
                        </a:rPr>
                        <a:t>Call</a:t>
                      </a:r>
                    </a:p>
                  </a:txBody>
                  <a:tcPr anchor="ctr">
                    <a:solidFill>
                      <a:srgbClr val="1F4E79"/>
                    </a:solidFill>
                  </a:tcPr>
                </a:tc>
                <a:tc>
                  <a:txBody>
                    <a:bodyPr/>
                    <a:lstStyle/>
                    <a:p>
                      <a:r>
                        <a:rPr sz="1450" b="1" i="0">
                          <a:solidFill>
                            <a:srgbClr val="FFFFFF"/>
                          </a:solidFill>
                          <a:latin typeface="Segoe UI Semibold"/>
                        </a:rPr>
                        <a:t>Controls</a:t>
                      </a:r>
                    </a:p>
                  </a:txBody>
                  <a:tcPr anchor="ctr">
                    <a:solidFill>
                      <a:srgbClr val="1F4E79"/>
                    </a:solidFill>
                  </a:tcPr>
                </a:tc>
                <a:extLst>
                  <a:ext uri="{0D108BD9-81ED-4DB2-BD59-A6C34878D82A}">
                    <a16:rowId xmlns:a16="http://schemas.microsoft.com/office/drawing/2014/main" val="10000"/>
                  </a:ext>
                </a:extLst>
              </a:tr>
              <a:tr h="475488">
                <a:tc>
                  <a:txBody>
                    <a:bodyPr/>
                    <a:lstStyle/>
                    <a:p>
                      <a:pPr>
                        <a:lnSpc>
                          <a:spcPct val="106000"/>
                        </a:lnSpc>
                      </a:pPr>
                      <a:r>
                        <a:rPr sz="1350" b="0" i="0">
                          <a:solidFill>
                            <a:srgbClr val="2E74B5"/>
                          </a:solidFill>
                          <a:latin typeface="Consolas"/>
                        </a:rPr>
                        <a:t>spark.sql.shuffle.partitions</a:t>
                      </a:r>
                    </a:p>
                  </a:txBody>
                  <a:tcPr marT="36576" marB="36576" anchor="ctr">
                    <a:solidFill>
                      <a:srgbClr val="EEF3F8"/>
                    </a:solidFill>
                  </a:tcPr>
                </a:tc>
                <a:tc>
                  <a:txBody>
                    <a:bodyPr/>
                    <a:lstStyle/>
                    <a:p>
                      <a:pPr>
                        <a:lnSpc>
                          <a:spcPct val="106000"/>
                        </a:lnSpc>
                      </a:pPr>
                      <a:r>
                        <a:rPr sz="1400" b="0" i="0">
                          <a:solidFill>
                            <a:srgbClr val="242C38"/>
                          </a:solidFill>
                          <a:latin typeface="Segoe UI"/>
                        </a:rPr>
                        <a:t>number of reduce partitions after a shuffle</a:t>
                      </a:r>
                    </a:p>
                  </a:txBody>
                  <a:tcPr marT="36576" marB="36576" anchor="ctr">
                    <a:solidFill>
                      <a:srgbClr val="EEF3F8"/>
                    </a:solidFill>
                  </a:tcPr>
                </a:tc>
                <a:extLst>
                  <a:ext uri="{0D108BD9-81ED-4DB2-BD59-A6C34878D82A}">
                    <a16:rowId xmlns:a16="http://schemas.microsoft.com/office/drawing/2014/main" val="10001"/>
                  </a:ext>
                </a:extLst>
              </a:tr>
              <a:tr h="475488">
                <a:tc>
                  <a:txBody>
                    <a:bodyPr/>
                    <a:lstStyle/>
                    <a:p>
                      <a:pPr>
                        <a:lnSpc>
                          <a:spcPct val="106000"/>
                        </a:lnSpc>
                      </a:pPr>
                      <a:r>
                        <a:rPr sz="1350" b="0" i="0">
                          <a:solidFill>
                            <a:srgbClr val="2E74B5"/>
                          </a:solidFill>
                          <a:latin typeface="Consolas"/>
                        </a:rPr>
                        <a:t>repartition(n)</a:t>
                      </a:r>
                    </a:p>
                  </a:txBody>
                  <a:tcPr marT="36576" marB="36576" anchor="ctr">
                    <a:solidFill>
                      <a:srgbClr val="FFFFFF"/>
                    </a:solidFill>
                  </a:tcPr>
                </a:tc>
                <a:tc>
                  <a:txBody>
                    <a:bodyPr/>
                    <a:lstStyle/>
                    <a:p>
                      <a:pPr>
                        <a:lnSpc>
                          <a:spcPct val="106000"/>
                        </a:lnSpc>
                      </a:pPr>
                      <a:r>
                        <a:rPr sz="1400" b="0" i="0">
                          <a:solidFill>
                            <a:srgbClr val="242C38"/>
                          </a:solidFill>
                          <a:latin typeface="Segoe UI"/>
                        </a:rPr>
                        <a:t>full reshuffle, can fix skew, costs a shuffle</a:t>
                      </a:r>
                    </a:p>
                  </a:txBody>
                  <a:tcPr marT="36576" marB="36576" anchor="ctr">
                    <a:solidFill>
                      <a:srgbClr val="FFFFFF"/>
                    </a:solidFill>
                  </a:tcPr>
                </a:tc>
                <a:extLst>
                  <a:ext uri="{0D108BD9-81ED-4DB2-BD59-A6C34878D82A}">
                    <a16:rowId xmlns:a16="http://schemas.microsoft.com/office/drawing/2014/main" val="10002"/>
                  </a:ext>
                </a:extLst>
              </a:tr>
              <a:tr h="475488">
                <a:tc>
                  <a:txBody>
                    <a:bodyPr/>
                    <a:lstStyle/>
                    <a:p>
                      <a:pPr>
                        <a:lnSpc>
                          <a:spcPct val="106000"/>
                        </a:lnSpc>
                      </a:pPr>
                      <a:r>
                        <a:rPr sz="1350" b="0" i="0">
                          <a:solidFill>
                            <a:srgbClr val="2E74B5"/>
                          </a:solidFill>
                          <a:latin typeface="Consolas"/>
                        </a:rPr>
                        <a:t>coalesce(n)</a:t>
                      </a:r>
                    </a:p>
                  </a:txBody>
                  <a:tcPr marT="36576" marB="36576" anchor="ctr">
                    <a:solidFill>
                      <a:srgbClr val="EEF3F8"/>
                    </a:solidFill>
                  </a:tcPr>
                </a:tc>
                <a:tc>
                  <a:txBody>
                    <a:bodyPr/>
                    <a:lstStyle/>
                    <a:p>
                      <a:pPr>
                        <a:lnSpc>
                          <a:spcPct val="106000"/>
                        </a:lnSpc>
                      </a:pPr>
                      <a:r>
                        <a:rPr sz="1400" b="0" i="0">
                          <a:solidFill>
                            <a:srgbClr val="242C38"/>
                          </a:solidFill>
                          <a:latin typeface="Segoe UI"/>
                        </a:rPr>
                        <a:t>merges partitions, no shuffle, cannot fix skew</a:t>
                      </a:r>
                    </a:p>
                  </a:txBody>
                  <a:tcPr marT="36576" marB="36576" anchor="ctr">
                    <a:solidFill>
                      <a:srgbClr val="EEF3F8"/>
                    </a:solidFill>
                  </a:tcPr>
                </a:tc>
                <a:extLst>
                  <a:ext uri="{0D108BD9-81ED-4DB2-BD59-A6C34878D82A}">
                    <a16:rowId xmlns:a16="http://schemas.microsoft.com/office/drawing/2014/main" val="10003"/>
                  </a:ext>
                </a:extLst>
              </a:tr>
              <a:tr h="475488">
                <a:tc>
                  <a:txBody>
                    <a:bodyPr/>
                    <a:lstStyle/>
                    <a:p>
                      <a:pPr>
                        <a:lnSpc>
                          <a:spcPct val="106000"/>
                        </a:lnSpc>
                      </a:pPr>
                      <a:r>
                        <a:rPr sz="1350" b="0" i="0">
                          <a:solidFill>
                            <a:srgbClr val="2E74B5"/>
                          </a:solidFill>
                          <a:latin typeface="Consolas"/>
                        </a:rPr>
                        <a:t>repartitionByRange(n, col)</a:t>
                      </a:r>
                    </a:p>
                  </a:txBody>
                  <a:tcPr marT="36576" marB="36576" anchor="ctr">
                    <a:solidFill>
                      <a:srgbClr val="FFFFFF"/>
                    </a:solidFill>
                  </a:tcPr>
                </a:tc>
                <a:tc>
                  <a:txBody>
                    <a:bodyPr/>
                    <a:lstStyle/>
                    <a:p>
                      <a:pPr>
                        <a:lnSpc>
                          <a:spcPct val="106000"/>
                        </a:lnSpc>
                      </a:pPr>
                      <a:r>
                        <a:rPr sz="1400" b="0" i="0">
                          <a:solidFill>
                            <a:srgbClr val="242C38"/>
                          </a:solidFill>
                          <a:latin typeface="Segoe UI"/>
                        </a:rPr>
                        <a:t>reshuffles into ranges, keeps output roughly sorted</a:t>
                      </a:r>
                    </a:p>
                  </a:txBody>
                  <a:tcPr marT="36576" marB="36576" anchor="ctr">
                    <a:solidFill>
                      <a:srgbClr val="FFFFFF"/>
                    </a:solidFill>
                  </a:tcPr>
                </a:tc>
                <a:extLst>
                  <a:ext uri="{0D108BD9-81ED-4DB2-BD59-A6C34878D82A}">
                    <a16:rowId xmlns:a16="http://schemas.microsoft.com/office/drawing/2014/main" val="10004"/>
                  </a:ext>
                </a:extLst>
              </a:tr>
            </a:tbl>
          </a:graphicData>
        </a:graphic>
      </p:graphicFrame>
      <p:sp>
        <p:nvSpPr>
          <p:cNvPr id="5" name="Rectangle 4"/>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14  ·  Performance tuning</a:t>
            </a:r>
          </a:p>
        </p:txBody>
      </p:sp>
      <p:sp>
        <p:nvSpPr>
          <p:cNvPr id="7" name="TextBox 6"/>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152</a:t>
            </a:r>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Small files: write-time cause, read-time cost</a:t>
            </a:r>
          </a:p>
        </p:txBody>
      </p:sp>
      <p:sp>
        <p:nvSpPr>
          <p:cNvPr id="4" name="Rectangle 3"/>
          <p:cNvSpPr/>
          <p:nvPr/>
        </p:nvSpPr>
        <p:spPr>
          <a:xfrm>
            <a:off x="658368" y="1481328"/>
            <a:ext cx="10874959" cy="2157984"/>
          </a:xfrm>
          <a:prstGeom prst="rect">
            <a:avLst/>
          </a:prstGeom>
          <a:solidFill>
            <a:srgbClr val="F5F7F9"/>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81328"/>
            <a:ext cx="43180" cy="2157984"/>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77824" y="1645920"/>
            <a:ext cx="10509199" cy="1883664"/>
          </a:xfrm>
          <a:prstGeom prst="rect">
            <a:avLst/>
          </a:prstGeom>
          <a:noFill/>
        </p:spPr>
        <p:txBody>
          <a:bodyPr wrap="square" lIns="0" tIns="0" rIns="0" bIns="0">
            <a:spAutoFit/>
          </a:bodyPr>
          <a:lstStyle/>
          <a:p>
            <a:pPr>
              <a:lnSpc>
                <a:spcPct val="116000"/>
              </a:lnSpc>
              <a:spcAft>
                <a:spcPts val="0"/>
              </a:spcAft>
            </a:pPr>
            <a:r>
              <a:rPr sz="1500" b="0" i="0">
                <a:solidFill>
                  <a:srgbClr val="242C38"/>
                </a:solidFill>
                <a:latin typeface="Consolas"/>
              </a:rPr>
              <a:t>wide = channel_txns.repartition(</a:t>
            </a:r>
            <a:r>
              <a:rPr sz="1500" b="0" i="0">
                <a:solidFill>
                  <a:srgbClr val="098658"/>
                </a:solidFill>
                <a:latin typeface="Consolas"/>
              </a:rPr>
              <a:t>40</a:t>
            </a:r>
            <a:r>
              <a:rPr sz="1500" b="0" i="0">
                <a:solidFill>
                  <a:srgbClr val="242C38"/>
                </a:solidFill>
                <a:latin typeface="Consolas"/>
              </a:rPr>
              <a:t>)</a:t>
            </a:r>
          </a:p>
          <a:p>
            <a:pPr>
              <a:lnSpc>
                <a:spcPct val="116000"/>
              </a:lnSpc>
              <a:spcAft>
                <a:spcPts val="0"/>
              </a:spcAft>
            </a:pPr>
            <a:r>
              <a:rPr sz="1500" b="0" i="0">
                <a:solidFill>
                  <a:srgbClr val="242C38"/>
                </a:solidFill>
                <a:latin typeface="Consolas"/>
              </a:rPr>
              <a:t>wide.write.mode(</a:t>
            </a:r>
            <a:r>
              <a:rPr sz="1500" b="0" i="0">
                <a:solidFill>
                  <a:srgbClr val="A31515"/>
                </a:solidFill>
                <a:latin typeface="Consolas"/>
              </a:rPr>
              <a:t>"overwrite"</a:t>
            </a:r>
            <a:r>
              <a:rPr sz="1500" b="0" i="0">
                <a:solidFill>
                  <a:srgbClr val="242C38"/>
                </a:solidFill>
                <a:latin typeface="Consolas"/>
              </a:rPr>
              <a:t>).parquet(many_path)</a:t>
            </a:r>
          </a:p>
          <a:p>
            <a:pPr>
              <a:lnSpc>
                <a:spcPct val="116000"/>
              </a:lnSpc>
              <a:spcAft>
                <a:spcPts val="0"/>
              </a:spcAft>
            </a:pPr>
            <a:r>
              <a:rPr sz="1500" b="0" i="0">
                <a:solidFill>
                  <a:srgbClr val="242C38"/>
                </a:solidFill>
                <a:latin typeface="Consolas"/>
              </a:rPr>
              <a:t>wide.coalesce(</a:t>
            </a:r>
            <a:r>
              <a:rPr sz="1500" b="0" i="0">
                <a:solidFill>
                  <a:srgbClr val="098658"/>
                </a:solidFill>
                <a:latin typeface="Consolas"/>
              </a:rPr>
              <a:t>3</a:t>
            </a:r>
            <a:r>
              <a:rPr sz="1500" b="0" i="0">
                <a:solidFill>
                  <a:srgbClr val="242C38"/>
                </a:solidFill>
                <a:latin typeface="Consolas"/>
              </a:rPr>
              <a:t>).write.mode(</a:t>
            </a:r>
            <a:r>
              <a:rPr sz="1500" b="0" i="0">
                <a:solidFill>
                  <a:srgbClr val="A31515"/>
                </a:solidFill>
                <a:latin typeface="Consolas"/>
              </a:rPr>
              <a:t>"overwrite"</a:t>
            </a:r>
            <a:r>
              <a:rPr sz="1500" b="0" i="0">
                <a:solidFill>
                  <a:srgbClr val="242C38"/>
                </a:solidFill>
                <a:latin typeface="Consolas"/>
              </a:rPr>
              <a:t>).parquet(few_path)</a:t>
            </a:r>
          </a:p>
          <a:p>
            <a:pPr>
              <a:lnSpc>
                <a:spcPct val="116000"/>
              </a:lnSpc>
              <a:spcAft>
                <a:spcPts val="0"/>
              </a:spcAft>
            </a:pPr>
            <a:r>
              <a:rPr sz="1500" b="0" i="0">
                <a:solidFill>
                  <a:srgbClr val="242C38"/>
                </a:solidFill>
                <a:latin typeface="Consolas"/>
              </a:rPr>
              <a:t> </a:t>
            </a:r>
          </a:p>
          <a:p>
            <a:pPr>
              <a:lnSpc>
                <a:spcPct val="116000"/>
              </a:lnSpc>
              <a:spcAft>
                <a:spcPts val="0"/>
              </a:spcAft>
            </a:pPr>
            <a:r>
              <a:rPr sz="1500" b="0" i="1">
                <a:solidFill>
                  <a:srgbClr val="6F865C"/>
                </a:solidFill>
                <a:latin typeface="Consolas"/>
              </a:rPr>
              <a:t># 40 files: read + filter took 0.9s</a:t>
            </a:r>
          </a:p>
          <a:p>
            <a:pPr>
              <a:lnSpc>
                <a:spcPct val="116000"/>
              </a:lnSpc>
              <a:spcAft>
                <a:spcPts val="0"/>
              </a:spcAft>
            </a:pPr>
            <a:r>
              <a:rPr sz="1500" b="0" i="1">
                <a:solidFill>
                  <a:srgbClr val="6F865C"/>
                </a:solidFill>
                <a:latin typeface="Consolas"/>
              </a:rPr>
              <a:t>#  3 files: read + filter took 0.3s</a:t>
            </a:r>
          </a:p>
        </p:txBody>
      </p:sp>
      <p:sp>
        <p:nvSpPr>
          <p:cNvPr id="7" name="TextBox 6"/>
          <p:cNvSpPr txBox="1"/>
          <p:nvPr/>
        </p:nvSpPr>
        <p:spPr>
          <a:xfrm>
            <a:off x="658368" y="3785616"/>
            <a:ext cx="10874959" cy="457200"/>
          </a:xfrm>
          <a:prstGeom prst="rect">
            <a:avLst/>
          </a:prstGeom>
          <a:noFill/>
        </p:spPr>
        <p:txBody>
          <a:bodyPr wrap="square" lIns="0" tIns="0" rIns="0" bIns="0">
            <a:spAutoFit/>
          </a:bodyPr>
          <a:lstStyle/>
          <a:p>
            <a:r>
              <a:rPr sz="1400" b="0" i="0">
                <a:solidFill>
                  <a:srgbClr val="5B6775"/>
                </a:solidFill>
                <a:latin typeface="Segoe UI"/>
              </a:rPr>
              <a:t>Same rows, same query. Every file pays a fixed list-and-open cost before a row is read.</a:t>
            </a:r>
          </a:p>
        </p:txBody>
      </p:sp>
      <p:sp>
        <p:nvSpPr>
          <p:cNvPr id="8" name="Rectangle 7"/>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14  ·  Performance tuning</a:t>
            </a:r>
          </a:p>
        </p:txBody>
      </p:sp>
      <p:sp>
        <p:nvSpPr>
          <p:cNvPr id="10" name="TextBox 9"/>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153</a:t>
            </a:r>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Three OOM signatures</a:t>
            </a:r>
          </a:p>
        </p:txBody>
      </p:sp>
      <p:graphicFrame>
        <p:nvGraphicFramePr>
          <p:cNvPr id="4" name="Table 3"/>
          <p:cNvGraphicFramePr>
            <a:graphicFrameLocks noGrp="1"/>
          </p:cNvGraphicFramePr>
          <p:nvPr/>
        </p:nvGraphicFramePr>
        <p:xfrm>
          <a:off x="658368" y="1481328"/>
          <a:ext cx="10874958" cy="1828800"/>
        </p:xfrm>
        <a:graphic>
          <a:graphicData uri="http://schemas.openxmlformats.org/drawingml/2006/table">
            <a:tbl>
              <a:tblPr firstRow="1" bandRow="1">
                <a:tableStyleId>{5C22544A-7EE6-4342-B048-85BDC9FD1C3A}</a:tableStyleId>
              </a:tblPr>
              <a:tblGrid>
                <a:gridCol w="3820931">
                  <a:extLst>
                    <a:ext uri="{9D8B030D-6E8A-4147-A177-3AD203B41FA5}">
                      <a16:colId xmlns:a16="http://schemas.microsoft.com/office/drawing/2014/main" val="20000"/>
                    </a:ext>
                  </a:extLst>
                </a:gridCol>
                <a:gridCol w="7054027">
                  <a:extLst>
                    <a:ext uri="{9D8B030D-6E8A-4147-A177-3AD203B41FA5}">
                      <a16:colId xmlns:a16="http://schemas.microsoft.com/office/drawing/2014/main" val="20001"/>
                    </a:ext>
                  </a:extLst>
                </a:gridCol>
              </a:tblGrid>
              <a:tr h="402336">
                <a:tc>
                  <a:txBody>
                    <a:bodyPr/>
                    <a:lstStyle/>
                    <a:p>
                      <a:r>
                        <a:rPr sz="1450" b="1" i="0">
                          <a:solidFill>
                            <a:srgbClr val="FFFFFF"/>
                          </a:solidFill>
                          <a:latin typeface="Segoe UI Semibold"/>
                        </a:rPr>
                        <a:t>OOM type</a:t>
                      </a:r>
                    </a:p>
                  </a:txBody>
                  <a:tcPr anchor="ctr">
                    <a:solidFill>
                      <a:srgbClr val="1F4E79"/>
                    </a:solidFill>
                  </a:tcPr>
                </a:tc>
                <a:tc>
                  <a:txBody>
                    <a:bodyPr/>
                    <a:lstStyle/>
                    <a:p>
                      <a:r>
                        <a:rPr sz="1450" b="1" i="0">
                          <a:solidFill>
                            <a:srgbClr val="FFFFFF"/>
                          </a:solidFill>
                          <a:latin typeface="Segoe UI Semibold"/>
                        </a:rPr>
                        <a:t>Real fix</a:t>
                      </a:r>
                    </a:p>
                  </a:txBody>
                  <a:tcPr anchor="ctr">
                    <a:solidFill>
                      <a:srgbClr val="1F4E79"/>
                    </a:solidFill>
                  </a:tcPr>
                </a:tc>
                <a:extLst>
                  <a:ext uri="{0D108BD9-81ED-4DB2-BD59-A6C34878D82A}">
                    <a16:rowId xmlns:a16="http://schemas.microsoft.com/office/drawing/2014/main" val="10000"/>
                  </a:ext>
                </a:extLst>
              </a:tr>
              <a:tr h="475488">
                <a:tc>
                  <a:txBody>
                    <a:bodyPr/>
                    <a:lstStyle/>
                    <a:p>
                      <a:pPr>
                        <a:lnSpc>
                          <a:spcPct val="106000"/>
                        </a:lnSpc>
                      </a:pPr>
                      <a:r>
                        <a:rPr sz="1400" b="1" i="0">
                          <a:solidFill>
                            <a:srgbClr val="242C38"/>
                          </a:solidFill>
                          <a:latin typeface="Segoe UI"/>
                        </a:rPr>
                        <a:t>Driver OOM</a:t>
                      </a:r>
                    </a:p>
                  </a:txBody>
                  <a:tcPr marT="36576" marB="36576" anchor="ctr">
                    <a:solidFill>
                      <a:srgbClr val="EEF3F8"/>
                    </a:solidFill>
                  </a:tcPr>
                </a:tc>
                <a:tc>
                  <a:txBody>
                    <a:bodyPr/>
                    <a:lstStyle/>
                    <a:p>
                      <a:pPr>
                        <a:lnSpc>
                          <a:spcPct val="106000"/>
                        </a:lnSpc>
                      </a:pPr>
                      <a:r>
                        <a:rPr sz="1400" b="0" i="0">
                          <a:solidFill>
                            <a:srgbClr val="242C38"/>
                          </a:solidFill>
                          <a:latin typeface="Segoe UI"/>
                        </a:rPr>
                        <a:t>never </a:t>
                      </a:r>
                      <a:r>
                        <a:rPr sz="1350" b="0" i="0">
                          <a:solidFill>
                            <a:srgbClr val="2E74B5"/>
                          </a:solidFill>
                          <a:latin typeface="Consolas"/>
                        </a:rPr>
                        <a:t>.collect()</a:t>
                      </a:r>
                      <a:r>
                        <a:rPr sz="1400" b="0" i="0">
                          <a:solidFill>
                            <a:srgbClr val="242C38"/>
                          </a:solidFill>
                          <a:latin typeface="Segoe UI"/>
                        </a:rPr>
                        <a:t> a big DataFrame, write instead</a:t>
                      </a:r>
                    </a:p>
                  </a:txBody>
                  <a:tcPr marT="36576" marB="36576" anchor="ctr">
                    <a:solidFill>
                      <a:srgbClr val="EEF3F8"/>
                    </a:solidFill>
                  </a:tcPr>
                </a:tc>
                <a:extLst>
                  <a:ext uri="{0D108BD9-81ED-4DB2-BD59-A6C34878D82A}">
                    <a16:rowId xmlns:a16="http://schemas.microsoft.com/office/drawing/2014/main" val="10001"/>
                  </a:ext>
                </a:extLst>
              </a:tr>
              <a:tr h="475488">
                <a:tc>
                  <a:txBody>
                    <a:bodyPr/>
                    <a:lstStyle/>
                    <a:p>
                      <a:pPr>
                        <a:lnSpc>
                          <a:spcPct val="106000"/>
                        </a:lnSpc>
                      </a:pPr>
                      <a:r>
                        <a:rPr sz="1400" b="1" i="0">
                          <a:solidFill>
                            <a:srgbClr val="242C38"/>
                          </a:solidFill>
                          <a:latin typeface="Segoe UI"/>
                        </a:rPr>
                        <a:t>Executor OOM</a:t>
                      </a:r>
                    </a:p>
                  </a:txBody>
                  <a:tcPr marT="36576" marB="36576" anchor="ctr">
                    <a:solidFill>
                      <a:srgbClr val="FFFFFF"/>
                    </a:solidFill>
                  </a:tcPr>
                </a:tc>
                <a:tc>
                  <a:txBody>
                    <a:bodyPr/>
                    <a:lstStyle/>
                    <a:p>
                      <a:pPr>
                        <a:lnSpc>
                          <a:spcPct val="106000"/>
                        </a:lnSpc>
                      </a:pPr>
                      <a:r>
                        <a:rPr sz="1400" b="0" i="0">
                          <a:solidFill>
                            <a:srgbClr val="242C38"/>
                          </a:solidFill>
                          <a:latin typeface="Segoe UI"/>
                        </a:rPr>
                        <a:t>fix the underlying skew first, only then raise memory</a:t>
                      </a:r>
                    </a:p>
                  </a:txBody>
                  <a:tcPr marT="36576" marB="36576" anchor="ctr">
                    <a:solidFill>
                      <a:srgbClr val="FFFFFF"/>
                    </a:solidFill>
                  </a:tcPr>
                </a:tc>
                <a:extLst>
                  <a:ext uri="{0D108BD9-81ED-4DB2-BD59-A6C34878D82A}">
                    <a16:rowId xmlns:a16="http://schemas.microsoft.com/office/drawing/2014/main" val="10002"/>
                  </a:ext>
                </a:extLst>
              </a:tr>
              <a:tr h="475488">
                <a:tc>
                  <a:txBody>
                    <a:bodyPr/>
                    <a:lstStyle/>
                    <a:p>
                      <a:pPr>
                        <a:lnSpc>
                          <a:spcPct val="106000"/>
                        </a:lnSpc>
                      </a:pPr>
                      <a:r>
                        <a:rPr sz="1400" b="1" i="0">
                          <a:solidFill>
                            <a:srgbClr val="242C38"/>
                          </a:solidFill>
                          <a:latin typeface="Segoe UI"/>
                        </a:rPr>
                        <a:t>Overhead OOM</a:t>
                      </a:r>
                    </a:p>
                  </a:txBody>
                  <a:tcPr marT="36576" marB="36576" anchor="ctr">
                    <a:solidFill>
                      <a:srgbClr val="EEF3F8"/>
                    </a:solidFill>
                  </a:tcPr>
                </a:tc>
                <a:tc>
                  <a:txBody>
                    <a:bodyPr/>
                    <a:lstStyle/>
                    <a:p>
                      <a:pPr>
                        <a:lnSpc>
                          <a:spcPct val="106000"/>
                        </a:lnSpc>
                      </a:pPr>
                      <a:r>
                        <a:rPr sz="1400" b="0" i="0">
                          <a:solidFill>
                            <a:srgbClr val="242C38"/>
                          </a:solidFill>
                          <a:latin typeface="Segoe UI"/>
                        </a:rPr>
                        <a:t>raise </a:t>
                      </a:r>
                      <a:r>
                        <a:rPr sz="1350" b="0" i="0">
                          <a:solidFill>
                            <a:srgbClr val="2E74B5"/>
                          </a:solidFill>
                          <a:latin typeface="Consolas"/>
                        </a:rPr>
                        <a:t>spark.executor.memoryOverhead</a:t>
                      </a:r>
                      <a:r>
                        <a:rPr sz="1400" b="0" i="0">
                          <a:solidFill>
                            <a:srgbClr val="242C38"/>
                          </a:solidFill>
                          <a:latin typeface="Segoe UI"/>
                        </a:rPr>
                        <a:t>, not </a:t>
                      </a:r>
                      <a:r>
                        <a:rPr sz="1350" b="0" i="0">
                          <a:solidFill>
                            <a:srgbClr val="2E74B5"/>
                          </a:solidFill>
                          <a:latin typeface="Consolas"/>
                        </a:rPr>
                        <a:t>memory</a:t>
                      </a:r>
                    </a:p>
                  </a:txBody>
                  <a:tcPr marT="36576" marB="36576" anchor="ctr">
                    <a:solidFill>
                      <a:srgbClr val="EEF3F8"/>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658368" y="5724144"/>
            <a:ext cx="10874959" cy="502920"/>
          </a:xfrm>
          <a:prstGeom prst="rect">
            <a:avLst/>
          </a:prstGeom>
          <a:noFill/>
        </p:spPr>
        <p:txBody>
          <a:bodyPr wrap="square" lIns="0" tIns="0" rIns="0" bIns="0">
            <a:spAutoFit/>
          </a:bodyPr>
          <a:lstStyle/>
          <a:p>
            <a:r>
              <a:rPr sz="1300" b="0" i="1">
                <a:solidFill>
                  <a:srgbClr val="5B6775"/>
                </a:solidFill>
                <a:latin typeface="Segoe UI"/>
              </a:rPr>
              <a:t>Overhead OOM shows no Spark stack trace at all, only the cluster manager's own logs.</a:t>
            </a:r>
          </a:p>
        </p:txBody>
      </p:sp>
      <p:sp>
        <p:nvSpPr>
          <p:cNvPr id="6" name="Rectangle 5"/>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14  ·  Performance tuning</a:t>
            </a:r>
          </a:p>
        </p:txBody>
      </p:sp>
      <p:sp>
        <p:nvSpPr>
          <p:cNvPr id="8" name="TextBox 7"/>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154</a:t>
            </a:r>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A debugging checklist</a:t>
            </a:r>
          </a:p>
        </p:txBody>
      </p:sp>
      <p:sp>
        <p:nvSpPr>
          <p:cNvPr id="4" name="Rectangle 3"/>
          <p:cNvSpPr/>
          <p:nvPr/>
        </p:nvSpPr>
        <p:spPr>
          <a:xfrm>
            <a:off x="658368" y="1801368"/>
            <a:ext cx="1984796" cy="2834640"/>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801368"/>
            <a:ext cx="1984796" cy="40640"/>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2020824"/>
            <a:ext cx="1655612" cy="310896"/>
          </a:xfrm>
          <a:prstGeom prst="rect">
            <a:avLst/>
          </a:prstGeom>
          <a:noFill/>
        </p:spPr>
        <p:txBody>
          <a:bodyPr wrap="square" lIns="0" tIns="0" rIns="0" bIns="0">
            <a:spAutoFit/>
          </a:bodyPr>
          <a:lstStyle/>
          <a:p>
            <a:r>
              <a:rPr sz="2000" b="1" i="0">
                <a:solidFill>
                  <a:srgbClr val="2E74B5"/>
                </a:solidFill>
                <a:latin typeface="Segoe UI Semibold"/>
              </a:rPr>
              <a:t>1</a:t>
            </a:r>
          </a:p>
        </p:txBody>
      </p:sp>
      <p:sp>
        <p:nvSpPr>
          <p:cNvPr id="7" name="TextBox 6"/>
          <p:cNvSpPr txBox="1"/>
          <p:nvPr/>
        </p:nvSpPr>
        <p:spPr>
          <a:xfrm>
            <a:off x="822960" y="2404872"/>
            <a:ext cx="1655612" cy="566928"/>
          </a:xfrm>
          <a:prstGeom prst="rect">
            <a:avLst/>
          </a:prstGeom>
          <a:noFill/>
        </p:spPr>
        <p:txBody>
          <a:bodyPr wrap="square" lIns="0" tIns="0" rIns="0" bIns="0">
            <a:spAutoFit/>
          </a:bodyPr>
          <a:lstStyle/>
          <a:p>
            <a:pPr>
              <a:lnSpc>
                <a:spcPct val="105000"/>
              </a:lnSpc>
            </a:pPr>
            <a:r>
              <a:rPr sz="1550" b="1" i="0">
                <a:solidFill>
                  <a:srgbClr val="1F4E79"/>
                </a:solidFill>
                <a:latin typeface="Segoe UI Semibold"/>
              </a:rPr>
              <a:t>Slowest stage</a:t>
            </a:r>
          </a:p>
        </p:txBody>
      </p:sp>
      <p:sp>
        <p:nvSpPr>
          <p:cNvPr id="8" name="TextBox 7"/>
          <p:cNvSpPr txBox="1"/>
          <p:nvPr/>
        </p:nvSpPr>
        <p:spPr>
          <a:xfrm>
            <a:off x="822960" y="3044952"/>
            <a:ext cx="1655612" cy="1417320"/>
          </a:xfrm>
          <a:prstGeom prst="rect">
            <a:avLst/>
          </a:prstGeom>
          <a:noFill/>
        </p:spPr>
        <p:txBody>
          <a:bodyPr wrap="square" lIns="0" tIns="0" rIns="0" bIns="0">
            <a:spAutoFit/>
          </a:bodyPr>
          <a:lstStyle/>
          <a:p>
            <a:pPr>
              <a:lnSpc>
                <a:spcPct val="116000"/>
              </a:lnSpc>
            </a:pPr>
            <a:r>
              <a:rPr sz="1300" b="0" i="0">
                <a:solidFill>
                  <a:srgbClr val="5B6775"/>
                </a:solidFill>
                <a:latin typeface="Segoe UI"/>
              </a:rPr>
              <a:t>find the slowest stage inside the slowest job</a:t>
            </a:r>
          </a:p>
        </p:txBody>
      </p:sp>
      <p:sp>
        <p:nvSpPr>
          <p:cNvPr id="9" name="Rectangle 8"/>
          <p:cNvSpPr/>
          <p:nvPr/>
        </p:nvSpPr>
        <p:spPr>
          <a:xfrm>
            <a:off x="2880908" y="1801368"/>
            <a:ext cx="1984796" cy="2834640"/>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880908" y="1801368"/>
            <a:ext cx="1984796" cy="40640"/>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045500" y="2020824"/>
            <a:ext cx="1655612" cy="310896"/>
          </a:xfrm>
          <a:prstGeom prst="rect">
            <a:avLst/>
          </a:prstGeom>
          <a:noFill/>
        </p:spPr>
        <p:txBody>
          <a:bodyPr wrap="square" lIns="0" tIns="0" rIns="0" bIns="0">
            <a:spAutoFit/>
          </a:bodyPr>
          <a:lstStyle/>
          <a:p>
            <a:r>
              <a:rPr sz="2000" b="1" i="0">
                <a:solidFill>
                  <a:srgbClr val="2E74B5"/>
                </a:solidFill>
                <a:latin typeface="Segoe UI Semibold"/>
              </a:rPr>
              <a:t>2</a:t>
            </a:r>
          </a:p>
        </p:txBody>
      </p:sp>
      <p:sp>
        <p:nvSpPr>
          <p:cNvPr id="12" name="TextBox 11"/>
          <p:cNvSpPr txBox="1"/>
          <p:nvPr/>
        </p:nvSpPr>
        <p:spPr>
          <a:xfrm>
            <a:off x="3045500" y="2404872"/>
            <a:ext cx="1655612" cy="566928"/>
          </a:xfrm>
          <a:prstGeom prst="rect">
            <a:avLst/>
          </a:prstGeom>
          <a:noFill/>
        </p:spPr>
        <p:txBody>
          <a:bodyPr wrap="square" lIns="0" tIns="0" rIns="0" bIns="0">
            <a:spAutoFit/>
          </a:bodyPr>
          <a:lstStyle/>
          <a:p>
            <a:pPr>
              <a:lnSpc>
                <a:spcPct val="105000"/>
              </a:lnSpc>
            </a:pPr>
            <a:r>
              <a:rPr sz="1550" b="1" i="0">
                <a:solidFill>
                  <a:srgbClr val="1F4E79"/>
                </a:solidFill>
                <a:latin typeface="Segoe UI Semibold"/>
              </a:rPr>
              <a:t>Shuffle bytes</a:t>
            </a:r>
          </a:p>
        </p:txBody>
      </p:sp>
      <p:sp>
        <p:nvSpPr>
          <p:cNvPr id="13" name="TextBox 12"/>
          <p:cNvSpPr txBox="1"/>
          <p:nvPr/>
        </p:nvSpPr>
        <p:spPr>
          <a:xfrm>
            <a:off x="3045500" y="3044952"/>
            <a:ext cx="1655612" cy="1417320"/>
          </a:xfrm>
          <a:prstGeom prst="rect">
            <a:avLst/>
          </a:prstGeom>
          <a:noFill/>
        </p:spPr>
        <p:txBody>
          <a:bodyPr wrap="square" lIns="0" tIns="0" rIns="0" bIns="0">
            <a:spAutoFit/>
          </a:bodyPr>
          <a:lstStyle/>
          <a:p>
            <a:pPr>
              <a:lnSpc>
                <a:spcPct val="116000"/>
              </a:lnSpc>
            </a:pPr>
            <a:r>
              <a:rPr sz="1300" b="0" i="0">
                <a:solidFill>
                  <a:srgbClr val="5B6775"/>
                </a:solidFill>
                <a:latin typeface="Segoe UI"/>
              </a:rPr>
              <a:t>check shuffle read/write bytes vs source size</a:t>
            </a:r>
          </a:p>
        </p:txBody>
      </p:sp>
      <p:sp>
        <p:nvSpPr>
          <p:cNvPr id="14" name="Rectangle 13"/>
          <p:cNvSpPr/>
          <p:nvPr/>
        </p:nvSpPr>
        <p:spPr>
          <a:xfrm>
            <a:off x="5103449" y="1801368"/>
            <a:ext cx="1984796" cy="2834640"/>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103449" y="1801368"/>
            <a:ext cx="1984796" cy="40640"/>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268041" y="2020824"/>
            <a:ext cx="1655612" cy="310896"/>
          </a:xfrm>
          <a:prstGeom prst="rect">
            <a:avLst/>
          </a:prstGeom>
          <a:noFill/>
        </p:spPr>
        <p:txBody>
          <a:bodyPr wrap="square" lIns="0" tIns="0" rIns="0" bIns="0">
            <a:spAutoFit/>
          </a:bodyPr>
          <a:lstStyle/>
          <a:p>
            <a:r>
              <a:rPr sz="2000" b="1" i="0">
                <a:solidFill>
                  <a:srgbClr val="2E74B5"/>
                </a:solidFill>
                <a:latin typeface="Segoe UI Semibold"/>
              </a:rPr>
              <a:t>3</a:t>
            </a:r>
          </a:p>
        </p:txBody>
      </p:sp>
      <p:sp>
        <p:nvSpPr>
          <p:cNvPr id="17" name="TextBox 16"/>
          <p:cNvSpPr txBox="1"/>
          <p:nvPr/>
        </p:nvSpPr>
        <p:spPr>
          <a:xfrm>
            <a:off x="5268041" y="2404872"/>
            <a:ext cx="1655612" cy="566928"/>
          </a:xfrm>
          <a:prstGeom prst="rect">
            <a:avLst/>
          </a:prstGeom>
          <a:noFill/>
        </p:spPr>
        <p:txBody>
          <a:bodyPr wrap="square" lIns="0" tIns="0" rIns="0" bIns="0">
            <a:spAutoFit/>
          </a:bodyPr>
          <a:lstStyle/>
          <a:p>
            <a:pPr>
              <a:lnSpc>
                <a:spcPct val="105000"/>
              </a:lnSpc>
            </a:pPr>
            <a:r>
              <a:rPr sz="1550" b="1" i="0">
                <a:solidFill>
                  <a:srgbClr val="1F4E79"/>
                </a:solidFill>
                <a:latin typeface="Segoe UI Semibold"/>
              </a:rPr>
              <a:t>Spill check</a:t>
            </a:r>
          </a:p>
        </p:txBody>
      </p:sp>
      <p:sp>
        <p:nvSpPr>
          <p:cNvPr id="18" name="TextBox 17"/>
          <p:cNvSpPr txBox="1"/>
          <p:nvPr/>
        </p:nvSpPr>
        <p:spPr>
          <a:xfrm>
            <a:off x="5268041" y="3044952"/>
            <a:ext cx="1655612" cy="1417320"/>
          </a:xfrm>
          <a:prstGeom prst="rect">
            <a:avLst/>
          </a:prstGeom>
          <a:noFill/>
        </p:spPr>
        <p:txBody>
          <a:bodyPr wrap="square" lIns="0" tIns="0" rIns="0" bIns="0">
            <a:spAutoFit/>
          </a:bodyPr>
          <a:lstStyle/>
          <a:p>
            <a:pPr>
              <a:lnSpc>
                <a:spcPct val="116000"/>
              </a:lnSpc>
            </a:pPr>
            <a:r>
              <a:rPr sz="1300" b="0" i="0">
                <a:solidFill>
                  <a:srgbClr val="5B6775"/>
                </a:solidFill>
                <a:latin typeface="Segoe UI"/>
              </a:rPr>
              <a:t>check memoryBytesSpilled and diskBytesSpilled</a:t>
            </a:r>
          </a:p>
        </p:txBody>
      </p:sp>
      <p:sp>
        <p:nvSpPr>
          <p:cNvPr id="19" name="Rectangle 18"/>
          <p:cNvSpPr/>
          <p:nvPr/>
        </p:nvSpPr>
        <p:spPr>
          <a:xfrm>
            <a:off x="7325989" y="1801368"/>
            <a:ext cx="1984796" cy="2834640"/>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7325989" y="1801368"/>
            <a:ext cx="1984796" cy="40640"/>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490581" y="2020824"/>
            <a:ext cx="1655612" cy="310896"/>
          </a:xfrm>
          <a:prstGeom prst="rect">
            <a:avLst/>
          </a:prstGeom>
          <a:noFill/>
        </p:spPr>
        <p:txBody>
          <a:bodyPr wrap="square" lIns="0" tIns="0" rIns="0" bIns="0">
            <a:spAutoFit/>
          </a:bodyPr>
          <a:lstStyle/>
          <a:p>
            <a:r>
              <a:rPr sz="2000" b="1" i="0">
                <a:solidFill>
                  <a:srgbClr val="2E74B5"/>
                </a:solidFill>
                <a:latin typeface="Segoe UI Semibold"/>
              </a:rPr>
              <a:t>4</a:t>
            </a:r>
          </a:p>
        </p:txBody>
      </p:sp>
      <p:sp>
        <p:nvSpPr>
          <p:cNvPr id="22" name="TextBox 21"/>
          <p:cNvSpPr txBox="1"/>
          <p:nvPr/>
        </p:nvSpPr>
        <p:spPr>
          <a:xfrm>
            <a:off x="7490581" y="2404872"/>
            <a:ext cx="1655612" cy="566928"/>
          </a:xfrm>
          <a:prstGeom prst="rect">
            <a:avLst/>
          </a:prstGeom>
          <a:noFill/>
        </p:spPr>
        <p:txBody>
          <a:bodyPr wrap="square" lIns="0" tIns="0" rIns="0" bIns="0">
            <a:spAutoFit/>
          </a:bodyPr>
          <a:lstStyle/>
          <a:p>
            <a:pPr>
              <a:lnSpc>
                <a:spcPct val="105000"/>
              </a:lnSpc>
            </a:pPr>
            <a:r>
              <a:rPr sz="1550" b="1" i="0">
                <a:solidFill>
                  <a:srgbClr val="1F4E79"/>
                </a:solidFill>
                <a:latin typeface="Segoe UI Semibold"/>
              </a:rPr>
              <a:t>Skew check</a:t>
            </a:r>
          </a:p>
        </p:txBody>
      </p:sp>
      <p:sp>
        <p:nvSpPr>
          <p:cNvPr id="23" name="TextBox 22"/>
          <p:cNvSpPr txBox="1"/>
          <p:nvPr/>
        </p:nvSpPr>
        <p:spPr>
          <a:xfrm>
            <a:off x="7490581" y="3044952"/>
            <a:ext cx="1655612" cy="1417320"/>
          </a:xfrm>
          <a:prstGeom prst="rect">
            <a:avLst/>
          </a:prstGeom>
          <a:noFill/>
        </p:spPr>
        <p:txBody>
          <a:bodyPr wrap="square" lIns="0" tIns="0" rIns="0" bIns="0">
            <a:spAutoFit/>
          </a:bodyPr>
          <a:lstStyle/>
          <a:p>
            <a:pPr>
              <a:lnSpc>
                <a:spcPct val="116000"/>
              </a:lnSpc>
            </a:pPr>
            <a:r>
              <a:rPr sz="1300" b="0" i="0">
                <a:solidFill>
                  <a:srgbClr val="5B6775"/>
                </a:solidFill>
                <a:latin typeface="Segoe UI"/>
              </a:rPr>
              <a:t>check task duration, max versus median, for skew</a:t>
            </a:r>
          </a:p>
        </p:txBody>
      </p:sp>
      <p:sp>
        <p:nvSpPr>
          <p:cNvPr id="24" name="Rectangle 23"/>
          <p:cNvSpPr/>
          <p:nvPr/>
        </p:nvSpPr>
        <p:spPr>
          <a:xfrm>
            <a:off x="9548530" y="1801368"/>
            <a:ext cx="1984796" cy="2834640"/>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9548530" y="1801368"/>
            <a:ext cx="1984796" cy="40640"/>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713122" y="2020824"/>
            <a:ext cx="1655612" cy="310896"/>
          </a:xfrm>
          <a:prstGeom prst="rect">
            <a:avLst/>
          </a:prstGeom>
          <a:noFill/>
        </p:spPr>
        <p:txBody>
          <a:bodyPr wrap="square" lIns="0" tIns="0" rIns="0" bIns="0">
            <a:spAutoFit/>
          </a:bodyPr>
          <a:lstStyle/>
          <a:p>
            <a:r>
              <a:rPr sz="2000" b="1" i="0">
                <a:solidFill>
                  <a:srgbClr val="2E74B5"/>
                </a:solidFill>
                <a:latin typeface="Segoe UI Semibold"/>
              </a:rPr>
              <a:t>5</a:t>
            </a:r>
          </a:p>
        </p:txBody>
      </p:sp>
      <p:sp>
        <p:nvSpPr>
          <p:cNvPr id="27" name="TextBox 26"/>
          <p:cNvSpPr txBox="1"/>
          <p:nvPr/>
        </p:nvSpPr>
        <p:spPr>
          <a:xfrm>
            <a:off x="9713122" y="2404872"/>
            <a:ext cx="1655612" cy="566928"/>
          </a:xfrm>
          <a:prstGeom prst="rect">
            <a:avLst/>
          </a:prstGeom>
          <a:noFill/>
        </p:spPr>
        <p:txBody>
          <a:bodyPr wrap="square" lIns="0" tIns="0" rIns="0" bIns="0">
            <a:spAutoFit/>
          </a:bodyPr>
          <a:lstStyle/>
          <a:p>
            <a:pPr>
              <a:lnSpc>
                <a:spcPct val="105000"/>
              </a:lnSpc>
            </a:pPr>
            <a:r>
              <a:rPr sz="1550" b="1" i="0">
                <a:solidFill>
                  <a:srgbClr val="1F4E79"/>
                </a:solidFill>
                <a:latin typeface="Segoe UI Semibold"/>
              </a:rPr>
              <a:t>Apply fix</a:t>
            </a:r>
          </a:p>
        </p:txBody>
      </p:sp>
      <p:sp>
        <p:nvSpPr>
          <p:cNvPr id="28" name="TextBox 27"/>
          <p:cNvSpPr txBox="1"/>
          <p:nvPr/>
        </p:nvSpPr>
        <p:spPr>
          <a:xfrm>
            <a:off x="9713122" y="3044952"/>
            <a:ext cx="1655612" cy="1417320"/>
          </a:xfrm>
          <a:prstGeom prst="rect">
            <a:avLst/>
          </a:prstGeom>
          <a:noFill/>
        </p:spPr>
        <p:txBody>
          <a:bodyPr wrap="square" lIns="0" tIns="0" rIns="0" bIns="0">
            <a:spAutoFit/>
          </a:bodyPr>
          <a:lstStyle/>
          <a:p>
            <a:pPr>
              <a:lnSpc>
                <a:spcPct val="116000"/>
              </a:lnSpc>
            </a:pPr>
            <a:r>
              <a:rPr sz="1300" b="0" i="0">
                <a:solidFill>
                  <a:srgbClr val="5B6775"/>
                </a:solidFill>
                <a:latin typeface="Segoe UI"/>
              </a:rPr>
              <a:t>apply the one matching fix, then re-measure</a:t>
            </a:r>
          </a:p>
        </p:txBody>
      </p:sp>
      <p:sp>
        <p:nvSpPr>
          <p:cNvPr id="29" name="Rectangle 28"/>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14  ·  Performance tuning</a:t>
            </a:r>
          </a:p>
        </p:txBody>
      </p:sp>
      <p:sp>
        <p:nvSpPr>
          <p:cNvPr id="31" name="TextBox 30"/>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155</a:t>
            </a:r>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Module 14 in one screen</a:t>
            </a:r>
          </a:p>
        </p:txBody>
      </p:sp>
      <p:sp>
        <p:nvSpPr>
          <p:cNvPr id="4" name="TextBox 3"/>
          <p:cNvSpPr txBox="1"/>
          <p:nvPr/>
        </p:nvSpPr>
        <p:spPr>
          <a:xfrm>
            <a:off x="658368" y="1481328"/>
            <a:ext cx="10874959" cy="4526280"/>
          </a:xfrm>
          <a:prstGeom prst="rect">
            <a:avLst/>
          </a:prstGeom>
          <a:noFill/>
        </p:spPr>
        <p:txBody>
          <a:bodyPr wrap="square" lIns="0" tIns="0" rIns="0" bIns="0">
            <a:spAutoFit/>
          </a:bodyPr>
          <a:lstStyle/>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Measure first, identify the specific cause, apply one fix, re-measure.</a:t>
            </a:r>
          </a:p>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BR011's skew shows up differently depending on whether the join can broadcast.</a:t>
            </a:r>
          </a:p>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Salting fixes the skew ratio, provably, even when wall-clock barely moves on a laptop.</a:t>
            </a:r>
          </a:p>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AQE coalesces shuffle partitions at runtime, after seeing real data size. Leave it on.</a:t>
            </a:r>
          </a:p>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Small files cost a fixed per-file overhead, coalesce() before a write is the fix.</a:t>
            </a:r>
          </a:p>
        </p:txBody>
      </p:sp>
      <p:sp>
        <p:nvSpPr>
          <p:cNvPr id="5" name="Rectangle 4"/>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14  ·  Performance tuning</a:t>
            </a:r>
          </a:p>
        </p:txBody>
      </p:sp>
      <p:sp>
        <p:nvSpPr>
          <p:cNvPr id="7" name="TextBox 6"/>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156</a:t>
            </a:r>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858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51560" y="2057400"/>
            <a:ext cx="9692640" cy="457200"/>
          </a:xfrm>
          <a:prstGeom prst="rect">
            <a:avLst/>
          </a:prstGeom>
          <a:noFill/>
        </p:spPr>
        <p:txBody>
          <a:bodyPr wrap="square" lIns="0" tIns="0" rIns="0" bIns="0">
            <a:spAutoFit/>
          </a:bodyPr>
          <a:lstStyle/>
          <a:p>
            <a:r>
              <a:rPr sz="1300" b="1" i="0">
                <a:solidFill>
                  <a:srgbClr val="2E74B5"/>
                </a:solidFill>
                <a:latin typeface="Segoe UI Semibold"/>
              </a:rPr>
              <a:t>MODULE 15</a:t>
            </a:r>
          </a:p>
        </p:txBody>
      </p:sp>
      <p:sp>
        <p:nvSpPr>
          <p:cNvPr id="5" name="TextBox 4"/>
          <p:cNvSpPr txBox="1"/>
          <p:nvPr/>
        </p:nvSpPr>
        <p:spPr>
          <a:xfrm>
            <a:off x="1051560" y="2578608"/>
            <a:ext cx="9692640" cy="1371600"/>
          </a:xfrm>
          <a:prstGeom prst="rect">
            <a:avLst/>
          </a:prstGeom>
          <a:noFill/>
        </p:spPr>
        <p:txBody>
          <a:bodyPr wrap="square" lIns="0" tIns="0" rIns="0" bIns="0">
            <a:spAutoFit/>
          </a:bodyPr>
          <a:lstStyle/>
          <a:p>
            <a:pPr>
              <a:lnSpc>
                <a:spcPct val="95000"/>
              </a:lnSpc>
            </a:pPr>
            <a:r>
              <a:rPr sz="4200" b="1" i="0">
                <a:solidFill>
                  <a:srgbClr val="1F4E79"/>
                </a:solidFill>
                <a:latin typeface="Segoe UI Semibold"/>
              </a:rPr>
              <a:t>Packaging PySpark applications</a:t>
            </a:r>
          </a:p>
        </p:txBody>
      </p:sp>
      <p:sp>
        <p:nvSpPr>
          <p:cNvPr id="6" name="TextBox 5"/>
          <p:cNvSpPr txBox="1"/>
          <p:nvPr/>
        </p:nvSpPr>
        <p:spPr>
          <a:xfrm>
            <a:off x="1051560" y="3950208"/>
            <a:ext cx="8778240" cy="822960"/>
          </a:xfrm>
          <a:prstGeom prst="rect">
            <a:avLst/>
          </a:prstGeom>
          <a:noFill/>
        </p:spPr>
        <p:txBody>
          <a:bodyPr wrap="square" lIns="0" tIns="0" rIns="0" bIns="0">
            <a:spAutoFit/>
          </a:bodyPr>
          <a:lstStyle/>
          <a:p>
            <a:pPr>
              <a:lnSpc>
                <a:spcPct val="115000"/>
              </a:lnSpc>
            </a:pPr>
            <a:r>
              <a:rPr sz="1700" b="0" i="0">
                <a:solidFill>
                  <a:srgbClr val="5B6775"/>
                </a:solidFill>
                <a:latin typeface="Segoe UI"/>
              </a:rPr>
              <a:t>Turning a script into a tested, versioned package that runs the same in dev, UAT and prod</a:t>
            </a:r>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58368" y="2148840"/>
            <a:ext cx="82296" cy="219456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42416" y="2084831"/>
            <a:ext cx="9777679" cy="1828800"/>
          </a:xfrm>
          <a:prstGeom prst="rect">
            <a:avLst/>
          </a:prstGeom>
          <a:noFill/>
        </p:spPr>
        <p:txBody>
          <a:bodyPr wrap="square" lIns="0" tIns="0" rIns="0" bIns="0">
            <a:spAutoFit/>
          </a:bodyPr>
          <a:lstStyle/>
          <a:p>
            <a:pPr>
              <a:lnSpc>
                <a:spcPct val="112000"/>
              </a:lnSpc>
            </a:pPr>
            <a:r>
              <a:rPr sz="3000" b="1" i="0">
                <a:solidFill>
                  <a:srgbClr val="1F4E79"/>
                </a:solidFill>
                <a:latin typeface="Segoe UI Semibold"/>
              </a:rPr>
              <a:t>A script that only runs from one laptop is not a production job.</a:t>
            </a:r>
          </a:p>
        </p:txBody>
      </p:sp>
      <p:sp>
        <p:nvSpPr>
          <p:cNvPr id="5" name="TextBox 4"/>
          <p:cNvSpPr txBox="1"/>
          <p:nvPr/>
        </p:nvSpPr>
        <p:spPr>
          <a:xfrm>
            <a:off x="1042416" y="4041648"/>
            <a:ext cx="9411919" cy="1005840"/>
          </a:xfrm>
          <a:prstGeom prst="rect">
            <a:avLst/>
          </a:prstGeom>
          <a:noFill/>
        </p:spPr>
        <p:txBody>
          <a:bodyPr wrap="square" lIns="0" tIns="0" rIns="0" bIns="0">
            <a:spAutoFit/>
          </a:bodyPr>
          <a:lstStyle/>
          <a:p>
            <a:pPr>
              <a:lnSpc>
                <a:spcPct val="120000"/>
              </a:lnSpc>
            </a:pPr>
            <a:r>
              <a:rPr sz="1700" b="0" i="0">
                <a:solidFill>
                  <a:srgbClr val="5B6775"/>
                </a:solidFill>
                <a:latin typeface="Segoe UI"/>
              </a:rPr>
              <a:t>The day a job needs to run in UAT instead of dev, or a fix needs change control, "email me the file" is not an acceptable answer in a regulated bank. Packaging makes a job testable, reproducible and traceable to a version.</a:t>
            </a:r>
          </a:p>
        </p:txBody>
      </p:sp>
      <p:sp>
        <p:nvSpPr>
          <p:cNvPr id="6" name="Rectangle 5"/>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15  ·  Packaging PySpark applications</a:t>
            </a:r>
          </a:p>
        </p:txBody>
      </p:sp>
      <p:sp>
        <p:nvSpPr>
          <p:cNvPr id="8" name="TextBox 7"/>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157</a:t>
            </a:r>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Why a folder of loose scripts fails in production</a:t>
            </a:r>
          </a:p>
        </p:txBody>
      </p:sp>
      <p:graphicFrame>
        <p:nvGraphicFramePr>
          <p:cNvPr id="4" name="Table 3"/>
          <p:cNvGraphicFramePr>
            <a:graphicFrameLocks noGrp="1"/>
          </p:cNvGraphicFramePr>
          <p:nvPr/>
        </p:nvGraphicFramePr>
        <p:xfrm>
          <a:off x="658368" y="1481328"/>
          <a:ext cx="10874958" cy="2304288"/>
        </p:xfrm>
        <a:graphic>
          <a:graphicData uri="http://schemas.openxmlformats.org/drawingml/2006/table">
            <a:tbl>
              <a:tblPr firstRow="1" bandRow="1">
                <a:tableStyleId>{5C22544A-7EE6-4342-B048-85BDC9FD1C3A}</a:tableStyleId>
              </a:tblPr>
              <a:tblGrid>
                <a:gridCol w="3927068">
                  <a:extLst>
                    <a:ext uri="{9D8B030D-6E8A-4147-A177-3AD203B41FA5}">
                      <a16:colId xmlns:a16="http://schemas.microsoft.com/office/drawing/2014/main" val="20000"/>
                    </a:ext>
                  </a:extLst>
                </a:gridCol>
                <a:gridCol w="6947890">
                  <a:extLst>
                    <a:ext uri="{9D8B030D-6E8A-4147-A177-3AD203B41FA5}">
                      <a16:colId xmlns:a16="http://schemas.microsoft.com/office/drawing/2014/main" val="20001"/>
                    </a:ext>
                  </a:extLst>
                </a:gridCol>
              </a:tblGrid>
              <a:tr h="402336">
                <a:tc>
                  <a:txBody>
                    <a:bodyPr/>
                    <a:lstStyle/>
                    <a:p>
                      <a:r>
                        <a:rPr sz="1450" b="1" i="0">
                          <a:solidFill>
                            <a:srgbClr val="FFFFFF"/>
                          </a:solidFill>
                          <a:latin typeface="Segoe UI Semibold"/>
                        </a:rPr>
                        <a:t>Problem</a:t>
                      </a:r>
                    </a:p>
                  </a:txBody>
                  <a:tcPr anchor="ctr">
                    <a:solidFill>
                      <a:srgbClr val="1F4E79"/>
                    </a:solidFill>
                  </a:tcPr>
                </a:tc>
                <a:tc>
                  <a:txBody>
                    <a:bodyPr/>
                    <a:lstStyle/>
                    <a:p>
                      <a:r>
                        <a:rPr sz="1450" b="1" i="0">
                          <a:solidFill>
                            <a:srgbClr val="FFFFFF"/>
                          </a:solidFill>
                          <a:latin typeface="Segoe UI Semibold"/>
                        </a:rPr>
                        <a:t>What goes wrong</a:t>
                      </a:r>
                    </a:p>
                  </a:txBody>
                  <a:tcPr anchor="ctr">
                    <a:solidFill>
                      <a:srgbClr val="1F4E79"/>
                    </a:solidFill>
                  </a:tcPr>
                </a:tc>
                <a:extLst>
                  <a:ext uri="{0D108BD9-81ED-4DB2-BD59-A6C34878D82A}">
                    <a16:rowId xmlns:a16="http://schemas.microsoft.com/office/drawing/2014/main" val="10000"/>
                  </a:ext>
                </a:extLst>
              </a:tr>
              <a:tr h="475488">
                <a:tc>
                  <a:txBody>
                    <a:bodyPr/>
                    <a:lstStyle/>
                    <a:p>
                      <a:pPr>
                        <a:lnSpc>
                          <a:spcPct val="106000"/>
                        </a:lnSpc>
                      </a:pPr>
                      <a:r>
                        <a:rPr sz="1400" b="1" i="0">
                          <a:solidFill>
                            <a:srgbClr val="242C38"/>
                          </a:solidFill>
                          <a:latin typeface="Segoe UI"/>
                        </a:rPr>
                        <a:t>No tests</a:t>
                      </a:r>
                    </a:p>
                  </a:txBody>
                  <a:tcPr marT="36576" marB="36576" anchor="ctr">
                    <a:solidFill>
                      <a:srgbClr val="EEF3F8"/>
                    </a:solidFill>
                  </a:tcPr>
                </a:tc>
                <a:tc>
                  <a:txBody>
                    <a:bodyPr/>
                    <a:lstStyle/>
                    <a:p>
                      <a:pPr>
                        <a:lnSpc>
                          <a:spcPct val="106000"/>
                        </a:lnSpc>
                      </a:pPr>
                      <a:r>
                        <a:rPr sz="1400" b="0" i="0">
                          <a:solidFill>
                            <a:srgbClr val="242C38"/>
                          </a:solidFill>
                          <a:latin typeface="Segoe UI"/>
                        </a:rPr>
                        <a:t>a change has no automated way to prove it did not break the numbers</a:t>
                      </a:r>
                    </a:p>
                  </a:txBody>
                  <a:tcPr marT="36576" marB="36576" anchor="ctr">
                    <a:solidFill>
                      <a:srgbClr val="EEF3F8"/>
                    </a:solidFill>
                  </a:tcPr>
                </a:tc>
                <a:extLst>
                  <a:ext uri="{0D108BD9-81ED-4DB2-BD59-A6C34878D82A}">
                    <a16:rowId xmlns:a16="http://schemas.microsoft.com/office/drawing/2014/main" val="10001"/>
                  </a:ext>
                </a:extLst>
              </a:tr>
              <a:tr h="475488">
                <a:tc>
                  <a:txBody>
                    <a:bodyPr/>
                    <a:lstStyle/>
                    <a:p>
                      <a:pPr>
                        <a:lnSpc>
                          <a:spcPct val="106000"/>
                        </a:lnSpc>
                      </a:pPr>
                      <a:r>
                        <a:rPr sz="1400" b="1" i="0">
                          <a:solidFill>
                            <a:srgbClr val="242C38"/>
                          </a:solidFill>
                          <a:latin typeface="Segoe UI"/>
                        </a:rPr>
                        <a:t>No versioning</a:t>
                      </a:r>
                    </a:p>
                  </a:txBody>
                  <a:tcPr marT="36576" marB="36576" anchor="ctr">
                    <a:solidFill>
                      <a:srgbClr val="FFFFFF"/>
                    </a:solidFill>
                  </a:tcPr>
                </a:tc>
                <a:tc>
                  <a:txBody>
                    <a:bodyPr/>
                    <a:lstStyle/>
                    <a:p>
                      <a:pPr>
                        <a:lnSpc>
                          <a:spcPct val="106000"/>
                        </a:lnSpc>
                      </a:pPr>
                      <a:r>
                        <a:rPr sz="1400" b="0" i="0">
                          <a:solidFill>
                            <a:srgbClr val="242C38"/>
                          </a:solidFill>
                          <a:latin typeface="Segoe UI"/>
                        </a:rPr>
                        <a:t>"which version is running in prod" has no good answer</a:t>
                      </a:r>
                    </a:p>
                  </a:txBody>
                  <a:tcPr marT="36576" marB="36576" anchor="ctr">
                    <a:solidFill>
                      <a:srgbClr val="FFFFFF"/>
                    </a:solidFill>
                  </a:tcPr>
                </a:tc>
                <a:extLst>
                  <a:ext uri="{0D108BD9-81ED-4DB2-BD59-A6C34878D82A}">
                    <a16:rowId xmlns:a16="http://schemas.microsoft.com/office/drawing/2014/main" val="10002"/>
                  </a:ext>
                </a:extLst>
              </a:tr>
              <a:tr h="475488">
                <a:tc>
                  <a:txBody>
                    <a:bodyPr/>
                    <a:lstStyle/>
                    <a:p>
                      <a:pPr>
                        <a:lnSpc>
                          <a:spcPct val="106000"/>
                        </a:lnSpc>
                      </a:pPr>
                      <a:r>
                        <a:rPr sz="1400" b="1" i="0">
                          <a:solidFill>
                            <a:srgbClr val="242C38"/>
                          </a:solidFill>
                          <a:latin typeface="Segoe UI"/>
                        </a:rPr>
                        <a:t>No reuse</a:t>
                      </a:r>
                    </a:p>
                  </a:txBody>
                  <a:tcPr marT="36576" marB="36576" anchor="ctr">
                    <a:solidFill>
                      <a:srgbClr val="EEF3F8"/>
                    </a:solidFill>
                  </a:tcPr>
                </a:tc>
                <a:tc>
                  <a:txBody>
                    <a:bodyPr/>
                    <a:lstStyle/>
                    <a:p>
                      <a:pPr>
                        <a:lnSpc>
                          <a:spcPct val="106000"/>
                        </a:lnSpc>
                      </a:pPr>
                      <a:r>
                        <a:rPr sz="1400" b="0" i="0">
                          <a:solidFill>
                            <a:srgbClr val="242C38"/>
                          </a:solidFill>
                          <a:latin typeface="Segoe UI"/>
                        </a:rPr>
                        <a:t>two scripts hand-roll the same logic and drift apart</a:t>
                      </a:r>
                    </a:p>
                  </a:txBody>
                  <a:tcPr marT="36576" marB="36576" anchor="ctr">
                    <a:solidFill>
                      <a:srgbClr val="EEF3F8"/>
                    </a:solidFill>
                  </a:tcPr>
                </a:tc>
                <a:extLst>
                  <a:ext uri="{0D108BD9-81ED-4DB2-BD59-A6C34878D82A}">
                    <a16:rowId xmlns:a16="http://schemas.microsoft.com/office/drawing/2014/main" val="10003"/>
                  </a:ext>
                </a:extLst>
              </a:tr>
              <a:tr h="475488">
                <a:tc>
                  <a:txBody>
                    <a:bodyPr/>
                    <a:lstStyle/>
                    <a:p>
                      <a:pPr>
                        <a:lnSpc>
                          <a:spcPct val="106000"/>
                        </a:lnSpc>
                      </a:pPr>
                      <a:r>
                        <a:rPr sz="1400" b="1" i="0">
                          <a:solidFill>
                            <a:srgbClr val="242C38"/>
                          </a:solidFill>
                          <a:latin typeface="Segoe UI"/>
                        </a:rPr>
                        <a:t>No config separation</a:t>
                      </a:r>
                    </a:p>
                  </a:txBody>
                  <a:tcPr marT="36576" marB="36576" anchor="ctr">
                    <a:solidFill>
                      <a:srgbClr val="FFFFFF"/>
                    </a:solidFill>
                  </a:tcPr>
                </a:tc>
                <a:tc>
                  <a:txBody>
                    <a:bodyPr/>
                    <a:lstStyle/>
                    <a:p>
                      <a:pPr>
                        <a:lnSpc>
                          <a:spcPct val="106000"/>
                        </a:lnSpc>
                      </a:pPr>
                      <a:r>
                        <a:rPr sz="1400" b="0" i="0">
                          <a:solidFill>
                            <a:srgbClr val="242C38"/>
                          </a:solidFill>
                          <a:latin typeface="Segoe UI"/>
                        </a:rPr>
                        <a:t>"run this in UAT" means editing the file</a:t>
                      </a:r>
                    </a:p>
                  </a:txBody>
                  <a:tcPr marT="36576" marB="36576" anchor="ctr">
                    <a:solidFill>
                      <a:srgbClr val="FFFFFF"/>
                    </a:solidFill>
                  </a:tcPr>
                </a:tc>
                <a:extLst>
                  <a:ext uri="{0D108BD9-81ED-4DB2-BD59-A6C34878D82A}">
                    <a16:rowId xmlns:a16="http://schemas.microsoft.com/office/drawing/2014/main" val="10004"/>
                  </a:ext>
                </a:extLst>
              </a:tr>
            </a:tbl>
          </a:graphicData>
        </a:graphic>
      </p:graphicFrame>
      <p:sp>
        <p:nvSpPr>
          <p:cNvPr id="5" name="Rectangle 4"/>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15  ·  Packaging PySpark applications</a:t>
            </a:r>
          </a:p>
        </p:txBody>
      </p:sp>
      <p:sp>
        <p:nvSpPr>
          <p:cNvPr id="7" name="TextBox 6"/>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158</a:t>
            </a:r>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The bankjobs/ package layout</a:t>
            </a:r>
          </a:p>
        </p:txBody>
      </p:sp>
      <p:sp>
        <p:nvSpPr>
          <p:cNvPr id="4" name="Rectangle 3"/>
          <p:cNvSpPr/>
          <p:nvPr/>
        </p:nvSpPr>
        <p:spPr>
          <a:xfrm>
            <a:off x="658368" y="1481328"/>
            <a:ext cx="10874959" cy="2447544"/>
          </a:xfrm>
          <a:prstGeom prst="rect">
            <a:avLst/>
          </a:prstGeom>
          <a:solidFill>
            <a:srgbClr val="F5F7F9"/>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81328"/>
            <a:ext cx="43180" cy="2447544"/>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77824" y="1645920"/>
            <a:ext cx="10509199" cy="2173224"/>
          </a:xfrm>
          <a:prstGeom prst="rect">
            <a:avLst/>
          </a:prstGeom>
          <a:noFill/>
        </p:spPr>
        <p:txBody>
          <a:bodyPr wrap="square" lIns="0" tIns="0" rIns="0" bIns="0">
            <a:spAutoFit/>
          </a:bodyPr>
          <a:lstStyle/>
          <a:p>
            <a:pPr>
              <a:lnSpc>
                <a:spcPct val="116000"/>
              </a:lnSpc>
              <a:spcAft>
                <a:spcPts val="0"/>
              </a:spcAft>
            </a:pPr>
            <a:r>
              <a:rPr sz="1500" b="0" i="0">
                <a:solidFill>
                  <a:srgbClr val="242C38"/>
                </a:solidFill>
                <a:latin typeface="Consolas"/>
              </a:rPr>
              <a:t>bankjobs/</a:t>
            </a:r>
          </a:p>
          <a:p>
            <a:pPr>
              <a:lnSpc>
                <a:spcPct val="116000"/>
              </a:lnSpc>
              <a:spcAft>
                <a:spcPts val="0"/>
              </a:spcAft>
            </a:pPr>
            <a:r>
              <a:rPr sz="1500" b="0" i="0">
                <a:solidFill>
                  <a:srgbClr val="242C38"/>
                </a:solidFill>
                <a:latin typeface="Consolas"/>
              </a:rPr>
              <a:t>  __init__.py       package marker, __version__</a:t>
            </a:r>
          </a:p>
          <a:p>
            <a:pPr>
              <a:lnSpc>
                <a:spcPct val="116000"/>
              </a:lnSpc>
              <a:spcAft>
                <a:spcPts val="0"/>
              </a:spcAft>
            </a:pPr>
            <a:r>
              <a:rPr sz="1500" b="0" i="0">
                <a:solidFill>
                  <a:srgbClr val="242C38"/>
                </a:solidFill>
                <a:latin typeface="Consolas"/>
              </a:rPr>
              <a:t>  __main__.py       argparse, logging, exit codes</a:t>
            </a:r>
          </a:p>
          <a:p>
            <a:pPr>
              <a:lnSpc>
                <a:spcPct val="116000"/>
              </a:lnSpc>
              <a:spcAft>
                <a:spcPts val="0"/>
              </a:spcAft>
            </a:pPr>
            <a:r>
              <a:rPr sz="1500" b="0" i="0">
                <a:solidFill>
                  <a:srgbClr val="242C38"/>
                </a:solidFill>
                <a:latin typeface="Consolas"/>
              </a:rPr>
              <a:t>  config.py         the ONLY place a path or default lives</a:t>
            </a:r>
          </a:p>
          <a:p>
            <a:pPr>
              <a:lnSpc>
                <a:spcPct val="116000"/>
              </a:lnSpc>
              <a:spcAft>
                <a:spcPts val="0"/>
              </a:spcAft>
            </a:pPr>
            <a:r>
              <a:rPr sz="1500" b="0" i="0">
                <a:solidFill>
                  <a:srgbClr val="242C38"/>
                </a:solidFill>
                <a:latin typeface="Consolas"/>
              </a:rPr>
              <a:t>  jobs/</a:t>
            </a:r>
          </a:p>
          <a:p>
            <a:pPr>
              <a:lnSpc>
                <a:spcPct val="116000"/>
              </a:lnSpc>
              <a:spcAft>
                <a:spcPts val="0"/>
              </a:spcAft>
            </a:pPr>
            <a:r>
              <a:rPr sz="1500" b="0" i="0">
                <a:solidFill>
                  <a:srgbClr val="242C38"/>
                </a:solidFill>
                <a:latin typeface="Consolas"/>
              </a:rPr>
              <a:t>    daily_kpi.py    transform() [pure] + run() [IO]</a:t>
            </a:r>
          </a:p>
          <a:p>
            <a:pPr>
              <a:lnSpc>
                <a:spcPct val="116000"/>
              </a:lnSpc>
              <a:spcAft>
                <a:spcPts val="0"/>
              </a:spcAft>
            </a:pPr>
            <a:r>
              <a:rPr sz="1500" b="0" i="0">
                <a:solidFill>
                  <a:srgbClr val="242C38"/>
                </a:solidFill>
                <a:latin typeface="Consolas"/>
              </a:rPr>
              <a:t>  pyproject.toml    package metadata</a:t>
            </a:r>
          </a:p>
        </p:txBody>
      </p:sp>
      <p:sp>
        <p:nvSpPr>
          <p:cNvPr id="7" name="TextBox 6"/>
          <p:cNvSpPr txBox="1"/>
          <p:nvPr/>
        </p:nvSpPr>
        <p:spPr>
          <a:xfrm>
            <a:off x="658368" y="4075176"/>
            <a:ext cx="10874959" cy="457200"/>
          </a:xfrm>
          <a:prstGeom prst="rect">
            <a:avLst/>
          </a:prstGeom>
          <a:noFill/>
        </p:spPr>
        <p:txBody>
          <a:bodyPr wrap="square" lIns="0" tIns="0" rIns="0" bIns="0">
            <a:spAutoFit/>
          </a:bodyPr>
          <a:lstStyle/>
          <a:p>
            <a:r>
              <a:rPr sz="1400" b="0" i="0">
                <a:solidFill>
                  <a:srgbClr val="5B6775"/>
                </a:solidFill>
                <a:latin typeface="Segoe UI"/>
              </a:rPr>
              <a:t>One small package, meant to be run from the project root, exactly like a real deploy.</a:t>
            </a:r>
          </a:p>
        </p:txBody>
      </p:sp>
      <p:sp>
        <p:nvSpPr>
          <p:cNvPr id="8" name="Rectangle 7"/>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15  ·  Packaging PySpark applications</a:t>
            </a:r>
          </a:p>
        </p:txBody>
      </p:sp>
      <p:sp>
        <p:nvSpPr>
          <p:cNvPr id="10" name="TextBox 9"/>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159</a:t>
            </a:r>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spark-submit: argument order matters</a:t>
            </a:r>
          </a:p>
        </p:txBody>
      </p:sp>
      <p:sp>
        <p:nvSpPr>
          <p:cNvPr id="4" name="Rectangle 3"/>
          <p:cNvSpPr/>
          <p:nvPr/>
        </p:nvSpPr>
        <p:spPr>
          <a:xfrm>
            <a:off x="658368" y="1481328"/>
            <a:ext cx="10874959" cy="1578864"/>
          </a:xfrm>
          <a:prstGeom prst="rect">
            <a:avLst/>
          </a:prstGeom>
          <a:solidFill>
            <a:srgbClr val="F5F7F9"/>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81328"/>
            <a:ext cx="43180" cy="1578864"/>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77824" y="1645920"/>
            <a:ext cx="10509199" cy="1304544"/>
          </a:xfrm>
          <a:prstGeom prst="rect">
            <a:avLst/>
          </a:prstGeom>
          <a:noFill/>
        </p:spPr>
        <p:txBody>
          <a:bodyPr wrap="square" lIns="0" tIns="0" rIns="0" bIns="0">
            <a:spAutoFit/>
          </a:bodyPr>
          <a:lstStyle/>
          <a:p>
            <a:pPr>
              <a:lnSpc>
                <a:spcPct val="116000"/>
              </a:lnSpc>
              <a:spcAft>
                <a:spcPts val="0"/>
              </a:spcAft>
            </a:pPr>
            <a:r>
              <a:rPr sz="1500" b="0" i="0" dirty="0">
                <a:solidFill>
                  <a:srgbClr val="242C38"/>
                </a:solidFill>
                <a:latin typeface="Consolas"/>
              </a:rPr>
              <a:t>spark-submit --master local[</a:t>
            </a:r>
            <a:r>
              <a:rPr sz="1500" b="0" i="0" dirty="0">
                <a:solidFill>
                  <a:srgbClr val="098658"/>
                </a:solidFill>
                <a:latin typeface="Consolas"/>
              </a:rPr>
              <a:t>2</a:t>
            </a:r>
            <a:r>
              <a:rPr sz="1500" b="0" i="0" dirty="0">
                <a:solidFill>
                  <a:srgbClr val="242C38"/>
                </a:solidFill>
                <a:latin typeface="Consolas"/>
              </a:rPr>
              <a:t>] \</a:t>
            </a:r>
          </a:p>
          <a:p>
            <a:pPr>
              <a:lnSpc>
                <a:spcPct val="116000"/>
              </a:lnSpc>
              <a:spcAft>
                <a:spcPts val="0"/>
              </a:spcAft>
            </a:pPr>
            <a:r>
              <a:rPr sz="1500" b="0" i="0" dirty="0">
                <a:solidFill>
                  <a:srgbClr val="242C38"/>
                </a:solidFill>
                <a:latin typeface="Consolas"/>
              </a:rPr>
              <a:t>  --</a:t>
            </a:r>
            <a:r>
              <a:rPr sz="1500" b="0" i="0" dirty="0" err="1">
                <a:solidFill>
                  <a:srgbClr val="242C38"/>
                </a:solidFill>
                <a:latin typeface="Consolas"/>
              </a:rPr>
              <a:t>py</a:t>
            </a:r>
            <a:r>
              <a:rPr sz="1500" b="0" i="0" dirty="0">
                <a:solidFill>
                  <a:srgbClr val="242C38"/>
                </a:solidFill>
                <a:latin typeface="Consolas"/>
              </a:rPr>
              <a:t>-files labs/bankjobs.zip \</a:t>
            </a:r>
          </a:p>
          <a:p>
            <a:pPr>
              <a:lnSpc>
                <a:spcPct val="116000"/>
              </a:lnSpc>
              <a:spcAft>
                <a:spcPts val="0"/>
              </a:spcAft>
            </a:pPr>
            <a:r>
              <a:rPr sz="1500" b="0" i="0" dirty="0">
                <a:solidFill>
                  <a:srgbClr val="242C38"/>
                </a:solidFill>
                <a:latin typeface="Consolas"/>
              </a:rPr>
              <a:t>  labs/bankjobs/__main__.py \</a:t>
            </a:r>
          </a:p>
          <a:p>
            <a:pPr>
              <a:lnSpc>
                <a:spcPct val="116000"/>
              </a:lnSpc>
              <a:spcAft>
                <a:spcPts val="0"/>
              </a:spcAft>
            </a:pPr>
            <a:r>
              <a:rPr sz="1500" b="0" i="0" dirty="0">
                <a:solidFill>
                  <a:srgbClr val="242C38"/>
                </a:solidFill>
                <a:latin typeface="Consolas"/>
              </a:rPr>
              <a:t>  --job </a:t>
            </a:r>
            <a:r>
              <a:rPr sz="1500" b="0" i="0" dirty="0" err="1">
                <a:solidFill>
                  <a:srgbClr val="242C38"/>
                </a:solidFill>
                <a:latin typeface="Consolas"/>
              </a:rPr>
              <a:t>daily_kpi</a:t>
            </a:r>
            <a:r>
              <a:rPr sz="1500" b="0" i="0" dirty="0">
                <a:solidFill>
                  <a:srgbClr val="242C38"/>
                </a:solidFill>
                <a:latin typeface="Consolas"/>
              </a:rPr>
              <a:t> --env dev</a:t>
            </a:r>
          </a:p>
        </p:txBody>
      </p:sp>
      <p:sp>
        <p:nvSpPr>
          <p:cNvPr id="7" name="TextBox 6"/>
          <p:cNvSpPr txBox="1"/>
          <p:nvPr/>
        </p:nvSpPr>
        <p:spPr>
          <a:xfrm>
            <a:off x="658368" y="3206496"/>
            <a:ext cx="10874959" cy="457200"/>
          </a:xfrm>
          <a:prstGeom prst="rect">
            <a:avLst/>
          </a:prstGeom>
          <a:noFill/>
        </p:spPr>
        <p:txBody>
          <a:bodyPr wrap="square" lIns="0" tIns="0" rIns="0" bIns="0">
            <a:spAutoFit/>
          </a:bodyPr>
          <a:lstStyle/>
          <a:p>
            <a:r>
              <a:rPr sz="1400" b="0" i="0">
                <a:solidFill>
                  <a:srgbClr val="5B6775"/>
                </a:solidFill>
                <a:latin typeface="Segoe UI"/>
              </a:rPr>
              <a:t>Everything before the script path belongs to spark-submit. After it, it's yours.</a:t>
            </a:r>
          </a:p>
        </p:txBody>
      </p:sp>
      <p:sp>
        <p:nvSpPr>
          <p:cNvPr id="8" name="Rectangle 7"/>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15  ·  Packaging PySpark applications</a:t>
            </a:r>
          </a:p>
        </p:txBody>
      </p:sp>
      <p:sp>
        <p:nvSpPr>
          <p:cNvPr id="10" name="TextBox 9"/>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160</a:t>
            </a:r>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Shipping Python dependencies, three ways</a:t>
            </a:r>
          </a:p>
        </p:txBody>
      </p:sp>
      <p:graphicFrame>
        <p:nvGraphicFramePr>
          <p:cNvPr id="4" name="Table 3"/>
          <p:cNvGraphicFramePr>
            <a:graphicFrameLocks noGrp="1"/>
          </p:cNvGraphicFramePr>
          <p:nvPr/>
        </p:nvGraphicFramePr>
        <p:xfrm>
          <a:off x="658368" y="1481328"/>
          <a:ext cx="10874958" cy="1828800"/>
        </p:xfrm>
        <a:graphic>
          <a:graphicData uri="http://schemas.openxmlformats.org/drawingml/2006/table">
            <a:tbl>
              <a:tblPr firstRow="1" bandRow="1">
                <a:tableStyleId>{5C22544A-7EE6-4342-B048-85BDC9FD1C3A}</a:tableStyleId>
              </a:tblPr>
              <a:tblGrid>
                <a:gridCol w="4578930">
                  <a:extLst>
                    <a:ext uri="{9D8B030D-6E8A-4147-A177-3AD203B41FA5}">
                      <a16:colId xmlns:a16="http://schemas.microsoft.com/office/drawing/2014/main" val="20000"/>
                    </a:ext>
                  </a:extLst>
                </a:gridCol>
                <a:gridCol w="6296028">
                  <a:extLst>
                    <a:ext uri="{9D8B030D-6E8A-4147-A177-3AD203B41FA5}">
                      <a16:colId xmlns:a16="http://schemas.microsoft.com/office/drawing/2014/main" val="20001"/>
                    </a:ext>
                  </a:extLst>
                </a:gridCol>
              </a:tblGrid>
              <a:tr h="402336">
                <a:tc>
                  <a:txBody>
                    <a:bodyPr/>
                    <a:lstStyle/>
                    <a:p>
                      <a:r>
                        <a:rPr sz="1450" b="1" i="0">
                          <a:solidFill>
                            <a:srgbClr val="FFFFFF"/>
                          </a:solidFill>
                          <a:latin typeface="Segoe UI Semibold"/>
                        </a:rPr>
                        <a:t>Method</a:t>
                      </a:r>
                    </a:p>
                  </a:txBody>
                  <a:tcPr anchor="ctr">
                    <a:solidFill>
                      <a:srgbClr val="1F4E79"/>
                    </a:solidFill>
                  </a:tcPr>
                </a:tc>
                <a:tc>
                  <a:txBody>
                    <a:bodyPr/>
                    <a:lstStyle/>
                    <a:p>
                      <a:r>
                        <a:rPr sz="1450" b="1" i="0">
                          <a:solidFill>
                            <a:srgbClr val="FFFFFF"/>
                          </a:solidFill>
                          <a:latin typeface="Segoe UI Semibold"/>
                        </a:rPr>
                        <a:t>Best for</a:t>
                      </a:r>
                    </a:p>
                  </a:txBody>
                  <a:tcPr anchor="ctr">
                    <a:solidFill>
                      <a:srgbClr val="1F4E79"/>
                    </a:solidFill>
                  </a:tcPr>
                </a:tc>
                <a:extLst>
                  <a:ext uri="{0D108BD9-81ED-4DB2-BD59-A6C34878D82A}">
                    <a16:rowId xmlns:a16="http://schemas.microsoft.com/office/drawing/2014/main" val="10000"/>
                  </a:ext>
                </a:extLst>
              </a:tr>
              <a:tr h="475488">
                <a:tc>
                  <a:txBody>
                    <a:bodyPr/>
                    <a:lstStyle/>
                    <a:p>
                      <a:pPr>
                        <a:lnSpc>
                          <a:spcPct val="106000"/>
                        </a:lnSpc>
                      </a:pPr>
                      <a:r>
                        <a:rPr sz="1350" b="0" i="0">
                          <a:solidFill>
                            <a:srgbClr val="2E74B5"/>
                          </a:solidFill>
                          <a:latin typeface="Consolas"/>
                        </a:rPr>
                        <a:t>--py-files</a:t>
                      </a:r>
                      <a:r>
                        <a:rPr sz="1400" b="1" i="0">
                          <a:solidFill>
                            <a:srgbClr val="242C38"/>
                          </a:solidFill>
                          <a:latin typeface="Segoe UI"/>
                        </a:rPr>
                        <a:t> zip</a:t>
                      </a:r>
                    </a:p>
                  </a:txBody>
                  <a:tcPr marT="36576" marB="36576" anchor="ctr">
                    <a:solidFill>
                      <a:srgbClr val="EEF3F8"/>
                    </a:solidFill>
                  </a:tcPr>
                </a:tc>
                <a:tc>
                  <a:txBody>
                    <a:bodyPr/>
                    <a:lstStyle/>
                    <a:p>
                      <a:pPr>
                        <a:lnSpc>
                          <a:spcPct val="106000"/>
                        </a:lnSpc>
                      </a:pPr>
                      <a:r>
                        <a:rPr sz="1400" b="0" i="0">
                          <a:solidFill>
                            <a:srgbClr val="242C38"/>
                          </a:solidFill>
                          <a:latin typeface="Segoe UI"/>
                        </a:rPr>
                        <a:t>small pure-Python code, no third-party wheel needed</a:t>
                      </a:r>
                    </a:p>
                  </a:txBody>
                  <a:tcPr marT="36576" marB="36576" anchor="ctr">
                    <a:solidFill>
                      <a:srgbClr val="EEF3F8"/>
                    </a:solidFill>
                  </a:tcPr>
                </a:tc>
                <a:extLst>
                  <a:ext uri="{0D108BD9-81ED-4DB2-BD59-A6C34878D82A}">
                    <a16:rowId xmlns:a16="http://schemas.microsoft.com/office/drawing/2014/main" val="10001"/>
                  </a:ext>
                </a:extLst>
              </a:tr>
              <a:tr h="475488">
                <a:tc>
                  <a:txBody>
                    <a:bodyPr/>
                    <a:lstStyle/>
                    <a:p>
                      <a:pPr>
                        <a:lnSpc>
                          <a:spcPct val="106000"/>
                        </a:lnSpc>
                      </a:pPr>
                      <a:r>
                        <a:rPr sz="1350" b="0" i="0">
                          <a:solidFill>
                            <a:srgbClr val="2E74B5"/>
                          </a:solidFill>
                          <a:latin typeface="Consolas"/>
                        </a:rPr>
                        <a:t>venv-pack</a:t>
                      </a:r>
                      <a:r>
                        <a:rPr sz="1400" b="1" i="0">
                          <a:solidFill>
                            <a:srgbClr val="242C38"/>
                          </a:solidFill>
                          <a:latin typeface="Segoe UI"/>
                        </a:rPr>
                        <a:t> / </a:t>
                      </a:r>
                      <a:r>
                        <a:rPr sz="1350" b="0" i="0">
                          <a:solidFill>
                            <a:srgbClr val="2E74B5"/>
                          </a:solidFill>
                          <a:latin typeface="Consolas"/>
                        </a:rPr>
                        <a:t>--archives</a:t>
                      </a:r>
                    </a:p>
                  </a:txBody>
                  <a:tcPr marT="36576" marB="36576" anchor="ctr">
                    <a:solidFill>
                      <a:srgbClr val="FFFFFF"/>
                    </a:solidFill>
                  </a:tcPr>
                </a:tc>
                <a:tc>
                  <a:txBody>
                    <a:bodyPr/>
                    <a:lstStyle/>
                    <a:p>
                      <a:pPr>
                        <a:lnSpc>
                          <a:spcPct val="106000"/>
                        </a:lnSpc>
                      </a:pPr>
                      <a:r>
                        <a:rPr sz="1400" b="0" i="0">
                          <a:solidFill>
                            <a:srgbClr val="242C38"/>
                          </a:solidFill>
                          <a:latin typeface="Segoe UI"/>
                        </a:rPr>
                        <a:t>real dependencies, a cluster with no internet</a:t>
                      </a:r>
                    </a:p>
                  </a:txBody>
                  <a:tcPr marT="36576" marB="36576" anchor="ctr">
                    <a:solidFill>
                      <a:srgbClr val="FFFFFF"/>
                    </a:solidFill>
                  </a:tcPr>
                </a:tc>
                <a:extLst>
                  <a:ext uri="{0D108BD9-81ED-4DB2-BD59-A6C34878D82A}">
                    <a16:rowId xmlns:a16="http://schemas.microsoft.com/office/drawing/2014/main" val="10002"/>
                  </a:ext>
                </a:extLst>
              </a:tr>
              <a:tr h="475488">
                <a:tc>
                  <a:txBody>
                    <a:bodyPr/>
                    <a:lstStyle/>
                    <a:p>
                      <a:pPr>
                        <a:lnSpc>
                          <a:spcPct val="106000"/>
                        </a:lnSpc>
                      </a:pPr>
                      <a:r>
                        <a:rPr sz="1400" b="1" i="0">
                          <a:solidFill>
                            <a:srgbClr val="242C38"/>
                          </a:solidFill>
                          <a:latin typeface="Segoe UI"/>
                        </a:rPr>
                        <a:t>a custom Docker image</a:t>
                      </a:r>
                    </a:p>
                  </a:txBody>
                  <a:tcPr marT="36576" marB="36576" anchor="ctr">
                    <a:solidFill>
                      <a:srgbClr val="EEF3F8"/>
                    </a:solidFill>
                  </a:tcPr>
                </a:tc>
                <a:tc>
                  <a:txBody>
                    <a:bodyPr/>
                    <a:lstStyle/>
                    <a:p>
                      <a:pPr>
                        <a:lnSpc>
                          <a:spcPct val="106000"/>
                        </a:lnSpc>
                      </a:pPr>
                      <a:r>
                        <a:rPr sz="1400" b="0" i="0">
                          <a:solidFill>
                            <a:srgbClr val="242C38"/>
                          </a:solidFill>
                          <a:latin typeface="Segoe UI"/>
                        </a:rPr>
                        <a:t>Kubernetes-native clusters, image builds already exist</a:t>
                      </a:r>
                    </a:p>
                  </a:txBody>
                  <a:tcPr marT="36576" marB="36576" anchor="ctr">
                    <a:solidFill>
                      <a:srgbClr val="EEF3F8"/>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658368" y="5724144"/>
            <a:ext cx="10874959" cy="502920"/>
          </a:xfrm>
          <a:prstGeom prst="rect">
            <a:avLst/>
          </a:prstGeom>
          <a:noFill/>
        </p:spPr>
        <p:txBody>
          <a:bodyPr wrap="square" lIns="0" tIns="0" rIns="0" bIns="0">
            <a:spAutoFit/>
          </a:bodyPr>
          <a:lstStyle/>
          <a:p>
            <a:r>
              <a:rPr sz="1300" b="0" i="1">
                <a:solidFill>
                  <a:srgbClr val="5B6775"/>
                </a:solidFill>
                <a:latin typeface="Segoe UI"/>
              </a:rPr>
              <a:t>A bank cluster with no outbound internet cannot use --packages at all.</a:t>
            </a:r>
          </a:p>
        </p:txBody>
      </p:sp>
      <p:sp>
        <p:nvSpPr>
          <p:cNvPr id="6" name="Rectangle 5"/>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15  ·  Packaging PySpark applications</a:t>
            </a:r>
          </a:p>
        </p:txBody>
      </p:sp>
      <p:sp>
        <p:nvSpPr>
          <p:cNvPr id="8" name="TextBox 7"/>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161</a:t>
            </a:r>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Every log line carries the same correlation id</a:t>
            </a:r>
          </a:p>
        </p:txBody>
      </p:sp>
      <p:sp>
        <p:nvSpPr>
          <p:cNvPr id="4" name="Rectangle 3"/>
          <p:cNvSpPr/>
          <p:nvPr/>
        </p:nvSpPr>
        <p:spPr>
          <a:xfrm>
            <a:off x="658368" y="1481328"/>
            <a:ext cx="10874959" cy="1578864"/>
          </a:xfrm>
          <a:prstGeom prst="rect">
            <a:avLst/>
          </a:prstGeom>
          <a:solidFill>
            <a:srgbClr val="F5F7F9"/>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81328"/>
            <a:ext cx="43180" cy="1578864"/>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77824" y="1645920"/>
            <a:ext cx="10509199" cy="1304544"/>
          </a:xfrm>
          <a:prstGeom prst="rect">
            <a:avLst/>
          </a:prstGeom>
          <a:noFill/>
        </p:spPr>
        <p:txBody>
          <a:bodyPr wrap="square" lIns="0" tIns="0" rIns="0" bIns="0">
            <a:spAutoFit/>
          </a:bodyPr>
          <a:lstStyle/>
          <a:p>
            <a:pPr>
              <a:lnSpc>
                <a:spcPct val="116000"/>
              </a:lnSpc>
              <a:spcAft>
                <a:spcPts val="0"/>
              </a:spcAft>
            </a:pPr>
            <a:r>
              <a:rPr sz="1500" b="0" i="0">
                <a:solidFill>
                  <a:srgbClr val="242C38"/>
                </a:solidFill>
                <a:latin typeface="Consolas"/>
              </a:rPr>
              <a:t>2026-09-14 07:21:22 level=INFO correlation_id=6a6bf44f302d</a:t>
            </a:r>
          </a:p>
          <a:p>
            <a:pPr>
              <a:lnSpc>
                <a:spcPct val="116000"/>
              </a:lnSpc>
              <a:spcAft>
                <a:spcPts val="0"/>
              </a:spcAft>
            </a:pPr>
            <a:r>
              <a:rPr sz="1500" b="0" i="0">
                <a:solidFill>
                  <a:srgbClr val="242C38"/>
                </a:solidFill>
                <a:latin typeface="Consolas"/>
              </a:rPr>
              <a:t>  logger=bankjobs.daily_kpi msg=reading transactions</a:t>
            </a:r>
          </a:p>
          <a:p>
            <a:pPr>
              <a:lnSpc>
                <a:spcPct val="116000"/>
              </a:lnSpc>
              <a:spcAft>
                <a:spcPts val="0"/>
              </a:spcAft>
            </a:pPr>
            <a:r>
              <a:rPr sz="1500" b="0" i="0">
                <a:solidFill>
                  <a:srgbClr val="242C38"/>
                </a:solidFill>
                <a:latin typeface="Consolas"/>
              </a:rPr>
              <a:t>2026-09-14 07:21:22 level=INFO correlation_id=6a6bf44f302d</a:t>
            </a:r>
          </a:p>
          <a:p>
            <a:pPr>
              <a:lnSpc>
                <a:spcPct val="116000"/>
              </a:lnSpc>
              <a:spcAft>
                <a:spcPts val="0"/>
              </a:spcAft>
            </a:pPr>
            <a:r>
              <a:rPr sz="1500" b="0" i="0">
                <a:solidFill>
                  <a:srgbClr val="242C38"/>
                </a:solidFill>
                <a:latin typeface="Consolas"/>
              </a:rPr>
              <a:t>  logger=bankjobs.main msg=job=daily_kpi SUCCEEDED, 108 rows</a:t>
            </a:r>
          </a:p>
        </p:txBody>
      </p:sp>
      <p:sp>
        <p:nvSpPr>
          <p:cNvPr id="7" name="TextBox 6"/>
          <p:cNvSpPr txBox="1"/>
          <p:nvPr/>
        </p:nvSpPr>
        <p:spPr>
          <a:xfrm>
            <a:off x="658368" y="3206496"/>
            <a:ext cx="10874959" cy="457200"/>
          </a:xfrm>
          <a:prstGeom prst="rect">
            <a:avLst/>
          </a:prstGeom>
          <a:noFill/>
        </p:spPr>
        <p:txBody>
          <a:bodyPr wrap="square" lIns="0" tIns="0" rIns="0" bIns="0">
            <a:spAutoFit/>
          </a:bodyPr>
          <a:lstStyle/>
          <a:p>
            <a:r>
              <a:rPr sz="1400" b="0" i="0">
                <a:solidFill>
                  <a:srgbClr val="5B6775"/>
                </a:solidFill>
                <a:latin typeface="Segoe UI"/>
              </a:rPr>
              <a:t>One id pulls exactly one run's lines out of a shared log file with millions of others.</a:t>
            </a:r>
          </a:p>
        </p:txBody>
      </p:sp>
      <p:sp>
        <p:nvSpPr>
          <p:cNvPr id="8" name="Rectangle 7"/>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15  ·  Packaging PySpark applications</a:t>
            </a:r>
          </a:p>
        </p:txBody>
      </p:sp>
      <p:sp>
        <p:nvSpPr>
          <p:cNvPr id="10" name="TextBox 9"/>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162</a:t>
            </a:r>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Config precedence: default, env var, argument</a:t>
            </a:r>
          </a:p>
        </p:txBody>
      </p:sp>
      <p:sp>
        <p:nvSpPr>
          <p:cNvPr id="4" name="Rectangle 3"/>
          <p:cNvSpPr/>
          <p:nvPr/>
        </p:nvSpPr>
        <p:spPr>
          <a:xfrm>
            <a:off x="658368" y="1481328"/>
            <a:ext cx="10874959" cy="2157984"/>
          </a:xfrm>
          <a:prstGeom prst="rect">
            <a:avLst/>
          </a:prstGeom>
          <a:solidFill>
            <a:srgbClr val="F5F7F9"/>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81328"/>
            <a:ext cx="43180" cy="2157984"/>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77824" y="1645920"/>
            <a:ext cx="10509199" cy="1883664"/>
          </a:xfrm>
          <a:prstGeom prst="rect">
            <a:avLst/>
          </a:prstGeom>
          <a:noFill/>
        </p:spPr>
        <p:txBody>
          <a:bodyPr wrap="square" lIns="0" tIns="0" rIns="0" bIns="0">
            <a:spAutoFit/>
          </a:bodyPr>
          <a:lstStyle/>
          <a:p>
            <a:pPr>
              <a:lnSpc>
                <a:spcPct val="116000"/>
              </a:lnSpc>
              <a:spcAft>
                <a:spcPts val="0"/>
              </a:spcAft>
            </a:pPr>
            <a:r>
              <a:rPr sz="1500" b="0" i="0">
                <a:solidFill>
                  <a:srgbClr val="242C38"/>
                </a:solidFill>
                <a:latin typeface="Consolas"/>
              </a:rPr>
              <a:t>@dataclass(frozen=</a:t>
            </a:r>
            <a:r>
              <a:rPr sz="1500" b="0" i="0">
                <a:solidFill>
                  <a:srgbClr val="0F5BA7"/>
                </a:solidFill>
                <a:latin typeface="Consolas"/>
              </a:rPr>
              <a:t>True</a:t>
            </a:r>
            <a:r>
              <a:rPr sz="1500" b="0" i="0">
                <a:solidFill>
                  <a:srgbClr val="242C38"/>
                </a:solidFill>
                <a:latin typeface="Consolas"/>
              </a:rPr>
              <a:t>)</a:t>
            </a:r>
          </a:p>
          <a:p>
            <a:pPr>
              <a:lnSpc>
                <a:spcPct val="116000"/>
              </a:lnSpc>
              <a:spcAft>
                <a:spcPts val="0"/>
              </a:spcAft>
            </a:pPr>
            <a:r>
              <a:rPr sz="1500" b="0" i="0">
                <a:solidFill>
                  <a:srgbClr val="0F5BA7"/>
                </a:solidFill>
                <a:latin typeface="Consolas"/>
              </a:rPr>
              <a:t>class</a:t>
            </a:r>
            <a:r>
              <a:rPr sz="1500" b="0" i="0">
                <a:solidFill>
                  <a:srgbClr val="242C38"/>
                </a:solidFill>
                <a:latin typeface="Consolas"/>
              </a:rPr>
              <a:t> JobConfig:</a:t>
            </a:r>
          </a:p>
          <a:p>
            <a:pPr>
              <a:lnSpc>
                <a:spcPct val="116000"/>
              </a:lnSpc>
              <a:spcAft>
                <a:spcPts val="0"/>
              </a:spcAft>
            </a:pPr>
            <a:r>
              <a:rPr sz="1500" b="0" i="0">
                <a:solidFill>
                  <a:srgbClr val="242C38"/>
                </a:solidFill>
                <a:latin typeface="Consolas"/>
              </a:rPr>
              <a:t>    env: str</a:t>
            </a:r>
          </a:p>
          <a:p>
            <a:pPr>
              <a:lnSpc>
                <a:spcPct val="116000"/>
              </a:lnSpc>
              <a:spcAft>
                <a:spcPts val="0"/>
              </a:spcAft>
            </a:pPr>
            <a:r>
              <a:rPr sz="1500" b="0" i="0">
                <a:solidFill>
                  <a:srgbClr val="242C38"/>
                </a:solidFill>
                <a:latin typeface="Consolas"/>
              </a:rPr>
              <a:t>    raw_path: str</a:t>
            </a:r>
          </a:p>
          <a:p>
            <a:pPr>
              <a:lnSpc>
                <a:spcPct val="116000"/>
              </a:lnSpc>
              <a:spcAft>
                <a:spcPts val="0"/>
              </a:spcAft>
            </a:pPr>
            <a:r>
              <a:rPr sz="1500" b="0" i="0">
                <a:solidFill>
                  <a:srgbClr val="242C38"/>
                </a:solidFill>
                <a:latin typeface="Consolas"/>
              </a:rPr>
              <a:t>    warehouse_path: str</a:t>
            </a:r>
          </a:p>
          <a:p>
            <a:pPr>
              <a:lnSpc>
                <a:spcPct val="116000"/>
              </a:lnSpc>
              <a:spcAft>
                <a:spcPts val="0"/>
              </a:spcAft>
            </a:pPr>
            <a:r>
              <a:rPr sz="1500" b="0" i="0">
                <a:solidFill>
                  <a:srgbClr val="242C38"/>
                </a:solidFill>
                <a:latin typeface="Consolas"/>
              </a:rPr>
              <a:t>    shuffle_partitions: int = </a:t>
            </a:r>
            <a:r>
              <a:rPr sz="1500" b="0" i="0">
                <a:solidFill>
                  <a:srgbClr val="098658"/>
                </a:solidFill>
                <a:latin typeface="Consolas"/>
              </a:rPr>
              <a:t>8</a:t>
            </a:r>
          </a:p>
        </p:txBody>
      </p:sp>
      <p:sp>
        <p:nvSpPr>
          <p:cNvPr id="7" name="TextBox 6"/>
          <p:cNvSpPr txBox="1"/>
          <p:nvPr/>
        </p:nvSpPr>
        <p:spPr>
          <a:xfrm>
            <a:off x="658368" y="3785616"/>
            <a:ext cx="10874959" cy="457200"/>
          </a:xfrm>
          <a:prstGeom prst="rect">
            <a:avLst/>
          </a:prstGeom>
          <a:noFill/>
        </p:spPr>
        <p:txBody>
          <a:bodyPr wrap="square" lIns="0" tIns="0" rIns="0" bIns="0">
            <a:spAutoFit/>
          </a:bodyPr>
          <a:lstStyle/>
          <a:p>
            <a:r>
              <a:rPr sz="1400" b="0" i="0">
                <a:solidFill>
                  <a:srgbClr val="5B6775"/>
                </a:solidFill>
                <a:latin typeface="Segoe UI"/>
              </a:rPr>
              <a:t>frozen=True means nothing downstream can silently change the path mid-run.</a:t>
            </a:r>
          </a:p>
        </p:txBody>
      </p:sp>
      <p:sp>
        <p:nvSpPr>
          <p:cNvPr id="8" name="Rectangle 7"/>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15  ·  Packaging PySpark applications</a:t>
            </a:r>
          </a:p>
        </p:txBody>
      </p:sp>
      <p:sp>
        <p:nvSpPr>
          <p:cNvPr id="10" name="TextBox 9"/>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163</a:t>
            </a:r>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Testable because logic is split from IO</a:t>
            </a:r>
          </a:p>
        </p:txBody>
      </p:sp>
      <p:sp>
        <p:nvSpPr>
          <p:cNvPr id="4" name="Rectangle 3"/>
          <p:cNvSpPr/>
          <p:nvPr/>
        </p:nvSpPr>
        <p:spPr>
          <a:xfrm>
            <a:off x="658368" y="1481328"/>
            <a:ext cx="10874959" cy="2447544"/>
          </a:xfrm>
          <a:prstGeom prst="rect">
            <a:avLst/>
          </a:prstGeom>
          <a:solidFill>
            <a:srgbClr val="F5F7F9"/>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81328"/>
            <a:ext cx="43180" cy="2447544"/>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77824" y="1645920"/>
            <a:ext cx="10509199" cy="2173224"/>
          </a:xfrm>
          <a:prstGeom prst="rect">
            <a:avLst/>
          </a:prstGeom>
          <a:noFill/>
        </p:spPr>
        <p:txBody>
          <a:bodyPr wrap="square" lIns="0" tIns="0" rIns="0" bIns="0">
            <a:spAutoFit/>
          </a:bodyPr>
          <a:lstStyle/>
          <a:p>
            <a:pPr>
              <a:lnSpc>
                <a:spcPct val="116000"/>
              </a:lnSpc>
              <a:spcAft>
                <a:spcPts val="0"/>
              </a:spcAft>
            </a:pPr>
            <a:r>
              <a:rPr sz="1500" b="0" i="0">
                <a:solidFill>
                  <a:srgbClr val="0F5BA7"/>
                </a:solidFill>
                <a:latin typeface="Consolas"/>
              </a:rPr>
              <a:t>def</a:t>
            </a:r>
            <a:r>
              <a:rPr sz="1500" b="0" i="0">
                <a:solidFill>
                  <a:srgbClr val="242C38"/>
                </a:solidFill>
                <a:latin typeface="Consolas"/>
              </a:rPr>
              <a:t> transform(txns: DataFrame, accounts: DataFrame) -&gt; DataFrame:</a:t>
            </a:r>
          </a:p>
          <a:p>
            <a:pPr>
              <a:lnSpc>
                <a:spcPct val="116000"/>
              </a:lnSpc>
              <a:spcAft>
                <a:spcPts val="0"/>
              </a:spcAft>
            </a:pPr>
            <a:r>
              <a:rPr sz="1500" b="0" i="0">
                <a:solidFill>
                  <a:srgbClr val="242C38"/>
                </a:solidFill>
                <a:latin typeface="Consolas"/>
              </a:rPr>
              <a:t>    </a:t>
            </a:r>
            <a:r>
              <a:rPr sz="1500" b="0" i="0">
                <a:solidFill>
                  <a:srgbClr val="A31515"/>
                </a:solidFill>
                <a:latin typeface="Consolas"/>
              </a:rPr>
              <a:t>"""Pure: DataFrame in, DataFrame out. No path, no config."""</a:t>
            </a:r>
          </a:p>
          <a:p>
            <a:pPr>
              <a:lnSpc>
                <a:spcPct val="116000"/>
              </a:lnSpc>
              <a:spcAft>
                <a:spcPts val="0"/>
              </a:spcAft>
            </a:pPr>
            <a:r>
              <a:rPr sz="1500" b="0" i="0">
                <a:solidFill>
                  <a:srgbClr val="242C38"/>
                </a:solidFill>
                <a:latin typeface="Consolas"/>
              </a:rPr>
              <a:t>    ...</a:t>
            </a:r>
          </a:p>
          <a:p>
            <a:pPr>
              <a:lnSpc>
                <a:spcPct val="116000"/>
              </a:lnSpc>
              <a:spcAft>
                <a:spcPts val="0"/>
              </a:spcAft>
            </a:pPr>
            <a:r>
              <a:rPr sz="1500" b="0" i="0">
                <a:solidFill>
                  <a:srgbClr val="242C38"/>
                </a:solidFill>
                <a:latin typeface="Consolas"/>
              </a:rPr>
              <a:t> </a:t>
            </a:r>
          </a:p>
          <a:p>
            <a:pPr>
              <a:lnSpc>
                <a:spcPct val="116000"/>
              </a:lnSpc>
              <a:spcAft>
                <a:spcPts val="0"/>
              </a:spcAft>
            </a:pPr>
            <a:r>
              <a:rPr sz="1500" b="0" i="0">
                <a:solidFill>
                  <a:srgbClr val="0F5BA7"/>
                </a:solidFill>
                <a:latin typeface="Consolas"/>
              </a:rPr>
              <a:t>def</a:t>
            </a:r>
            <a:r>
              <a:rPr sz="1500" b="0" i="0">
                <a:solidFill>
                  <a:srgbClr val="242C38"/>
                </a:solidFill>
                <a:latin typeface="Consolas"/>
              </a:rPr>
              <a:t> run(spark: SparkSession, config: JobConfig) -&gt; int:</a:t>
            </a:r>
          </a:p>
          <a:p>
            <a:pPr>
              <a:lnSpc>
                <a:spcPct val="116000"/>
              </a:lnSpc>
              <a:spcAft>
                <a:spcPts val="0"/>
              </a:spcAft>
            </a:pPr>
            <a:r>
              <a:rPr sz="1500" b="0" i="0">
                <a:solidFill>
                  <a:srgbClr val="242C38"/>
                </a:solidFill>
                <a:latin typeface="Consolas"/>
              </a:rPr>
              <a:t>    </a:t>
            </a:r>
            <a:r>
              <a:rPr sz="1500" b="0" i="0">
                <a:solidFill>
                  <a:srgbClr val="A31515"/>
                </a:solidFill>
                <a:latin typeface="Consolas"/>
              </a:rPr>
              <a:t>"""IO: reads using config, calls transform(), writes."""</a:t>
            </a:r>
          </a:p>
          <a:p>
            <a:pPr>
              <a:lnSpc>
                <a:spcPct val="116000"/>
              </a:lnSpc>
              <a:spcAft>
                <a:spcPts val="0"/>
              </a:spcAft>
            </a:pPr>
            <a:r>
              <a:rPr sz="1500" b="0" i="0">
                <a:solidFill>
                  <a:srgbClr val="242C38"/>
                </a:solidFill>
                <a:latin typeface="Consolas"/>
              </a:rPr>
              <a:t>    ...</a:t>
            </a:r>
          </a:p>
        </p:txBody>
      </p:sp>
      <p:sp>
        <p:nvSpPr>
          <p:cNvPr id="7" name="TextBox 6"/>
          <p:cNvSpPr txBox="1"/>
          <p:nvPr/>
        </p:nvSpPr>
        <p:spPr>
          <a:xfrm>
            <a:off x="658368" y="4075176"/>
            <a:ext cx="10874959" cy="457200"/>
          </a:xfrm>
          <a:prstGeom prst="rect">
            <a:avLst/>
          </a:prstGeom>
          <a:noFill/>
        </p:spPr>
        <p:txBody>
          <a:bodyPr wrap="square" lIns="0" tIns="0" rIns="0" bIns="0">
            <a:spAutoFit/>
          </a:bodyPr>
          <a:lstStyle/>
          <a:p>
            <a:r>
              <a:rPr sz="1400" b="0" i="0">
                <a:solidFill>
                  <a:srgbClr val="5B6775"/>
                </a:solidFill>
                <a:latin typeface="Segoe UI"/>
              </a:rPr>
              <a:t>transform() tests with five hand-built rows, no file on disk, no config object.</a:t>
            </a:r>
          </a:p>
        </p:txBody>
      </p:sp>
      <p:sp>
        <p:nvSpPr>
          <p:cNvPr id="8" name="Rectangle 7"/>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15  ·  Packaging PySpark applications</a:t>
            </a:r>
          </a:p>
        </p:txBody>
      </p:sp>
      <p:sp>
        <p:nvSpPr>
          <p:cNvPr id="10" name="TextBox 9"/>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164</a:t>
            </a:r>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Exit codes: the whole contract with a scheduler</a:t>
            </a:r>
          </a:p>
        </p:txBody>
      </p:sp>
      <p:graphicFrame>
        <p:nvGraphicFramePr>
          <p:cNvPr id="4" name="Table 3"/>
          <p:cNvGraphicFramePr>
            <a:graphicFrameLocks noGrp="1"/>
          </p:cNvGraphicFramePr>
          <p:nvPr/>
        </p:nvGraphicFramePr>
        <p:xfrm>
          <a:off x="658368" y="1481328"/>
          <a:ext cx="10874958" cy="1828800"/>
        </p:xfrm>
        <a:graphic>
          <a:graphicData uri="http://schemas.openxmlformats.org/drawingml/2006/table">
            <a:tbl>
              <a:tblPr firstRow="1" bandRow="1">
                <a:tableStyleId>{5C22544A-7EE6-4342-B048-85BDC9FD1C3A}</a:tableStyleId>
              </a:tblPr>
              <a:tblGrid>
                <a:gridCol w="2003281">
                  <a:extLst>
                    <a:ext uri="{9D8B030D-6E8A-4147-A177-3AD203B41FA5}">
                      <a16:colId xmlns:a16="http://schemas.microsoft.com/office/drawing/2014/main" val="20000"/>
                    </a:ext>
                  </a:extLst>
                </a:gridCol>
                <a:gridCol w="8871677">
                  <a:extLst>
                    <a:ext uri="{9D8B030D-6E8A-4147-A177-3AD203B41FA5}">
                      <a16:colId xmlns:a16="http://schemas.microsoft.com/office/drawing/2014/main" val="20001"/>
                    </a:ext>
                  </a:extLst>
                </a:gridCol>
              </a:tblGrid>
              <a:tr h="402336">
                <a:tc>
                  <a:txBody>
                    <a:bodyPr/>
                    <a:lstStyle/>
                    <a:p>
                      <a:r>
                        <a:rPr sz="1450" b="1" i="0">
                          <a:solidFill>
                            <a:srgbClr val="FFFFFF"/>
                          </a:solidFill>
                          <a:latin typeface="Segoe UI Semibold"/>
                        </a:rPr>
                        <a:t>Exit code</a:t>
                      </a:r>
                    </a:p>
                  </a:txBody>
                  <a:tcPr anchor="ctr">
                    <a:solidFill>
                      <a:srgbClr val="1F4E79"/>
                    </a:solidFill>
                  </a:tcPr>
                </a:tc>
                <a:tc>
                  <a:txBody>
                    <a:bodyPr/>
                    <a:lstStyle/>
                    <a:p>
                      <a:r>
                        <a:rPr sz="1450" b="1" i="0">
                          <a:solidFill>
                            <a:srgbClr val="FFFFFF"/>
                          </a:solidFill>
                          <a:latin typeface="Segoe UI Semibold"/>
                        </a:rPr>
                        <a:t>Meaning</a:t>
                      </a:r>
                    </a:p>
                  </a:txBody>
                  <a:tcPr anchor="ctr">
                    <a:solidFill>
                      <a:srgbClr val="1F4E79"/>
                    </a:solidFill>
                  </a:tcPr>
                </a:tc>
                <a:extLst>
                  <a:ext uri="{0D108BD9-81ED-4DB2-BD59-A6C34878D82A}">
                    <a16:rowId xmlns:a16="http://schemas.microsoft.com/office/drawing/2014/main" val="10000"/>
                  </a:ext>
                </a:extLst>
              </a:tr>
              <a:tr h="475488">
                <a:tc>
                  <a:txBody>
                    <a:bodyPr/>
                    <a:lstStyle/>
                    <a:p>
                      <a:pPr>
                        <a:lnSpc>
                          <a:spcPct val="106000"/>
                        </a:lnSpc>
                      </a:pPr>
                      <a:r>
                        <a:rPr sz="1400" b="1" i="0">
                          <a:solidFill>
                            <a:srgbClr val="242C38"/>
                          </a:solidFill>
                          <a:latin typeface="Segoe UI"/>
                        </a:rPr>
                        <a:t>0</a:t>
                      </a:r>
                    </a:p>
                  </a:txBody>
                  <a:tcPr marT="36576" marB="36576" anchor="ctr">
                    <a:solidFill>
                      <a:srgbClr val="EEF3F8"/>
                    </a:solidFill>
                  </a:tcPr>
                </a:tc>
                <a:tc>
                  <a:txBody>
                    <a:bodyPr/>
                    <a:lstStyle/>
                    <a:p>
                      <a:pPr>
                        <a:lnSpc>
                          <a:spcPct val="106000"/>
                        </a:lnSpc>
                      </a:pPr>
                      <a:r>
                        <a:rPr sz="1400" b="0" i="0">
                          <a:solidFill>
                            <a:srgbClr val="242C38"/>
                          </a:solidFill>
                          <a:latin typeface="Segoe UI"/>
                        </a:rPr>
                        <a:t>the job ran and wrote its output</a:t>
                      </a:r>
                    </a:p>
                  </a:txBody>
                  <a:tcPr marT="36576" marB="36576" anchor="ctr">
                    <a:solidFill>
                      <a:srgbClr val="EEF3F8"/>
                    </a:solidFill>
                  </a:tcPr>
                </a:tc>
                <a:extLst>
                  <a:ext uri="{0D108BD9-81ED-4DB2-BD59-A6C34878D82A}">
                    <a16:rowId xmlns:a16="http://schemas.microsoft.com/office/drawing/2014/main" val="10001"/>
                  </a:ext>
                </a:extLst>
              </a:tr>
              <a:tr h="475488">
                <a:tc>
                  <a:txBody>
                    <a:bodyPr/>
                    <a:lstStyle/>
                    <a:p>
                      <a:pPr>
                        <a:lnSpc>
                          <a:spcPct val="106000"/>
                        </a:lnSpc>
                      </a:pPr>
                      <a:r>
                        <a:rPr sz="1400" b="1" i="0">
                          <a:solidFill>
                            <a:srgbClr val="242C38"/>
                          </a:solidFill>
                          <a:latin typeface="Segoe UI"/>
                        </a:rPr>
                        <a:t>1</a:t>
                      </a:r>
                    </a:p>
                  </a:txBody>
                  <a:tcPr marT="36576" marB="36576" anchor="ctr">
                    <a:solidFill>
                      <a:srgbClr val="FFFFFF"/>
                    </a:solidFill>
                  </a:tcPr>
                </a:tc>
                <a:tc>
                  <a:txBody>
                    <a:bodyPr/>
                    <a:lstStyle/>
                    <a:p>
                      <a:pPr>
                        <a:lnSpc>
                          <a:spcPct val="106000"/>
                        </a:lnSpc>
                      </a:pPr>
                      <a:r>
                        <a:rPr sz="1400" b="0" i="0">
                          <a:solidFill>
                            <a:srgbClr val="242C38"/>
                          </a:solidFill>
                          <a:latin typeface="Segoe UI"/>
                        </a:rPr>
                        <a:t>the job raised an exception, caught and logged</a:t>
                      </a:r>
                    </a:p>
                  </a:txBody>
                  <a:tcPr marT="36576" marB="36576" anchor="ctr">
                    <a:solidFill>
                      <a:srgbClr val="FFFFFF"/>
                    </a:solidFill>
                  </a:tcPr>
                </a:tc>
                <a:extLst>
                  <a:ext uri="{0D108BD9-81ED-4DB2-BD59-A6C34878D82A}">
                    <a16:rowId xmlns:a16="http://schemas.microsoft.com/office/drawing/2014/main" val="10002"/>
                  </a:ext>
                </a:extLst>
              </a:tr>
              <a:tr h="475488">
                <a:tc>
                  <a:txBody>
                    <a:bodyPr/>
                    <a:lstStyle/>
                    <a:p>
                      <a:pPr>
                        <a:lnSpc>
                          <a:spcPct val="106000"/>
                        </a:lnSpc>
                      </a:pPr>
                      <a:r>
                        <a:rPr sz="1400" b="1" i="0">
                          <a:solidFill>
                            <a:srgbClr val="242C38"/>
                          </a:solidFill>
                          <a:latin typeface="Segoe UI"/>
                        </a:rPr>
                        <a:t>2</a:t>
                      </a:r>
                    </a:p>
                  </a:txBody>
                  <a:tcPr marT="36576" marB="36576" anchor="ctr">
                    <a:solidFill>
                      <a:srgbClr val="EEF3F8"/>
                    </a:solidFill>
                  </a:tcPr>
                </a:tc>
                <a:tc>
                  <a:txBody>
                    <a:bodyPr/>
                    <a:lstStyle/>
                    <a:p>
                      <a:pPr>
                        <a:lnSpc>
                          <a:spcPct val="106000"/>
                        </a:lnSpc>
                      </a:pPr>
                      <a:r>
                        <a:rPr sz="1400" b="0" i="0">
                          <a:solidFill>
                            <a:srgbClr val="242C38"/>
                          </a:solidFill>
                          <a:latin typeface="Segoe UI"/>
                        </a:rPr>
                        <a:t>a bad command-line argument, never even builds a SparkSession</a:t>
                      </a:r>
                    </a:p>
                  </a:txBody>
                  <a:tcPr marT="36576" marB="36576" anchor="ctr">
                    <a:solidFill>
                      <a:srgbClr val="EEF3F8"/>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658368" y="5724144"/>
            <a:ext cx="10874959" cy="502920"/>
          </a:xfrm>
          <a:prstGeom prst="rect">
            <a:avLst/>
          </a:prstGeom>
          <a:noFill/>
        </p:spPr>
        <p:txBody>
          <a:bodyPr wrap="square" lIns="0" tIns="0" rIns="0" bIns="0">
            <a:spAutoFit/>
          </a:bodyPr>
          <a:lstStyle/>
          <a:p>
            <a:r>
              <a:rPr sz="1300" b="0" i="1">
                <a:solidFill>
                  <a:srgbClr val="5B6775"/>
                </a:solidFill>
                <a:latin typeface="Segoe UI"/>
              </a:rPr>
              <a:t>A scheduler like Airflow or cron only ever sees one integer, never log text.</a:t>
            </a:r>
          </a:p>
        </p:txBody>
      </p:sp>
      <p:sp>
        <p:nvSpPr>
          <p:cNvPr id="6" name="Rectangle 5"/>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15  ·  Packaging PySpark applications</a:t>
            </a:r>
          </a:p>
        </p:txBody>
      </p:sp>
      <p:sp>
        <p:nvSpPr>
          <p:cNvPr id="8" name="TextBox 7"/>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165</a:t>
            </a:r>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Module 15 in one screen</a:t>
            </a:r>
          </a:p>
        </p:txBody>
      </p:sp>
      <p:sp>
        <p:nvSpPr>
          <p:cNvPr id="4" name="TextBox 3"/>
          <p:cNvSpPr txBox="1"/>
          <p:nvPr/>
        </p:nvSpPr>
        <p:spPr>
          <a:xfrm>
            <a:off x="658368" y="1481328"/>
            <a:ext cx="10874959" cy="4526280"/>
          </a:xfrm>
          <a:prstGeom prst="rect">
            <a:avLst/>
          </a:prstGeom>
          <a:noFill/>
        </p:spPr>
        <p:txBody>
          <a:bodyPr wrap="square" lIns="0" tIns="0" rIns="0" bIns="0">
            <a:spAutoFit/>
          </a:bodyPr>
          <a:lstStyle/>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A package beats a loose script the moment a job survives a second environment.</a:t>
            </a:r>
          </a:p>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transform()/run() splits pure logic from IO, that split is what makes it testable.</a:t>
            </a:r>
          </a:p>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Config precedence, default then env var then argument, means zero-edit deploys.</a:t>
            </a:r>
          </a:p>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Exit codes, not log text, are the entire contract between a job and its scheduler.</a:t>
            </a:r>
          </a:p>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Never log a full record or account number, logs have weaker access control.</a:t>
            </a:r>
          </a:p>
        </p:txBody>
      </p:sp>
      <p:sp>
        <p:nvSpPr>
          <p:cNvPr id="5" name="Rectangle 4"/>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15  ·  Packaging PySpark applications</a:t>
            </a:r>
          </a:p>
        </p:txBody>
      </p:sp>
      <p:sp>
        <p:nvSpPr>
          <p:cNvPr id="7" name="TextBox 6"/>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166</a:t>
            </a:r>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858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51560" y="2057400"/>
            <a:ext cx="9692640" cy="457200"/>
          </a:xfrm>
          <a:prstGeom prst="rect">
            <a:avLst/>
          </a:prstGeom>
          <a:noFill/>
        </p:spPr>
        <p:txBody>
          <a:bodyPr wrap="square" lIns="0" tIns="0" rIns="0" bIns="0">
            <a:spAutoFit/>
          </a:bodyPr>
          <a:lstStyle/>
          <a:p>
            <a:r>
              <a:rPr sz="1300" b="1" i="0">
                <a:solidFill>
                  <a:srgbClr val="2E74B5"/>
                </a:solidFill>
                <a:latin typeface="Segoe UI Semibold"/>
              </a:rPr>
              <a:t>MODULE 16</a:t>
            </a:r>
          </a:p>
        </p:txBody>
      </p:sp>
      <p:sp>
        <p:nvSpPr>
          <p:cNvPr id="5" name="TextBox 4"/>
          <p:cNvSpPr txBox="1"/>
          <p:nvPr/>
        </p:nvSpPr>
        <p:spPr>
          <a:xfrm>
            <a:off x="1051560" y="2578608"/>
            <a:ext cx="9692640" cy="614014"/>
          </a:xfrm>
          <a:prstGeom prst="rect">
            <a:avLst/>
          </a:prstGeom>
          <a:noFill/>
        </p:spPr>
        <p:txBody>
          <a:bodyPr wrap="square" lIns="0" tIns="0" rIns="0" bIns="0">
            <a:spAutoFit/>
          </a:bodyPr>
          <a:lstStyle/>
          <a:p>
            <a:pPr>
              <a:lnSpc>
                <a:spcPct val="95000"/>
              </a:lnSpc>
            </a:pPr>
            <a:r>
              <a:rPr sz="4200" b="1" i="0">
                <a:solidFill>
                  <a:srgbClr val="1F4E79"/>
                </a:solidFill>
                <a:latin typeface="Segoe UI Semibold"/>
              </a:rPr>
              <a:t>ML </a:t>
            </a:r>
            <a:r>
              <a:rPr sz="4200" b="1" i="0" dirty="0">
                <a:solidFill>
                  <a:srgbClr val="1F4E79"/>
                </a:solidFill>
                <a:latin typeface="Segoe UI Semibold"/>
              </a:rPr>
              <a:t>overview</a:t>
            </a:r>
          </a:p>
        </p:txBody>
      </p:sp>
      <p:sp>
        <p:nvSpPr>
          <p:cNvPr id="6" name="TextBox 5"/>
          <p:cNvSpPr txBox="1"/>
          <p:nvPr/>
        </p:nvSpPr>
        <p:spPr>
          <a:xfrm>
            <a:off x="1051560" y="3950208"/>
            <a:ext cx="8778240" cy="822960"/>
          </a:xfrm>
          <a:prstGeom prst="rect">
            <a:avLst/>
          </a:prstGeom>
          <a:noFill/>
        </p:spPr>
        <p:txBody>
          <a:bodyPr wrap="square" lIns="0" tIns="0" rIns="0" bIns="0">
            <a:spAutoFit/>
          </a:bodyPr>
          <a:lstStyle/>
          <a:p>
            <a:pPr>
              <a:lnSpc>
                <a:spcPct val="115000"/>
              </a:lnSpc>
            </a:pPr>
            <a:r>
              <a:rPr sz="1700" b="0" i="0">
                <a:solidFill>
                  <a:srgbClr val="5B6775"/>
                </a:solidFill>
                <a:latin typeface="Segoe UI"/>
              </a:rPr>
              <a:t>What spark.ml covers, how to read a Pipeline, and when the honest answer is no</a:t>
            </a:r>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58368" y="2148840"/>
            <a:ext cx="82296" cy="219456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42416" y="2084831"/>
            <a:ext cx="9777679" cy="1828800"/>
          </a:xfrm>
          <a:prstGeom prst="rect">
            <a:avLst/>
          </a:prstGeom>
          <a:noFill/>
        </p:spPr>
        <p:txBody>
          <a:bodyPr wrap="square" lIns="0" tIns="0" rIns="0" bIns="0">
            <a:spAutoFit/>
          </a:bodyPr>
          <a:lstStyle/>
          <a:p>
            <a:pPr>
              <a:lnSpc>
                <a:spcPct val="112000"/>
              </a:lnSpc>
            </a:pPr>
            <a:r>
              <a:rPr sz="3000" b="1" i="0">
                <a:solidFill>
                  <a:srgbClr val="1F4E79"/>
                </a:solidFill>
                <a:latin typeface="Segoe UI Semibold"/>
              </a:rPr>
              <a:t>Fraud is 0.3 percent of rows. Accuracy will lie to you about it.</a:t>
            </a:r>
          </a:p>
        </p:txBody>
      </p:sp>
      <p:sp>
        <p:nvSpPr>
          <p:cNvPr id="5" name="TextBox 4"/>
          <p:cNvSpPr txBox="1"/>
          <p:nvPr/>
        </p:nvSpPr>
        <p:spPr>
          <a:xfrm>
            <a:off x="1042416" y="4041648"/>
            <a:ext cx="9411919" cy="1005840"/>
          </a:xfrm>
          <a:prstGeom prst="rect">
            <a:avLst/>
          </a:prstGeom>
          <a:noFill/>
        </p:spPr>
        <p:txBody>
          <a:bodyPr wrap="square" lIns="0" tIns="0" rIns="0" bIns="0">
            <a:spAutoFit/>
          </a:bodyPr>
          <a:lstStyle/>
          <a:p>
            <a:pPr>
              <a:lnSpc>
                <a:spcPct val="120000"/>
              </a:lnSpc>
            </a:pPr>
            <a:r>
              <a:rPr sz="1700" b="0" i="0">
                <a:solidFill>
                  <a:srgbClr val="5B6775"/>
                </a:solidFill>
                <a:latin typeface="Segoe UI"/>
              </a:rPr>
              <a:t>This is a 25 minute survey, not a machine learning course. Data science owns model quality. This room owns getting data to them at scale, and knowing when the honest answer to "can we just do this in Spark" is no.</a:t>
            </a:r>
          </a:p>
        </p:txBody>
      </p:sp>
      <p:sp>
        <p:nvSpPr>
          <p:cNvPr id="6" name="Rectangle 5"/>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16  ·  MLlib overview</a:t>
            </a:r>
          </a:p>
        </p:txBody>
      </p:sp>
      <p:sp>
        <p:nvSpPr>
          <p:cNvPr id="8" name="TextBox 7"/>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167</a:t>
            </a:r>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What exists, by family</a:t>
            </a:r>
          </a:p>
        </p:txBody>
      </p:sp>
      <p:graphicFrame>
        <p:nvGraphicFramePr>
          <p:cNvPr id="4" name="Table 3"/>
          <p:cNvGraphicFramePr>
            <a:graphicFrameLocks noGrp="1"/>
          </p:cNvGraphicFramePr>
          <p:nvPr/>
        </p:nvGraphicFramePr>
        <p:xfrm>
          <a:off x="658368" y="1481328"/>
          <a:ext cx="10874958" cy="3255264"/>
        </p:xfrm>
        <a:graphic>
          <a:graphicData uri="http://schemas.openxmlformats.org/drawingml/2006/table">
            <a:tbl>
              <a:tblPr firstRow="1" bandRow="1">
                <a:tableStyleId>{5C22544A-7EE6-4342-B048-85BDC9FD1C3A}</a:tableStyleId>
              </a:tblPr>
              <a:tblGrid>
                <a:gridCol w="4292746">
                  <a:extLst>
                    <a:ext uri="{9D8B030D-6E8A-4147-A177-3AD203B41FA5}">
                      <a16:colId xmlns:a16="http://schemas.microsoft.com/office/drawing/2014/main" val="20000"/>
                    </a:ext>
                  </a:extLst>
                </a:gridCol>
                <a:gridCol w="6582212">
                  <a:extLst>
                    <a:ext uri="{9D8B030D-6E8A-4147-A177-3AD203B41FA5}">
                      <a16:colId xmlns:a16="http://schemas.microsoft.com/office/drawing/2014/main" val="20001"/>
                    </a:ext>
                  </a:extLst>
                </a:gridCol>
              </a:tblGrid>
              <a:tr h="402336">
                <a:tc>
                  <a:txBody>
                    <a:bodyPr/>
                    <a:lstStyle/>
                    <a:p>
                      <a:r>
                        <a:rPr sz="1450" b="1" i="0">
                          <a:solidFill>
                            <a:srgbClr val="FFFFFF"/>
                          </a:solidFill>
                          <a:latin typeface="Segoe UI Semibold"/>
                        </a:rPr>
                        <a:t>Family</a:t>
                      </a:r>
                    </a:p>
                  </a:txBody>
                  <a:tcPr anchor="ctr">
                    <a:solidFill>
                      <a:srgbClr val="1F4E79"/>
                    </a:solidFill>
                  </a:tcPr>
                </a:tc>
                <a:tc>
                  <a:txBody>
                    <a:bodyPr/>
                    <a:lstStyle/>
                    <a:p>
                      <a:r>
                        <a:rPr sz="1450" b="1" i="0">
                          <a:solidFill>
                            <a:srgbClr val="FFFFFF"/>
                          </a:solidFill>
                          <a:latin typeface="Segoe UI Semibold"/>
                        </a:rPr>
                        <a:t>Key classes</a:t>
                      </a:r>
                    </a:p>
                  </a:txBody>
                  <a:tcPr anchor="ctr">
                    <a:solidFill>
                      <a:srgbClr val="1F4E79"/>
                    </a:solidFill>
                  </a:tcPr>
                </a:tc>
                <a:extLst>
                  <a:ext uri="{0D108BD9-81ED-4DB2-BD59-A6C34878D82A}">
                    <a16:rowId xmlns:a16="http://schemas.microsoft.com/office/drawing/2014/main" val="10000"/>
                  </a:ext>
                </a:extLst>
              </a:tr>
              <a:tr h="475488">
                <a:tc>
                  <a:txBody>
                    <a:bodyPr/>
                    <a:lstStyle/>
                    <a:p>
                      <a:pPr>
                        <a:lnSpc>
                          <a:spcPct val="106000"/>
                        </a:lnSpc>
                      </a:pPr>
                      <a:r>
                        <a:rPr sz="1400" b="1" i="0">
                          <a:solidFill>
                            <a:srgbClr val="242C38"/>
                          </a:solidFill>
                          <a:latin typeface="Segoe UI"/>
                        </a:rPr>
                        <a:t>Classification</a:t>
                      </a:r>
                    </a:p>
                  </a:txBody>
                  <a:tcPr marT="36576" marB="36576" anchor="ctr">
                    <a:solidFill>
                      <a:srgbClr val="EEF3F8"/>
                    </a:solidFill>
                  </a:tcPr>
                </a:tc>
                <a:tc>
                  <a:txBody>
                    <a:bodyPr/>
                    <a:lstStyle/>
                    <a:p>
                      <a:pPr>
                        <a:lnSpc>
                          <a:spcPct val="106000"/>
                        </a:lnSpc>
                      </a:pPr>
                      <a:r>
                        <a:rPr sz="1350" b="0" i="0">
                          <a:solidFill>
                            <a:srgbClr val="2E74B5"/>
                          </a:solidFill>
                          <a:latin typeface="Consolas"/>
                        </a:rPr>
                        <a:t>LogisticRegression</a:t>
                      </a:r>
                      <a:r>
                        <a:rPr sz="1400" b="0" i="0">
                          <a:solidFill>
                            <a:srgbClr val="242C38"/>
                          </a:solidFill>
                          <a:latin typeface="Segoe UI"/>
                        </a:rPr>
                        <a:t>, </a:t>
                      </a:r>
                      <a:r>
                        <a:rPr sz="1350" b="0" i="0">
                          <a:solidFill>
                            <a:srgbClr val="2E74B5"/>
                          </a:solidFill>
                          <a:latin typeface="Consolas"/>
                        </a:rPr>
                        <a:t>RandomForestClassifier</a:t>
                      </a:r>
                    </a:p>
                  </a:txBody>
                  <a:tcPr marT="36576" marB="36576" anchor="ctr">
                    <a:solidFill>
                      <a:srgbClr val="EEF3F8"/>
                    </a:solidFill>
                  </a:tcPr>
                </a:tc>
                <a:extLst>
                  <a:ext uri="{0D108BD9-81ED-4DB2-BD59-A6C34878D82A}">
                    <a16:rowId xmlns:a16="http://schemas.microsoft.com/office/drawing/2014/main" val="10001"/>
                  </a:ext>
                </a:extLst>
              </a:tr>
              <a:tr h="475488">
                <a:tc>
                  <a:txBody>
                    <a:bodyPr/>
                    <a:lstStyle/>
                    <a:p>
                      <a:pPr>
                        <a:lnSpc>
                          <a:spcPct val="106000"/>
                        </a:lnSpc>
                      </a:pPr>
                      <a:r>
                        <a:rPr sz="1400" b="1" i="0">
                          <a:solidFill>
                            <a:srgbClr val="242C38"/>
                          </a:solidFill>
                          <a:latin typeface="Segoe UI"/>
                        </a:rPr>
                        <a:t>Regression</a:t>
                      </a:r>
                    </a:p>
                  </a:txBody>
                  <a:tcPr marT="36576" marB="36576" anchor="ctr">
                    <a:solidFill>
                      <a:srgbClr val="FFFFFF"/>
                    </a:solidFill>
                  </a:tcPr>
                </a:tc>
                <a:tc>
                  <a:txBody>
                    <a:bodyPr/>
                    <a:lstStyle/>
                    <a:p>
                      <a:pPr>
                        <a:lnSpc>
                          <a:spcPct val="106000"/>
                        </a:lnSpc>
                      </a:pPr>
                      <a:r>
                        <a:rPr sz="1350" b="0" i="0">
                          <a:solidFill>
                            <a:srgbClr val="2E74B5"/>
                          </a:solidFill>
                          <a:latin typeface="Consolas"/>
                        </a:rPr>
                        <a:t>LinearRegression</a:t>
                      </a:r>
                      <a:r>
                        <a:rPr sz="1400" b="0" i="0">
                          <a:solidFill>
                            <a:srgbClr val="242C38"/>
                          </a:solidFill>
                          <a:latin typeface="Segoe UI"/>
                        </a:rPr>
                        <a:t>, </a:t>
                      </a:r>
                      <a:r>
                        <a:rPr sz="1350" b="0" i="0">
                          <a:solidFill>
                            <a:srgbClr val="2E74B5"/>
                          </a:solidFill>
                          <a:latin typeface="Consolas"/>
                        </a:rPr>
                        <a:t>GBTRegressor</a:t>
                      </a:r>
                    </a:p>
                  </a:txBody>
                  <a:tcPr marT="36576" marB="36576" anchor="ctr">
                    <a:solidFill>
                      <a:srgbClr val="FFFFFF"/>
                    </a:solidFill>
                  </a:tcPr>
                </a:tc>
                <a:extLst>
                  <a:ext uri="{0D108BD9-81ED-4DB2-BD59-A6C34878D82A}">
                    <a16:rowId xmlns:a16="http://schemas.microsoft.com/office/drawing/2014/main" val="10002"/>
                  </a:ext>
                </a:extLst>
              </a:tr>
              <a:tr h="475488">
                <a:tc>
                  <a:txBody>
                    <a:bodyPr/>
                    <a:lstStyle/>
                    <a:p>
                      <a:pPr>
                        <a:lnSpc>
                          <a:spcPct val="106000"/>
                        </a:lnSpc>
                      </a:pPr>
                      <a:r>
                        <a:rPr sz="1400" b="1" i="0">
                          <a:solidFill>
                            <a:srgbClr val="242C38"/>
                          </a:solidFill>
                          <a:latin typeface="Segoe UI"/>
                        </a:rPr>
                        <a:t>Clustering</a:t>
                      </a:r>
                    </a:p>
                  </a:txBody>
                  <a:tcPr marT="36576" marB="36576" anchor="ctr">
                    <a:solidFill>
                      <a:srgbClr val="EEF3F8"/>
                    </a:solidFill>
                  </a:tcPr>
                </a:tc>
                <a:tc>
                  <a:txBody>
                    <a:bodyPr/>
                    <a:lstStyle/>
                    <a:p>
                      <a:pPr>
                        <a:lnSpc>
                          <a:spcPct val="106000"/>
                        </a:lnSpc>
                      </a:pPr>
                      <a:r>
                        <a:rPr sz="1350" b="0" i="0">
                          <a:solidFill>
                            <a:srgbClr val="2E74B5"/>
                          </a:solidFill>
                          <a:latin typeface="Consolas"/>
                        </a:rPr>
                        <a:t>KMeans</a:t>
                      </a:r>
                      <a:r>
                        <a:rPr sz="1400" b="0" i="0">
                          <a:solidFill>
                            <a:srgbClr val="242C38"/>
                          </a:solidFill>
                          <a:latin typeface="Segoe UI"/>
                        </a:rPr>
                        <a:t>, </a:t>
                      </a:r>
                      <a:r>
                        <a:rPr sz="1350" b="0" i="0">
                          <a:solidFill>
                            <a:srgbClr val="2E74B5"/>
                          </a:solidFill>
                          <a:latin typeface="Consolas"/>
                        </a:rPr>
                        <a:t>BisectingKMeans</a:t>
                      </a:r>
                    </a:p>
                  </a:txBody>
                  <a:tcPr marT="36576" marB="36576" anchor="ctr">
                    <a:solidFill>
                      <a:srgbClr val="EEF3F8"/>
                    </a:solidFill>
                  </a:tcPr>
                </a:tc>
                <a:extLst>
                  <a:ext uri="{0D108BD9-81ED-4DB2-BD59-A6C34878D82A}">
                    <a16:rowId xmlns:a16="http://schemas.microsoft.com/office/drawing/2014/main" val="10003"/>
                  </a:ext>
                </a:extLst>
              </a:tr>
              <a:tr h="475488">
                <a:tc>
                  <a:txBody>
                    <a:bodyPr/>
                    <a:lstStyle/>
                    <a:p>
                      <a:pPr>
                        <a:lnSpc>
                          <a:spcPct val="106000"/>
                        </a:lnSpc>
                      </a:pPr>
                      <a:r>
                        <a:rPr sz="1400" b="1" i="0">
                          <a:solidFill>
                            <a:srgbClr val="242C38"/>
                          </a:solidFill>
                          <a:latin typeface="Segoe UI"/>
                        </a:rPr>
                        <a:t>Recommendation</a:t>
                      </a:r>
                    </a:p>
                  </a:txBody>
                  <a:tcPr marT="36576" marB="36576" anchor="ctr">
                    <a:solidFill>
                      <a:srgbClr val="FFFFFF"/>
                    </a:solidFill>
                  </a:tcPr>
                </a:tc>
                <a:tc>
                  <a:txBody>
                    <a:bodyPr/>
                    <a:lstStyle/>
                    <a:p>
                      <a:pPr>
                        <a:lnSpc>
                          <a:spcPct val="106000"/>
                        </a:lnSpc>
                      </a:pPr>
                      <a:r>
                        <a:rPr sz="1350" b="0" i="0">
                          <a:solidFill>
                            <a:srgbClr val="2E74B5"/>
                          </a:solidFill>
                          <a:latin typeface="Consolas"/>
                        </a:rPr>
                        <a:t>ALS</a:t>
                      </a:r>
                    </a:p>
                  </a:txBody>
                  <a:tcPr marT="36576" marB="36576" anchor="ctr">
                    <a:solidFill>
                      <a:srgbClr val="FFFFFF"/>
                    </a:solidFill>
                  </a:tcPr>
                </a:tc>
                <a:extLst>
                  <a:ext uri="{0D108BD9-81ED-4DB2-BD59-A6C34878D82A}">
                    <a16:rowId xmlns:a16="http://schemas.microsoft.com/office/drawing/2014/main" val="10004"/>
                  </a:ext>
                </a:extLst>
              </a:tr>
              <a:tr h="475488">
                <a:tc>
                  <a:txBody>
                    <a:bodyPr/>
                    <a:lstStyle/>
                    <a:p>
                      <a:pPr>
                        <a:lnSpc>
                          <a:spcPct val="106000"/>
                        </a:lnSpc>
                      </a:pPr>
                      <a:r>
                        <a:rPr sz="1400" b="1" i="0">
                          <a:solidFill>
                            <a:srgbClr val="242C38"/>
                          </a:solidFill>
                          <a:latin typeface="Segoe UI"/>
                        </a:rPr>
                        <a:t>Feature transformers</a:t>
                      </a:r>
                    </a:p>
                  </a:txBody>
                  <a:tcPr marT="36576" marB="36576" anchor="ctr">
                    <a:solidFill>
                      <a:srgbClr val="EEF3F8"/>
                    </a:solidFill>
                  </a:tcPr>
                </a:tc>
                <a:tc>
                  <a:txBody>
                    <a:bodyPr/>
                    <a:lstStyle/>
                    <a:p>
                      <a:pPr>
                        <a:lnSpc>
                          <a:spcPct val="106000"/>
                        </a:lnSpc>
                      </a:pPr>
                      <a:r>
                        <a:rPr sz="1350" b="0" i="0">
                          <a:solidFill>
                            <a:srgbClr val="2E74B5"/>
                          </a:solidFill>
                          <a:latin typeface="Consolas"/>
                        </a:rPr>
                        <a:t>StringIndexer</a:t>
                      </a:r>
                      <a:r>
                        <a:rPr sz="1400" b="0" i="0">
                          <a:solidFill>
                            <a:srgbClr val="242C38"/>
                          </a:solidFill>
                          <a:latin typeface="Segoe UI"/>
                        </a:rPr>
                        <a:t>, </a:t>
                      </a:r>
                      <a:r>
                        <a:rPr sz="1350" b="0" i="0">
                          <a:solidFill>
                            <a:srgbClr val="2E74B5"/>
                          </a:solidFill>
                          <a:latin typeface="Consolas"/>
                        </a:rPr>
                        <a:t>VectorAssembler</a:t>
                      </a:r>
                    </a:p>
                  </a:txBody>
                  <a:tcPr marT="36576" marB="36576" anchor="ctr">
                    <a:solidFill>
                      <a:srgbClr val="EEF3F8"/>
                    </a:solidFill>
                  </a:tcPr>
                </a:tc>
                <a:extLst>
                  <a:ext uri="{0D108BD9-81ED-4DB2-BD59-A6C34878D82A}">
                    <a16:rowId xmlns:a16="http://schemas.microsoft.com/office/drawing/2014/main" val="10005"/>
                  </a:ext>
                </a:extLst>
              </a:tr>
              <a:tr h="475488">
                <a:tc>
                  <a:txBody>
                    <a:bodyPr/>
                    <a:lstStyle/>
                    <a:p>
                      <a:pPr>
                        <a:lnSpc>
                          <a:spcPct val="106000"/>
                        </a:lnSpc>
                      </a:pPr>
                      <a:r>
                        <a:rPr sz="1400" b="1" i="0">
                          <a:solidFill>
                            <a:srgbClr val="242C38"/>
                          </a:solidFill>
                          <a:latin typeface="Segoe UI"/>
                        </a:rPr>
                        <a:t>Evaluation</a:t>
                      </a:r>
                    </a:p>
                  </a:txBody>
                  <a:tcPr marT="36576" marB="36576" anchor="ctr">
                    <a:solidFill>
                      <a:srgbClr val="FFFFFF"/>
                    </a:solidFill>
                  </a:tcPr>
                </a:tc>
                <a:tc>
                  <a:txBody>
                    <a:bodyPr/>
                    <a:lstStyle/>
                    <a:p>
                      <a:pPr>
                        <a:lnSpc>
                          <a:spcPct val="106000"/>
                        </a:lnSpc>
                      </a:pPr>
                      <a:r>
                        <a:rPr sz="1350" b="0" i="0">
                          <a:solidFill>
                            <a:srgbClr val="2E74B5"/>
                          </a:solidFill>
                          <a:latin typeface="Consolas"/>
                        </a:rPr>
                        <a:t>BinaryClassificationEvaluator</a:t>
                      </a:r>
                    </a:p>
                  </a:txBody>
                  <a:tcPr marT="36576" marB="36576" anchor="ctr">
                    <a:solidFill>
                      <a:srgbClr val="FFFFFF"/>
                    </a:solidFill>
                  </a:tcPr>
                </a:tc>
                <a:extLst>
                  <a:ext uri="{0D108BD9-81ED-4DB2-BD59-A6C34878D82A}">
                    <a16:rowId xmlns:a16="http://schemas.microsoft.com/office/drawing/2014/main" val="10006"/>
                  </a:ext>
                </a:extLst>
              </a:tr>
            </a:tbl>
          </a:graphicData>
        </a:graphic>
      </p:graphicFrame>
      <p:sp>
        <p:nvSpPr>
          <p:cNvPr id="5" name="Rectangle 4"/>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16  ·  MLlib overview</a:t>
            </a:r>
          </a:p>
        </p:txBody>
      </p:sp>
      <p:sp>
        <p:nvSpPr>
          <p:cNvPr id="7" name="TextBox 6"/>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168</a:t>
            </a:r>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Banking use cases, mapped to family</a:t>
            </a:r>
          </a:p>
        </p:txBody>
      </p:sp>
      <p:graphicFrame>
        <p:nvGraphicFramePr>
          <p:cNvPr id="4" name="Table 3"/>
          <p:cNvGraphicFramePr>
            <a:graphicFrameLocks noGrp="1"/>
          </p:cNvGraphicFramePr>
          <p:nvPr/>
        </p:nvGraphicFramePr>
        <p:xfrm>
          <a:off x="658368" y="1481328"/>
          <a:ext cx="10874958" cy="3255264"/>
        </p:xfrm>
        <a:graphic>
          <a:graphicData uri="http://schemas.openxmlformats.org/drawingml/2006/table">
            <a:tbl>
              <a:tblPr firstRow="1" bandRow="1">
                <a:tableStyleId>{5C22544A-7EE6-4342-B048-85BDC9FD1C3A}</a:tableStyleId>
              </a:tblPr>
              <a:tblGrid>
                <a:gridCol w="3540684">
                  <a:extLst>
                    <a:ext uri="{9D8B030D-6E8A-4147-A177-3AD203B41FA5}">
                      <a16:colId xmlns:a16="http://schemas.microsoft.com/office/drawing/2014/main" val="20000"/>
                    </a:ext>
                  </a:extLst>
                </a:gridCol>
                <a:gridCol w="3287778">
                  <a:extLst>
                    <a:ext uri="{9D8B030D-6E8A-4147-A177-3AD203B41FA5}">
                      <a16:colId xmlns:a16="http://schemas.microsoft.com/office/drawing/2014/main" val="20001"/>
                    </a:ext>
                  </a:extLst>
                </a:gridCol>
                <a:gridCol w="4046496">
                  <a:extLst>
                    <a:ext uri="{9D8B030D-6E8A-4147-A177-3AD203B41FA5}">
                      <a16:colId xmlns:a16="http://schemas.microsoft.com/office/drawing/2014/main" val="20002"/>
                    </a:ext>
                  </a:extLst>
                </a:gridCol>
              </a:tblGrid>
              <a:tr h="402336">
                <a:tc>
                  <a:txBody>
                    <a:bodyPr/>
                    <a:lstStyle/>
                    <a:p>
                      <a:r>
                        <a:rPr sz="1450" b="1" i="0">
                          <a:solidFill>
                            <a:srgbClr val="FFFFFF"/>
                          </a:solidFill>
                          <a:latin typeface="Segoe UI Semibold"/>
                        </a:rPr>
                        <a:t>Use case</a:t>
                      </a:r>
                    </a:p>
                  </a:txBody>
                  <a:tcPr anchor="ctr">
                    <a:solidFill>
                      <a:srgbClr val="1F4E79"/>
                    </a:solidFill>
                  </a:tcPr>
                </a:tc>
                <a:tc>
                  <a:txBody>
                    <a:bodyPr/>
                    <a:lstStyle/>
                    <a:p>
                      <a:r>
                        <a:rPr sz="1450" b="1" i="0">
                          <a:solidFill>
                            <a:srgbClr val="FFFFFF"/>
                          </a:solidFill>
                          <a:latin typeface="Segoe UI Semibold"/>
                        </a:rPr>
                        <a:t>Family</a:t>
                      </a:r>
                    </a:p>
                  </a:txBody>
                  <a:tcPr anchor="ctr">
                    <a:solidFill>
                      <a:srgbClr val="1F4E79"/>
                    </a:solidFill>
                  </a:tcPr>
                </a:tc>
                <a:tc>
                  <a:txBody>
                    <a:bodyPr/>
                    <a:lstStyle/>
                    <a:p>
                      <a:r>
                        <a:rPr sz="1450" b="1" i="0">
                          <a:solidFill>
                            <a:srgbClr val="FFFFFF"/>
                          </a:solidFill>
                          <a:latin typeface="Segoe UI Semibold"/>
                        </a:rPr>
                        <a:t>Notes</a:t>
                      </a:r>
                    </a:p>
                  </a:txBody>
                  <a:tcPr anchor="ctr">
                    <a:solidFill>
                      <a:srgbClr val="1F4E79"/>
                    </a:solidFill>
                  </a:tcPr>
                </a:tc>
                <a:extLst>
                  <a:ext uri="{0D108BD9-81ED-4DB2-BD59-A6C34878D82A}">
                    <a16:rowId xmlns:a16="http://schemas.microsoft.com/office/drawing/2014/main" val="10000"/>
                  </a:ext>
                </a:extLst>
              </a:tr>
              <a:tr h="475488">
                <a:tc>
                  <a:txBody>
                    <a:bodyPr/>
                    <a:lstStyle/>
                    <a:p>
                      <a:pPr>
                        <a:lnSpc>
                          <a:spcPct val="106000"/>
                        </a:lnSpc>
                      </a:pPr>
                      <a:r>
                        <a:rPr sz="1400" b="1" i="0">
                          <a:solidFill>
                            <a:srgbClr val="242C38"/>
                          </a:solidFill>
                          <a:latin typeface="Segoe UI"/>
                        </a:rPr>
                        <a:t>Fraud detection</a:t>
                      </a:r>
                    </a:p>
                  </a:txBody>
                  <a:tcPr marT="36576" marB="36576" anchor="ctr">
                    <a:solidFill>
                      <a:srgbClr val="EEF3F8"/>
                    </a:solidFill>
                  </a:tcPr>
                </a:tc>
                <a:tc>
                  <a:txBody>
                    <a:bodyPr/>
                    <a:lstStyle/>
                    <a:p>
                      <a:pPr>
                        <a:lnSpc>
                          <a:spcPct val="106000"/>
                        </a:lnSpc>
                      </a:pPr>
                      <a:r>
                        <a:rPr sz="1400" b="0" i="0">
                          <a:solidFill>
                            <a:srgbClr val="242C38"/>
                          </a:solidFill>
                          <a:latin typeface="Segoe UI"/>
                        </a:rPr>
                        <a:t>Classification</a:t>
                      </a:r>
                    </a:p>
                  </a:txBody>
                  <a:tcPr marT="36576" marB="36576" anchor="ctr">
                    <a:solidFill>
                      <a:srgbClr val="EEF3F8"/>
                    </a:solidFill>
                  </a:tcPr>
                </a:tc>
                <a:tc>
                  <a:txBody>
                    <a:bodyPr/>
                    <a:lstStyle/>
                    <a:p>
                      <a:pPr>
                        <a:lnSpc>
                          <a:spcPct val="106000"/>
                        </a:lnSpc>
                      </a:pPr>
                      <a:r>
                        <a:rPr sz="1400" b="0" i="0">
                          <a:solidFill>
                            <a:srgbClr val="242C38"/>
                          </a:solidFill>
                          <a:latin typeface="Segoe UI"/>
                        </a:rPr>
                        <a:t>severe class imbalance</a:t>
                      </a:r>
                    </a:p>
                  </a:txBody>
                  <a:tcPr marT="36576" marB="36576" anchor="ctr">
                    <a:solidFill>
                      <a:srgbClr val="EEF3F8"/>
                    </a:solidFill>
                  </a:tcPr>
                </a:tc>
                <a:extLst>
                  <a:ext uri="{0D108BD9-81ED-4DB2-BD59-A6C34878D82A}">
                    <a16:rowId xmlns:a16="http://schemas.microsoft.com/office/drawing/2014/main" val="10001"/>
                  </a:ext>
                </a:extLst>
              </a:tr>
              <a:tr h="475488">
                <a:tc>
                  <a:txBody>
                    <a:bodyPr/>
                    <a:lstStyle/>
                    <a:p>
                      <a:pPr>
                        <a:lnSpc>
                          <a:spcPct val="106000"/>
                        </a:lnSpc>
                      </a:pPr>
                      <a:r>
                        <a:rPr sz="1400" b="1" i="0">
                          <a:solidFill>
                            <a:srgbClr val="242C38"/>
                          </a:solidFill>
                          <a:latin typeface="Segoe UI"/>
                        </a:rPr>
                        <a:t>Credit scoring</a:t>
                      </a:r>
                    </a:p>
                  </a:txBody>
                  <a:tcPr marT="36576" marB="36576" anchor="ctr">
                    <a:solidFill>
                      <a:srgbClr val="FFFFFF"/>
                    </a:solidFill>
                  </a:tcPr>
                </a:tc>
                <a:tc>
                  <a:txBody>
                    <a:bodyPr/>
                    <a:lstStyle/>
                    <a:p>
                      <a:pPr>
                        <a:lnSpc>
                          <a:spcPct val="106000"/>
                        </a:lnSpc>
                      </a:pPr>
                      <a:r>
                        <a:rPr sz="1400" b="0" i="0">
                          <a:solidFill>
                            <a:srgbClr val="242C38"/>
                          </a:solidFill>
                          <a:latin typeface="Segoe UI"/>
                        </a:rPr>
                        <a:t>Classification</a:t>
                      </a:r>
                    </a:p>
                  </a:txBody>
                  <a:tcPr marT="36576" marB="36576" anchor="ctr">
                    <a:solidFill>
                      <a:srgbClr val="FFFFFF"/>
                    </a:solidFill>
                  </a:tcPr>
                </a:tc>
                <a:tc>
                  <a:txBody>
                    <a:bodyPr/>
                    <a:lstStyle/>
                    <a:p>
                      <a:pPr>
                        <a:lnSpc>
                          <a:spcPct val="106000"/>
                        </a:lnSpc>
                      </a:pPr>
                      <a:r>
                        <a:rPr sz="1400" b="0" i="0">
                          <a:solidFill>
                            <a:srgbClr val="242C38"/>
                          </a:solidFill>
                          <a:latin typeface="Segoe UI"/>
                        </a:rPr>
                        <a:t>regulators want reason codes</a:t>
                      </a:r>
                    </a:p>
                  </a:txBody>
                  <a:tcPr marT="36576" marB="36576" anchor="ctr">
                    <a:solidFill>
                      <a:srgbClr val="FFFFFF"/>
                    </a:solidFill>
                  </a:tcPr>
                </a:tc>
                <a:extLst>
                  <a:ext uri="{0D108BD9-81ED-4DB2-BD59-A6C34878D82A}">
                    <a16:rowId xmlns:a16="http://schemas.microsoft.com/office/drawing/2014/main" val="10002"/>
                  </a:ext>
                </a:extLst>
              </a:tr>
              <a:tr h="475488">
                <a:tc>
                  <a:txBody>
                    <a:bodyPr/>
                    <a:lstStyle/>
                    <a:p>
                      <a:pPr>
                        <a:lnSpc>
                          <a:spcPct val="106000"/>
                        </a:lnSpc>
                      </a:pPr>
                      <a:r>
                        <a:rPr sz="1400" b="1" i="0">
                          <a:solidFill>
                            <a:srgbClr val="242C38"/>
                          </a:solidFill>
                          <a:latin typeface="Segoe UI"/>
                        </a:rPr>
                        <a:t>Customer churn</a:t>
                      </a:r>
                    </a:p>
                  </a:txBody>
                  <a:tcPr marT="36576" marB="36576" anchor="ctr">
                    <a:solidFill>
                      <a:srgbClr val="EEF3F8"/>
                    </a:solidFill>
                  </a:tcPr>
                </a:tc>
                <a:tc>
                  <a:txBody>
                    <a:bodyPr/>
                    <a:lstStyle/>
                    <a:p>
                      <a:pPr>
                        <a:lnSpc>
                          <a:spcPct val="106000"/>
                        </a:lnSpc>
                      </a:pPr>
                      <a:r>
                        <a:rPr sz="1400" b="0" i="0">
                          <a:solidFill>
                            <a:srgbClr val="242C38"/>
                          </a:solidFill>
                          <a:latin typeface="Segoe UI"/>
                        </a:rPr>
                        <a:t>Classification</a:t>
                      </a:r>
                    </a:p>
                  </a:txBody>
                  <a:tcPr marT="36576" marB="36576" anchor="ctr">
                    <a:solidFill>
                      <a:srgbClr val="EEF3F8"/>
                    </a:solidFill>
                  </a:tcPr>
                </a:tc>
                <a:tc>
                  <a:txBody>
                    <a:bodyPr/>
                    <a:lstStyle/>
                    <a:p>
                      <a:pPr>
                        <a:lnSpc>
                          <a:spcPct val="106000"/>
                        </a:lnSpc>
                      </a:pPr>
                      <a:r>
                        <a:rPr sz="1400" b="0" i="0">
                          <a:solidFill>
                            <a:srgbClr val="242C38"/>
                          </a:solidFill>
                          <a:latin typeface="Segoe UI"/>
                        </a:rPr>
                        <a:t>usually less imbalanced</a:t>
                      </a:r>
                    </a:p>
                  </a:txBody>
                  <a:tcPr marT="36576" marB="36576" anchor="ctr">
                    <a:solidFill>
                      <a:srgbClr val="EEF3F8"/>
                    </a:solidFill>
                  </a:tcPr>
                </a:tc>
                <a:extLst>
                  <a:ext uri="{0D108BD9-81ED-4DB2-BD59-A6C34878D82A}">
                    <a16:rowId xmlns:a16="http://schemas.microsoft.com/office/drawing/2014/main" val="10003"/>
                  </a:ext>
                </a:extLst>
              </a:tr>
              <a:tr h="475488">
                <a:tc>
                  <a:txBody>
                    <a:bodyPr/>
                    <a:lstStyle/>
                    <a:p>
                      <a:pPr>
                        <a:lnSpc>
                          <a:spcPct val="106000"/>
                        </a:lnSpc>
                      </a:pPr>
                      <a:r>
                        <a:rPr sz="1400" b="1" i="0">
                          <a:solidFill>
                            <a:srgbClr val="242C38"/>
                          </a:solidFill>
                          <a:latin typeface="Segoe UI"/>
                        </a:rPr>
                        <a:t>Segmentation</a:t>
                      </a:r>
                    </a:p>
                  </a:txBody>
                  <a:tcPr marT="36576" marB="36576" anchor="ctr">
                    <a:solidFill>
                      <a:srgbClr val="FFFFFF"/>
                    </a:solidFill>
                  </a:tcPr>
                </a:tc>
                <a:tc>
                  <a:txBody>
                    <a:bodyPr/>
                    <a:lstStyle/>
                    <a:p>
                      <a:pPr>
                        <a:lnSpc>
                          <a:spcPct val="106000"/>
                        </a:lnSpc>
                      </a:pPr>
                      <a:r>
                        <a:rPr sz="1400" b="0" i="0">
                          <a:solidFill>
                            <a:srgbClr val="242C38"/>
                          </a:solidFill>
                          <a:latin typeface="Segoe UI"/>
                        </a:rPr>
                        <a:t>Clustering</a:t>
                      </a:r>
                    </a:p>
                  </a:txBody>
                  <a:tcPr marT="36576" marB="36576" anchor="ctr">
                    <a:solidFill>
                      <a:srgbClr val="FFFFFF"/>
                    </a:solidFill>
                  </a:tcPr>
                </a:tc>
                <a:tc>
                  <a:txBody>
                    <a:bodyPr/>
                    <a:lstStyle/>
                    <a:p>
                      <a:pPr>
                        <a:lnSpc>
                          <a:spcPct val="106000"/>
                        </a:lnSpc>
                      </a:pPr>
                      <a:r>
                        <a:rPr sz="1400" b="0" i="0">
                          <a:solidFill>
                            <a:srgbClr val="242C38"/>
                          </a:solidFill>
                          <a:latin typeface="Segoe UI"/>
                        </a:rPr>
                        <a:t>needs a human to name the clusters</a:t>
                      </a:r>
                    </a:p>
                  </a:txBody>
                  <a:tcPr marT="36576" marB="36576" anchor="ctr">
                    <a:solidFill>
                      <a:srgbClr val="FFFFFF"/>
                    </a:solidFill>
                  </a:tcPr>
                </a:tc>
                <a:extLst>
                  <a:ext uri="{0D108BD9-81ED-4DB2-BD59-A6C34878D82A}">
                    <a16:rowId xmlns:a16="http://schemas.microsoft.com/office/drawing/2014/main" val="10004"/>
                  </a:ext>
                </a:extLst>
              </a:tr>
              <a:tr h="475488">
                <a:tc>
                  <a:txBody>
                    <a:bodyPr/>
                    <a:lstStyle/>
                    <a:p>
                      <a:pPr>
                        <a:lnSpc>
                          <a:spcPct val="106000"/>
                        </a:lnSpc>
                      </a:pPr>
                      <a:r>
                        <a:rPr sz="1400" b="1" i="0">
                          <a:solidFill>
                            <a:srgbClr val="242C38"/>
                          </a:solidFill>
                          <a:latin typeface="Segoe UI"/>
                        </a:rPr>
                        <a:t>Next best offer</a:t>
                      </a:r>
                    </a:p>
                  </a:txBody>
                  <a:tcPr marT="36576" marB="36576" anchor="ctr">
                    <a:solidFill>
                      <a:srgbClr val="EEF3F8"/>
                    </a:solidFill>
                  </a:tcPr>
                </a:tc>
                <a:tc>
                  <a:txBody>
                    <a:bodyPr/>
                    <a:lstStyle/>
                    <a:p>
                      <a:pPr>
                        <a:lnSpc>
                          <a:spcPct val="106000"/>
                        </a:lnSpc>
                      </a:pPr>
                      <a:r>
                        <a:rPr sz="1400" b="0" i="0">
                          <a:solidFill>
                            <a:srgbClr val="242C38"/>
                          </a:solidFill>
                          <a:latin typeface="Segoe UI"/>
                        </a:rPr>
                        <a:t>Recommendation</a:t>
                      </a:r>
                    </a:p>
                  </a:txBody>
                  <a:tcPr marT="36576" marB="36576" anchor="ctr">
                    <a:solidFill>
                      <a:srgbClr val="EEF3F8"/>
                    </a:solidFill>
                  </a:tcPr>
                </a:tc>
                <a:tc>
                  <a:txBody>
                    <a:bodyPr/>
                    <a:lstStyle/>
                    <a:p>
                      <a:pPr>
                        <a:lnSpc>
                          <a:spcPct val="106000"/>
                        </a:lnSpc>
                      </a:pPr>
                      <a:r>
                        <a:rPr sz="1400" b="0" i="0">
                          <a:solidFill>
                            <a:srgbClr val="242C38"/>
                          </a:solidFill>
                          <a:latin typeface="Segoe UI"/>
                        </a:rPr>
                        <a:t>needs an interaction matrix</a:t>
                      </a:r>
                    </a:p>
                  </a:txBody>
                  <a:tcPr marT="36576" marB="36576" anchor="ctr">
                    <a:solidFill>
                      <a:srgbClr val="EEF3F8"/>
                    </a:solidFill>
                  </a:tcPr>
                </a:tc>
                <a:extLst>
                  <a:ext uri="{0D108BD9-81ED-4DB2-BD59-A6C34878D82A}">
                    <a16:rowId xmlns:a16="http://schemas.microsoft.com/office/drawing/2014/main" val="10005"/>
                  </a:ext>
                </a:extLst>
              </a:tr>
              <a:tr h="475488">
                <a:tc>
                  <a:txBody>
                    <a:bodyPr/>
                    <a:lstStyle/>
                    <a:p>
                      <a:pPr>
                        <a:lnSpc>
                          <a:spcPct val="106000"/>
                        </a:lnSpc>
                      </a:pPr>
                      <a:r>
                        <a:rPr sz="1400" b="1" i="0">
                          <a:solidFill>
                            <a:srgbClr val="242C38"/>
                          </a:solidFill>
                          <a:latin typeface="Segoe UI"/>
                        </a:rPr>
                        <a:t>AML anomaly detection</a:t>
                      </a:r>
                    </a:p>
                  </a:txBody>
                  <a:tcPr marT="36576" marB="36576" anchor="ctr">
                    <a:solidFill>
                      <a:srgbClr val="FFFFFF"/>
                    </a:solidFill>
                  </a:tcPr>
                </a:tc>
                <a:tc>
                  <a:txBody>
                    <a:bodyPr/>
                    <a:lstStyle/>
                    <a:p>
                      <a:pPr>
                        <a:lnSpc>
                          <a:spcPct val="106000"/>
                        </a:lnSpc>
                      </a:pPr>
                      <a:r>
                        <a:rPr sz="1400" b="0" i="0">
                          <a:solidFill>
                            <a:srgbClr val="242C38"/>
                          </a:solidFill>
                          <a:latin typeface="Segoe UI"/>
                        </a:rPr>
                        <a:t>Clustering</a:t>
                      </a:r>
                    </a:p>
                  </a:txBody>
                  <a:tcPr marT="36576" marB="36576" anchor="ctr">
                    <a:solidFill>
                      <a:srgbClr val="FFFFFF"/>
                    </a:solidFill>
                  </a:tcPr>
                </a:tc>
                <a:tc>
                  <a:txBody>
                    <a:bodyPr/>
                    <a:lstStyle/>
                    <a:p>
                      <a:pPr>
                        <a:lnSpc>
                          <a:spcPct val="106000"/>
                        </a:lnSpc>
                      </a:pPr>
                      <a:r>
                        <a:rPr sz="1400" b="0" i="0">
                          <a:solidFill>
                            <a:srgbClr val="242C38"/>
                          </a:solidFill>
                          <a:latin typeface="Segoe UI"/>
                        </a:rPr>
                        <a:t>rule engines still catch most volume</a:t>
                      </a:r>
                    </a:p>
                  </a:txBody>
                  <a:tcPr marT="36576" marB="36576" anchor="ctr">
                    <a:solidFill>
                      <a:srgbClr val="FFFFFF"/>
                    </a:solidFill>
                  </a:tcPr>
                </a:tc>
                <a:extLst>
                  <a:ext uri="{0D108BD9-81ED-4DB2-BD59-A6C34878D82A}">
                    <a16:rowId xmlns:a16="http://schemas.microsoft.com/office/drawing/2014/main" val="10006"/>
                  </a:ext>
                </a:extLst>
              </a:tr>
            </a:tbl>
          </a:graphicData>
        </a:graphic>
      </p:graphicFrame>
      <p:sp>
        <p:nvSpPr>
          <p:cNvPr id="5" name="Rectangle 4"/>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16  ·  MLlib overview</a:t>
            </a:r>
          </a:p>
        </p:txBody>
      </p:sp>
      <p:sp>
        <p:nvSpPr>
          <p:cNvPr id="7" name="TextBox 6"/>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169</a:t>
            </a:r>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When Spark ML earns its keep, and when it does not</a:t>
            </a:r>
          </a:p>
        </p:txBody>
      </p:sp>
      <p:sp>
        <p:nvSpPr>
          <p:cNvPr id="4" name="Rectangle 3"/>
          <p:cNvSpPr/>
          <p:nvPr/>
        </p:nvSpPr>
        <p:spPr>
          <a:xfrm>
            <a:off x="658368" y="1481328"/>
            <a:ext cx="5245455" cy="420624"/>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1581912"/>
            <a:ext cx="4971135" cy="274320"/>
          </a:xfrm>
          <a:prstGeom prst="rect">
            <a:avLst/>
          </a:prstGeom>
          <a:noFill/>
        </p:spPr>
        <p:txBody>
          <a:bodyPr wrap="square" lIns="0" tIns="0" rIns="0" bIns="0">
            <a:spAutoFit/>
          </a:bodyPr>
          <a:lstStyle/>
          <a:p>
            <a:r>
              <a:rPr sz="1450" b="1" i="0">
                <a:solidFill>
                  <a:srgbClr val="1F4E79"/>
                </a:solidFill>
                <a:latin typeface="Segoe UI Semibold"/>
              </a:rPr>
              <a:t>Reach for Spark ML</a:t>
            </a:r>
          </a:p>
        </p:txBody>
      </p:sp>
      <p:sp>
        <p:nvSpPr>
          <p:cNvPr id="6" name="TextBox 5"/>
          <p:cNvSpPr txBox="1"/>
          <p:nvPr/>
        </p:nvSpPr>
        <p:spPr>
          <a:xfrm>
            <a:off x="704088" y="2103120"/>
            <a:ext cx="5154015" cy="3794760"/>
          </a:xfrm>
          <a:prstGeom prst="rect">
            <a:avLst/>
          </a:prstGeom>
          <a:noFill/>
        </p:spPr>
        <p:txBody>
          <a:bodyPr wrap="square" lIns="0" tIns="0" rIns="0" bIns="0">
            <a:spAutoFit/>
          </a:bodyPr>
          <a:lstStyle/>
          <a:p>
            <a:pPr marL="274320" indent="-274320">
              <a:lnSpc>
                <a:spcPct val="118000"/>
              </a:lnSpc>
              <a:spcAft>
                <a:spcPts val="900"/>
              </a:spcAft>
            </a:pPr>
            <a:r>
              <a:rPr sz="1600" b="1" i="0">
                <a:solidFill>
                  <a:srgbClr val="2E74B5"/>
                </a:solidFill>
                <a:latin typeface="Segoe UI"/>
              </a:rPr>
              <a:t>▪   </a:t>
            </a:r>
            <a:r>
              <a:rPr sz="1600" b="0" i="0">
                <a:solidFill>
                  <a:srgbClr val="242C38"/>
                </a:solidFill>
                <a:latin typeface="Segoe UI"/>
              </a:rPr>
              <a:t>Feature engineering is the big job, not the model fit</a:t>
            </a:r>
          </a:p>
          <a:p>
            <a:pPr marL="274320" indent="-274320">
              <a:lnSpc>
                <a:spcPct val="118000"/>
              </a:lnSpc>
              <a:spcAft>
                <a:spcPts val="900"/>
              </a:spcAft>
            </a:pPr>
            <a:r>
              <a:rPr sz="1600" b="1" i="0">
                <a:solidFill>
                  <a:srgbClr val="2E74B5"/>
                </a:solidFill>
                <a:latin typeface="Segoe UI"/>
              </a:rPr>
              <a:t>▪   </a:t>
            </a:r>
            <a:r>
              <a:rPr sz="1600" b="0" i="0">
                <a:solidFill>
                  <a:srgbClr val="242C38"/>
                </a:solidFill>
                <a:latin typeface="Segoe UI"/>
              </a:rPr>
              <a:t>A five-year, eight-million-customer join for features</a:t>
            </a:r>
          </a:p>
          <a:p>
            <a:pPr marL="274320" indent="-274320">
              <a:lnSpc>
                <a:spcPct val="118000"/>
              </a:lnSpc>
              <a:spcAft>
                <a:spcPts val="900"/>
              </a:spcAft>
            </a:pPr>
            <a:r>
              <a:rPr sz="1600" b="1" i="0">
                <a:solidFill>
                  <a:srgbClr val="2E74B5"/>
                </a:solidFill>
                <a:latin typeface="Segoe UI"/>
              </a:rPr>
              <a:t>▪   </a:t>
            </a:r>
            <a:r>
              <a:rPr sz="1600" b="0" i="0">
                <a:solidFill>
                  <a:srgbClr val="242C38"/>
                </a:solidFill>
                <a:latin typeface="Segoe UI"/>
              </a:rPr>
              <a:t>Batch scoring millions of rows with a trained model</a:t>
            </a:r>
          </a:p>
        </p:txBody>
      </p:sp>
      <p:sp>
        <p:nvSpPr>
          <p:cNvPr id="7" name="Rectangle 6"/>
          <p:cNvSpPr/>
          <p:nvPr/>
        </p:nvSpPr>
        <p:spPr>
          <a:xfrm>
            <a:off x="6287871" y="1481328"/>
            <a:ext cx="5245455" cy="420624"/>
          </a:xfrm>
          <a:prstGeom prst="rect">
            <a:avLst/>
          </a:prstGeom>
          <a:solidFill>
            <a:srgbClr val="FFFFFF"/>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52463" y="1581912"/>
            <a:ext cx="4971135" cy="274320"/>
          </a:xfrm>
          <a:prstGeom prst="rect">
            <a:avLst/>
          </a:prstGeom>
          <a:noFill/>
        </p:spPr>
        <p:txBody>
          <a:bodyPr wrap="square" lIns="0" tIns="0" rIns="0" bIns="0">
            <a:spAutoFit/>
          </a:bodyPr>
          <a:lstStyle/>
          <a:p>
            <a:r>
              <a:rPr sz="1450" b="1" i="0">
                <a:solidFill>
                  <a:srgbClr val="5B6775"/>
                </a:solidFill>
                <a:latin typeface="Segoe UI Semibold"/>
              </a:rPr>
              <a:t>Reach for something else</a:t>
            </a:r>
          </a:p>
        </p:txBody>
      </p:sp>
      <p:sp>
        <p:nvSpPr>
          <p:cNvPr id="9" name="TextBox 8"/>
          <p:cNvSpPr txBox="1"/>
          <p:nvPr/>
        </p:nvSpPr>
        <p:spPr>
          <a:xfrm>
            <a:off x="6333591" y="2103120"/>
            <a:ext cx="5154015" cy="3794760"/>
          </a:xfrm>
          <a:prstGeom prst="rect">
            <a:avLst/>
          </a:prstGeom>
          <a:noFill/>
        </p:spPr>
        <p:txBody>
          <a:bodyPr wrap="square" lIns="0" tIns="0" rIns="0" bIns="0">
            <a:spAutoFit/>
          </a:bodyPr>
          <a:lstStyle/>
          <a:p>
            <a:pPr marL="274320" indent="-274320">
              <a:lnSpc>
                <a:spcPct val="118000"/>
              </a:lnSpc>
              <a:spcAft>
                <a:spcPts val="900"/>
              </a:spcAft>
            </a:pPr>
            <a:r>
              <a:rPr sz="1600" b="1" i="0">
                <a:solidFill>
                  <a:srgbClr val="2E74B5"/>
                </a:solidFill>
                <a:latin typeface="Segoe UI"/>
              </a:rPr>
              <a:t>▪   </a:t>
            </a:r>
            <a:r>
              <a:rPr sz="1600" b="0" i="0">
                <a:solidFill>
                  <a:srgbClr val="242C38"/>
                </a:solidFill>
                <a:latin typeface="Segoe UI"/>
              </a:rPr>
              <a:t>Data fits on one machine, a few GB or less</a:t>
            </a:r>
          </a:p>
          <a:p>
            <a:pPr marL="274320" indent="-274320">
              <a:lnSpc>
                <a:spcPct val="118000"/>
              </a:lnSpc>
              <a:spcAft>
                <a:spcPts val="900"/>
              </a:spcAft>
            </a:pPr>
            <a:r>
              <a:rPr sz="1600" b="1" i="0">
                <a:solidFill>
                  <a:srgbClr val="2E74B5"/>
                </a:solidFill>
                <a:latin typeface="Segoe UI"/>
              </a:rPr>
              <a:t>▪   </a:t>
            </a:r>
            <a:r>
              <a:rPr sz="1600" b="0" i="0">
                <a:solidFill>
                  <a:srgbClr val="242C38"/>
                </a:solidFill>
                <a:latin typeface="Segoe UI"/>
              </a:rPr>
              <a:t>Deep learning: images, text, LLM fine-tuning</a:t>
            </a:r>
          </a:p>
          <a:p>
            <a:pPr marL="274320" indent="-274320">
              <a:lnSpc>
                <a:spcPct val="118000"/>
              </a:lnSpc>
              <a:spcAft>
                <a:spcPts val="900"/>
              </a:spcAft>
            </a:pPr>
            <a:r>
              <a:rPr sz="1600" b="1" i="0">
                <a:solidFill>
                  <a:srgbClr val="2E74B5"/>
                </a:solidFill>
                <a:latin typeface="Segoe UI"/>
              </a:rPr>
              <a:t>▪   </a:t>
            </a:r>
            <a:r>
              <a:rPr sz="1600" b="0" i="0">
                <a:solidFill>
                  <a:srgbClr val="242C38"/>
                </a:solidFill>
                <a:latin typeface="Segoe UI"/>
              </a:rPr>
              <a:t>The team needs SHAP or LIME explainability</a:t>
            </a:r>
          </a:p>
        </p:txBody>
      </p:sp>
      <p:sp>
        <p:nvSpPr>
          <p:cNvPr id="10" name="Rectangle 9"/>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16  ·  MLlib overview</a:t>
            </a:r>
          </a:p>
        </p:txBody>
      </p:sp>
      <p:sp>
        <p:nvSpPr>
          <p:cNvPr id="12" name="TextBox 11"/>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170</a:t>
            </a:r>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The Pipeline concept, in one page</a:t>
            </a:r>
          </a:p>
        </p:txBody>
      </p:sp>
      <p:graphicFrame>
        <p:nvGraphicFramePr>
          <p:cNvPr id="4" name="Table 3"/>
          <p:cNvGraphicFramePr>
            <a:graphicFrameLocks noGrp="1"/>
          </p:cNvGraphicFramePr>
          <p:nvPr/>
        </p:nvGraphicFramePr>
        <p:xfrm>
          <a:off x="658368" y="1481328"/>
          <a:ext cx="10874958" cy="2304288"/>
        </p:xfrm>
        <a:graphic>
          <a:graphicData uri="http://schemas.openxmlformats.org/drawingml/2006/table">
            <a:tbl>
              <a:tblPr firstRow="1" bandRow="1">
                <a:tableStyleId>{5C22544A-7EE6-4342-B048-85BDC9FD1C3A}</a:tableStyleId>
              </a:tblPr>
              <a:tblGrid>
                <a:gridCol w="3720380">
                  <a:extLst>
                    <a:ext uri="{9D8B030D-6E8A-4147-A177-3AD203B41FA5}">
                      <a16:colId xmlns:a16="http://schemas.microsoft.com/office/drawing/2014/main" val="20000"/>
                    </a:ext>
                  </a:extLst>
                </a:gridCol>
                <a:gridCol w="7154578">
                  <a:extLst>
                    <a:ext uri="{9D8B030D-6E8A-4147-A177-3AD203B41FA5}">
                      <a16:colId xmlns:a16="http://schemas.microsoft.com/office/drawing/2014/main" val="20001"/>
                    </a:ext>
                  </a:extLst>
                </a:gridCol>
              </a:tblGrid>
              <a:tr h="402336">
                <a:tc>
                  <a:txBody>
                    <a:bodyPr/>
                    <a:lstStyle/>
                    <a:p>
                      <a:r>
                        <a:rPr sz="1450" b="1" i="0">
                          <a:solidFill>
                            <a:srgbClr val="FFFFFF"/>
                          </a:solidFill>
                          <a:latin typeface="Segoe UI Semibold"/>
                        </a:rPr>
                        <a:t>Concept</a:t>
                      </a:r>
                    </a:p>
                  </a:txBody>
                  <a:tcPr anchor="ctr">
                    <a:solidFill>
                      <a:srgbClr val="1F4E79"/>
                    </a:solidFill>
                  </a:tcPr>
                </a:tc>
                <a:tc>
                  <a:txBody>
                    <a:bodyPr/>
                    <a:lstStyle/>
                    <a:p>
                      <a:r>
                        <a:rPr sz="1450" b="1" i="0">
                          <a:solidFill>
                            <a:srgbClr val="FFFFFF"/>
                          </a:solidFill>
                          <a:latin typeface="Segoe UI Semibold"/>
                        </a:rPr>
                        <a:t>Method</a:t>
                      </a:r>
                    </a:p>
                  </a:txBody>
                  <a:tcPr anchor="ctr">
                    <a:solidFill>
                      <a:srgbClr val="1F4E79"/>
                    </a:solidFill>
                  </a:tcPr>
                </a:tc>
                <a:extLst>
                  <a:ext uri="{0D108BD9-81ED-4DB2-BD59-A6C34878D82A}">
                    <a16:rowId xmlns:a16="http://schemas.microsoft.com/office/drawing/2014/main" val="10000"/>
                  </a:ext>
                </a:extLst>
              </a:tr>
              <a:tr h="475488">
                <a:tc>
                  <a:txBody>
                    <a:bodyPr/>
                    <a:lstStyle/>
                    <a:p>
                      <a:pPr>
                        <a:lnSpc>
                          <a:spcPct val="106000"/>
                        </a:lnSpc>
                      </a:pPr>
                      <a:r>
                        <a:rPr sz="1400" b="1" i="0">
                          <a:solidFill>
                            <a:srgbClr val="242C38"/>
                          </a:solidFill>
                          <a:latin typeface="Segoe UI"/>
                        </a:rPr>
                        <a:t>Transformer</a:t>
                      </a:r>
                    </a:p>
                  </a:txBody>
                  <a:tcPr marT="36576" marB="36576" anchor="ctr">
                    <a:solidFill>
                      <a:srgbClr val="EEF3F8"/>
                    </a:solidFill>
                  </a:tcPr>
                </a:tc>
                <a:tc>
                  <a:txBody>
                    <a:bodyPr/>
                    <a:lstStyle/>
                    <a:p>
                      <a:pPr>
                        <a:lnSpc>
                          <a:spcPct val="106000"/>
                        </a:lnSpc>
                      </a:pPr>
                      <a:r>
                        <a:rPr sz="1350" b="0" i="0">
                          <a:solidFill>
                            <a:srgbClr val="2E74B5"/>
                          </a:solidFill>
                          <a:latin typeface="Consolas"/>
                        </a:rPr>
                        <a:t>.transform(df)</a:t>
                      </a:r>
                      <a:r>
                        <a:rPr sz="1400" b="0" i="0">
                          <a:solidFill>
                            <a:srgbClr val="242C38"/>
                          </a:solidFill>
                          <a:latin typeface="Segoe UI"/>
                        </a:rPr>
                        <a:t>, DataFrame in, DataFrame out</a:t>
                      </a:r>
                    </a:p>
                  </a:txBody>
                  <a:tcPr marT="36576" marB="36576" anchor="ctr">
                    <a:solidFill>
                      <a:srgbClr val="EEF3F8"/>
                    </a:solidFill>
                  </a:tcPr>
                </a:tc>
                <a:extLst>
                  <a:ext uri="{0D108BD9-81ED-4DB2-BD59-A6C34878D82A}">
                    <a16:rowId xmlns:a16="http://schemas.microsoft.com/office/drawing/2014/main" val="10001"/>
                  </a:ext>
                </a:extLst>
              </a:tr>
              <a:tr h="475488">
                <a:tc>
                  <a:txBody>
                    <a:bodyPr/>
                    <a:lstStyle/>
                    <a:p>
                      <a:pPr>
                        <a:lnSpc>
                          <a:spcPct val="106000"/>
                        </a:lnSpc>
                      </a:pPr>
                      <a:r>
                        <a:rPr sz="1400" b="1" i="0">
                          <a:solidFill>
                            <a:srgbClr val="242C38"/>
                          </a:solidFill>
                          <a:latin typeface="Segoe UI"/>
                        </a:rPr>
                        <a:t>Estimator</a:t>
                      </a:r>
                    </a:p>
                  </a:txBody>
                  <a:tcPr marT="36576" marB="36576" anchor="ctr">
                    <a:solidFill>
                      <a:srgbClr val="FFFFFF"/>
                    </a:solidFill>
                  </a:tcPr>
                </a:tc>
                <a:tc>
                  <a:txBody>
                    <a:bodyPr/>
                    <a:lstStyle/>
                    <a:p>
                      <a:pPr>
                        <a:lnSpc>
                          <a:spcPct val="106000"/>
                        </a:lnSpc>
                      </a:pPr>
                      <a:r>
                        <a:rPr sz="1350" b="0" i="0">
                          <a:solidFill>
                            <a:srgbClr val="2E74B5"/>
                          </a:solidFill>
                          <a:latin typeface="Consolas"/>
                        </a:rPr>
                        <a:t>.fit(df)</a:t>
                      </a:r>
                      <a:r>
                        <a:rPr sz="1400" b="0" i="0">
                          <a:solidFill>
                            <a:srgbClr val="242C38"/>
                          </a:solidFill>
                          <a:latin typeface="Segoe UI"/>
                        </a:rPr>
                        <a:t>, learns something, produces a Transformer</a:t>
                      </a:r>
                    </a:p>
                  </a:txBody>
                  <a:tcPr marT="36576" marB="36576" anchor="ctr">
                    <a:solidFill>
                      <a:srgbClr val="FFFFFF"/>
                    </a:solidFill>
                  </a:tcPr>
                </a:tc>
                <a:extLst>
                  <a:ext uri="{0D108BD9-81ED-4DB2-BD59-A6C34878D82A}">
                    <a16:rowId xmlns:a16="http://schemas.microsoft.com/office/drawing/2014/main" val="10002"/>
                  </a:ext>
                </a:extLst>
              </a:tr>
              <a:tr h="475488">
                <a:tc>
                  <a:txBody>
                    <a:bodyPr/>
                    <a:lstStyle/>
                    <a:p>
                      <a:pPr>
                        <a:lnSpc>
                          <a:spcPct val="106000"/>
                        </a:lnSpc>
                      </a:pPr>
                      <a:r>
                        <a:rPr sz="1400" b="1" i="0">
                          <a:solidFill>
                            <a:srgbClr val="242C38"/>
                          </a:solidFill>
                          <a:latin typeface="Segoe UI"/>
                        </a:rPr>
                        <a:t>Pipeline</a:t>
                      </a:r>
                    </a:p>
                  </a:txBody>
                  <a:tcPr marT="36576" marB="36576" anchor="ctr">
                    <a:solidFill>
                      <a:srgbClr val="EEF3F8"/>
                    </a:solidFill>
                  </a:tcPr>
                </a:tc>
                <a:tc>
                  <a:txBody>
                    <a:bodyPr/>
                    <a:lstStyle/>
                    <a:p>
                      <a:pPr>
                        <a:lnSpc>
                          <a:spcPct val="106000"/>
                        </a:lnSpc>
                      </a:pPr>
                      <a:r>
                        <a:rPr sz="1350" b="0" i="0">
                          <a:solidFill>
                            <a:srgbClr val="2E74B5"/>
                          </a:solidFill>
                          <a:latin typeface="Consolas"/>
                        </a:rPr>
                        <a:t>.fit(df)</a:t>
                      </a:r>
                      <a:r>
                        <a:rPr sz="1400" b="0" i="0">
                          <a:solidFill>
                            <a:srgbClr val="242C38"/>
                          </a:solidFill>
                          <a:latin typeface="Segoe UI"/>
                        </a:rPr>
                        <a:t> runs every stage, produces a PipelineModel</a:t>
                      </a:r>
                    </a:p>
                  </a:txBody>
                  <a:tcPr marT="36576" marB="36576" anchor="ctr">
                    <a:solidFill>
                      <a:srgbClr val="EEF3F8"/>
                    </a:solidFill>
                  </a:tcPr>
                </a:tc>
                <a:extLst>
                  <a:ext uri="{0D108BD9-81ED-4DB2-BD59-A6C34878D82A}">
                    <a16:rowId xmlns:a16="http://schemas.microsoft.com/office/drawing/2014/main" val="10003"/>
                  </a:ext>
                </a:extLst>
              </a:tr>
              <a:tr h="475488">
                <a:tc>
                  <a:txBody>
                    <a:bodyPr/>
                    <a:lstStyle/>
                    <a:p>
                      <a:pPr>
                        <a:lnSpc>
                          <a:spcPct val="106000"/>
                        </a:lnSpc>
                      </a:pPr>
                      <a:r>
                        <a:rPr sz="1400" b="1" i="0">
                          <a:solidFill>
                            <a:srgbClr val="242C38"/>
                          </a:solidFill>
                          <a:latin typeface="Segoe UI"/>
                        </a:rPr>
                        <a:t>PipelineModel</a:t>
                      </a:r>
                    </a:p>
                  </a:txBody>
                  <a:tcPr marT="36576" marB="36576" anchor="ctr">
                    <a:solidFill>
                      <a:srgbClr val="FFFFFF"/>
                    </a:solidFill>
                  </a:tcPr>
                </a:tc>
                <a:tc>
                  <a:txBody>
                    <a:bodyPr/>
                    <a:lstStyle/>
                    <a:p>
                      <a:pPr>
                        <a:lnSpc>
                          <a:spcPct val="106000"/>
                        </a:lnSpc>
                      </a:pPr>
                      <a:r>
                        <a:rPr sz="1400" b="0" i="0">
                          <a:solidFill>
                            <a:srgbClr val="242C38"/>
                          </a:solidFill>
                          <a:latin typeface="Segoe UI"/>
                        </a:rPr>
                        <a:t>the fitted Pipeline, itself a Transformer</a:t>
                      </a:r>
                    </a:p>
                  </a:txBody>
                  <a:tcPr marT="36576" marB="36576" anchor="ctr">
                    <a:solidFill>
                      <a:srgbClr val="FFFFFF"/>
                    </a:solidFill>
                  </a:tcPr>
                </a:tc>
                <a:extLst>
                  <a:ext uri="{0D108BD9-81ED-4DB2-BD59-A6C34878D82A}">
                    <a16:rowId xmlns:a16="http://schemas.microsoft.com/office/drawing/2014/main" val="10004"/>
                  </a:ext>
                </a:extLst>
              </a:tr>
            </a:tbl>
          </a:graphicData>
        </a:graphic>
      </p:graphicFrame>
      <p:sp>
        <p:nvSpPr>
          <p:cNvPr id="5" name="TextBox 4"/>
          <p:cNvSpPr txBox="1"/>
          <p:nvPr/>
        </p:nvSpPr>
        <p:spPr>
          <a:xfrm>
            <a:off x="658368" y="5724144"/>
            <a:ext cx="10874959" cy="502920"/>
          </a:xfrm>
          <a:prstGeom prst="rect">
            <a:avLst/>
          </a:prstGeom>
          <a:noFill/>
        </p:spPr>
        <p:txBody>
          <a:bodyPr wrap="square" lIns="0" tIns="0" rIns="0" bIns="0">
            <a:spAutoFit/>
          </a:bodyPr>
          <a:lstStyle/>
          <a:p>
            <a:r>
              <a:rPr sz="1300" b="0" i="1">
                <a:solidFill>
                  <a:srgbClr val="5B6775"/>
                </a:solidFill>
                <a:latin typeface="Segoe UI"/>
              </a:rPr>
              <a:t>StringIndexer is an Estimator, it must see the data once to learn the mapping.</a:t>
            </a:r>
          </a:p>
        </p:txBody>
      </p:sp>
      <p:sp>
        <p:nvSpPr>
          <p:cNvPr id="6" name="Rectangle 5"/>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16  ·  MLlib overview</a:t>
            </a:r>
          </a:p>
        </p:txBody>
      </p:sp>
      <p:sp>
        <p:nvSpPr>
          <p:cNvPr id="8" name="TextBox 7"/>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171</a:t>
            </a:r>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One small fraud Pipeline</a:t>
            </a:r>
          </a:p>
        </p:txBody>
      </p:sp>
      <p:sp>
        <p:nvSpPr>
          <p:cNvPr id="4" name="Rectangle 3"/>
          <p:cNvSpPr/>
          <p:nvPr/>
        </p:nvSpPr>
        <p:spPr>
          <a:xfrm>
            <a:off x="658368" y="1481328"/>
            <a:ext cx="10874959" cy="2737104"/>
          </a:xfrm>
          <a:prstGeom prst="rect">
            <a:avLst/>
          </a:prstGeom>
          <a:solidFill>
            <a:srgbClr val="F5F7F9"/>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81328"/>
            <a:ext cx="43180" cy="2737104"/>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77824" y="1645920"/>
            <a:ext cx="10509199" cy="2462784"/>
          </a:xfrm>
          <a:prstGeom prst="rect">
            <a:avLst/>
          </a:prstGeom>
          <a:noFill/>
        </p:spPr>
        <p:txBody>
          <a:bodyPr wrap="square" lIns="0" tIns="0" rIns="0" bIns="0">
            <a:spAutoFit/>
          </a:bodyPr>
          <a:lstStyle/>
          <a:p>
            <a:pPr>
              <a:lnSpc>
                <a:spcPct val="116000"/>
              </a:lnSpc>
              <a:spcAft>
                <a:spcPts val="0"/>
              </a:spcAft>
            </a:pPr>
            <a:r>
              <a:rPr sz="1500" b="0" i="0">
                <a:solidFill>
                  <a:srgbClr val="242C38"/>
                </a:solidFill>
                <a:latin typeface="Consolas"/>
              </a:rPr>
              <a:t>indexer = StringIndexer(inputCol=</a:t>
            </a:r>
            <a:r>
              <a:rPr sz="1500" b="0" i="0">
                <a:solidFill>
                  <a:srgbClr val="A31515"/>
                </a:solidFill>
                <a:latin typeface="Consolas"/>
              </a:rPr>
              <a:t>"channel"</a:t>
            </a:r>
            <a:r>
              <a:rPr sz="1500" b="0" i="0">
                <a:solidFill>
                  <a:srgbClr val="242C38"/>
                </a:solidFill>
                <a:latin typeface="Consolas"/>
              </a:rPr>
              <a:t>, outputCol=</a:t>
            </a:r>
            <a:r>
              <a:rPr sz="1500" b="0" i="0">
                <a:solidFill>
                  <a:srgbClr val="A31515"/>
                </a:solidFill>
                <a:latin typeface="Consolas"/>
              </a:rPr>
              <a:t>"channel_idx"</a:t>
            </a:r>
            <a:r>
              <a:rPr sz="1500" b="0" i="0">
                <a:solidFill>
                  <a:srgbClr val="242C38"/>
                </a:solidFill>
                <a:latin typeface="Consolas"/>
              </a:rPr>
              <a:t>)</a:t>
            </a:r>
          </a:p>
          <a:p>
            <a:pPr>
              <a:lnSpc>
                <a:spcPct val="116000"/>
              </a:lnSpc>
              <a:spcAft>
                <a:spcPts val="0"/>
              </a:spcAft>
            </a:pPr>
            <a:r>
              <a:rPr sz="1500" b="0" i="0">
                <a:solidFill>
                  <a:srgbClr val="242C38"/>
                </a:solidFill>
                <a:latin typeface="Consolas"/>
              </a:rPr>
              <a:t>assembler = VectorAssembler(</a:t>
            </a:r>
          </a:p>
          <a:p>
            <a:pPr>
              <a:lnSpc>
                <a:spcPct val="116000"/>
              </a:lnSpc>
              <a:spcAft>
                <a:spcPts val="0"/>
              </a:spcAft>
            </a:pPr>
            <a:r>
              <a:rPr sz="1500" b="0" i="0">
                <a:solidFill>
                  <a:srgbClr val="242C38"/>
                </a:solidFill>
                <a:latin typeface="Consolas"/>
              </a:rPr>
              <a:t>    inputCols=[</a:t>
            </a:r>
            <a:r>
              <a:rPr sz="1500" b="0" i="0">
                <a:solidFill>
                  <a:srgbClr val="A31515"/>
                </a:solidFill>
                <a:latin typeface="Consolas"/>
              </a:rPr>
              <a:t>"channel_idx"</a:t>
            </a:r>
            <a:r>
              <a:rPr sz="1500" b="0" i="0">
                <a:solidFill>
                  <a:srgbClr val="242C38"/>
                </a:solidFill>
                <a:latin typeface="Consolas"/>
              </a:rPr>
              <a:t>, </a:t>
            </a:r>
            <a:r>
              <a:rPr sz="1500" b="0" i="0">
                <a:solidFill>
                  <a:srgbClr val="A31515"/>
                </a:solidFill>
                <a:latin typeface="Consolas"/>
              </a:rPr>
              <a:t>"amount"</a:t>
            </a:r>
            <a:r>
              <a:rPr sz="1500" b="0" i="0">
                <a:solidFill>
                  <a:srgbClr val="242C38"/>
                </a:solidFill>
                <a:latin typeface="Consolas"/>
              </a:rPr>
              <a:t>], outputCol=</a:t>
            </a:r>
            <a:r>
              <a:rPr sz="1500" b="0" i="0">
                <a:solidFill>
                  <a:srgbClr val="A31515"/>
                </a:solidFill>
                <a:latin typeface="Consolas"/>
              </a:rPr>
              <a:t>"features"</a:t>
            </a:r>
            <a:r>
              <a:rPr sz="1500" b="0" i="0">
                <a:solidFill>
                  <a:srgbClr val="242C38"/>
                </a:solidFill>
                <a:latin typeface="Consolas"/>
              </a:rPr>
              <a:t>)</a:t>
            </a:r>
          </a:p>
          <a:p>
            <a:pPr>
              <a:lnSpc>
                <a:spcPct val="116000"/>
              </a:lnSpc>
              <a:spcAft>
                <a:spcPts val="0"/>
              </a:spcAft>
            </a:pPr>
            <a:r>
              <a:rPr sz="1500" b="0" i="0">
                <a:solidFill>
                  <a:srgbClr val="242C38"/>
                </a:solidFill>
                <a:latin typeface="Consolas"/>
              </a:rPr>
              <a:t>lr = LogisticRegression(featuresCol=</a:t>
            </a:r>
            <a:r>
              <a:rPr sz="1500" b="0" i="0">
                <a:solidFill>
                  <a:srgbClr val="A31515"/>
                </a:solidFill>
                <a:latin typeface="Consolas"/>
              </a:rPr>
              <a:t>"features"</a:t>
            </a:r>
            <a:r>
              <a:rPr sz="1500" b="0" i="0">
                <a:solidFill>
                  <a:srgbClr val="242C38"/>
                </a:solidFill>
                <a:latin typeface="Consolas"/>
              </a:rPr>
              <a:t>, labelCol=</a:t>
            </a:r>
            <a:r>
              <a:rPr sz="1500" b="0" i="0">
                <a:solidFill>
                  <a:srgbClr val="A31515"/>
                </a:solidFill>
                <a:latin typeface="Consolas"/>
              </a:rPr>
              <a:t>"is_fraud"</a:t>
            </a:r>
            <a:r>
              <a:rPr sz="1500" b="0" i="0">
                <a:solidFill>
                  <a:srgbClr val="242C38"/>
                </a:solidFill>
                <a:latin typeface="Consolas"/>
              </a:rPr>
              <a:t>)</a:t>
            </a:r>
          </a:p>
          <a:p>
            <a:pPr>
              <a:lnSpc>
                <a:spcPct val="116000"/>
              </a:lnSpc>
              <a:spcAft>
                <a:spcPts val="0"/>
              </a:spcAft>
            </a:pPr>
            <a:r>
              <a:rPr sz="1500" b="0" i="0">
                <a:solidFill>
                  <a:srgbClr val="242C38"/>
                </a:solidFill>
                <a:latin typeface="Consolas"/>
              </a:rPr>
              <a:t> </a:t>
            </a:r>
          </a:p>
          <a:p>
            <a:pPr>
              <a:lnSpc>
                <a:spcPct val="116000"/>
              </a:lnSpc>
              <a:spcAft>
                <a:spcPts val="0"/>
              </a:spcAft>
            </a:pPr>
            <a:r>
              <a:rPr sz="1500" b="0" i="0">
                <a:solidFill>
                  <a:srgbClr val="242C38"/>
                </a:solidFill>
                <a:latin typeface="Consolas"/>
              </a:rPr>
              <a:t>pipeline = Pipeline(stages=[indexer, assembler, lr])</a:t>
            </a:r>
          </a:p>
          <a:p>
            <a:pPr>
              <a:lnSpc>
                <a:spcPct val="116000"/>
              </a:lnSpc>
              <a:spcAft>
                <a:spcPts val="0"/>
              </a:spcAft>
            </a:pPr>
            <a:r>
              <a:rPr sz="1500" b="0" i="0">
                <a:solidFill>
                  <a:srgbClr val="242C38"/>
                </a:solidFill>
                <a:latin typeface="Consolas"/>
              </a:rPr>
              <a:t>model = pipeline.fit(train_df)</a:t>
            </a:r>
          </a:p>
          <a:p>
            <a:pPr>
              <a:lnSpc>
                <a:spcPct val="116000"/>
              </a:lnSpc>
              <a:spcAft>
                <a:spcPts val="0"/>
              </a:spcAft>
            </a:pPr>
            <a:r>
              <a:rPr sz="1500" b="0" i="0">
                <a:solidFill>
                  <a:srgbClr val="242C38"/>
                </a:solidFill>
                <a:latin typeface="Consolas"/>
              </a:rPr>
              <a:t>scored = model.transform(test_df)</a:t>
            </a:r>
          </a:p>
        </p:txBody>
      </p:sp>
      <p:sp>
        <p:nvSpPr>
          <p:cNvPr id="7" name="TextBox 6"/>
          <p:cNvSpPr txBox="1"/>
          <p:nvPr/>
        </p:nvSpPr>
        <p:spPr>
          <a:xfrm>
            <a:off x="658368" y="4364736"/>
            <a:ext cx="10874959" cy="457200"/>
          </a:xfrm>
          <a:prstGeom prst="rect">
            <a:avLst/>
          </a:prstGeom>
          <a:noFill/>
        </p:spPr>
        <p:txBody>
          <a:bodyPr wrap="square" lIns="0" tIns="0" rIns="0" bIns="0">
            <a:spAutoFit/>
          </a:bodyPr>
          <a:lstStyle/>
          <a:p>
            <a:r>
              <a:rPr sz="1400" b="0" i="0">
                <a:solidFill>
                  <a:srgbClr val="5B6775"/>
                </a:solidFill>
                <a:latin typeface="Segoe UI"/>
              </a:rPr>
              <a:t>The point is seeing the Pipeline API once, end to end, not the model's accuracy.</a:t>
            </a:r>
          </a:p>
        </p:txBody>
      </p:sp>
      <p:sp>
        <p:nvSpPr>
          <p:cNvPr id="8" name="Rectangle 7"/>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16  ·  MLlib overview</a:t>
            </a:r>
          </a:p>
        </p:txBody>
      </p:sp>
      <p:sp>
        <p:nvSpPr>
          <p:cNvPr id="10" name="TextBox 9"/>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172</a:t>
            </a:r>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Reading the metrics honestly</a:t>
            </a:r>
          </a:p>
        </p:txBody>
      </p:sp>
      <p:graphicFrame>
        <p:nvGraphicFramePr>
          <p:cNvPr id="4" name="Table 3"/>
          <p:cNvGraphicFramePr>
            <a:graphicFrameLocks noGrp="1"/>
          </p:cNvGraphicFramePr>
          <p:nvPr/>
        </p:nvGraphicFramePr>
        <p:xfrm>
          <a:off x="658368" y="1481328"/>
          <a:ext cx="10874958" cy="2304288"/>
        </p:xfrm>
        <a:graphic>
          <a:graphicData uri="http://schemas.openxmlformats.org/drawingml/2006/table">
            <a:tbl>
              <a:tblPr firstRow="1" bandRow="1">
                <a:tableStyleId>{5C22544A-7EE6-4342-B048-85BDC9FD1C3A}</a:tableStyleId>
              </a:tblPr>
              <a:tblGrid>
                <a:gridCol w="3007967">
                  <a:extLst>
                    <a:ext uri="{9D8B030D-6E8A-4147-A177-3AD203B41FA5}">
                      <a16:colId xmlns:a16="http://schemas.microsoft.com/office/drawing/2014/main" val="20000"/>
                    </a:ext>
                  </a:extLst>
                </a:gridCol>
                <a:gridCol w="3007967">
                  <a:extLst>
                    <a:ext uri="{9D8B030D-6E8A-4147-A177-3AD203B41FA5}">
                      <a16:colId xmlns:a16="http://schemas.microsoft.com/office/drawing/2014/main" val="20001"/>
                    </a:ext>
                  </a:extLst>
                </a:gridCol>
                <a:gridCol w="4859024">
                  <a:extLst>
                    <a:ext uri="{9D8B030D-6E8A-4147-A177-3AD203B41FA5}">
                      <a16:colId xmlns:a16="http://schemas.microsoft.com/office/drawing/2014/main" val="20002"/>
                    </a:ext>
                  </a:extLst>
                </a:gridCol>
              </a:tblGrid>
              <a:tr h="402336">
                <a:tc>
                  <a:txBody>
                    <a:bodyPr/>
                    <a:lstStyle/>
                    <a:p>
                      <a:r>
                        <a:rPr sz="1450" b="1" i="0">
                          <a:solidFill>
                            <a:srgbClr val="FFFFFF"/>
                          </a:solidFill>
                          <a:latin typeface="Segoe UI Semibold"/>
                        </a:rPr>
                        <a:t>Metric</a:t>
                      </a:r>
                    </a:p>
                  </a:txBody>
                  <a:tcPr anchor="ctr">
                    <a:solidFill>
                      <a:srgbClr val="1F4E79"/>
                    </a:solidFill>
                  </a:tcPr>
                </a:tc>
                <a:tc>
                  <a:txBody>
                    <a:bodyPr/>
                    <a:lstStyle/>
                    <a:p>
                      <a:r>
                        <a:rPr sz="1450" b="1" i="0">
                          <a:solidFill>
                            <a:srgbClr val="FFFFFF"/>
                          </a:solidFill>
                          <a:latin typeface="Segoe UI Semibold"/>
                        </a:rPr>
                        <a:t>This run's number</a:t>
                      </a:r>
                    </a:p>
                  </a:txBody>
                  <a:tcPr anchor="ctr">
                    <a:solidFill>
                      <a:srgbClr val="1F4E79"/>
                    </a:solidFill>
                  </a:tcPr>
                </a:tc>
                <a:tc>
                  <a:txBody>
                    <a:bodyPr/>
                    <a:lstStyle/>
                    <a:p>
                      <a:r>
                        <a:rPr sz="1450" b="1" i="0">
                          <a:solidFill>
                            <a:srgbClr val="FFFFFF"/>
                          </a:solidFill>
                          <a:latin typeface="Segoe UI Semibold"/>
                        </a:rPr>
                        <a:t>What it means</a:t>
                      </a:r>
                    </a:p>
                  </a:txBody>
                  <a:tcPr anchor="ctr">
                    <a:solidFill>
                      <a:srgbClr val="1F4E79"/>
                    </a:solidFill>
                  </a:tcPr>
                </a:tc>
                <a:extLst>
                  <a:ext uri="{0D108BD9-81ED-4DB2-BD59-A6C34878D82A}">
                    <a16:rowId xmlns:a16="http://schemas.microsoft.com/office/drawing/2014/main" val="10000"/>
                  </a:ext>
                </a:extLst>
              </a:tr>
              <a:tr h="475488">
                <a:tc>
                  <a:txBody>
                    <a:bodyPr/>
                    <a:lstStyle/>
                    <a:p>
                      <a:pPr>
                        <a:lnSpc>
                          <a:spcPct val="106000"/>
                        </a:lnSpc>
                      </a:pPr>
                      <a:r>
                        <a:rPr sz="1400" b="1" i="0">
                          <a:solidFill>
                            <a:srgbClr val="242C38"/>
                          </a:solidFill>
                          <a:latin typeface="Segoe UI"/>
                        </a:rPr>
                        <a:t>Accuracy</a:t>
                      </a:r>
                    </a:p>
                  </a:txBody>
                  <a:tcPr marT="36576" marB="36576" anchor="ctr">
                    <a:solidFill>
                      <a:srgbClr val="EEF3F8"/>
                    </a:solidFill>
                  </a:tcPr>
                </a:tc>
                <a:tc>
                  <a:txBody>
                    <a:bodyPr/>
                    <a:lstStyle/>
                    <a:p>
                      <a:pPr>
                        <a:lnSpc>
                          <a:spcPct val="106000"/>
                        </a:lnSpc>
                      </a:pPr>
                      <a:r>
                        <a:rPr sz="1400" b="0" i="0">
                          <a:solidFill>
                            <a:srgbClr val="242C38"/>
                          </a:solidFill>
                          <a:latin typeface="Segoe UI"/>
                        </a:rPr>
                        <a:t>0.9970</a:t>
                      </a:r>
                    </a:p>
                  </a:txBody>
                  <a:tcPr marT="36576" marB="36576" anchor="ctr">
                    <a:solidFill>
                      <a:srgbClr val="EEF3F8"/>
                    </a:solidFill>
                  </a:tcPr>
                </a:tc>
                <a:tc>
                  <a:txBody>
                    <a:bodyPr/>
                    <a:lstStyle/>
                    <a:p>
                      <a:pPr>
                        <a:lnSpc>
                          <a:spcPct val="106000"/>
                        </a:lnSpc>
                      </a:pPr>
                      <a:r>
                        <a:rPr sz="1400" b="0" i="0">
                          <a:solidFill>
                            <a:srgbClr val="242C38"/>
                          </a:solidFill>
                          <a:latin typeface="Segoe UI"/>
                        </a:rPr>
                        <a:t>looks great, means almost nothing here</a:t>
                      </a:r>
                    </a:p>
                  </a:txBody>
                  <a:tcPr marT="36576" marB="36576" anchor="ctr">
                    <a:solidFill>
                      <a:srgbClr val="EEF3F8"/>
                    </a:solidFill>
                  </a:tcPr>
                </a:tc>
                <a:extLst>
                  <a:ext uri="{0D108BD9-81ED-4DB2-BD59-A6C34878D82A}">
                    <a16:rowId xmlns:a16="http://schemas.microsoft.com/office/drawing/2014/main" val="10001"/>
                  </a:ext>
                </a:extLst>
              </a:tr>
              <a:tr h="475488">
                <a:tc>
                  <a:txBody>
                    <a:bodyPr/>
                    <a:lstStyle/>
                    <a:p>
                      <a:pPr>
                        <a:lnSpc>
                          <a:spcPct val="106000"/>
                        </a:lnSpc>
                      </a:pPr>
                      <a:r>
                        <a:rPr sz="1400" b="1" i="0">
                          <a:solidFill>
                            <a:srgbClr val="242C38"/>
                          </a:solidFill>
                          <a:latin typeface="Segoe UI"/>
                        </a:rPr>
                        <a:t>Area under ROC</a:t>
                      </a:r>
                    </a:p>
                  </a:txBody>
                  <a:tcPr marT="36576" marB="36576" anchor="ctr">
                    <a:solidFill>
                      <a:srgbClr val="FFFFFF"/>
                    </a:solidFill>
                  </a:tcPr>
                </a:tc>
                <a:tc>
                  <a:txBody>
                    <a:bodyPr/>
                    <a:lstStyle/>
                    <a:p>
                      <a:pPr>
                        <a:lnSpc>
                          <a:spcPct val="106000"/>
                        </a:lnSpc>
                      </a:pPr>
                      <a:r>
                        <a:rPr sz="1400" b="0" i="0">
                          <a:solidFill>
                            <a:srgbClr val="242C38"/>
                          </a:solidFill>
                          <a:latin typeface="Segoe UI"/>
                        </a:rPr>
                        <a:t>0.4906</a:t>
                      </a:r>
                    </a:p>
                  </a:txBody>
                  <a:tcPr marT="36576" marB="36576" anchor="ctr">
                    <a:solidFill>
                      <a:srgbClr val="FFFFFF"/>
                    </a:solidFill>
                  </a:tcPr>
                </a:tc>
                <a:tc>
                  <a:txBody>
                    <a:bodyPr/>
                    <a:lstStyle/>
                    <a:p>
                      <a:pPr>
                        <a:lnSpc>
                          <a:spcPct val="106000"/>
                        </a:lnSpc>
                      </a:pPr>
                      <a:r>
                        <a:rPr sz="1400" b="0" i="0">
                          <a:solidFill>
                            <a:srgbClr val="242C38"/>
                          </a:solidFill>
                          <a:latin typeface="Segoe UI"/>
                        </a:rPr>
                        <a:t>also flattered by the imbalance</a:t>
                      </a:r>
                    </a:p>
                  </a:txBody>
                  <a:tcPr marT="36576" marB="36576" anchor="ctr">
                    <a:solidFill>
                      <a:srgbClr val="FFFFFF"/>
                    </a:solidFill>
                  </a:tcPr>
                </a:tc>
                <a:extLst>
                  <a:ext uri="{0D108BD9-81ED-4DB2-BD59-A6C34878D82A}">
                    <a16:rowId xmlns:a16="http://schemas.microsoft.com/office/drawing/2014/main" val="10002"/>
                  </a:ext>
                </a:extLst>
              </a:tr>
              <a:tr h="475488">
                <a:tc>
                  <a:txBody>
                    <a:bodyPr/>
                    <a:lstStyle/>
                    <a:p>
                      <a:pPr>
                        <a:lnSpc>
                          <a:spcPct val="106000"/>
                        </a:lnSpc>
                      </a:pPr>
                      <a:r>
                        <a:rPr sz="1400" b="1" i="0">
                          <a:solidFill>
                            <a:srgbClr val="242C38"/>
                          </a:solidFill>
                          <a:latin typeface="Segoe UI"/>
                        </a:rPr>
                        <a:t>Area under PR</a:t>
                      </a:r>
                    </a:p>
                  </a:txBody>
                  <a:tcPr marT="36576" marB="36576" anchor="ctr">
                    <a:solidFill>
                      <a:srgbClr val="EEF3F8"/>
                    </a:solidFill>
                  </a:tcPr>
                </a:tc>
                <a:tc>
                  <a:txBody>
                    <a:bodyPr/>
                    <a:lstStyle/>
                    <a:p>
                      <a:pPr>
                        <a:lnSpc>
                          <a:spcPct val="106000"/>
                        </a:lnSpc>
                      </a:pPr>
                      <a:r>
                        <a:rPr sz="1400" b="0" i="0">
                          <a:solidFill>
                            <a:srgbClr val="242C38"/>
                          </a:solidFill>
                          <a:latin typeface="Segoe UI"/>
                        </a:rPr>
                        <a:t>0.0030</a:t>
                      </a:r>
                    </a:p>
                  </a:txBody>
                  <a:tcPr marT="36576" marB="36576" anchor="ctr">
                    <a:solidFill>
                      <a:srgbClr val="EEF3F8"/>
                    </a:solidFill>
                  </a:tcPr>
                </a:tc>
                <a:tc>
                  <a:txBody>
                    <a:bodyPr/>
                    <a:lstStyle/>
                    <a:p>
                      <a:pPr>
                        <a:lnSpc>
                          <a:spcPct val="106000"/>
                        </a:lnSpc>
                      </a:pPr>
                      <a:r>
                        <a:rPr sz="1400" b="0" i="0">
                          <a:solidFill>
                            <a:srgbClr val="242C38"/>
                          </a:solidFill>
                          <a:latin typeface="Segoe UI"/>
                        </a:rPr>
                        <a:t>the honest number for this data</a:t>
                      </a:r>
                    </a:p>
                  </a:txBody>
                  <a:tcPr marT="36576" marB="36576" anchor="ctr">
                    <a:solidFill>
                      <a:srgbClr val="EEF3F8"/>
                    </a:solidFill>
                  </a:tcPr>
                </a:tc>
                <a:extLst>
                  <a:ext uri="{0D108BD9-81ED-4DB2-BD59-A6C34878D82A}">
                    <a16:rowId xmlns:a16="http://schemas.microsoft.com/office/drawing/2014/main" val="10003"/>
                  </a:ext>
                </a:extLst>
              </a:tr>
              <a:tr h="475488">
                <a:tc>
                  <a:txBody>
                    <a:bodyPr/>
                    <a:lstStyle/>
                    <a:p>
                      <a:pPr>
                        <a:lnSpc>
                          <a:spcPct val="106000"/>
                        </a:lnSpc>
                      </a:pPr>
                      <a:r>
                        <a:rPr sz="1400" b="1" i="0">
                          <a:solidFill>
                            <a:srgbClr val="242C38"/>
                          </a:solidFill>
                          <a:latin typeface="Segoe UI"/>
                        </a:rPr>
                        <a:t>Test base rate</a:t>
                      </a:r>
                    </a:p>
                  </a:txBody>
                  <a:tcPr marT="36576" marB="36576" anchor="ctr">
                    <a:solidFill>
                      <a:srgbClr val="FFFFFF"/>
                    </a:solidFill>
                  </a:tcPr>
                </a:tc>
                <a:tc>
                  <a:txBody>
                    <a:bodyPr/>
                    <a:lstStyle/>
                    <a:p>
                      <a:pPr>
                        <a:lnSpc>
                          <a:spcPct val="106000"/>
                        </a:lnSpc>
                      </a:pPr>
                      <a:r>
                        <a:rPr sz="1400" b="0" i="0">
                          <a:solidFill>
                            <a:srgbClr val="242C38"/>
                          </a:solidFill>
                          <a:latin typeface="Segoe UI"/>
                        </a:rPr>
                        <a:t>0.0030</a:t>
                      </a:r>
                    </a:p>
                  </a:txBody>
                  <a:tcPr marT="36576" marB="36576" anchor="ctr">
                    <a:solidFill>
                      <a:srgbClr val="FFFFFF"/>
                    </a:solidFill>
                  </a:tcPr>
                </a:tc>
                <a:tc>
                  <a:txBody>
                    <a:bodyPr/>
                    <a:lstStyle/>
                    <a:p>
                      <a:pPr>
                        <a:lnSpc>
                          <a:spcPct val="106000"/>
                        </a:lnSpc>
                      </a:pPr>
                      <a:r>
                        <a:rPr sz="1400" b="0" i="0">
                          <a:solidFill>
                            <a:srgbClr val="242C38"/>
                          </a:solidFill>
                          <a:latin typeface="Segoe UI"/>
                        </a:rPr>
                        <a:t>PR-AUC of a model doing nothing</a:t>
                      </a:r>
                    </a:p>
                  </a:txBody>
                  <a:tcPr marT="36576" marB="36576" anchor="ctr">
                    <a:solidFill>
                      <a:srgbClr val="FFFFFF"/>
                    </a:solidFill>
                  </a:tcPr>
                </a:tc>
                <a:extLst>
                  <a:ext uri="{0D108BD9-81ED-4DB2-BD59-A6C34878D82A}">
                    <a16:rowId xmlns:a16="http://schemas.microsoft.com/office/drawing/2014/main" val="10004"/>
                  </a:ext>
                </a:extLst>
              </a:tr>
            </a:tbl>
          </a:graphicData>
        </a:graphic>
      </p:graphicFrame>
      <p:sp>
        <p:nvSpPr>
          <p:cNvPr id="5" name="TextBox 4"/>
          <p:cNvSpPr txBox="1"/>
          <p:nvPr/>
        </p:nvSpPr>
        <p:spPr>
          <a:xfrm>
            <a:off x="658368" y="5724144"/>
            <a:ext cx="10874959" cy="502920"/>
          </a:xfrm>
          <a:prstGeom prst="rect">
            <a:avLst/>
          </a:prstGeom>
          <a:noFill/>
        </p:spPr>
        <p:txBody>
          <a:bodyPr wrap="square" lIns="0" tIns="0" rIns="0" bIns="0">
            <a:spAutoFit/>
          </a:bodyPr>
          <a:lstStyle/>
          <a:p>
            <a:r>
              <a:rPr sz="1300" b="0" i="1">
                <a:solidFill>
                  <a:srgbClr val="5B6775"/>
                </a:solidFill>
                <a:latin typeface="Segoe UI"/>
              </a:rPr>
              <a:t>PR-AUC sitting on the base rate means: richer features and more labels, not a code bug.</a:t>
            </a:r>
          </a:p>
        </p:txBody>
      </p:sp>
      <p:sp>
        <p:nvSpPr>
          <p:cNvPr id="6" name="Rectangle 5"/>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16  ·  MLlib overview</a:t>
            </a:r>
          </a:p>
        </p:txBody>
      </p:sp>
      <p:sp>
        <p:nvSpPr>
          <p:cNvPr id="8" name="TextBox 7"/>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173</a:t>
            </a:r>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Module 16 in one screen</a:t>
            </a:r>
          </a:p>
        </p:txBody>
      </p:sp>
      <p:sp>
        <p:nvSpPr>
          <p:cNvPr id="4" name="TextBox 3"/>
          <p:cNvSpPr txBox="1"/>
          <p:nvPr/>
        </p:nvSpPr>
        <p:spPr>
          <a:xfrm>
            <a:off x="658368" y="1481328"/>
            <a:ext cx="10874959" cy="4526280"/>
          </a:xfrm>
          <a:prstGeom prst="rect">
            <a:avLst/>
          </a:prstGeom>
          <a:noFill/>
        </p:spPr>
        <p:txBody>
          <a:bodyPr wrap="square" lIns="0" tIns="0" rIns="0" bIns="0">
            <a:spAutoFit/>
          </a:bodyPr>
          <a:lstStyle/>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pyspark.ml, never pyspark.mllib, for anything new.</a:t>
            </a:r>
          </a:p>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A Pipeline is four ideas: Transformer, Estimator, Pipeline, PipelineModel.</a:t>
            </a:r>
          </a:p>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Spark ML earns its keep on feature engineering at scale, not always the model fit.</a:t>
            </a:r>
          </a:p>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On a rare-event label, report PR-AUC and the base rate, never accuracy alone.</a:t>
            </a:r>
          </a:p>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A PipelineModel saves and loads like any other Spark artifact for batch scoring.</a:t>
            </a:r>
          </a:p>
        </p:txBody>
      </p:sp>
      <p:sp>
        <p:nvSpPr>
          <p:cNvPr id="5" name="Rectangle 4"/>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16  ·  MLlib overview</a:t>
            </a:r>
          </a:p>
        </p:txBody>
      </p:sp>
      <p:sp>
        <p:nvSpPr>
          <p:cNvPr id="7" name="TextBox 6"/>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174</a:t>
            </a:r>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858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51560" y="2057400"/>
            <a:ext cx="9692640" cy="457200"/>
          </a:xfrm>
          <a:prstGeom prst="rect">
            <a:avLst/>
          </a:prstGeom>
          <a:noFill/>
        </p:spPr>
        <p:txBody>
          <a:bodyPr wrap="square" lIns="0" tIns="0" rIns="0" bIns="0">
            <a:spAutoFit/>
          </a:bodyPr>
          <a:lstStyle/>
          <a:p>
            <a:r>
              <a:rPr sz="1300" b="1" i="0">
                <a:solidFill>
                  <a:srgbClr val="2E74B5"/>
                </a:solidFill>
                <a:latin typeface="Segoe UI Semibold"/>
              </a:rPr>
              <a:t>MODULE 17</a:t>
            </a:r>
          </a:p>
        </p:txBody>
      </p:sp>
      <p:sp>
        <p:nvSpPr>
          <p:cNvPr id="5" name="TextBox 4"/>
          <p:cNvSpPr txBox="1"/>
          <p:nvPr/>
        </p:nvSpPr>
        <p:spPr>
          <a:xfrm>
            <a:off x="1051560" y="2578608"/>
            <a:ext cx="9692640" cy="1371600"/>
          </a:xfrm>
          <a:prstGeom prst="rect">
            <a:avLst/>
          </a:prstGeom>
          <a:noFill/>
        </p:spPr>
        <p:txBody>
          <a:bodyPr wrap="square" lIns="0" tIns="0" rIns="0" bIns="0">
            <a:spAutoFit/>
          </a:bodyPr>
          <a:lstStyle/>
          <a:p>
            <a:pPr>
              <a:lnSpc>
                <a:spcPct val="95000"/>
              </a:lnSpc>
            </a:pPr>
            <a:r>
              <a:rPr sz="4200" b="1" i="0">
                <a:solidFill>
                  <a:srgbClr val="1F4E79"/>
                </a:solidFill>
                <a:latin typeface="Segoe UI Semibold"/>
              </a:rPr>
              <a:t>Airflow basics</a:t>
            </a:r>
          </a:p>
        </p:txBody>
      </p:sp>
      <p:sp>
        <p:nvSpPr>
          <p:cNvPr id="6" name="TextBox 5"/>
          <p:cNvSpPr txBox="1"/>
          <p:nvPr/>
        </p:nvSpPr>
        <p:spPr>
          <a:xfrm>
            <a:off x="1051560" y="3950208"/>
            <a:ext cx="8778240" cy="822960"/>
          </a:xfrm>
          <a:prstGeom prst="rect">
            <a:avLst/>
          </a:prstGeom>
          <a:noFill/>
        </p:spPr>
        <p:txBody>
          <a:bodyPr wrap="square" lIns="0" tIns="0" rIns="0" bIns="0">
            <a:spAutoFit/>
          </a:bodyPr>
          <a:lstStyle/>
          <a:p>
            <a:pPr>
              <a:lnSpc>
                <a:spcPct val="115000"/>
              </a:lnSpc>
            </a:pPr>
            <a:r>
              <a:rPr sz="1700" b="0" i="0">
                <a:solidFill>
                  <a:srgbClr val="5B6775"/>
                </a:solidFill>
                <a:latin typeface="Segoe UI"/>
              </a:rPr>
              <a:t>Reading a DAG, mapping it to the scheduler vocabulary this room already knows</a:t>
            </a:r>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58368" y="2148840"/>
            <a:ext cx="82296" cy="219456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42416" y="2084831"/>
            <a:ext cx="9777679" cy="1828800"/>
          </a:xfrm>
          <a:prstGeom prst="rect">
            <a:avLst/>
          </a:prstGeom>
          <a:noFill/>
        </p:spPr>
        <p:txBody>
          <a:bodyPr wrap="square" lIns="0" tIns="0" rIns="0" bIns="0">
            <a:spAutoFit/>
          </a:bodyPr>
          <a:lstStyle/>
          <a:p>
            <a:pPr>
              <a:lnSpc>
                <a:spcPct val="112000"/>
              </a:lnSpc>
            </a:pPr>
            <a:r>
              <a:rPr sz="3000" b="1" i="0">
                <a:solidFill>
                  <a:srgbClr val="1F4E79"/>
                </a:solidFill>
                <a:latin typeface="Segoe UI Semibold"/>
              </a:rPr>
              <a:t>Airflow orchestrates. It never processes data itself, that is still Spark.</a:t>
            </a:r>
          </a:p>
        </p:txBody>
      </p:sp>
      <p:sp>
        <p:nvSpPr>
          <p:cNvPr id="5" name="TextBox 4"/>
          <p:cNvSpPr txBox="1"/>
          <p:nvPr/>
        </p:nvSpPr>
        <p:spPr>
          <a:xfrm>
            <a:off x="1042416" y="4041648"/>
            <a:ext cx="9411919" cy="1005840"/>
          </a:xfrm>
          <a:prstGeom prst="rect">
            <a:avLst/>
          </a:prstGeom>
          <a:noFill/>
        </p:spPr>
        <p:txBody>
          <a:bodyPr wrap="square" lIns="0" tIns="0" rIns="0" bIns="0">
            <a:spAutoFit/>
          </a:bodyPr>
          <a:lstStyle/>
          <a:p>
            <a:pPr>
              <a:lnSpc>
                <a:spcPct val="120000"/>
              </a:lnSpc>
            </a:pPr>
            <a:r>
              <a:rPr sz="1700" b="0" i="0">
                <a:solidFill>
                  <a:srgbClr val="5B6775"/>
                </a:solidFill>
                <a:latin typeface="Segoe UI"/>
              </a:rPr>
              <a:t>Every bank running batch already has Control-M, Autosys, or a wall of cron jobs. Airflow does not replace Spark or your judgment about a business day, it replaces the crontab and the spreadsheet of which job depends on which.</a:t>
            </a:r>
          </a:p>
        </p:txBody>
      </p:sp>
      <p:sp>
        <p:nvSpPr>
          <p:cNvPr id="6" name="Rectangle 5"/>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17  ·  Airflow basics</a:t>
            </a:r>
          </a:p>
        </p:txBody>
      </p:sp>
      <p:sp>
        <p:nvSpPr>
          <p:cNvPr id="8" name="TextBox 7"/>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175</a:t>
            </a:r>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What Airflow is, and what it is not</a:t>
            </a:r>
          </a:p>
        </p:txBody>
      </p:sp>
      <p:graphicFrame>
        <p:nvGraphicFramePr>
          <p:cNvPr id="4" name="Table 3"/>
          <p:cNvGraphicFramePr>
            <a:graphicFrameLocks noGrp="1"/>
          </p:cNvGraphicFramePr>
          <p:nvPr/>
        </p:nvGraphicFramePr>
        <p:xfrm>
          <a:off x="658368" y="1481328"/>
          <a:ext cx="10874958" cy="1828800"/>
        </p:xfrm>
        <a:graphic>
          <a:graphicData uri="http://schemas.openxmlformats.org/drawingml/2006/table">
            <a:tbl>
              <a:tblPr firstRow="1" bandRow="1">
                <a:tableStyleId>{5C22544A-7EE6-4342-B048-85BDC9FD1C3A}</a:tableStyleId>
              </a:tblPr>
              <a:tblGrid>
                <a:gridCol w="5437479">
                  <a:extLst>
                    <a:ext uri="{9D8B030D-6E8A-4147-A177-3AD203B41FA5}">
                      <a16:colId xmlns:a16="http://schemas.microsoft.com/office/drawing/2014/main" val="20000"/>
                    </a:ext>
                  </a:extLst>
                </a:gridCol>
                <a:gridCol w="5437479">
                  <a:extLst>
                    <a:ext uri="{9D8B030D-6E8A-4147-A177-3AD203B41FA5}">
                      <a16:colId xmlns:a16="http://schemas.microsoft.com/office/drawing/2014/main" val="20001"/>
                    </a:ext>
                  </a:extLst>
                </a:gridCol>
              </a:tblGrid>
              <a:tr h="402336">
                <a:tc>
                  <a:txBody>
                    <a:bodyPr/>
                    <a:lstStyle/>
                    <a:p>
                      <a:r>
                        <a:rPr sz="1450" b="1" i="0">
                          <a:solidFill>
                            <a:srgbClr val="FFFFFF"/>
                          </a:solidFill>
                          <a:latin typeface="Segoe UI Semibold"/>
                        </a:rPr>
                        <a:t>Airflow is</a:t>
                      </a:r>
                    </a:p>
                  </a:txBody>
                  <a:tcPr anchor="ctr">
                    <a:solidFill>
                      <a:srgbClr val="1F4E79"/>
                    </a:solidFill>
                  </a:tcPr>
                </a:tc>
                <a:tc>
                  <a:txBody>
                    <a:bodyPr/>
                    <a:lstStyle/>
                    <a:p>
                      <a:r>
                        <a:rPr sz="1450" b="1" i="0">
                          <a:solidFill>
                            <a:srgbClr val="FFFFFF"/>
                          </a:solidFill>
                          <a:latin typeface="Segoe UI Semibold"/>
                        </a:rPr>
                        <a:t>Airflow is not</a:t>
                      </a:r>
                    </a:p>
                  </a:txBody>
                  <a:tcPr anchor="ctr">
                    <a:solidFill>
                      <a:srgbClr val="1F4E79"/>
                    </a:solidFill>
                  </a:tcPr>
                </a:tc>
                <a:extLst>
                  <a:ext uri="{0D108BD9-81ED-4DB2-BD59-A6C34878D82A}">
                    <a16:rowId xmlns:a16="http://schemas.microsoft.com/office/drawing/2014/main" val="10000"/>
                  </a:ext>
                </a:extLst>
              </a:tr>
              <a:tr h="475488">
                <a:tc>
                  <a:txBody>
                    <a:bodyPr/>
                    <a:lstStyle/>
                    <a:p>
                      <a:pPr>
                        <a:lnSpc>
                          <a:spcPct val="106000"/>
                        </a:lnSpc>
                      </a:pPr>
                      <a:r>
                        <a:rPr sz="1400" b="1" i="0">
                          <a:solidFill>
                            <a:srgbClr val="242C38"/>
                          </a:solidFill>
                          <a:latin typeface="Segoe UI"/>
                        </a:rPr>
                        <a:t>A scheduler with dependency graphs and retries</a:t>
                      </a:r>
                    </a:p>
                  </a:txBody>
                  <a:tcPr marT="36576" marB="36576" anchor="ctr">
                    <a:solidFill>
                      <a:srgbClr val="EEF3F8"/>
                    </a:solidFill>
                  </a:tcPr>
                </a:tc>
                <a:tc>
                  <a:txBody>
                    <a:bodyPr/>
                    <a:lstStyle/>
                    <a:p>
                      <a:pPr>
                        <a:lnSpc>
                          <a:spcPct val="106000"/>
                        </a:lnSpc>
                      </a:pPr>
                      <a:r>
                        <a:rPr sz="1400" b="0" i="0">
                          <a:solidFill>
                            <a:srgbClr val="242C38"/>
                          </a:solidFill>
                          <a:latin typeface="Segoe UI"/>
                        </a:rPr>
                        <a:t>A processing engine, like Spark or a database</a:t>
                      </a:r>
                    </a:p>
                  </a:txBody>
                  <a:tcPr marT="36576" marB="36576" anchor="ctr">
                    <a:solidFill>
                      <a:srgbClr val="EEF3F8"/>
                    </a:solidFill>
                  </a:tcPr>
                </a:tc>
                <a:extLst>
                  <a:ext uri="{0D108BD9-81ED-4DB2-BD59-A6C34878D82A}">
                    <a16:rowId xmlns:a16="http://schemas.microsoft.com/office/drawing/2014/main" val="10001"/>
                  </a:ext>
                </a:extLst>
              </a:tr>
              <a:tr h="475488">
                <a:tc>
                  <a:txBody>
                    <a:bodyPr/>
                    <a:lstStyle/>
                    <a:p>
                      <a:pPr>
                        <a:lnSpc>
                          <a:spcPct val="106000"/>
                        </a:lnSpc>
                      </a:pPr>
                      <a:r>
                        <a:rPr sz="1400" b="1" i="0">
                          <a:solidFill>
                            <a:srgbClr val="242C38"/>
                          </a:solidFill>
                          <a:latin typeface="Segoe UI"/>
                        </a:rPr>
                        <a:t>A way to say run C only after A and B succeed</a:t>
                      </a:r>
                    </a:p>
                  </a:txBody>
                  <a:tcPr marT="36576" marB="36576" anchor="ctr">
                    <a:solidFill>
                      <a:srgbClr val="FFFFFF"/>
                    </a:solidFill>
                  </a:tcPr>
                </a:tc>
                <a:tc>
                  <a:txBody>
                    <a:bodyPr/>
                    <a:lstStyle/>
                    <a:p>
                      <a:pPr>
                        <a:lnSpc>
                          <a:spcPct val="106000"/>
                        </a:lnSpc>
                      </a:pPr>
                      <a:r>
                        <a:rPr sz="1400" b="0" i="0">
                          <a:solidFill>
                            <a:srgbClr val="242C38"/>
                          </a:solidFill>
                          <a:latin typeface="Segoe UI"/>
                        </a:rPr>
                        <a:t>A place to groupBy or join rows</a:t>
                      </a:r>
                    </a:p>
                  </a:txBody>
                  <a:tcPr marT="36576" marB="36576" anchor="ctr">
                    <a:solidFill>
                      <a:srgbClr val="FFFFFF"/>
                    </a:solidFill>
                  </a:tcPr>
                </a:tc>
                <a:extLst>
                  <a:ext uri="{0D108BD9-81ED-4DB2-BD59-A6C34878D82A}">
                    <a16:rowId xmlns:a16="http://schemas.microsoft.com/office/drawing/2014/main" val="10002"/>
                  </a:ext>
                </a:extLst>
              </a:tr>
              <a:tr h="475488">
                <a:tc>
                  <a:txBody>
                    <a:bodyPr/>
                    <a:lstStyle/>
                    <a:p>
                      <a:pPr>
                        <a:lnSpc>
                          <a:spcPct val="106000"/>
                        </a:lnSpc>
                      </a:pPr>
                      <a:r>
                        <a:rPr sz="1400" b="1" i="0">
                          <a:solidFill>
                            <a:srgbClr val="242C38"/>
                          </a:solidFill>
                          <a:latin typeface="Segoe UI"/>
                        </a:rPr>
                        <a:t>Python code that describes work</a:t>
                      </a:r>
                    </a:p>
                  </a:txBody>
                  <a:tcPr marT="36576" marB="36576" anchor="ctr">
                    <a:solidFill>
                      <a:srgbClr val="EEF3F8"/>
                    </a:solidFill>
                  </a:tcPr>
                </a:tc>
                <a:tc>
                  <a:txBody>
                    <a:bodyPr/>
                    <a:lstStyle/>
                    <a:p>
                      <a:pPr>
                        <a:lnSpc>
                          <a:spcPct val="106000"/>
                        </a:lnSpc>
                      </a:pPr>
                      <a:r>
                        <a:rPr sz="1400" b="0" i="0">
                          <a:solidFill>
                            <a:srgbClr val="242C38"/>
                          </a:solidFill>
                          <a:latin typeface="Segoe UI"/>
                        </a:rPr>
                        <a:t>The thing that does the work</a:t>
                      </a:r>
                    </a:p>
                  </a:txBody>
                  <a:tcPr marT="36576" marB="36576" anchor="ctr">
                    <a:solidFill>
                      <a:srgbClr val="EEF3F8"/>
                    </a:solidFill>
                  </a:tcPr>
                </a:tc>
                <a:extLst>
                  <a:ext uri="{0D108BD9-81ED-4DB2-BD59-A6C34878D82A}">
                    <a16:rowId xmlns:a16="http://schemas.microsoft.com/office/drawing/2014/main" val="10003"/>
                  </a:ext>
                </a:extLst>
              </a:tr>
            </a:tbl>
          </a:graphicData>
        </a:graphic>
      </p:graphicFrame>
      <p:sp>
        <p:nvSpPr>
          <p:cNvPr id="5" name="Rectangle 4"/>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17  ·  Airflow basics</a:t>
            </a:r>
          </a:p>
        </p:txBody>
      </p:sp>
      <p:sp>
        <p:nvSpPr>
          <p:cNvPr id="7" name="TextBox 6"/>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176</a:t>
            </a:r>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Your vocabulary, mapped to Airflow's</a:t>
            </a:r>
          </a:p>
        </p:txBody>
      </p:sp>
      <p:graphicFrame>
        <p:nvGraphicFramePr>
          <p:cNvPr id="4" name="Table 3"/>
          <p:cNvGraphicFramePr>
            <a:graphicFrameLocks noGrp="1"/>
          </p:cNvGraphicFramePr>
          <p:nvPr/>
        </p:nvGraphicFramePr>
        <p:xfrm>
          <a:off x="658368" y="1481328"/>
          <a:ext cx="10874958" cy="3730752"/>
        </p:xfrm>
        <a:graphic>
          <a:graphicData uri="http://schemas.openxmlformats.org/drawingml/2006/table">
            <a:tbl>
              <a:tblPr firstRow="1" bandRow="1">
                <a:tableStyleId>{5C22544A-7EE6-4342-B048-85BDC9FD1C3A}</a:tableStyleId>
              </a:tblPr>
              <a:tblGrid>
                <a:gridCol w="2317614">
                  <a:extLst>
                    <a:ext uri="{9D8B030D-6E8A-4147-A177-3AD203B41FA5}">
                      <a16:colId xmlns:a16="http://schemas.microsoft.com/office/drawing/2014/main" val="20000"/>
                    </a:ext>
                  </a:extLst>
                </a:gridCol>
                <a:gridCol w="2495892">
                  <a:extLst>
                    <a:ext uri="{9D8B030D-6E8A-4147-A177-3AD203B41FA5}">
                      <a16:colId xmlns:a16="http://schemas.microsoft.com/office/drawing/2014/main" val="20001"/>
                    </a:ext>
                  </a:extLst>
                </a:gridCol>
                <a:gridCol w="3030726">
                  <a:extLst>
                    <a:ext uri="{9D8B030D-6E8A-4147-A177-3AD203B41FA5}">
                      <a16:colId xmlns:a16="http://schemas.microsoft.com/office/drawing/2014/main" val="20002"/>
                    </a:ext>
                  </a:extLst>
                </a:gridCol>
                <a:gridCol w="3030726">
                  <a:extLst>
                    <a:ext uri="{9D8B030D-6E8A-4147-A177-3AD203B41FA5}">
                      <a16:colId xmlns:a16="http://schemas.microsoft.com/office/drawing/2014/main" val="20003"/>
                    </a:ext>
                  </a:extLst>
                </a:gridCol>
              </a:tblGrid>
              <a:tr h="402336">
                <a:tc>
                  <a:txBody>
                    <a:bodyPr/>
                    <a:lstStyle/>
                    <a:p>
                      <a:r>
                        <a:rPr sz="1300" b="1" i="0">
                          <a:solidFill>
                            <a:srgbClr val="FFFFFF"/>
                          </a:solidFill>
                          <a:latin typeface="Segoe UI Semibold"/>
                        </a:rPr>
                        <a:t>What you call it</a:t>
                      </a:r>
                    </a:p>
                  </a:txBody>
                  <a:tcPr anchor="ctr">
                    <a:solidFill>
                      <a:srgbClr val="1F4E79"/>
                    </a:solidFill>
                  </a:tcPr>
                </a:tc>
                <a:tc>
                  <a:txBody>
                    <a:bodyPr/>
                    <a:lstStyle/>
                    <a:p>
                      <a:r>
                        <a:rPr sz="1300" b="1" i="0">
                          <a:solidFill>
                            <a:srgbClr val="FFFFFF"/>
                          </a:solidFill>
                          <a:latin typeface="Segoe UI Semibold"/>
                        </a:rPr>
                        <a:t>Control-M/Autosys</a:t>
                      </a:r>
                    </a:p>
                  </a:txBody>
                  <a:tcPr anchor="ctr">
                    <a:solidFill>
                      <a:srgbClr val="1F4E79"/>
                    </a:solidFill>
                  </a:tcPr>
                </a:tc>
                <a:tc>
                  <a:txBody>
                    <a:bodyPr/>
                    <a:lstStyle/>
                    <a:p>
                      <a:r>
                        <a:rPr sz="1300" b="1" i="0">
                          <a:solidFill>
                            <a:srgbClr val="FFFFFF"/>
                          </a:solidFill>
                          <a:latin typeface="Segoe UI Semibold"/>
                        </a:rPr>
                        <a:t>cron</a:t>
                      </a:r>
                    </a:p>
                  </a:txBody>
                  <a:tcPr anchor="ctr">
                    <a:solidFill>
                      <a:srgbClr val="1F4E79"/>
                    </a:solidFill>
                  </a:tcPr>
                </a:tc>
                <a:tc>
                  <a:txBody>
                    <a:bodyPr/>
                    <a:lstStyle/>
                    <a:p>
                      <a:r>
                        <a:rPr sz="1300" b="1" i="0">
                          <a:solidFill>
                            <a:srgbClr val="FFFFFF"/>
                          </a:solidFill>
                          <a:latin typeface="Segoe UI Semibold"/>
                        </a:rPr>
                        <a:t>Airflow</a:t>
                      </a:r>
                    </a:p>
                  </a:txBody>
                  <a:tcPr anchor="ctr">
                    <a:solidFill>
                      <a:srgbClr val="1F4E79"/>
                    </a:solidFill>
                  </a:tcPr>
                </a:tc>
                <a:extLst>
                  <a:ext uri="{0D108BD9-81ED-4DB2-BD59-A6C34878D82A}">
                    <a16:rowId xmlns:a16="http://schemas.microsoft.com/office/drawing/2014/main" val="10000"/>
                  </a:ext>
                </a:extLst>
              </a:tr>
              <a:tr h="475488">
                <a:tc>
                  <a:txBody>
                    <a:bodyPr/>
                    <a:lstStyle/>
                    <a:p>
                      <a:pPr>
                        <a:lnSpc>
                          <a:spcPct val="106000"/>
                        </a:lnSpc>
                      </a:pPr>
                      <a:r>
                        <a:rPr sz="1250" b="1" i="0">
                          <a:solidFill>
                            <a:srgbClr val="242C38"/>
                          </a:solidFill>
                          <a:latin typeface="Segoe UI"/>
                        </a:rPr>
                        <a:t>A unit of work</a:t>
                      </a:r>
                    </a:p>
                  </a:txBody>
                  <a:tcPr marT="36576" marB="36576" anchor="ctr">
                    <a:solidFill>
                      <a:srgbClr val="EEF3F8"/>
                    </a:solidFill>
                  </a:tcPr>
                </a:tc>
                <a:tc>
                  <a:txBody>
                    <a:bodyPr/>
                    <a:lstStyle/>
                    <a:p>
                      <a:pPr>
                        <a:lnSpc>
                          <a:spcPct val="106000"/>
                        </a:lnSpc>
                      </a:pPr>
                      <a:r>
                        <a:rPr sz="1250" b="0" i="0">
                          <a:solidFill>
                            <a:srgbClr val="242C38"/>
                          </a:solidFill>
                          <a:latin typeface="Segoe UI"/>
                        </a:rPr>
                        <a:t>Job</a:t>
                      </a:r>
                    </a:p>
                  </a:txBody>
                  <a:tcPr marT="36576" marB="36576" anchor="ctr">
                    <a:solidFill>
                      <a:srgbClr val="EEF3F8"/>
                    </a:solidFill>
                  </a:tcPr>
                </a:tc>
                <a:tc>
                  <a:txBody>
                    <a:bodyPr/>
                    <a:lstStyle/>
                    <a:p>
                      <a:pPr>
                        <a:lnSpc>
                          <a:spcPct val="106000"/>
                        </a:lnSpc>
                      </a:pPr>
                      <a:r>
                        <a:rPr sz="1250" b="0" i="0">
                          <a:solidFill>
                            <a:srgbClr val="242C38"/>
                          </a:solidFill>
                          <a:latin typeface="Segoe UI"/>
                        </a:rPr>
                        <a:t>one crontab line</a:t>
                      </a:r>
                    </a:p>
                  </a:txBody>
                  <a:tcPr marT="36576" marB="36576" anchor="ctr">
                    <a:solidFill>
                      <a:srgbClr val="EEF3F8"/>
                    </a:solidFill>
                  </a:tcPr>
                </a:tc>
                <a:tc>
                  <a:txBody>
                    <a:bodyPr/>
                    <a:lstStyle/>
                    <a:p>
                      <a:pPr>
                        <a:lnSpc>
                          <a:spcPct val="106000"/>
                        </a:lnSpc>
                      </a:pPr>
                      <a:r>
                        <a:rPr sz="1250" b="0" i="0">
                          <a:solidFill>
                            <a:srgbClr val="242C38"/>
                          </a:solidFill>
                          <a:latin typeface="Segoe UI"/>
                        </a:rPr>
                        <a:t>Task</a:t>
                      </a:r>
                    </a:p>
                  </a:txBody>
                  <a:tcPr marT="36576" marB="36576" anchor="ctr">
                    <a:solidFill>
                      <a:srgbClr val="EEF3F8"/>
                    </a:solidFill>
                  </a:tcPr>
                </a:tc>
                <a:extLst>
                  <a:ext uri="{0D108BD9-81ED-4DB2-BD59-A6C34878D82A}">
                    <a16:rowId xmlns:a16="http://schemas.microsoft.com/office/drawing/2014/main" val="10001"/>
                  </a:ext>
                </a:extLst>
              </a:tr>
              <a:tr h="475488">
                <a:tc>
                  <a:txBody>
                    <a:bodyPr/>
                    <a:lstStyle/>
                    <a:p>
                      <a:pPr>
                        <a:lnSpc>
                          <a:spcPct val="106000"/>
                        </a:lnSpc>
                      </a:pPr>
                      <a:r>
                        <a:rPr sz="1250" b="1" i="0">
                          <a:solidFill>
                            <a:srgbClr val="242C38"/>
                          </a:solidFill>
                          <a:latin typeface="Segoe UI"/>
                        </a:rPr>
                        <a:t>A group of jobs</a:t>
                      </a:r>
                    </a:p>
                  </a:txBody>
                  <a:tcPr marT="36576" marB="36576" anchor="ctr">
                    <a:solidFill>
                      <a:srgbClr val="FFFFFF"/>
                    </a:solidFill>
                  </a:tcPr>
                </a:tc>
                <a:tc>
                  <a:txBody>
                    <a:bodyPr/>
                    <a:lstStyle/>
                    <a:p>
                      <a:pPr>
                        <a:lnSpc>
                          <a:spcPct val="106000"/>
                        </a:lnSpc>
                      </a:pPr>
                      <a:r>
                        <a:rPr sz="1250" b="0" i="0">
                          <a:solidFill>
                            <a:srgbClr val="242C38"/>
                          </a:solidFill>
                          <a:latin typeface="Segoe UI"/>
                        </a:rPr>
                        <a:t>Box / Job stream</a:t>
                      </a:r>
                    </a:p>
                  </a:txBody>
                  <a:tcPr marT="36576" marB="36576" anchor="ctr">
                    <a:solidFill>
                      <a:srgbClr val="FFFFFF"/>
                    </a:solidFill>
                  </a:tcPr>
                </a:tc>
                <a:tc>
                  <a:txBody>
                    <a:bodyPr/>
                    <a:lstStyle/>
                    <a:p>
                      <a:pPr>
                        <a:lnSpc>
                          <a:spcPct val="106000"/>
                        </a:lnSpc>
                      </a:pPr>
                      <a:r>
                        <a:rPr sz="1250" b="0" i="0">
                          <a:solidFill>
                            <a:srgbClr val="242C38"/>
                          </a:solidFill>
                          <a:latin typeface="Segoe UI"/>
                        </a:rPr>
                        <a:t>a script calling scripts</a:t>
                      </a:r>
                    </a:p>
                  </a:txBody>
                  <a:tcPr marT="36576" marB="36576" anchor="ctr">
                    <a:solidFill>
                      <a:srgbClr val="FFFFFF"/>
                    </a:solidFill>
                  </a:tcPr>
                </a:tc>
                <a:tc>
                  <a:txBody>
                    <a:bodyPr/>
                    <a:lstStyle/>
                    <a:p>
                      <a:pPr>
                        <a:lnSpc>
                          <a:spcPct val="106000"/>
                        </a:lnSpc>
                      </a:pPr>
                      <a:r>
                        <a:rPr sz="1250" b="0" i="0">
                          <a:solidFill>
                            <a:srgbClr val="242C38"/>
                          </a:solidFill>
                          <a:latin typeface="Segoe UI"/>
                        </a:rPr>
                        <a:t>DAG</a:t>
                      </a:r>
                    </a:p>
                  </a:txBody>
                  <a:tcPr marT="36576" marB="36576" anchor="ctr">
                    <a:solidFill>
                      <a:srgbClr val="FFFFFF"/>
                    </a:solidFill>
                  </a:tcPr>
                </a:tc>
                <a:extLst>
                  <a:ext uri="{0D108BD9-81ED-4DB2-BD59-A6C34878D82A}">
                    <a16:rowId xmlns:a16="http://schemas.microsoft.com/office/drawing/2014/main" val="10002"/>
                  </a:ext>
                </a:extLst>
              </a:tr>
              <a:tr h="475488">
                <a:tc>
                  <a:txBody>
                    <a:bodyPr/>
                    <a:lstStyle/>
                    <a:p>
                      <a:pPr>
                        <a:lnSpc>
                          <a:spcPct val="106000"/>
                        </a:lnSpc>
                      </a:pPr>
                      <a:r>
                        <a:rPr sz="1250" b="1" i="0">
                          <a:solidFill>
                            <a:srgbClr val="242C38"/>
                          </a:solidFill>
                          <a:latin typeface="Segoe UI"/>
                        </a:rPr>
                        <a:t>When it runs</a:t>
                      </a:r>
                    </a:p>
                  </a:txBody>
                  <a:tcPr marT="36576" marB="36576" anchor="ctr">
                    <a:solidFill>
                      <a:srgbClr val="EEF3F8"/>
                    </a:solidFill>
                  </a:tcPr>
                </a:tc>
                <a:tc>
                  <a:txBody>
                    <a:bodyPr/>
                    <a:lstStyle/>
                    <a:p>
                      <a:pPr>
                        <a:lnSpc>
                          <a:spcPct val="106000"/>
                        </a:lnSpc>
                      </a:pPr>
                      <a:r>
                        <a:rPr sz="1250" b="0" i="0">
                          <a:solidFill>
                            <a:srgbClr val="242C38"/>
                          </a:solidFill>
                          <a:latin typeface="Segoe UI"/>
                        </a:rPr>
                        <a:t>Calendar</a:t>
                      </a:r>
                    </a:p>
                  </a:txBody>
                  <a:tcPr marT="36576" marB="36576" anchor="ctr">
                    <a:solidFill>
                      <a:srgbClr val="EEF3F8"/>
                    </a:solidFill>
                  </a:tcPr>
                </a:tc>
                <a:tc>
                  <a:txBody>
                    <a:bodyPr/>
                    <a:lstStyle/>
                    <a:p>
                      <a:pPr>
                        <a:lnSpc>
                          <a:spcPct val="106000"/>
                        </a:lnSpc>
                      </a:pPr>
                      <a:r>
                        <a:rPr sz="1250" b="0" i="0">
                          <a:solidFill>
                            <a:srgbClr val="242C38"/>
                          </a:solidFill>
                          <a:latin typeface="Segoe UI"/>
                        </a:rPr>
                        <a:t>5-field cron expression</a:t>
                      </a:r>
                    </a:p>
                  </a:txBody>
                  <a:tcPr marT="36576" marB="36576" anchor="ctr">
                    <a:solidFill>
                      <a:srgbClr val="EEF3F8"/>
                    </a:solidFill>
                  </a:tcPr>
                </a:tc>
                <a:tc>
                  <a:txBody>
                    <a:bodyPr/>
                    <a:lstStyle/>
                    <a:p>
                      <a:pPr>
                        <a:lnSpc>
                          <a:spcPct val="106000"/>
                        </a:lnSpc>
                      </a:pPr>
                      <a:r>
                        <a:rPr sz="1200" b="0" i="0">
                          <a:solidFill>
                            <a:srgbClr val="2E74B5"/>
                          </a:solidFill>
                          <a:latin typeface="Consolas"/>
                        </a:rPr>
                        <a:t>schedule</a:t>
                      </a:r>
                      <a:r>
                        <a:rPr sz="1250" b="0" i="0">
                          <a:solidFill>
                            <a:srgbClr val="242C38"/>
                          </a:solidFill>
                          <a:latin typeface="Segoe UI"/>
                        </a:rPr>
                        <a:t>, a cron string, or </a:t>
                      </a:r>
                      <a:r>
                        <a:rPr sz="1200" b="0" i="0">
                          <a:solidFill>
                            <a:srgbClr val="2E74B5"/>
                          </a:solidFill>
                          <a:latin typeface="Consolas"/>
                        </a:rPr>
                        <a:t>None</a:t>
                      </a:r>
                    </a:p>
                  </a:txBody>
                  <a:tcPr marT="36576" marB="36576" anchor="ctr">
                    <a:solidFill>
                      <a:srgbClr val="EEF3F8"/>
                    </a:solidFill>
                  </a:tcPr>
                </a:tc>
                <a:extLst>
                  <a:ext uri="{0D108BD9-81ED-4DB2-BD59-A6C34878D82A}">
                    <a16:rowId xmlns:a16="http://schemas.microsoft.com/office/drawing/2014/main" val="10003"/>
                  </a:ext>
                </a:extLst>
              </a:tr>
              <a:tr h="475488">
                <a:tc>
                  <a:txBody>
                    <a:bodyPr/>
                    <a:lstStyle/>
                    <a:p>
                      <a:pPr>
                        <a:lnSpc>
                          <a:spcPct val="106000"/>
                        </a:lnSpc>
                      </a:pPr>
                      <a:r>
                        <a:rPr sz="1250" b="1" i="0">
                          <a:solidFill>
                            <a:srgbClr val="242C38"/>
                          </a:solidFill>
                          <a:latin typeface="Segoe UI"/>
                        </a:rPr>
                        <a:t>Run B after A</a:t>
                      </a:r>
                    </a:p>
                  </a:txBody>
                  <a:tcPr marT="36576" marB="36576" anchor="ctr">
                    <a:solidFill>
                      <a:srgbClr val="FFFFFF"/>
                    </a:solidFill>
                  </a:tcPr>
                </a:tc>
                <a:tc>
                  <a:txBody>
                    <a:bodyPr/>
                    <a:lstStyle/>
                    <a:p>
                      <a:pPr>
                        <a:lnSpc>
                          <a:spcPct val="106000"/>
                        </a:lnSpc>
                      </a:pPr>
                      <a:r>
                        <a:rPr sz="1250" b="0" i="0">
                          <a:solidFill>
                            <a:srgbClr val="242C38"/>
                          </a:solidFill>
                          <a:latin typeface="Segoe UI"/>
                        </a:rPr>
                        <a:t>Predecessor/successor</a:t>
                      </a:r>
                    </a:p>
                  </a:txBody>
                  <a:tcPr marT="36576" marB="36576" anchor="ctr">
                    <a:solidFill>
                      <a:srgbClr val="FFFFFF"/>
                    </a:solidFill>
                  </a:tcPr>
                </a:tc>
                <a:tc>
                  <a:txBody>
                    <a:bodyPr/>
                    <a:lstStyle/>
                    <a:p>
                      <a:pPr>
                        <a:lnSpc>
                          <a:spcPct val="106000"/>
                        </a:lnSpc>
                      </a:pPr>
                      <a:r>
                        <a:rPr sz="1250" b="0" i="0">
                          <a:solidFill>
                            <a:srgbClr val="242C38"/>
                          </a:solidFill>
                          <a:latin typeface="Segoe UI"/>
                        </a:rPr>
                        <a:t>write it into the script</a:t>
                      </a:r>
                    </a:p>
                  </a:txBody>
                  <a:tcPr marT="36576" marB="36576" anchor="ctr">
                    <a:solidFill>
                      <a:srgbClr val="FFFFFF"/>
                    </a:solidFill>
                  </a:tcPr>
                </a:tc>
                <a:tc>
                  <a:txBody>
                    <a:bodyPr/>
                    <a:lstStyle/>
                    <a:p>
                      <a:pPr>
                        <a:lnSpc>
                          <a:spcPct val="106000"/>
                        </a:lnSpc>
                      </a:pPr>
                      <a:r>
                        <a:rPr sz="1200" b="0" i="0">
                          <a:solidFill>
                            <a:srgbClr val="2E74B5"/>
                          </a:solidFill>
                          <a:latin typeface="Consolas"/>
                        </a:rPr>
                        <a:t>&gt;&gt;</a:t>
                      </a:r>
                      <a:r>
                        <a:rPr sz="1250" b="0" i="0">
                          <a:solidFill>
                            <a:srgbClr val="242C38"/>
                          </a:solidFill>
                          <a:latin typeface="Segoe UI"/>
                        </a:rPr>
                        <a:t>, a dependency edge</a:t>
                      </a:r>
                    </a:p>
                  </a:txBody>
                  <a:tcPr marT="36576" marB="36576" anchor="ctr">
                    <a:solidFill>
                      <a:srgbClr val="FFFFFF"/>
                    </a:solidFill>
                  </a:tcPr>
                </a:tc>
                <a:extLst>
                  <a:ext uri="{0D108BD9-81ED-4DB2-BD59-A6C34878D82A}">
                    <a16:rowId xmlns:a16="http://schemas.microsoft.com/office/drawing/2014/main" val="10004"/>
                  </a:ext>
                </a:extLst>
              </a:tr>
              <a:tr h="475488">
                <a:tc>
                  <a:txBody>
                    <a:bodyPr/>
                    <a:lstStyle/>
                    <a:p>
                      <a:pPr>
                        <a:lnSpc>
                          <a:spcPct val="106000"/>
                        </a:lnSpc>
                      </a:pPr>
                      <a:r>
                        <a:rPr sz="1250" b="1" i="0">
                          <a:solidFill>
                            <a:srgbClr val="242C38"/>
                          </a:solidFill>
                          <a:latin typeface="Segoe UI"/>
                        </a:rPr>
                        <a:t>Reprocess a past date</a:t>
                      </a:r>
                    </a:p>
                  </a:txBody>
                  <a:tcPr marT="36576" marB="36576" anchor="ctr">
                    <a:solidFill>
                      <a:srgbClr val="EEF3F8"/>
                    </a:solidFill>
                  </a:tcPr>
                </a:tc>
                <a:tc>
                  <a:txBody>
                    <a:bodyPr/>
                    <a:lstStyle/>
                    <a:p>
                      <a:pPr>
                        <a:lnSpc>
                          <a:spcPct val="106000"/>
                        </a:lnSpc>
                      </a:pPr>
                      <a:r>
                        <a:rPr sz="1250" b="0" i="0">
                          <a:solidFill>
                            <a:srgbClr val="242C38"/>
                          </a:solidFill>
                          <a:latin typeface="Segoe UI"/>
                        </a:rPr>
                        <a:t>Rerun-from</a:t>
                      </a:r>
                    </a:p>
                  </a:txBody>
                  <a:tcPr marT="36576" marB="36576" anchor="ctr">
                    <a:solidFill>
                      <a:srgbClr val="EEF3F8"/>
                    </a:solidFill>
                  </a:tcPr>
                </a:tc>
                <a:tc>
                  <a:txBody>
                    <a:bodyPr/>
                    <a:lstStyle/>
                    <a:p>
                      <a:pPr>
                        <a:lnSpc>
                          <a:spcPct val="106000"/>
                        </a:lnSpc>
                      </a:pPr>
                      <a:r>
                        <a:rPr sz="1250" b="0" i="0">
                          <a:solidFill>
                            <a:srgbClr val="242C38"/>
                          </a:solidFill>
                          <a:latin typeface="Segoe UI"/>
                        </a:rPr>
                        <a:t>manual re-invocation</a:t>
                      </a:r>
                    </a:p>
                  </a:txBody>
                  <a:tcPr marT="36576" marB="36576" anchor="ctr">
                    <a:solidFill>
                      <a:srgbClr val="EEF3F8"/>
                    </a:solidFill>
                  </a:tcPr>
                </a:tc>
                <a:tc>
                  <a:txBody>
                    <a:bodyPr/>
                    <a:lstStyle/>
                    <a:p>
                      <a:pPr>
                        <a:lnSpc>
                          <a:spcPct val="106000"/>
                        </a:lnSpc>
                      </a:pPr>
                      <a:r>
                        <a:rPr sz="1250" b="0" i="0">
                          <a:solidFill>
                            <a:srgbClr val="242C38"/>
                          </a:solidFill>
                          <a:latin typeface="Segoe UI"/>
                        </a:rPr>
                        <a:t>Backfill, or trigger w/ date</a:t>
                      </a:r>
                    </a:p>
                  </a:txBody>
                  <a:tcPr marT="36576" marB="36576" anchor="ctr">
                    <a:solidFill>
                      <a:srgbClr val="EEF3F8"/>
                    </a:solidFill>
                  </a:tcPr>
                </a:tc>
                <a:extLst>
                  <a:ext uri="{0D108BD9-81ED-4DB2-BD59-A6C34878D82A}">
                    <a16:rowId xmlns:a16="http://schemas.microsoft.com/office/drawing/2014/main" val="10005"/>
                  </a:ext>
                </a:extLst>
              </a:tr>
              <a:tr h="475488">
                <a:tc>
                  <a:txBody>
                    <a:bodyPr/>
                    <a:lstStyle/>
                    <a:p>
                      <a:pPr>
                        <a:lnSpc>
                          <a:spcPct val="106000"/>
                        </a:lnSpc>
                      </a:pPr>
                      <a:r>
                        <a:rPr sz="1250" b="1" i="0">
                          <a:solidFill>
                            <a:srgbClr val="242C38"/>
                          </a:solidFill>
                          <a:latin typeface="Segoe UI"/>
                        </a:rPr>
                        <a:t>Skip today, on hold</a:t>
                      </a:r>
                    </a:p>
                  </a:txBody>
                  <a:tcPr marT="36576" marB="36576" anchor="ctr">
                    <a:solidFill>
                      <a:srgbClr val="FFFFFF"/>
                    </a:solidFill>
                  </a:tcPr>
                </a:tc>
                <a:tc>
                  <a:txBody>
                    <a:bodyPr/>
                    <a:lstStyle/>
                    <a:p>
                      <a:pPr>
                        <a:lnSpc>
                          <a:spcPct val="106000"/>
                        </a:lnSpc>
                      </a:pPr>
                      <a:r>
                        <a:rPr sz="1250" b="0" i="0">
                          <a:solidFill>
                            <a:srgbClr val="242C38"/>
                          </a:solidFill>
                          <a:latin typeface="Segoe UI"/>
                        </a:rPr>
                        <a:t>Hold</a:t>
                      </a:r>
                    </a:p>
                  </a:txBody>
                  <a:tcPr marT="36576" marB="36576" anchor="ctr">
                    <a:solidFill>
                      <a:srgbClr val="FFFFFF"/>
                    </a:solidFill>
                  </a:tcPr>
                </a:tc>
                <a:tc>
                  <a:txBody>
                    <a:bodyPr/>
                    <a:lstStyle/>
                    <a:p>
                      <a:pPr>
                        <a:lnSpc>
                          <a:spcPct val="106000"/>
                        </a:lnSpc>
                      </a:pPr>
                      <a:r>
                        <a:rPr sz="1250" b="0" i="0">
                          <a:solidFill>
                            <a:srgbClr val="242C38"/>
                          </a:solidFill>
                          <a:latin typeface="Segoe UI"/>
                        </a:rPr>
                        <a:t>comment out the line</a:t>
                      </a:r>
                    </a:p>
                  </a:txBody>
                  <a:tcPr marT="36576" marB="36576" anchor="ctr">
                    <a:solidFill>
                      <a:srgbClr val="FFFFFF"/>
                    </a:solidFill>
                  </a:tcPr>
                </a:tc>
                <a:tc>
                  <a:txBody>
                    <a:bodyPr/>
                    <a:lstStyle/>
                    <a:p>
                      <a:pPr>
                        <a:lnSpc>
                          <a:spcPct val="106000"/>
                        </a:lnSpc>
                      </a:pPr>
                      <a:r>
                        <a:rPr sz="1250" b="0" i="0">
                          <a:solidFill>
                            <a:srgbClr val="242C38"/>
                          </a:solidFill>
                          <a:latin typeface="Segoe UI"/>
                        </a:rPr>
                        <a:t>Pause the DAG</a:t>
                      </a:r>
                    </a:p>
                  </a:txBody>
                  <a:tcPr marT="36576" marB="36576" anchor="ctr">
                    <a:solidFill>
                      <a:srgbClr val="FFFFFF"/>
                    </a:solidFill>
                  </a:tcPr>
                </a:tc>
                <a:extLst>
                  <a:ext uri="{0D108BD9-81ED-4DB2-BD59-A6C34878D82A}">
                    <a16:rowId xmlns:a16="http://schemas.microsoft.com/office/drawing/2014/main" val="10006"/>
                  </a:ext>
                </a:extLst>
              </a:tr>
              <a:tr h="475488">
                <a:tc>
                  <a:txBody>
                    <a:bodyPr/>
                    <a:lstStyle/>
                    <a:p>
                      <a:pPr>
                        <a:lnSpc>
                          <a:spcPct val="106000"/>
                        </a:lnSpc>
                      </a:pPr>
                      <a:r>
                        <a:rPr sz="1250" b="1" i="0">
                          <a:solidFill>
                            <a:srgbClr val="242C38"/>
                          </a:solidFill>
                          <a:latin typeface="Segoe UI"/>
                        </a:rPr>
                        <a:t>Alerting on failure</a:t>
                      </a:r>
                    </a:p>
                  </a:txBody>
                  <a:tcPr marT="36576" marB="36576" anchor="ctr">
                    <a:solidFill>
                      <a:srgbClr val="EEF3F8"/>
                    </a:solidFill>
                  </a:tcPr>
                </a:tc>
                <a:tc>
                  <a:txBody>
                    <a:bodyPr/>
                    <a:lstStyle/>
                    <a:p>
                      <a:pPr>
                        <a:lnSpc>
                          <a:spcPct val="106000"/>
                        </a:lnSpc>
                      </a:pPr>
                      <a:r>
                        <a:rPr sz="1250" b="0" i="0">
                          <a:solidFill>
                            <a:srgbClr val="242C38"/>
                          </a:solidFill>
                          <a:latin typeface="Segoe UI"/>
                        </a:rPr>
                        <a:t>Built-in paging</a:t>
                      </a:r>
                    </a:p>
                  </a:txBody>
                  <a:tcPr marT="36576" marB="36576" anchor="ctr">
                    <a:solidFill>
                      <a:srgbClr val="EEF3F8"/>
                    </a:solidFill>
                  </a:tcPr>
                </a:tc>
                <a:tc>
                  <a:txBody>
                    <a:bodyPr/>
                    <a:lstStyle/>
                    <a:p>
                      <a:pPr>
                        <a:lnSpc>
                          <a:spcPct val="106000"/>
                        </a:lnSpc>
                      </a:pPr>
                      <a:r>
                        <a:rPr sz="1250" b="0" i="0">
                          <a:solidFill>
                            <a:srgbClr val="242C38"/>
                          </a:solidFill>
                          <a:latin typeface="Segoe UI"/>
                        </a:rPr>
                        <a:t>write it yourself, or nothing</a:t>
                      </a:r>
                    </a:p>
                  </a:txBody>
                  <a:tcPr marT="36576" marB="36576" anchor="ctr">
                    <a:solidFill>
                      <a:srgbClr val="EEF3F8"/>
                    </a:solidFill>
                  </a:tcPr>
                </a:tc>
                <a:tc>
                  <a:txBody>
                    <a:bodyPr/>
                    <a:lstStyle/>
                    <a:p>
                      <a:pPr>
                        <a:lnSpc>
                          <a:spcPct val="106000"/>
                        </a:lnSpc>
                      </a:pPr>
                      <a:r>
                        <a:rPr sz="1200" b="0" i="0">
                          <a:solidFill>
                            <a:srgbClr val="2E74B5"/>
                          </a:solidFill>
                          <a:latin typeface="Consolas"/>
                        </a:rPr>
                        <a:t>on_failure_callback</a:t>
                      </a:r>
                    </a:p>
                  </a:txBody>
                  <a:tcPr marT="36576" marB="36576" anchor="ctr">
                    <a:solidFill>
                      <a:srgbClr val="EEF3F8"/>
                    </a:solidFill>
                  </a:tcPr>
                </a:tc>
                <a:extLst>
                  <a:ext uri="{0D108BD9-81ED-4DB2-BD59-A6C34878D82A}">
                    <a16:rowId xmlns:a16="http://schemas.microsoft.com/office/drawing/2014/main" val="10007"/>
                  </a:ext>
                </a:extLst>
              </a:tr>
            </a:tbl>
          </a:graphicData>
        </a:graphic>
      </p:graphicFrame>
      <p:sp>
        <p:nvSpPr>
          <p:cNvPr id="5" name="TextBox 4"/>
          <p:cNvSpPr txBox="1"/>
          <p:nvPr/>
        </p:nvSpPr>
        <p:spPr>
          <a:xfrm>
            <a:off x="658368" y="5724144"/>
            <a:ext cx="10874959" cy="502920"/>
          </a:xfrm>
          <a:prstGeom prst="rect">
            <a:avLst/>
          </a:prstGeom>
          <a:noFill/>
        </p:spPr>
        <p:txBody>
          <a:bodyPr wrap="square" lIns="0" tIns="0" rIns="0" bIns="0">
            <a:spAutoFit/>
          </a:bodyPr>
          <a:lstStyle/>
          <a:p>
            <a:r>
              <a:rPr sz="1300" b="0" i="1">
                <a:solidFill>
                  <a:srgbClr val="5B6775"/>
                </a:solidFill>
                <a:latin typeface="Segoe UI"/>
              </a:rPr>
              <a:t>The concepts map almost one to one. The vocabulary does not. Bookmark this slide.</a:t>
            </a:r>
          </a:p>
        </p:txBody>
      </p:sp>
      <p:sp>
        <p:nvSpPr>
          <p:cNvPr id="6" name="Rectangle 5"/>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17  ·  Airflow basics</a:t>
            </a:r>
          </a:p>
        </p:txBody>
      </p:sp>
      <p:sp>
        <p:nvSpPr>
          <p:cNvPr id="8" name="TextBox 7"/>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177</a:t>
            </a:r>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Architecture: the moving parts</a:t>
            </a:r>
          </a:p>
        </p:txBody>
      </p:sp>
      <p:graphicFrame>
        <p:nvGraphicFramePr>
          <p:cNvPr id="4" name="Table 3"/>
          <p:cNvGraphicFramePr>
            <a:graphicFrameLocks noGrp="1"/>
          </p:cNvGraphicFramePr>
          <p:nvPr/>
        </p:nvGraphicFramePr>
        <p:xfrm>
          <a:off x="658368" y="1481328"/>
          <a:ext cx="10874958" cy="3730752"/>
        </p:xfrm>
        <a:graphic>
          <a:graphicData uri="http://schemas.openxmlformats.org/drawingml/2006/table">
            <a:tbl>
              <a:tblPr firstRow="1" bandRow="1">
                <a:tableStyleId>{5C22544A-7EE6-4342-B048-85BDC9FD1C3A}</a:tableStyleId>
              </a:tblPr>
              <a:tblGrid>
                <a:gridCol w="3366058">
                  <a:extLst>
                    <a:ext uri="{9D8B030D-6E8A-4147-A177-3AD203B41FA5}">
                      <a16:colId xmlns:a16="http://schemas.microsoft.com/office/drawing/2014/main" val="20000"/>
                    </a:ext>
                  </a:extLst>
                </a:gridCol>
                <a:gridCol w="7508900">
                  <a:extLst>
                    <a:ext uri="{9D8B030D-6E8A-4147-A177-3AD203B41FA5}">
                      <a16:colId xmlns:a16="http://schemas.microsoft.com/office/drawing/2014/main" val="20001"/>
                    </a:ext>
                  </a:extLst>
                </a:gridCol>
              </a:tblGrid>
              <a:tr h="402336">
                <a:tc>
                  <a:txBody>
                    <a:bodyPr/>
                    <a:lstStyle/>
                    <a:p>
                      <a:r>
                        <a:rPr sz="1300" b="1" i="0">
                          <a:solidFill>
                            <a:srgbClr val="FFFFFF"/>
                          </a:solidFill>
                          <a:latin typeface="Segoe UI Semibold"/>
                        </a:rPr>
                        <a:t>Component</a:t>
                      </a:r>
                    </a:p>
                  </a:txBody>
                  <a:tcPr anchor="ctr">
                    <a:solidFill>
                      <a:srgbClr val="1F4E79"/>
                    </a:solidFill>
                  </a:tcPr>
                </a:tc>
                <a:tc>
                  <a:txBody>
                    <a:bodyPr/>
                    <a:lstStyle/>
                    <a:p>
                      <a:r>
                        <a:rPr sz="1300" b="1" i="0">
                          <a:solidFill>
                            <a:srgbClr val="FFFFFF"/>
                          </a:solidFill>
                          <a:latin typeface="Segoe UI Semibold"/>
                        </a:rPr>
                        <a:t>What it does</a:t>
                      </a:r>
                    </a:p>
                  </a:txBody>
                  <a:tcPr anchor="ctr">
                    <a:solidFill>
                      <a:srgbClr val="1F4E79"/>
                    </a:solidFill>
                  </a:tcPr>
                </a:tc>
                <a:extLst>
                  <a:ext uri="{0D108BD9-81ED-4DB2-BD59-A6C34878D82A}">
                    <a16:rowId xmlns:a16="http://schemas.microsoft.com/office/drawing/2014/main" val="10000"/>
                  </a:ext>
                </a:extLst>
              </a:tr>
              <a:tr h="475488">
                <a:tc>
                  <a:txBody>
                    <a:bodyPr/>
                    <a:lstStyle/>
                    <a:p>
                      <a:pPr>
                        <a:lnSpc>
                          <a:spcPct val="106000"/>
                        </a:lnSpc>
                      </a:pPr>
                      <a:r>
                        <a:rPr sz="1250" b="1" i="0">
                          <a:solidFill>
                            <a:srgbClr val="242C38"/>
                          </a:solidFill>
                          <a:latin typeface="Segoe UI"/>
                        </a:rPr>
                        <a:t>Scheduler</a:t>
                      </a:r>
                    </a:p>
                  </a:txBody>
                  <a:tcPr marT="36576" marB="36576" anchor="ctr">
                    <a:solidFill>
                      <a:srgbClr val="EEF3F8"/>
                    </a:solidFill>
                  </a:tcPr>
                </a:tc>
                <a:tc>
                  <a:txBody>
                    <a:bodyPr/>
                    <a:lstStyle/>
                    <a:p>
                      <a:pPr>
                        <a:lnSpc>
                          <a:spcPct val="106000"/>
                        </a:lnSpc>
                      </a:pPr>
                      <a:r>
                        <a:rPr sz="1250" b="0" i="0">
                          <a:solidFill>
                            <a:srgbClr val="242C38"/>
                          </a:solidFill>
                          <a:latin typeface="Segoe UI"/>
                        </a:rPr>
                        <a:t>Reads parsed DAGs, queues tasks that are ready</a:t>
                      </a:r>
                    </a:p>
                  </a:txBody>
                  <a:tcPr marT="36576" marB="36576" anchor="ctr">
                    <a:solidFill>
                      <a:srgbClr val="EEF3F8"/>
                    </a:solidFill>
                  </a:tcPr>
                </a:tc>
                <a:extLst>
                  <a:ext uri="{0D108BD9-81ED-4DB2-BD59-A6C34878D82A}">
                    <a16:rowId xmlns:a16="http://schemas.microsoft.com/office/drawing/2014/main" val="10001"/>
                  </a:ext>
                </a:extLst>
              </a:tr>
              <a:tr h="475488">
                <a:tc>
                  <a:txBody>
                    <a:bodyPr/>
                    <a:lstStyle/>
                    <a:p>
                      <a:pPr>
                        <a:lnSpc>
                          <a:spcPct val="106000"/>
                        </a:lnSpc>
                      </a:pPr>
                      <a:r>
                        <a:rPr sz="1250" b="1" i="0">
                          <a:solidFill>
                            <a:srgbClr val="242C38"/>
                          </a:solidFill>
                          <a:latin typeface="Segoe UI"/>
                        </a:rPr>
                        <a:t>DAG processor</a:t>
                      </a:r>
                    </a:p>
                  </a:txBody>
                  <a:tcPr marT="36576" marB="36576" anchor="ctr">
                    <a:solidFill>
                      <a:srgbClr val="FFFFFF"/>
                    </a:solidFill>
                  </a:tcPr>
                </a:tc>
                <a:tc>
                  <a:txBody>
                    <a:bodyPr/>
                    <a:lstStyle/>
                    <a:p>
                      <a:pPr>
                        <a:lnSpc>
                          <a:spcPct val="106000"/>
                        </a:lnSpc>
                      </a:pPr>
                      <a:r>
                        <a:rPr sz="1250" b="0" i="0">
                          <a:solidFill>
                            <a:srgbClr val="242C38"/>
                          </a:solidFill>
                          <a:latin typeface="Segoe UI"/>
                        </a:rPr>
                        <a:t>Parses every </a:t>
                      </a:r>
                      <a:r>
                        <a:rPr sz="1200" b="0" i="0">
                          <a:solidFill>
                            <a:srgbClr val="2E74B5"/>
                          </a:solidFill>
                          <a:latin typeface="Consolas"/>
                        </a:rPr>
                        <a:t>.py</a:t>
                      </a:r>
                      <a:r>
                        <a:rPr sz="1250" b="0" i="0">
                          <a:solidFill>
                            <a:srgbClr val="242C38"/>
                          </a:solidFill>
                          <a:latin typeface="Segoe UI"/>
                        </a:rPr>
                        <a:t> file in </a:t>
                      </a:r>
                      <a:r>
                        <a:rPr sz="1200" b="0" i="0">
                          <a:solidFill>
                            <a:srgbClr val="2E74B5"/>
                          </a:solidFill>
                          <a:latin typeface="Consolas"/>
                        </a:rPr>
                        <a:t>dags_folder</a:t>
                      </a:r>
                      <a:r>
                        <a:rPr sz="1250" b="0" i="0">
                          <a:solidFill>
                            <a:srgbClr val="242C38"/>
                          </a:solidFill>
                          <a:latin typeface="Segoe UI"/>
                        </a:rPr>
                        <a:t>, on a timer</a:t>
                      </a:r>
                    </a:p>
                  </a:txBody>
                  <a:tcPr marT="36576" marB="36576" anchor="ctr">
                    <a:solidFill>
                      <a:srgbClr val="FFFFFF"/>
                    </a:solidFill>
                  </a:tcPr>
                </a:tc>
                <a:extLst>
                  <a:ext uri="{0D108BD9-81ED-4DB2-BD59-A6C34878D82A}">
                    <a16:rowId xmlns:a16="http://schemas.microsoft.com/office/drawing/2014/main" val="10002"/>
                  </a:ext>
                </a:extLst>
              </a:tr>
              <a:tr h="475488">
                <a:tc>
                  <a:txBody>
                    <a:bodyPr/>
                    <a:lstStyle/>
                    <a:p>
                      <a:pPr>
                        <a:lnSpc>
                          <a:spcPct val="106000"/>
                        </a:lnSpc>
                      </a:pPr>
                      <a:r>
                        <a:rPr sz="1250" b="1" i="0">
                          <a:solidFill>
                            <a:srgbClr val="242C38"/>
                          </a:solidFill>
                          <a:latin typeface="Segoe UI"/>
                        </a:rPr>
                        <a:t>Executor</a:t>
                      </a:r>
                    </a:p>
                  </a:txBody>
                  <a:tcPr marT="36576" marB="36576" anchor="ctr">
                    <a:solidFill>
                      <a:srgbClr val="EEF3F8"/>
                    </a:solidFill>
                  </a:tcPr>
                </a:tc>
                <a:tc>
                  <a:txBody>
                    <a:bodyPr/>
                    <a:lstStyle/>
                    <a:p>
                      <a:pPr>
                        <a:lnSpc>
                          <a:spcPct val="106000"/>
                        </a:lnSpc>
                      </a:pPr>
                      <a:r>
                        <a:rPr sz="1250" b="0" i="0">
                          <a:solidFill>
                            <a:srgbClr val="242C38"/>
                          </a:solidFill>
                          <a:latin typeface="Segoe UI"/>
                        </a:rPr>
                        <a:t>Decides HOW a queued task launches: subprocess, pod</a:t>
                      </a:r>
                    </a:p>
                  </a:txBody>
                  <a:tcPr marT="36576" marB="36576" anchor="ctr">
                    <a:solidFill>
                      <a:srgbClr val="EEF3F8"/>
                    </a:solidFill>
                  </a:tcPr>
                </a:tc>
                <a:extLst>
                  <a:ext uri="{0D108BD9-81ED-4DB2-BD59-A6C34878D82A}">
                    <a16:rowId xmlns:a16="http://schemas.microsoft.com/office/drawing/2014/main" val="10003"/>
                  </a:ext>
                </a:extLst>
              </a:tr>
              <a:tr h="475488">
                <a:tc>
                  <a:txBody>
                    <a:bodyPr/>
                    <a:lstStyle/>
                    <a:p>
                      <a:pPr>
                        <a:lnSpc>
                          <a:spcPct val="106000"/>
                        </a:lnSpc>
                      </a:pPr>
                      <a:r>
                        <a:rPr sz="1250" b="1" i="0">
                          <a:solidFill>
                            <a:srgbClr val="242C38"/>
                          </a:solidFill>
                          <a:latin typeface="Segoe UI"/>
                        </a:rPr>
                        <a:t>Worker</a:t>
                      </a:r>
                    </a:p>
                  </a:txBody>
                  <a:tcPr marT="36576" marB="36576" anchor="ctr">
                    <a:solidFill>
                      <a:srgbClr val="FFFFFF"/>
                    </a:solidFill>
                  </a:tcPr>
                </a:tc>
                <a:tc>
                  <a:txBody>
                    <a:bodyPr/>
                    <a:lstStyle/>
                    <a:p>
                      <a:pPr>
                        <a:lnSpc>
                          <a:spcPct val="106000"/>
                        </a:lnSpc>
                      </a:pPr>
                      <a:r>
                        <a:rPr sz="1250" b="0" i="0">
                          <a:solidFill>
                            <a:srgbClr val="242C38"/>
                          </a:solidFill>
                          <a:latin typeface="Segoe UI"/>
                        </a:rPr>
                        <a:t>The process that actually runs your task's code</a:t>
                      </a:r>
                    </a:p>
                  </a:txBody>
                  <a:tcPr marT="36576" marB="36576" anchor="ctr">
                    <a:solidFill>
                      <a:srgbClr val="FFFFFF"/>
                    </a:solidFill>
                  </a:tcPr>
                </a:tc>
                <a:extLst>
                  <a:ext uri="{0D108BD9-81ED-4DB2-BD59-A6C34878D82A}">
                    <a16:rowId xmlns:a16="http://schemas.microsoft.com/office/drawing/2014/main" val="10004"/>
                  </a:ext>
                </a:extLst>
              </a:tr>
              <a:tr h="475488">
                <a:tc>
                  <a:txBody>
                    <a:bodyPr/>
                    <a:lstStyle/>
                    <a:p>
                      <a:pPr>
                        <a:lnSpc>
                          <a:spcPct val="106000"/>
                        </a:lnSpc>
                      </a:pPr>
                      <a:r>
                        <a:rPr sz="1250" b="1" i="0">
                          <a:solidFill>
                            <a:srgbClr val="242C38"/>
                          </a:solidFill>
                          <a:latin typeface="Segoe UI"/>
                        </a:rPr>
                        <a:t>Webserver</a:t>
                      </a:r>
                    </a:p>
                  </a:txBody>
                  <a:tcPr marT="36576" marB="36576" anchor="ctr">
                    <a:solidFill>
                      <a:srgbClr val="EEF3F8"/>
                    </a:solidFill>
                  </a:tcPr>
                </a:tc>
                <a:tc>
                  <a:txBody>
                    <a:bodyPr/>
                    <a:lstStyle/>
                    <a:p>
                      <a:pPr>
                        <a:lnSpc>
                          <a:spcPct val="106000"/>
                        </a:lnSpc>
                      </a:pPr>
                      <a:r>
                        <a:rPr sz="1250" b="0" i="0">
                          <a:solidFill>
                            <a:srgbClr val="242C38"/>
                          </a:solidFill>
                          <a:latin typeface="Segoe UI"/>
                        </a:rPr>
                        <a:t>Serves the UI: Grid view, Graph view, logs, Admin</a:t>
                      </a:r>
                    </a:p>
                  </a:txBody>
                  <a:tcPr marT="36576" marB="36576" anchor="ctr">
                    <a:solidFill>
                      <a:srgbClr val="EEF3F8"/>
                    </a:solidFill>
                  </a:tcPr>
                </a:tc>
                <a:extLst>
                  <a:ext uri="{0D108BD9-81ED-4DB2-BD59-A6C34878D82A}">
                    <a16:rowId xmlns:a16="http://schemas.microsoft.com/office/drawing/2014/main" val="10005"/>
                  </a:ext>
                </a:extLst>
              </a:tr>
              <a:tr h="475488">
                <a:tc>
                  <a:txBody>
                    <a:bodyPr/>
                    <a:lstStyle/>
                    <a:p>
                      <a:pPr>
                        <a:lnSpc>
                          <a:spcPct val="106000"/>
                        </a:lnSpc>
                      </a:pPr>
                      <a:r>
                        <a:rPr sz="1250" b="1" i="0">
                          <a:solidFill>
                            <a:srgbClr val="242C38"/>
                          </a:solidFill>
                          <a:latin typeface="Segoe UI"/>
                        </a:rPr>
                        <a:t>Metadata database</a:t>
                      </a:r>
                    </a:p>
                  </a:txBody>
                  <a:tcPr marT="36576" marB="36576" anchor="ctr">
                    <a:solidFill>
                      <a:srgbClr val="FFFFFF"/>
                    </a:solidFill>
                  </a:tcPr>
                </a:tc>
                <a:tc>
                  <a:txBody>
                    <a:bodyPr/>
                    <a:lstStyle/>
                    <a:p>
                      <a:pPr>
                        <a:lnSpc>
                          <a:spcPct val="106000"/>
                        </a:lnSpc>
                      </a:pPr>
                      <a:r>
                        <a:rPr sz="1250" b="0" i="0">
                          <a:solidFill>
                            <a:srgbClr val="242C38"/>
                          </a:solidFill>
                          <a:latin typeface="Segoe UI"/>
                        </a:rPr>
                        <a:t>Every DAG run, task state, Variable, Connection</a:t>
                      </a:r>
                    </a:p>
                  </a:txBody>
                  <a:tcPr marT="36576" marB="36576" anchor="ctr">
                    <a:solidFill>
                      <a:srgbClr val="FFFFFF"/>
                    </a:solidFill>
                  </a:tcPr>
                </a:tc>
                <a:extLst>
                  <a:ext uri="{0D108BD9-81ED-4DB2-BD59-A6C34878D82A}">
                    <a16:rowId xmlns:a16="http://schemas.microsoft.com/office/drawing/2014/main" val="10006"/>
                  </a:ext>
                </a:extLst>
              </a:tr>
              <a:tr h="475488">
                <a:tc>
                  <a:txBody>
                    <a:bodyPr/>
                    <a:lstStyle/>
                    <a:p>
                      <a:pPr>
                        <a:lnSpc>
                          <a:spcPct val="106000"/>
                        </a:lnSpc>
                      </a:pPr>
                      <a:r>
                        <a:rPr sz="1250" b="1" i="0">
                          <a:solidFill>
                            <a:srgbClr val="242C38"/>
                          </a:solidFill>
                          <a:latin typeface="Segoe UI"/>
                        </a:rPr>
                        <a:t>Triggerer</a:t>
                      </a:r>
                    </a:p>
                  </a:txBody>
                  <a:tcPr marT="36576" marB="36576" anchor="ctr">
                    <a:solidFill>
                      <a:srgbClr val="EEF3F8"/>
                    </a:solidFill>
                  </a:tcPr>
                </a:tc>
                <a:tc>
                  <a:txBody>
                    <a:bodyPr/>
                    <a:lstStyle/>
                    <a:p>
                      <a:pPr>
                        <a:lnSpc>
                          <a:spcPct val="106000"/>
                        </a:lnSpc>
                      </a:pPr>
                      <a:r>
                        <a:rPr sz="1250" b="0" i="0">
                          <a:solidFill>
                            <a:srgbClr val="242C38"/>
                          </a:solidFill>
                          <a:latin typeface="Segoe UI"/>
                        </a:rPr>
                        <a:t>Runs deferrable operators, outside a worker slot</a:t>
                      </a:r>
                    </a:p>
                  </a:txBody>
                  <a:tcPr marT="36576" marB="36576" anchor="ctr">
                    <a:solidFill>
                      <a:srgbClr val="EEF3F8"/>
                    </a:solidFill>
                  </a:tcPr>
                </a:tc>
                <a:extLst>
                  <a:ext uri="{0D108BD9-81ED-4DB2-BD59-A6C34878D82A}">
                    <a16:rowId xmlns:a16="http://schemas.microsoft.com/office/drawing/2014/main" val="10007"/>
                  </a:ext>
                </a:extLst>
              </a:tr>
            </a:tbl>
          </a:graphicData>
        </a:graphic>
      </p:graphicFrame>
      <p:sp>
        <p:nvSpPr>
          <p:cNvPr id="5" name="TextBox 4"/>
          <p:cNvSpPr txBox="1"/>
          <p:nvPr/>
        </p:nvSpPr>
        <p:spPr>
          <a:xfrm>
            <a:off x="658368" y="5724144"/>
            <a:ext cx="10874959" cy="502920"/>
          </a:xfrm>
          <a:prstGeom prst="rect">
            <a:avLst/>
          </a:prstGeom>
          <a:noFill/>
        </p:spPr>
        <p:txBody>
          <a:bodyPr wrap="square" lIns="0" tIns="0" rIns="0" bIns="0">
            <a:spAutoFit/>
          </a:bodyPr>
          <a:lstStyle/>
          <a:p>
            <a:r>
              <a:rPr sz="1300" b="0" i="1">
                <a:solidFill>
                  <a:srgbClr val="5B6775"/>
                </a:solidFill>
                <a:latin typeface="Segoe UI"/>
              </a:rPr>
              <a:t>A standalone install runs all of these as one process, for convenience.</a:t>
            </a:r>
          </a:p>
        </p:txBody>
      </p:sp>
      <p:sp>
        <p:nvSpPr>
          <p:cNvPr id="6" name="Rectangle 5"/>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17  ·  Airflow basics</a:t>
            </a:r>
          </a:p>
        </p:txBody>
      </p:sp>
      <p:sp>
        <p:nvSpPr>
          <p:cNvPr id="8" name="TextBox 7"/>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178</a:t>
            </a:r>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Executors: how a queued task actually launches</a:t>
            </a:r>
          </a:p>
        </p:txBody>
      </p:sp>
      <p:graphicFrame>
        <p:nvGraphicFramePr>
          <p:cNvPr id="4" name="Table 3"/>
          <p:cNvGraphicFramePr>
            <a:graphicFrameLocks noGrp="1"/>
          </p:cNvGraphicFramePr>
          <p:nvPr/>
        </p:nvGraphicFramePr>
        <p:xfrm>
          <a:off x="658368" y="1481328"/>
          <a:ext cx="10874958" cy="2304288"/>
        </p:xfrm>
        <a:graphic>
          <a:graphicData uri="http://schemas.openxmlformats.org/drawingml/2006/table">
            <a:tbl>
              <a:tblPr firstRow="1" bandRow="1">
                <a:tableStyleId>{5C22544A-7EE6-4342-B048-85BDC9FD1C3A}</a:tableStyleId>
              </a:tblPr>
              <a:tblGrid>
                <a:gridCol w="3198517">
                  <a:extLst>
                    <a:ext uri="{9D8B030D-6E8A-4147-A177-3AD203B41FA5}">
                      <a16:colId xmlns:a16="http://schemas.microsoft.com/office/drawing/2014/main" val="20000"/>
                    </a:ext>
                  </a:extLst>
                </a:gridCol>
                <a:gridCol w="3624986">
                  <a:extLst>
                    <a:ext uri="{9D8B030D-6E8A-4147-A177-3AD203B41FA5}">
                      <a16:colId xmlns:a16="http://schemas.microsoft.com/office/drawing/2014/main" val="20001"/>
                    </a:ext>
                  </a:extLst>
                </a:gridCol>
                <a:gridCol w="4051455">
                  <a:extLst>
                    <a:ext uri="{9D8B030D-6E8A-4147-A177-3AD203B41FA5}">
                      <a16:colId xmlns:a16="http://schemas.microsoft.com/office/drawing/2014/main" val="20002"/>
                    </a:ext>
                  </a:extLst>
                </a:gridCol>
              </a:tblGrid>
              <a:tr h="402336">
                <a:tc>
                  <a:txBody>
                    <a:bodyPr/>
                    <a:lstStyle/>
                    <a:p>
                      <a:r>
                        <a:rPr sz="1450" b="1" i="0">
                          <a:solidFill>
                            <a:srgbClr val="FFFFFF"/>
                          </a:solidFill>
                          <a:latin typeface="Segoe UI Semibold"/>
                        </a:rPr>
                        <a:t>Executor</a:t>
                      </a:r>
                    </a:p>
                  </a:txBody>
                  <a:tcPr anchor="ctr">
                    <a:solidFill>
                      <a:srgbClr val="1F4E79"/>
                    </a:solidFill>
                  </a:tcPr>
                </a:tc>
                <a:tc>
                  <a:txBody>
                    <a:bodyPr/>
                    <a:lstStyle/>
                    <a:p>
                      <a:r>
                        <a:rPr sz="1450" b="1" i="0">
                          <a:solidFill>
                            <a:srgbClr val="FFFFFF"/>
                          </a:solidFill>
                          <a:latin typeface="Segoe UI Semibold"/>
                        </a:rPr>
                        <a:t>How tasks run</a:t>
                      </a:r>
                    </a:p>
                  </a:txBody>
                  <a:tcPr anchor="ctr">
                    <a:solidFill>
                      <a:srgbClr val="1F4E79"/>
                    </a:solidFill>
                  </a:tcPr>
                </a:tc>
                <a:tc>
                  <a:txBody>
                    <a:bodyPr/>
                    <a:lstStyle/>
                    <a:p>
                      <a:r>
                        <a:rPr sz="1450" b="1" i="0">
                          <a:solidFill>
                            <a:srgbClr val="FFFFFF"/>
                          </a:solidFill>
                          <a:latin typeface="Segoe UI Semibold"/>
                        </a:rPr>
                        <a:t>Use it when</a:t>
                      </a:r>
                    </a:p>
                  </a:txBody>
                  <a:tcPr anchor="ctr">
                    <a:solidFill>
                      <a:srgbClr val="1F4E79"/>
                    </a:solidFill>
                  </a:tcPr>
                </a:tc>
                <a:extLst>
                  <a:ext uri="{0D108BD9-81ED-4DB2-BD59-A6C34878D82A}">
                    <a16:rowId xmlns:a16="http://schemas.microsoft.com/office/drawing/2014/main" val="10000"/>
                  </a:ext>
                </a:extLst>
              </a:tr>
              <a:tr h="475488">
                <a:tc>
                  <a:txBody>
                    <a:bodyPr/>
                    <a:lstStyle/>
                    <a:p>
                      <a:pPr>
                        <a:lnSpc>
                          <a:spcPct val="106000"/>
                        </a:lnSpc>
                      </a:pPr>
                      <a:r>
                        <a:rPr sz="1400" b="1" i="0">
                          <a:solidFill>
                            <a:srgbClr val="242C38"/>
                          </a:solidFill>
                          <a:latin typeface="Segoe UI"/>
                        </a:rPr>
                        <a:t>SequentialExecutor</a:t>
                      </a:r>
                    </a:p>
                  </a:txBody>
                  <a:tcPr marT="36576" marB="36576" anchor="ctr">
                    <a:solidFill>
                      <a:srgbClr val="EEF3F8"/>
                    </a:solidFill>
                  </a:tcPr>
                </a:tc>
                <a:tc>
                  <a:txBody>
                    <a:bodyPr/>
                    <a:lstStyle/>
                    <a:p>
                      <a:pPr>
                        <a:lnSpc>
                          <a:spcPct val="106000"/>
                        </a:lnSpc>
                      </a:pPr>
                      <a:r>
                        <a:rPr sz="1400" b="0" i="0">
                          <a:solidFill>
                            <a:srgbClr val="242C38"/>
                          </a:solidFill>
                          <a:latin typeface="Segoe UI"/>
                        </a:rPr>
                        <a:t>one task at a time, SQLite only</a:t>
                      </a:r>
                    </a:p>
                  </a:txBody>
                  <a:tcPr marT="36576" marB="36576" anchor="ctr">
                    <a:solidFill>
                      <a:srgbClr val="EEF3F8"/>
                    </a:solidFill>
                  </a:tcPr>
                </a:tc>
                <a:tc>
                  <a:txBody>
                    <a:bodyPr/>
                    <a:lstStyle/>
                    <a:p>
                      <a:pPr>
                        <a:lnSpc>
                          <a:spcPct val="106000"/>
                        </a:lnSpc>
                      </a:pPr>
                      <a:r>
                        <a:rPr sz="1400" b="0" i="0">
                          <a:solidFill>
                            <a:srgbClr val="242C38"/>
                          </a:solidFill>
                          <a:latin typeface="Segoe UI"/>
                        </a:rPr>
                        <a:t>never, except a first smoke test</a:t>
                      </a:r>
                    </a:p>
                  </a:txBody>
                  <a:tcPr marT="36576" marB="36576" anchor="ctr">
                    <a:solidFill>
                      <a:srgbClr val="EEF3F8"/>
                    </a:solidFill>
                  </a:tcPr>
                </a:tc>
                <a:extLst>
                  <a:ext uri="{0D108BD9-81ED-4DB2-BD59-A6C34878D82A}">
                    <a16:rowId xmlns:a16="http://schemas.microsoft.com/office/drawing/2014/main" val="10001"/>
                  </a:ext>
                </a:extLst>
              </a:tr>
              <a:tr h="475488">
                <a:tc>
                  <a:txBody>
                    <a:bodyPr/>
                    <a:lstStyle/>
                    <a:p>
                      <a:pPr>
                        <a:lnSpc>
                          <a:spcPct val="106000"/>
                        </a:lnSpc>
                      </a:pPr>
                      <a:r>
                        <a:rPr sz="1400" b="1" i="0">
                          <a:solidFill>
                            <a:srgbClr val="242C38"/>
                          </a:solidFill>
                          <a:latin typeface="Segoe UI"/>
                        </a:rPr>
                        <a:t>LocalExecutor</a:t>
                      </a:r>
                    </a:p>
                  </a:txBody>
                  <a:tcPr marT="36576" marB="36576" anchor="ctr">
                    <a:solidFill>
                      <a:srgbClr val="FFFFFF"/>
                    </a:solidFill>
                  </a:tcPr>
                </a:tc>
                <a:tc>
                  <a:txBody>
                    <a:bodyPr/>
                    <a:lstStyle/>
                    <a:p>
                      <a:pPr>
                        <a:lnSpc>
                          <a:spcPct val="106000"/>
                        </a:lnSpc>
                      </a:pPr>
                      <a:r>
                        <a:rPr sz="1400" b="0" i="0">
                          <a:solidFill>
                            <a:srgbClr val="242C38"/>
                          </a:solidFill>
                          <a:latin typeface="Segoe UI"/>
                        </a:rPr>
                        <a:t>multiple subprocesses, one machine</a:t>
                      </a:r>
                    </a:p>
                  </a:txBody>
                  <a:tcPr marT="36576" marB="36576" anchor="ctr">
                    <a:solidFill>
                      <a:srgbClr val="FFFFFF"/>
                    </a:solidFill>
                  </a:tcPr>
                </a:tc>
                <a:tc>
                  <a:txBody>
                    <a:bodyPr/>
                    <a:lstStyle/>
                    <a:p>
                      <a:pPr>
                        <a:lnSpc>
                          <a:spcPct val="106000"/>
                        </a:lnSpc>
                      </a:pPr>
                      <a:r>
                        <a:rPr sz="1400" b="0" i="0">
                          <a:solidFill>
                            <a:srgbClr val="242C38"/>
                          </a:solidFill>
                          <a:latin typeface="Segoe UI"/>
                        </a:rPr>
                        <a:t>this course's lab, single-machine batch</a:t>
                      </a:r>
                    </a:p>
                  </a:txBody>
                  <a:tcPr marT="36576" marB="36576" anchor="ctr">
                    <a:solidFill>
                      <a:srgbClr val="FFFFFF"/>
                    </a:solidFill>
                  </a:tcPr>
                </a:tc>
                <a:extLst>
                  <a:ext uri="{0D108BD9-81ED-4DB2-BD59-A6C34878D82A}">
                    <a16:rowId xmlns:a16="http://schemas.microsoft.com/office/drawing/2014/main" val="10002"/>
                  </a:ext>
                </a:extLst>
              </a:tr>
              <a:tr h="475488">
                <a:tc>
                  <a:txBody>
                    <a:bodyPr/>
                    <a:lstStyle/>
                    <a:p>
                      <a:pPr>
                        <a:lnSpc>
                          <a:spcPct val="106000"/>
                        </a:lnSpc>
                      </a:pPr>
                      <a:r>
                        <a:rPr sz="1400" b="1" i="0">
                          <a:solidFill>
                            <a:srgbClr val="242C38"/>
                          </a:solidFill>
                          <a:latin typeface="Segoe UI"/>
                        </a:rPr>
                        <a:t>CeleryExecutor</a:t>
                      </a:r>
                    </a:p>
                  </a:txBody>
                  <a:tcPr marT="36576" marB="36576" anchor="ctr">
                    <a:solidFill>
                      <a:srgbClr val="EEF3F8"/>
                    </a:solidFill>
                  </a:tcPr>
                </a:tc>
                <a:tc>
                  <a:txBody>
                    <a:bodyPr/>
                    <a:lstStyle/>
                    <a:p>
                      <a:pPr>
                        <a:lnSpc>
                          <a:spcPct val="106000"/>
                        </a:lnSpc>
                      </a:pPr>
                      <a:r>
                        <a:rPr sz="1400" b="0" i="0">
                          <a:solidFill>
                            <a:srgbClr val="242C38"/>
                          </a:solidFill>
                          <a:latin typeface="Segoe UI"/>
                        </a:rPr>
                        <a:t>queued to a broker, many workers</a:t>
                      </a:r>
                    </a:p>
                  </a:txBody>
                  <a:tcPr marT="36576" marB="36576" anchor="ctr">
                    <a:solidFill>
                      <a:srgbClr val="EEF3F8"/>
                    </a:solidFill>
                  </a:tcPr>
                </a:tc>
                <a:tc>
                  <a:txBody>
                    <a:bodyPr/>
                    <a:lstStyle/>
                    <a:p>
                      <a:pPr>
                        <a:lnSpc>
                          <a:spcPct val="106000"/>
                        </a:lnSpc>
                      </a:pPr>
                      <a:r>
                        <a:rPr sz="1400" b="0" i="0">
                          <a:solidFill>
                            <a:srgbClr val="242C38"/>
                          </a:solidFill>
                          <a:latin typeface="Segoe UI"/>
                        </a:rPr>
                        <a:t>a real bank deployment, many DAGs</a:t>
                      </a:r>
                    </a:p>
                  </a:txBody>
                  <a:tcPr marT="36576" marB="36576" anchor="ctr">
                    <a:solidFill>
                      <a:srgbClr val="EEF3F8"/>
                    </a:solidFill>
                  </a:tcPr>
                </a:tc>
                <a:extLst>
                  <a:ext uri="{0D108BD9-81ED-4DB2-BD59-A6C34878D82A}">
                    <a16:rowId xmlns:a16="http://schemas.microsoft.com/office/drawing/2014/main" val="10003"/>
                  </a:ext>
                </a:extLst>
              </a:tr>
              <a:tr h="475488">
                <a:tc>
                  <a:txBody>
                    <a:bodyPr/>
                    <a:lstStyle/>
                    <a:p>
                      <a:pPr>
                        <a:lnSpc>
                          <a:spcPct val="106000"/>
                        </a:lnSpc>
                      </a:pPr>
                      <a:r>
                        <a:rPr sz="1400" b="1" i="0">
                          <a:solidFill>
                            <a:srgbClr val="242C38"/>
                          </a:solidFill>
                          <a:latin typeface="Segoe UI"/>
                        </a:rPr>
                        <a:t>KubernetesExecutor</a:t>
                      </a:r>
                    </a:p>
                  </a:txBody>
                  <a:tcPr marT="36576" marB="36576" anchor="ctr">
                    <a:solidFill>
                      <a:srgbClr val="FFFFFF"/>
                    </a:solidFill>
                  </a:tcPr>
                </a:tc>
                <a:tc>
                  <a:txBody>
                    <a:bodyPr/>
                    <a:lstStyle/>
                    <a:p>
                      <a:pPr>
                        <a:lnSpc>
                          <a:spcPct val="106000"/>
                        </a:lnSpc>
                      </a:pPr>
                      <a:r>
                        <a:rPr sz="1400" b="0" i="0">
                          <a:solidFill>
                            <a:srgbClr val="242C38"/>
                          </a:solidFill>
                          <a:latin typeface="Segoe UI"/>
                        </a:rPr>
                        <a:t>every task in its own pod</a:t>
                      </a:r>
                    </a:p>
                  </a:txBody>
                  <a:tcPr marT="36576" marB="36576" anchor="ctr">
                    <a:solidFill>
                      <a:srgbClr val="FFFFFF"/>
                    </a:solidFill>
                  </a:tcPr>
                </a:tc>
                <a:tc>
                  <a:txBody>
                    <a:bodyPr/>
                    <a:lstStyle/>
                    <a:p>
                      <a:pPr>
                        <a:lnSpc>
                          <a:spcPct val="106000"/>
                        </a:lnSpc>
                      </a:pPr>
                      <a:r>
                        <a:rPr sz="1400" b="0" i="0">
                          <a:solidFill>
                            <a:srgbClr val="242C38"/>
                          </a:solidFill>
                          <a:latin typeface="Segoe UI"/>
                        </a:rPr>
                        <a:t>already on Kubernetes, need isolation</a:t>
                      </a:r>
                    </a:p>
                  </a:txBody>
                  <a:tcPr marT="36576" marB="36576" anchor="ctr">
                    <a:solidFill>
                      <a:srgbClr val="FFFFFF"/>
                    </a:solidFill>
                  </a:tcPr>
                </a:tc>
                <a:extLst>
                  <a:ext uri="{0D108BD9-81ED-4DB2-BD59-A6C34878D82A}">
                    <a16:rowId xmlns:a16="http://schemas.microsoft.com/office/drawing/2014/main" val="10004"/>
                  </a:ext>
                </a:extLst>
              </a:tr>
            </a:tbl>
          </a:graphicData>
        </a:graphic>
      </p:graphicFrame>
      <p:sp>
        <p:nvSpPr>
          <p:cNvPr id="5" name="TextBox 4"/>
          <p:cNvSpPr txBox="1"/>
          <p:nvPr/>
        </p:nvSpPr>
        <p:spPr>
          <a:xfrm>
            <a:off x="658368" y="5724144"/>
            <a:ext cx="10874959" cy="502920"/>
          </a:xfrm>
          <a:prstGeom prst="rect">
            <a:avLst/>
          </a:prstGeom>
          <a:noFill/>
        </p:spPr>
        <p:txBody>
          <a:bodyPr wrap="square" lIns="0" tIns="0" rIns="0" bIns="0">
            <a:spAutoFit/>
          </a:bodyPr>
          <a:lstStyle/>
          <a:p>
            <a:r>
              <a:rPr sz="1300" b="0" i="1">
                <a:solidFill>
                  <a:srgbClr val="5B6775"/>
                </a:solidFill>
                <a:latin typeface="Segoe UI"/>
              </a:rPr>
              <a:t>Module 18 uses LocalExecutor with SQLite, fine for one learner alone.</a:t>
            </a:r>
          </a:p>
        </p:txBody>
      </p:sp>
      <p:sp>
        <p:nvSpPr>
          <p:cNvPr id="6" name="Rectangle 5"/>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17  ·  Airflow basics</a:t>
            </a:r>
          </a:p>
        </p:txBody>
      </p:sp>
      <p:sp>
        <p:nvSpPr>
          <p:cNvPr id="8" name="TextBox 7"/>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179</a:t>
            </a:r>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Operators a bank will use</a:t>
            </a:r>
          </a:p>
        </p:txBody>
      </p:sp>
      <p:graphicFrame>
        <p:nvGraphicFramePr>
          <p:cNvPr id="4" name="Table 3"/>
          <p:cNvGraphicFramePr>
            <a:graphicFrameLocks noGrp="1"/>
          </p:cNvGraphicFramePr>
          <p:nvPr/>
        </p:nvGraphicFramePr>
        <p:xfrm>
          <a:off x="658368" y="1481328"/>
          <a:ext cx="10874958" cy="2779776"/>
        </p:xfrm>
        <a:graphic>
          <a:graphicData uri="http://schemas.openxmlformats.org/drawingml/2006/table">
            <a:tbl>
              <a:tblPr firstRow="1" bandRow="1">
                <a:tableStyleId>{5C22544A-7EE6-4342-B048-85BDC9FD1C3A}</a:tableStyleId>
              </a:tblPr>
              <a:tblGrid>
                <a:gridCol w="4292746">
                  <a:extLst>
                    <a:ext uri="{9D8B030D-6E8A-4147-A177-3AD203B41FA5}">
                      <a16:colId xmlns:a16="http://schemas.microsoft.com/office/drawing/2014/main" val="20000"/>
                    </a:ext>
                  </a:extLst>
                </a:gridCol>
                <a:gridCol w="6582212">
                  <a:extLst>
                    <a:ext uri="{9D8B030D-6E8A-4147-A177-3AD203B41FA5}">
                      <a16:colId xmlns:a16="http://schemas.microsoft.com/office/drawing/2014/main" val="20001"/>
                    </a:ext>
                  </a:extLst>
                </a:gridCol>
              </a:tblGrid>
              <a:tr h="402336">
                <a:tc>
                  <a:txBody>
                    <a:bodyPr/>
                    <a:lstStyle/>
                    <a:p>
                      <a:r>
                        <a:rPr sz="1450" b="1" i="0">
                          <a:solidFill>
                            <a:srgbClr val="FFFFFF"/>
                          </a:solidFill>
                          <a:latin typeface="Segoe UI Semibold"/>
                        </a:rPr>
                        <a:t>Operator</a:t>
                      </a:r>
                    </a:p>
                  </a:txBody>
                  <a:tcPr anchor="ctr">
                    <a:solidFill>
                      <a:srgbClr val="1F4E79"/>
                    </a:solidFill>
                  </a:tcPr>
                </a:tc>
                <a:tc>
                  <a:txBody>
                    <a:bodyPr/>
                    <a:lstStyle/>
                    <a:p>
                      <a:r>
                        <a:rPr sz="1450" b="1" i="0">
                          <a:solidFill>
                            <a:srgbClr val="FFFFFF"/>
                          </a:solidFill>
                          <a:latin typeface="Segoe UI Semibold"/>
                        </a:rPr>
                        <a:t>For</a:t>
                      </a:r>
                    </a:p>
                  </a:txBody>
                  <a:tcPr anchor="ctr">
                    <a:solidFill>
                      <a:srgbClr val="1F4E79"/>
                    </a:solidFill>
                  </a:tcPr>
                </a:tc>
                <a:extLst>
                  <a:ext uri="{0D108BD9-81ED-4DB2-BD59-A6C34878D82A}">
                    <a16:rowId xmlns:a16="http://schemas.microsoft.com/office/drawing/2014/main" val="10000"/>
                  </a:ext>
                </a:extLst>
              </a:tr>
              <a:tr h="475488">
                <a:tc>
                  <a:txBody>
                    <a:bodyPr/>
                    <a:lstStyle/>
                    <a:p>
                      <a:pPr>
                        <a:lnSpc>
                          <a:spcPct val="106000"/>
                        </a:lnSpc>
                      </a:pPr>
                      <a:r>
                        <a:rPr sz="1350" b="0" i="0">
                          <a:solidFill>
                            <a:srgbClr val="2E74B5"/>
                          </a:solidFill>
                          <a:latin typeface="Consolas"/>
                        </a:rPr>
                        <a:t>BashOperator</a:t>
                      </a:r>
                    </a:p>
                  </a:txBody>
                  <a:tcPr marT="36576" marB="36576" anchor="ctr">
                    <a:solidFill>
                      <a:srgbClr val="EEF3F8"/>
                    </a:solidFill>
                  </a:tcPr>
                </a:tc>
                <a:tc>
                  <a:txBody>
                    <a:bodyPr/>
                    <a:lstStyle/>
                    <a:p>
                      <a:pPr>
                        <a:lnSpc>
                          <a:spcPct val="106000"/>
                        </a:lnSpc>
                      </a:pPr>
                      <a:r>
                        <a:rPr sz="1400" b="0" i="0">
                          <a:solidFill>
                            <a:srgbClr val="242C38"/>
                          </a:solidFill>
                          <a:latin typeface="Segoe UI"/>
                        </a:rPr>
                        <a:t>run any shell command, simplest way to call a script</a:t>
                      </a:r>
                    </a:p>
                  </a:txBody>
                  <a:tcPr marT="36576" marB="36576" anchor="ctr">
                    <a:solidFill>
                      <a:srgbClr val="EEF3F8"/>
                    </a:solidFill>
                  </a:tcPr>
                </a:tc>
                <a:extLst>
                  <a:ext uri="{0D108BD9-81ED-4DB2-BD59-A6C34878D82A}">
                    <a16:rowId xmlns:a16="http://schemas.microsoft.com/office/drawing/2014/main" val="10001"/>
                  </a:ext>
                </a:extLst>
              </a:tr>
              <a:tr h="475488">
                <a:tc>
                  <a:txBody>
                    <a:bodyPr/>
                    <a:lstStyle/>
                    <a:p>
                      <a:pPr>
                        <a:lnSpc>
                          <a:spcPct val="106000"/>
                        </a:lnSpc>
                      </a:pPr>
                      <a:r>
                        <a:rPr sz="1350" b="0" i="0">
                          <a:solidFill>
                            <a:srgbClr val="2E74B5"/>
                          </a:solidFill>
                          <a:latin typeface="Consolas"/>
                        </a:rPr>
                        <a:t>PythonOperator</a:t>
                      </a:r>
                    </a:p>
                  </a:txBody>
                  <a:tcPr marT="36576" marB="36576" anchor="ctr">
                    <a:solidFill>
                      <a:srgbClr val="FFFFFF"/>
                    </a:solidFill>
                  </a:tcPr>
                </a:tc>
                <a:tc>
                  <a:txBody>
                    <a:bodyPr/>
                    <a:lstStyle/>
                    <a:p>
                      <a:pPr>
                        <a:lnSpc>
                          <a:spcPct val="106000"/>
                        </a:lnSpc>
                      </a:pPr>
                      <a:r>
                        <a:rPr sz="1400" b="0" i="0">
                          <a:solidFill>
                            <a:srgbClr val="242C38"/>
                          </a:solidFill>
                          <a:latin typeface="Segoe UI"/>
                        </a:rPr>
                        <a:t>run a Python function in-process, keep it light</a:t>
                      </a:r>
                    </a:p>
                  </a:txBody>
                  <a:tcPr marT="36576" marB="36576" anchor="ctr">
                    <a:solidFill>
                      <a:srgbClr val="FFFFFF"/>
                    </a:solidFill>
                  </a:tcPr>
                </a:tc>
                <a:extLst>
                  <a:ext uri="{0D108BD9-81ED-4DB2-BD59-A6C34878D82A}">
                    <a16:rowId xmlns:a16="http://schemas.microsoft.com/office/drawing/2014/main" val="10002"/>
                  </a:ext>
                </a:extLst>
              </a:tr>
              <a:tr h="475488">
                <a:tc>
                  <a:txBody>
                    <a:bodyPr/>
                    <a:lstStyle/>
                    <a:p>
                      <a:pPr>
                        <a:lnSpc>
                          <a:spcPct val="106000"/>
                        </a:lnSpc>
                      </a:pPr>
                      <a:r>
                        <a:rPr sz="1350" b="0" i="0">
                          <a:solidFill>
                            <a:srgbClr val="2E74B5"/>
                          </a:solidFill>
                          <a:latin typeface="Consolas"/>
                        </a:rPr>
                        <a:t>SparkSubmitOperator</a:t>
                      </a:r>
                    </a:p>
                  </a:txBody>
                  <a:tcPr marT="36576" marB="36576" anchor="ctr">
                    <a:solidFill>
                      <a:srgbClr val="EEF3F8"/>
                    </a:solidFill>
                  </a:tcPr>
                </a:tc>
                <a:tc>
                  <a:txBody>
                    <a:bodyPr/>
                    <a:lstStyle/>
                    <a:p>
                      <a:pPr>
                        <a:lnSpc>
                          <a:spcPct val="106000"/>
                        </a:lnSpc>
                      </a:pPr>
                      <a:r>
                        <a:rPr sz="1400" b="0" i="0">
                          <a:solidFill>
                            <a:srgbClr val="242C38"/>
                          </a:solidFill>
                          <a:latin typeface="Segoe UI"/>
                        </a:rPr>
                        <a:t>submit via a Spark connection, the real cluster path</a:t>
                      </a:r>
                    </a:p>
                  </a:txBody>
                  <a:tcPr marT="36576" marB="36576" anchor="ctr">
                    <a:solidFill>
                      <a:srgbClr val="EEF3F8"/>
                    </a:solidFill>
                  </a:tcPr>
                </a:tc>
                <a:extLst>
                  <a:ext uri="{0D108BD9-81ED-4DB2-BD59-A6C34878D82A}">
                    <a16:rowId xmlns:a16="http://schemas.microsoft.com/office/drawing/2014/main" val="10003"/>
                  </a:ext>
                </a:extLst>
              </a:tr>
              <a:tr h="475488">
                <a:tc>
                  <a:txBody>
                    <a:bodyPr/>
                    <a:lstStyle/>
                    <a:p>
                      <a:pPr>
                        <a:lnSpc>
                          <a:spcPct val="106000"/>
                        </a:lnSpc>
                      </a:pPr>
                      <a:r>
                        <a:rPr sz="1350" b="0" i="0">
                          <a:solidFill>
                            <a:srgbClr val="2E74B5"/>
                          </a:solidFill>
                          <a:latin typeface="Consolas"/>
                        </a:rPr>
                        <a:t>EmptyOperator</a:t>
                      </a:r>
                    </a:p>
                  </a:txBody>
                  <a:tcPr marT="36576" marB="36576" anchor="ctr">
                    <a:solidFill>
                      <a:srgbClr val="FFFFFF"/>
                    </a:solidFill>
                  </a:tcPr>
                </a:tc>
                <a:tc>
                  <a:txBody>
                    <a:bodyPr/>
                    <a:lstStyle/>
                    <a:p>
                      <a:pPr>
                        <a:lnSpc>
                          <a:spcPct val="106000"/>
                        </a:lnSpc>
                      </a:pPr>
                      <a:r>
                        <a:rPr sz="1400" b="0" i="0">
                          <a:solidFill>
                            <a:srgbClr val="242C38"/>
                          </a:solidFill>
                          <a:latin typeface="Segoe UI"/>
                        </a:rPr>
                        <a:t>a no-op placeholder, a join point or milestone</a:t>
                      </a:r>
                    </a:p>
                  </a:txBody>
                  <a:tcPr marT="36576" marB="36576" anchor="ctr">
                    <a:solidFill>
                      <a:srgbClr val="FFFFFF"/>
                    </a:solidFill>
                  </a:tcPr>
                </a:tc>
                <a:extLst>
                  <a:ext uri="{0D108BD9-81ED-4DB2-BD59-A6C34878D82A}">
                    <a16:rowId xmlns:a16="http://schemas.microsoft.com/office/drawing/2014/main" val="10004"/>
                  </a:ext>
                </a:extLst>
              </a:tr>
              <a:tr h="475488">
                <a:tc>
                  <a:txBody>
                    <a:bodyPr/>
                    <a:lstStyle/>
                    <a:p>
                      <a:pPr>
                        <a:lnSpc>
                          <a:spcPct val="106000"/>
                        </a:lnSpc>
                      </a:pPr>
                      <a:r>
                        <a:rPr sz="1350" b="0" i="0">
                          <a:solidFill>
                            <a:srgbClr val="2E74B5"/>
                          </a:solidFill>
                          <a:latin typeface="Consolas"/>
                        </a:rPr>
                        <a:t>FileSensor</a:t>
                      </a:r>
                    </a:p>
                  </a:txBody>
                  <a:tcPr marT="36576" marB="36576" anchor="ctr">
                    <a:solidFill>
                      <a:srgbClr val="EEF3F8"/>
                    </a:solidFill>
                  </a:tcPr>
                </a:tc>
                <a:tc>
                  <a:txBody>
                    <a:bodyPr/>
                    <a:lstStyle/>
                    <a:p>
                      <a:pPr>
                        <a:lnSpc>
                          <a:spcPct val="106000"/>
                        </a:lnSpc>
                      </a:pPr>
                      <a:r>
                        <a:rPr sz="1400" b="0" i="0">
                          <a:solidFill>
                            <a:srgbClr val="242C38"/>
                          </a:solidFill>
                          <a:latin typeface="Segoe UI"/>
                        </a:rPr>
                        <a:t>wait for a file, this course's core export stand-in</a:t>
                      </a:r>
                    </a:p>
                  </a:txBody>
                  <a:tcPr marT="36576" marB="36576" anchor="ctr">
                    <a:solidFill>
                      <a:srgbClr val="EEF3F8"/>
                    </a:solidFill>
                  </a:tcPr>
                </a:tc>
                <a:extLst>
                  <a:ext uri="{0D108BD9-81ED-4DB2-BD59-A6C34878D82A}">
                    <a16:rowId xmlns:a16="http://schemas.microsoft.com/office/drawing/2014/main" val="10005"/>
                  </a:ext>
                </a:extLst>
              </a:tr>
            </a:tbl>
          </a:graphicData>
        </a:graphic>
      </p:graphicFrame>
      <p:sp>
        <p:nvSpPr>
          <p:cNvPr id="5" name="TextBox 4"/>
          <p:cNvSpPr txBox="1"/>
          <p:nvPr/>
        </p:nvSpPr>
        <p:spPr>
          <a:xfrm>
            <a:off x="658368" y="5724144"/>
            <a:ext cx="10874959" cy="502920"/>
          </a:xfrm>
          <a:prstGeom prst="rect">
            <a:avLst/>
          </a:prstGeom>
          <a:noFill/>
        </p:spPr>
        <p:txBody>
          <a:bodyPr wrap="square" lIns="0" tIns="0" rIns="0" bIns="0">
            <a:spAutoFit/>
          </a:bodyPr>
          <a:lstStyle/>
          <a:p>
            <a:r>
              <a:rPr sz="1300" b="0" i="1">
                <a:solidFill>
                  <a:srgbClr val="5B6775"/>
                </a:solidFill>
                <a:latin typeface="Segoe UI"/>
              </a:rPr>
              <a:t>Our lab DAG uses only BashOperator, a thin wrapper around the real job.</a:t>
            </a:r>
          </a:p>
        </p:txBody>
      </p:sp>
      <p:sp>
        <p:nvSpPr>
          <p:cNvPr id="6" name="Rectangle 5"/>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17  ·  Airflow basics</a:t>
            </a:r>
          </a:p>
        </p:txBody>
      </p:sp>
      <p:sp>
        <p:nvSpPr>
          <p:cNvPr id="8" name="TextBox 7"/>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180</a:t>
            </a:r>
          </a:p>
        </p:txBody>
      </p:sp>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Idempotency: what makes a rerun safe</a:t>
            </a:r>
          </a:p>
        </p:txBody>
      </p:sp>
      <p:sp>
        <p:nvSpPr>
          <p:cNvPr id="4" name="Rectangle 3"/>
          <p:cNvSpPr/>
          <p:nvPr/>
        </p:nvSpPr>
        <p:spPr>
          <a:xfrm>
            <a:off x="658368" y="1481328"/>
            <a:ext cx="10874959" cy="1289304"/>
          </a:xfrm>
          <a:prstGeom prst="rect">
            <a:avLst/>
          </a:prstGeom>
          <a:solidFill>
            <a:srgbClr val="F5F7F9"/>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81328"/>
            <a:ext cx="43180" cy="1289304"/>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77824" y="1645920"/>
            <a:ext cx="10509199" cy="1014984"/>
          </a:xfrm>
          <a:prstGeom prst="rect">
            <a:avLst/>
          </a:prstGeom>
          <a:noFill/>
        </p:spPr>
        <p:txBody>
          <a:bodyPr wrap="square" lIns="0" tIns="0" rIns="0" bIns="0">
            <a:spAutoFit/>
          </a:bodyPr>
          <a:lstStyle/>
          <a:p>
            <a:pPr>
              <a:lnSpc>
                <a:spcPct val="116000"/>
              </a:lnSpc>
              <a:spcAft>
                <a:spcPts val="0"/>
              </a:spcAft>
            </a:pPr>
            <a:r>
              <a:rPr sz="1500" b="0" i="0">
                <a:solidFill>
                  <a:srgbClr val="242C38"/>
                </a:solidFill>
                <a:latin typeface="Consolas"/>
              </a:rPr>
              <a:t>spark.conf.set(</a:t>
            </a:r>
          </a:p>
          <a:p>
            <a:pPr>
              <a:lnSpc>
                <a:spcPct val="116000"/>
              </a:lnSpc>
              <a:spcAft>
                <a:spcPts val="0"/>
              </a:spcAft>
            </a:pPr>
            <a:r>
              <a:rPr sz="1500" b="0" i="0">
                <a:solidFill>
                  <a:srgbClr val="242C38"/>
                </a:solidFill>
                <a:latin typeface="Consolas"/>
              </a:rPr>
              <a:t>    </a:t>
            </a:r>
            <a:r>
              <a:rPr sz="1500" b="0" i="0">
                <a:solidFill>
                  <a:srgbClr val="A31515"/>
                </a:solidFill>
                <a:latin typeface="Consolas"/>
              </a:rPr>
              <a:t>"spark.sql.sources.partitionOverwriteMode"</a:t>
            </a:r>
            <a:r>
              <a:rPr sz="1500" b="0" i="0">
                <a:solidFill>
                  <a:srgbClr val="242C38"/>
                </a:solidFill>
                <a:latin typeface="Consolas"/>
              </a:rPr>
              <a:t>, </a:t>
            </a:r>
            <a:r>
              <a:rPr sz="1500" b="0" i="0">
                <a:solidFill>
                  <a:srgbClr val="A31515"/>
                </a:solidFill>
                <a:latin typeface="Consolas"/>
              </a:rPr>
              <a:t>"dynamic"</a:t>
            </a:r>
            <a:r>
              <a:rPr sz="1500" b="0" i="0">
                <a:solidFill>
                  <a:srgbClr val="242C38"/>
                </a:solidFill>
                <a:latin typeface="Consolas"/>
              </a:rPr>
              <a:t>)</a:t>
            </a:r>
          </a:p>
          <a:p>
            <a:pPr>
              <a:lnSpc>
                <a:spcPct val="116000"/>
              </a:lnSpc>
              <a:spcAft>
                <a:spcPts val="0"/>
              </a:spcAft>
            </a:pPr>
            <a:r>
              <a:rPr sz="1500" b="0" i="0">
                <a:solidFill>
                  <a:srgbClr val="242C38"/>
                </a:solidFill>
                <a:latin typeface="Consolas"/>
              </a:rPr>
              <a:t>df.write.mode(</a:t>
            </a:r>
            <a:r>
              <a:rPr sz="1500" b="0" i="0">
                <a:solidFill>
                  <a:srgbClr val="A31515"/>
                </a:solidFill>
                <a:latin typeface="Consolas"/>
              </a:rPr>
              <a:t>"overwrite"</a:t>
            </a:r>
            <a:r>
              <a:rPr sz="1500" b="0" i="0">
                <a:solidFill>
                  <a:srgbClr val="242C38"/>
                </a:solidFill>
                <a:latin typeface="Consolas"/>
              </a:rPr>
              <a:t>).partitionBy(</a:t>
            </a:r>
            <a:r>
              <a:rPr sz="1500" b="0" i="0">
                <a:solidFill>
                  <a:srgbClr val="A31515"/>
                </a:solidFill>
                <a:latin typeface="Consolas"/>
              </a:rPr>
              <a:t>"dt"</a:t>
            </a:r>
            <a:r>
              <a:rPr sz="1500" b="0" i="0">
                <a:solidFill>
                  <a:srgbClr val="242C38"/>
                </a:solidFill>
                <a:latin typeface="Consolas"/>
              </a:rPr>
              <a:t>).parquet(path)</a:t>
            </a:r>
          </a:p>
        </p:txBody>
      </p:sp>
      <p:sp>
        <p:nvSpPr>
          <p:cNvPr id="7" name="TextBox 6"/>
          <p:cNvSpPr txBox="1"/>
          <p:nvPr/>
        </p:nvSpPr>
        <p:spPr>
          <a:xfrm>
            <a:off x="658368" y="2916936"/>
            <a:ext cx="10874959" cy="457200"/>
          </a:xfrm>
          <a:prstGeom prst="rect">
            <a:avLst/>
          </a:prstGeom>
          <a:noFill/>
        </p:spPr>
        <p:txBody>
          <a:bodyPr wrap="square" lIns="0" tIns="0" rIns="0" bIns="0">
            <a:spAutoFit/>
          </a:bodyPr>
          <a:lstStyle/>
          <a:p>
            <a:r>
              <a:rPr sz="1400" b="0" i="0">
                <a:solidFill>
                  <a:srgbClr val="5B6775"/>
                </a:solidFill>
                <a:latin typeface="Segoe UI"/>
              </a:rPr>
              <a:t>Writing dt=2026-09-01 rows replaces only that partition. Every other date is untouched.</a:t>
            </a:r>
          </a:p>
        </p:txBody>
      </p:sp>
      <p:sp>
        <p:nvSpPr>
          <p:cNvPr id="8" name="Rectangle 7"/>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17  ·  Airflow basics</a:t>
            </a:r>
          </a:p>
        </p:txBody>
      </p:sp>
      <p:sp>
        <p:nvSpPr>
          <p:cNvPr id="10" name="TextBox 9"/>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181</a:t>
            </a:r>
          </a:p>
        </p:txBody>
      </p:sp>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logical_date is not when the run executed</a:t>
            </a:r>
          </a:p>
        </p:txBody>
      </p:sp>
      <p:graphicFrame>
        <p:nvGraphicFramePr>
          <p:cNvPr id="4" name="Table 3"/>
          <p:cNvGraphicFramePr>
            <a:graphicFrameLocks noGrp="1"/>
          </p:cNvGraphicFramePr>
          <p:nvPr/>
        </p:nvGraphicFramePr>
        <p:xfrm>
          <a:off x="658368" y="1481328"/>
          <a:ext cx="10874957" cy="1828800"/>
        </p:xfrm>
        <a:graphic>
          <a:graphicData uri="http://schemas.openxmlformats.org/drawingml/2006/table">
            <a:tbl>
              <a:tblPr firstRow="1" bandRow="1">
                <a:tableStyleId>{5C22544A-7EE6-4342-B048-85BDC9FD1C3A}</a:tableStyleId>
              </a:tblPr>
              <a:tblGrid>
                <a:gridCol w="3978643">
                  <a:extLst>
                    <a:ext uri="{9D8B030D-6E8A-4147-A177-3AD203B41FA5}">
                      <a16:colId xmlns:a16="http://schemas.microsoft.com/office/drawing/2014/main" val="20000"/>
                    </a:ext>
                  </a:extLst>
                </a:gridCol>
                <a:gridCol w="3978643">
                  <a:extLst>
                    <a:ext uri="{9D8B030D-6E8A-4147-A177-3AD203B41FA5}">
                      <a16:colId xmlns:a16="http://schemas.microsoft.com/office/drawing/2014/main" val="20001"/>
                    </a:ext>
                  </a:extLst>
                </a:gridCol>
                <a:gridCol w="2917671">
                  <a:extLst>
                    <a:ext uri="{9D8B030D-6E8A-4147-A177-3AD203B41FA5}">
                      <a16:colId xmlns:a16="http://schemas.microsoft.com/office/drawing/2014/main" val="20002"/>
                    </a:ext>
                  </a:extLst>
                </a:gridCol>
              </a:tblGrid>
              <a:tr h="402336">
                <a:tc>
                  <a:txBody>
                    <a:bodyPr/>
                    <a:lstStyle/>
                    <a:p>
                      <a:r>
                        <a:rPr sz="1450" b="1" i="0">
                          <a:solidFill>
                            <a:srgbClr val="FFFFFF"/>
                          </a:solidFill>
                          <a:latin typeface="Segoe UI Semibold"/>
                        </a:rPr>
                        <a:t>Cron fires (IST)</a:t>
                      </a:r>
                    </a:p>
                  </a:txBody>
                  <a:tcPr anchor="ctr">
                    <a:solidFill>
                      <a:srgbClr val="1F4E79"/>
                    </a:solidFill>
                  </a:tcPr>
                </a:tc>
                <a:tc>
                  <a:txBody>
                    <a:bodyPr/>
                    <a:lstStyle/>
                    <a:p>
                      <a:r>
                        <a:rPr sz="1450" b="1" i="0">
                          <a:solidFill>
                            <a:srgbClr val="FFFFFF"/>
                          </a:solidFill>
                          <a:latin typeface="Segoe UI Semibold"/>
                        </a:rPr>
                        <a:t>logical_date</a:t>
                      </a:r>
                    </a:p>
                  </a:txBody>
                  <a:tcPr anchor="ctr">
                    <a:solidFill>
                      <a:srgbClr val="1F4E79"/>
                    </a:solidFill>
                  </a:tcPr>
                </a:tc>
                <a:tc>
                  <a:txBody>
                    <a:bodyPr/>
                    <a:lstStyle/>
                    <a:p>
                      <a:r>
                        <a:rPr sz="1450" b="1" i="0">
                          <a:solidFill>
                            <a:srgbClr val="FFFFFF"/>
                          </a:solidFill>
                          <a:latin typeface="Segoe UI Semibold"/>
                        </a:rPr>
                        <a:t>{{ ds }}</a:t>
                      </a:r>
                    </a:p>
                  </a:txBody>
                  <a:tcPr anchor="ctr">
                    <a:solidFill>
                      <a:srgbClr val="1F4E79"/>
                    </a:solidFill>
                  </a:tcPr>
                </a:tc>
                <a:extLst>
                  <a:ext uri="{0D108BD9-81ED-4DB2-BD59-A6C34878D82A}">
                    <a16:rowId xmlns:a16="http://schemas.microsoft.com/office/drawing/2014/main" val="10000"/>
                  </a:ext>
                </a:extLst>
              </a:tr>
              <a:tr h="475488">
                <a:tc>
                  <a:txBody>
                    <a:bodyPr/>
                    <a:lstStyle/>
                    <a:p>
                      <a:pPr>
                        <a:lnSpc>
                          <a:spcPct val="106000"/>
                        </a:lnSpc>
                      </a:pPr>
                      <a:r>
                        <a:rPr sz="1400" b="1" i="0">
                          <a:solidFill>
                            <a:srgbClr val="242C38"/>
                          </a:solidFill>
                          <a:latin typeface="Segoe UI"/>
                        </a:rPr>
                        <a:t>2026-09-02 02:00</a:t>
                      </a:r>
                    </a:p>
                  </a:txBody>
                  <a:tcPr marT="36576" marB="36576" anchor="ctr">
                    <a:solidFill>
                      <a:srgbClr val="EEF3F8"/>
                    </a:solidFill>
                  </a:tcPr>
                </a:tc>
                <a:tc>
                  <a:txBody>
                    <a:bodyPr/>
                    <a:lstStyle/>
                    <a:p>
                      <a:pPr>
                        <a:lnSpc>
                          <a:spcPct val="106000"/>
                        </a:lnSpc>
                      </a:pPr>
                      <a:r>
                        <a:rPr sz="1400" b="0" i="0">
                          <a:solidFill>
                            <a:srgbClr val="242C38"/>
                          </a:solidFill>
                          <a:latin typeface="Segoe UI"/>
                        </a:rPr>
                        <a:t>2026-09-01 02:00</a:t>
                      </a:r>
                    </a:p>
                  </a:txBody>
                  <a:tcPr marT="36576" marB="36576" anchor="ctr">
                    <a:solidFill>
                      <a:srgbClr val="EEF3F8"/>
                    </a:solidFill>
                  </a:tcPr>
                </a:tc>
                <a:tc>
                  <a:txBody>
                    <a:bodyPr/>
                    <a:lstStyle/>
                    <a:p>
                      <a:pPr>
                        <a:lnSpc>
                          <a:spcPct val="106000"/>
                        </a:lnSpc>
                      </a:pPr>
                      <a:r>
                        <a:rPr sz="1400" b="0" i="0">
                          <a:solidFill>
                            <a:srgbClr val="242C38"/>
                          </a:solidFill>
                          <a:latin typeface="Segoe UI"/>
                        </a:rPr>
                        <a:t>2026-09-01</a:t>
                      </a:r>
                    </a:p>
                  </a:txBody>
                  <a:tcPr marT="36576" marB="36576" anchor="ctr">
                    <a:solidFill>
                      <a:srgbClr val="EEF3F8"/>
                    </a:solidFill>
                  </a:tcPr>
                </a:tc>
                <a:extLst>
                  <a:ext uri="{0D108BD9-81ED-4DB2-BD59-A6C34878D82A}">
                    <a16:rowId xmlns:a16="http://schemas.microsoft.com/office/drawing/2014/main" val="10001"/>
                  </a:ext>
                </a:extLst>
              </a:tr>
              <a:tr h="475488">
                <a:tc>
                  <a:txBody>
                    <a:bodyPr/>
                    <a:lstStyle/>
                    <a:p>
                      <a:pPr>
                        <a:lnSpc>
                          <a:spcPct val="106000"/>
                        </a:lnSpc>
                      </a:pPr>
                      <a:r>
                        <a:rPr sz="1400" b="1" i="0">
                          <a:solidFill>
                            <a:srgbClr val="242C38"/>
                          </a:solidFill>
                          <a:latin typeface="Segoe UI"/>
                        </a:rPr>
                        <a:t>2026-09-03 02:00</a:t>
                      </a:r>
                    </a:p>
                  </a:txBody>
                  <a:tcPr marT="36576" marB="36576" anchor="ctr">
                    <a:solidFill>
                      <a:srgbClr val="FFFFFF"/>
                    </a:solidFill>
                  </a:tcPr>
                </a:tc>
                <a:tc>
                  <a:txBody>
                    <a:bodyPr/>
                    <a:lstStyle/>
                    <a:p>
                      <a:pPr>
                        <a:lnSpc>
                          <a:spcPct val="106000"/>
                        </a:lnSpc>
                      </a:pPr>
                      <a:r>
                        <a:rPr sz="1400" b="0" i="0">
                          <a:solidFill>
                            <a:srgbClr val="242C38"/>
                          </a:solidFill>
                          <a:latin typeface="Segoe UI"/>
                        </a:rPr>
                        <a:t>2026-09-02 02:00</a:t>
                      </a:r>
                    </a:p>
                  </a:txBody>
                  <a:tcPr marT="36576" marB="36576" anchor="ctr">
                    <a:solidFill>
                      <a:srgbClr val="FFFFFF"/>
                    </a:solidFill>
                  </a:tcPr>
                </a:tc>
                <a:tc>
                  <a:txBody>
                    <a:bodyPr/>
                    <a:lstStyle/>
                    <a:p>
                      <a:pPr>
                        <a:lnSpc>
                          <a:spcPct val="106000"/>
                        </a:lnSpc>
                      </a:pPr>
                      <a:r>
                        <a:rPr sz="1400" b="0" i="0">
                          <a:solidFill>
                            <a:srgbClr val="242C38"/>
                          </a:solidFill>
                          <a:latin typeface="Segoe UI"/>
                        </a:rPr>
                        <a:t>2026-09-02</a:t>
                      </a:r>
                    </a:p>
                  </a:txBody>
                  <a:tcPr marT="36576" marB="36576" anchor="ctr">
                    <a:solidFill>
                      <a:srgbClr val="FFFFFF"/>
                    </a:solidFill>
                  </a:tcPr>
                </a:tc>
                <a:extLst>
                  <a:ext uri="{0D108BD9-81ED-4DB2-BD59-A6C34878D82A}">
                    <a16:rowId xmlns:a16="http://schemas.microsoft.com/office/drawing/2014/main" val="10002"/>
                  </a:ext>
                </a:extLst>
              </a:tr>
              <a:tr h="475488">
                <a:tc>
                  <a:txBody>
                    <a:bodyPr/>
                    <a:lstStyle/>
                    <a:p>
                      <a:pPr>
                        <a:lnSpc>
                          <a:spcPct val="106000"/>
                        </a:lnSpc>
                      </a:pPr>
                      <a:r>
                        <a:rPr sz="1400" b="1" i="0">
                          <a:solidFill>
                            <a:srgbClr val="242C38"/>
                          </a:solidFill>
                          <a:latin typeface="Segoe UI"/>
                        </a:rPr>
                        <a:t>2026-09-04 02:00</a:t>
                      </a:r>
                    </a:p>
                  </a:txBody>
                  <a:tcPr marT="36576" marB="36576" anchor="ctr">
                    <a:solidFill>
                      <a:srgbClr val="EEF3F8"/>
                    </a:solidFill>
                  </a:tcPr>
                </a:tc>
                <a:tc>
                  <a:txBody>
                    <a:bodyPr/>
                    <a:lstStyle/>
                    <a:p>
                      <a:pPr>
                        <a:lnSpc>
                          <a:spcPct val="106000"/>
                        </a:lnSpc>
                      </a:pPr>
                      <a:r>
                        <a:rPr sz="1400" b="0" i="0">
                          <a:solidFill>
                            <a:srgbClr val="242C38"/>
                          </a:solidFill>
                          <a:latin typeface="Segoe UI"/>
                        </a:rPr>
                        <a:t>2026-09-03 02:00</a:t>
                      </a:r>
                    </a:p>
                  </a:txBody>
                  <a:tcPr marT="36576" marB="36576" anchor="ctr">
                    <a:solidFill>
                      <a:srgbClr val="EEF3F8"/>
                    </a:solidFill>
                  </a:tcPr>
                </a:tc>
                <a:tc>
                  <a:txBody>
                    <a:bodyPr/>
                    <a:lstStyle/>
                    <a:p>
                      <a:pPr>
                        <a:lnSpc>
                          <a:spcPct val="106000"/>
                        </a:lnSpc>
                      </a:pPr>
                      <a:r>
                        <a:rPr sz="1400" b="0" i="0">
                          <a:solidFill>
                            <a:srgbClr val="242C38"/>
                          </a:solidFill>
                          <a:latin typeface="Segoe UI"/>
                        </a:rPr>
                        <a:t>2026-09-03</a:t>
                      </a:r>
                    </a:p>
                  </a:txBody>
                  <a:tcPr marT="36576" marB="36576" anchor="ctr">
                    <a:solidFill>
                      <a:srgbClr val="EEF3F8"/>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658368" y="5724144"/>
            <a:ext cx="10874959" cy="502920"/>
          </a:xfrm>
          <a:prstGeom prst="rect">
            <a:avLst/>
          </a:prstGeom>
          <a:noFill/>
        </p:spPr>
        <p:txBody>
          <a:bodyPr wrap="square" lIns="0" tIns="0" rIns="0" bIns="0">
            <a:spAutoFit/>
          </a:bodyPr>
          <a:lstStyle/>
          <a:p>
            <a:r>
              <a:rPr sz="1300" b="0" i="1">
                <a:solidFill>
                  <a:srgbClr val="5B6775"/>
                </a:solidFill>
                <a:latin typeface="Segoe UI"/>
              </a:rPr>
              <a:t>{{ ds }} always renders in UTC. Fix: format data_interval_start in your own timezone.</a:t>
            </a:r>
          </a:p>
        </p:txBody>
      </p:sp>
      <p:sp>
        <p:nvSpPr>
          <p:cNvPr id="6" name="Rectangle 5"/>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17  ·  Airflow basics</a:t>
            </a:r>
          </a:p>
        </p:txBody>
      </p:sp>
      <p:sp>
        <p:nvSpPr>
          <p:cNvPr id="8" name="TextBox 7"/>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182</a:t>
            </a:r>
          </a:p>
        </p:txBody>
      </p:sp>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The new DAG: one file, three tasks</a:t>
            </a:r>
          </a:p>
        </p:txBody>
      </p:sp>
      <p:sp>
        <p:nvSpPr>
          <p:cNvPr id="4" name="Rectangle 3"/>
          <p:cNvSpPr/>
          <p:nvPr/>
        </p:nvSpPr>
        <p:spPr>
          <a:xfrm>
            <a:off x="658368" y="1481328"/>
            <a:ext cx="10874959" cy="3026664"/>
          </a:xfrm>
          <a:prstGeom prst="rect">
            <a:avLst/>
          </a:prstGeom>
          <a:solidFill>
            <a:srgbClr val="F5F7F9"/>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81328"/>
            <a:ext cx="43180" cy="3026664"/>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77824" y="1645920"/>
            <a:ext cx="10509199" cy="2752344"/>
          </a:xfrm>
          <a:prstGeom prst="rect">
            <a:avLst/>
          </a:prstGeom>
          <a:noFill/>
        </p:spPr>
        <p:txBody>
          <a:bodyPr wrap="square" lIns="0" tIns="0" rIns="0" bIns="0">
            <a:spAutoFit/>
          </a:bodyPr>
          <a:lstStyle/>
          <a:p>
            <a:pPr>
              <a:lnSpc>
                <a:spcPct val="116000"/>
              </a:lnSpc>
              <a:spcAft>
                <a:spcPts val="0"/>
              </a:spcAft>
            </a:pPr>
            <a:r>
              <a:rPr sz="1500" b="0" i="0">
                <a:solidFill>
                  <a:srgbClr val="242C38"/>
                </a:solidFill>
                <a:latin typeface="Consolas"/>
              </a:rPr>
              <a:t>PROJECT = </a:t>
            </a:r>
            <a:r>
              <a:rPr sz="1500" b="0" i="0">
                <a:solidFill>
                  <a:srgbClr val="A31515"/>
                </a:solidFill>
                <a:latin typeface="Consolas"/>
              </a:rPr>
              <a:t>"/home/&lt;you&gt;/spark-banking-training"</a:t>
            </a:r>
          </a:p>
          <a:p>
            <a:pPr>
              <a:lnSpc>
                <a:spcPct val="116000"/>
              </a:lnSpc>
              <a:spcAft>
                <a:spcPts val="0"/>
              </a:spcAft>
            </a:pPr>
            <a:r>
              <a:rPr sz="1500" b="0" i="0">
                <a:solidFill>
                  <a:srgbClr val="242C38"/>
                </a:solidFill>
                <a:latin typeface="Consolas"/>
              </a:rPr>
              <a:t>PYTHON = </a:t>
            </a:r>
            <a:r>
              <a:rPr sz="1500" b="0" i="0">
                <a:solidFill>
                  <a:srgbClr val="A31515"/>
                </a:solidFill>
                <a:latin typeface="Consolas"/>
              </a:rPr>
              <a:t>"/home/&lt;you&gt;/.venv/bin/python"</a:t>
            </a:r>
          </a:p>
          <a:p>
            <a:pPr>
              <a:lnSpc>
                <a:spcPct val="116000"/>
              </a:lnSpc>
              <a:spcAft>
                <a:spcPts val="0"/>
              </a:spcAft>
            </a:pPr>
            <a:r>
              <a:rPr sz="1500" b="0" i="0">
                <a:solidFill>
                  <a:srgbClr val="242C38"/>
                </a:solidFill>
                <a:latin typeface="Consolas"/>
              </a:rPr>
              <a:t>RUN_DATE = </a:t>
            </a:r>
            <a:r>
              <a:rPr sz="1500" b="0" i="0">
                <a:solidFill>
                  <a:srgbClr val="A31515"/>
                </a:solidFill>
                <a:latin typeface="Consolas"/>
              </a:rPr>
              <a:t>"2026-09-01"</a:t>
            </a:r>
          </a:p>
          <a:p>
            <a:pPr>
              <a:lnSpc>
                <a:spcPct val="116000"/>
              </a:lnSpc>
              <a:spcAft>
                <a:spcPts val="0"/>
              </a:spcAft>
            </a:pPr>
            <a:r>
              <a:rPr sz="1500" b="0" i="0">
                <a:solidFill>
                  <a:srgbClr val="242C38"/>
                </a:solidFill>
                <a:latin typeface="Consolas"/>
              </a:rPr>
              <a:t> </a:t>
            </a:r>
          </a:p>
          <a:p>
            <a:pPr>
              <a:lnSpc>
                <a:spcPct val="116000"/>
              </a:lnSpc>
              <a:spcAft>
                <a:spcPts val="0"/>
              </a:spcAft>
            </a:pPr>
            <a:r>
              <a:rPr sz="1500" b="0" i="0">
                <a:solidFill>
                  <a:srgbClr val="242C38"/>
                </a:solidFill>
                <a:latin typeface="Consolas"/>
              </a:rPr>
              <a:t>ingest = BashOperator(task_id=</a:t>
            </a:r>
            <a:r>
              <a:rPr sz="1500" b="0" i="0">
                <a:solidFill>
                  <a:srgbClr val="A31515"/>
                </a:solidFill>
                <a:latin typeface="Consolas"/>
              </a:rPr>
              <a:t>"ingest"</a:t>
            </a:r>
            <a:r>
              <a:rPr sz="1500" b="0" i="0">
                <a:solidFill>
                  <a:srgbClr val="242C38"/>
                </a:solidFill>
                <a:latin typeface="Consolas"/>
              </a:rPr>
              <a:t>, bash_command=cmd(</a:t>
            </a:r>
            <a:r>
              <a:rPr sz="1500" b="0" i="0">
                <a:solidFill>
                  <a:srgbClr val="A31515"/>
                </a:solidFill>
                <a:latin typeface="Consolas"/>
              </a:rPr>
              <a:t>"ingest"</a:t>
            </a:r>
            <a:r>
              <a:rPr sz="1500" b="0" i="0">
                <a:solidFill>
                  <a:srgbClr val="242C38"/>
                </a:solidFill>
                <a:latin typeface="Consolas"/>
              </a:rPr>
              <a:t>))</a:t>
            </a:r>
          </a:p>
          <a:p>
            <a:pPr>
              <a:lnSpc>
                <a:spcPct val="116000"/>
              </a:lnSpc>
              <a:spcAft>
                <a:spcPts val="0"/>
              </a:spcAft>
            </a:pPr>
            <a:r>
              <a:rPr sz="1500" b="0" i="0">
                <a:solidFill>
                  <a:srgbClr val="242C38"/>
                </a:solidFill>
                <a:latin typeface="Consolas"/>
              </a:rPr>
              <a:t>curate = BashOperator(task_id=</a:t>
            </a:r>
            <a:r>
              <a:rPr sz="1500" b="0" i="0">
                <a:solidFill>
                  <a:srgbClr val="A31515"/>
                </a:solidFill>
                <a:latin typeface="Consolas"/>
              </a:rPr>
              <a:t>"curate"</a:t>
            </a:r>
            <a:r>
              <a:rPr sz="1500" b="0" i="0">
                <a:solidFill>
                  <a:srgbClr val="242C38"/>
                </a:solidFill>
                <a:latin typeface="Consolas"/>
              </a:rPr>
              <a:t>, bash_command=cmd(</a:t>
            </a:r>
            <a:r>
              <a:rPr sz="1500" b="0" i="0">
                <a:solidFill>
                  <a:srgbClr val="A31515"/>
                </a:solidFill>
                <a:latin typeface="Consolas"/>
              </a:rPr>
              <a:t>"curate"</a:t>
            </a:r>
            <a:r>
              <a:rPr sz="1500" b="0" i="0">
                <a:solidFill>
                  <a:srgbClr val="242C38"/>
                </a:solidFill>
                <a:latin typeface="Consolas"/>
              </a:rPr>
              <a:t>))</a:t>
            </a:r>
          </a:p>
          <a:p>
            <a:pPr>
              <a:lnSpc>
                <a:spcPct val="116000"/>
              </a:lnSpc>
              <a:spcAft>
                <a:spcPts val="0"/>
              </a:spcAft>
            </a:pPr>
            <a:r>
              <a:rPr sz="1500" b="0" i="0">
                <a:solidFill>
                  <a:srgbClr val="242C38"/>
                </a:solidFill>
                <a:latin typeface="Consolas"/>
              </a:rPr>
              <a:t>publish = BashOperator(task_id=</a:t>
            </a:r>
            <a:r>
              <a:rPr sz="1500" b="0" i="0">
                <a:solidFill>
                  <a:srgbClr val="A31515"/>
                </a:solidFill>
                <a:latin typeface="Consolas"/>
              </a:rPr>
              <a:t>"publish"</a:t>
            </a:r>
            <a:r>
              <a:rPr sz="1500" b="0" i="0">
                <a:solidFill>
                  <a:srgbClr val="242C38"/>
                </a:solidFill>
                <a:latin typeface="Consolas"/>
              </a:rPr>
              <a:t>, bash_command=cmd(</a:t>
            </a:r>
            <a:r>
              <a:rPr sz="1500" b="0" i="0">
                <a:solidFill>
                  <a:srgbClr val="A31515"/>
                </a:solidFill>
                <a:latin typeface="Consolas"/>
              </a:rPr>
              <a:t>"publish"</a:t>
            </a:r>
            <a:r>
              <a:rPr sz="1500" b="0" i="0">
                <a:solidFill>
                  <a:srgbClr val="242C38"/>
                </a:solidFill>
                <a:latin typeface="Consolas"/>
              </a:rPr>
              <a:t>))</a:t>
            </a:r>
          </a:p>
          <a:p>
            <a:pPr>
              <a:lnSpc>
                <a:spcPct val="116000"/>
              </a:lnSpc>
              <a:spcAft>
                <a:spcPts val="0"/>
              </a:spcAft>
            </a:pPr>
            <a:r>
              <a:rPr sz="1500" b="0" i="0">
                <a:solidFill>
                  <a:srgbClr val="242C38"/>
                </a:solidFill>
                <a:latin typeface="Consolas"/>
              </a:rPr>
              <a:t> </a:t>
            </a:r>
          </a:p>
          <a:p>
            <a:pPr>
              <a:lnSpc>
                <a:spcPct val="116000"/>
              </a:lnSpc>
              <a:spcAft>
                <a:spcPts val="0"/>
              </a:spcAft>
            </a:pPr>
            <a:r>
              <a:rPr sz="1500" b="0" i="0">
                <a:solidFill>
                  <a:srgbClr val="242C38"/>
                </a:solidFill>
                <a:latin typeface="Consolas"/>
              </a:rPr>
              <a:t>ingest &gt;&gt; curate &gt;&gt; publish</a:t>
            </a:r>
          </a:p>
        </p:txBody>
      </p:sp>
      <p:sp>
        <p:nvSpPr>
          <p:cNvPr id="7" name="TextBox 6"/>
          <p:cNvSpPr txBox="1"/>
          <p:nvPr/>
        </p:nvSpPr>
        <p:spPr>
          <a:xfrm>
            <a:off x="658368" y="4654296"/>
            <a:ext cx="10874959" cy="457200"/>
          </a:xfrm>
          <a:prstGeom prst="rect">
            <a:avLst/>
          </a:prstGeom>
          <a:noFill/>
        </p:spPr>
        <p:txBody>
          <a:bodyPr wrap="square" lIns="0" tIns="0" rIns="0" bIns="0">
            <a:spAutoFit/>
          </a:bodyPr>
          <a:lstStyle/>
          <a:p>
            <a:r>
              <a:rPr sz="1400" b="0" i="0">
                <a:solidFill>
                  <a:srgbClr val="5B6775"/>
                </a:solidFill>
                <a:latin typeface="Segoe UI"/>
              </a:rPr>
              <a:t>One file, no schedule, no catchup. It runs only when you click play.</a:t>
            </a:r>
          </a:p>
        </p:txBody>
      </p:sp>
      <p:sp>
        <p:nvSpPr>
          <p:cNvPr id="8" name="Rectangle 7"/>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17  ·  Airflow basics</a:t>
            </a:r>
          </a:p>
        </p:txBody>
      </p:sp>
      <p:sp>
        <p:nvSpPr>
          <p:cNvPr id="10" name="TextBox 9"/>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183</a:t>
            </a:r>
          </a:p>
        </p:txBody>
      </p:sp>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Best practices</a:t>
            </a:r>
          </a:p>
        </p:txBody>
      </p:sp>
      <p:sp>
        <p:nvSpPr>
          <p:cNvPr id="4" name="TextBox 3"/>
          <p:cNvSpPr txBox="1"/>
          <p:nvPr/>
        </p:nvSpPr>
        <p:spPr>
          <a:xfrm>
            <a:off x="658368" y="1481328"/>
            <a:ext cx="10874959" cy="4526280"/>
          </a:xfrm>
          <a:prstGeom prst="rect">
            <a:avLst/>
          </a:prstGeom>
          <a:noFill/>
        </p:spPr>
        <p:txBody>
          <a:bodyPr wrap="square" lIns="0" tIns="0" rIns="0" bIns="0">
            <a:spAutoFit/>
          </a:bodyPr>
          <a:lstStyle/>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Keep DAG files light, the processor re-parses them on a timer</a:t>
            </a:r>
          </a:p>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One DAG per business process, smaller DAGs fail independently</a:t>
            </a:r>
          </a:p>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Name tasks for the business process, not the technology</a:t>
            </a:r>
          </a:p>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Derive dates from an explicit argument, never datetime.now()</a:t>
            </a:r>
          </a:p>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Set max_active_runs=1 on a resource-heavy DAG, laptop-sized box</a:t>
            </a:r>
          </a:p>
        </p:txBody>
      </p:sp>
      <p:sp>
        <p:nvSpPr>
          <p:cNvPr id="5" name="Rectangle 4"/>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17  ·  Airflow basics</a:t>
            </a:r>
          </a:p>
        </p:txBody>
      </p:sp>
      <p:sp>
        <p:nvSpPr>
          <p:cNvPr id="7" name="TextBox 6"/>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184</a:t>
            </a:r>
          </a:p>
        </p:txBody>
      </p:sp>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Module 17 in one screen</a:t>
            </a:r>
          </a:p>
        </p:txBody>
      </p:sp>
      <p:sp>
        <p:nvSpPr>
          <p:cNvPr id="4" name="TextBox 3"/>
          <p:cNvSpPr txBox="1"/>
          <p:nvPr/>
        </p:nvSpPr>
        <p:spPr>
          <a:xfrm>
            <a:off x="658368" y="1481328"/>
            <a:ext cx="10874959" cy="4526280"/>
          </a:xfrm>
          <a:prstGeom prst="rect">
            <a:avLst/>
          </a:prstGeom>
          <a:noFill/>
        </p:spPr>
        <p:txBody>
          <a:bodyPr wrap="square" lIns="0" tIns="0" rIns="0" bIns="0">
            <a:spAutoFit/>
          </a:bodyPr>
          <a:lstStyle/>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The vocabulary mapping is the single most useful slide here.</a:t>
            </a:r>
          </a:p>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A task shells out to a real Spark job, never processes data.</a:t>
            </a:r>
          </a:p>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A run's logical date is the date it is FOR, not when it ran.</a:t>
            </a:r>
          </a:p>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 ds }} renders in UTC. Our lab DAG never uses a schedule.</a:t>
            </a:r>
          </a:p>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Idempotent, dynamic partition overwrite, makes a rerun safe.</a:t>
            </a:r>
          </a:p>
        </p:txBody>
      </p:sp>
      <p:sp>
        <p:nvSpPr>
          <p:cNvPr id="5" name="Rectangle 4"/>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17  ·  Airflow basics</a:t>
            </a:r>
          </a:p>
        </p:txBody>
      </p:sp>
      <p:sp>
        <p:nvSpPr>
          <p:cNvPr id="7" name="TextBox 6"/>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185</a:t>
            </a:r>
          </a:p>
        </p:txBody>
      </p:sp>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858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51560" y="2057400"/>
            <a:ext cx="9692640" cy="457200"/>
          </a:xfrm>
          <a:prstGeom prst="rect">
            <a:avLst/>
          </a:prstGeom>
          <a:noFill/>
        </p:spPr>
        <p:txBody>
          <a:bodyPr wrap="square" lIns="0" tIns="0" rIns="0" bIns="0">
            <a:spAutoFit/>
          </a:bodyPr>
          <a:lstStyle/>
          <a:p>
            <a:r>
              <a:rPr sz="1300" b="1" i="0">
                <a:solidFill>
                  <a:srgbClr val="2E74B5"/>
                </a:solidFill>
                <a:latin typeface="Segoe UI Semibold"/>
              </a:rPr>
              <a:t>MODULE 18</a:t>
            </a:r>
          </a:p>
        </p:txBody>
      </p:sp>
      <p:sp>
        <p:nvSpPr>
          <p:cNvPr id="5" name="TextBox 4"/>
          <p:cNvSpPr txBox="1"/>
          <p:nvPr/>
        </p:nvSpPr>
        <p:spPr>
          <a:xfrm>
            <a:off x="1051560" y="2578608"/>
            <a:ext cx="9692640" cy="1371600"/>
          </a:xfrm>
          <a:prstGeom prst="rect">
            <a:avLst/>
          </a:prstGeom>
          <a:noFill/>
        </p:spPr>
        <p:txBody>
          <a:bodyPr wrap="square" lIns="0" tIns="0" rIns="0" bIns="0">
            <a:spAutoFit/>
          </a:bodyPr>
          <a:lstStyle/>
          <a:p>
            <a:pPr>
              <a:lnSpc>
                <a:spcPct val="95000"/>
              </a:lnSpc>
            </a:pPr>
            <a:r>
              <a:rPr sz="4200" b="1" i="0">
                <a:solidFill>
                  <a:srgbClr val="1F4E79"/>
                </a:solidFill>
                <a:latin typeface="Segoe UI Semibold"/>
              </a:rPr>
              <a:t>Airflow scheduling lab</a:t>
            </a:r>
          </a:p>
        </p:txBody>
      </p:sp>
      <p:sp>
        <p:nvSpPr>
          <p:cNvPr id="6" name="TextBox 5"/>
          <p:cNvSpPr txBox="1"/>
          <p:nvPr/>
        </p:nvSpPr>
        <p:spPr>
          <a:xfrm>
            <a:off x="1051560" y="3950208"/>
            <a:ext cx="8778240" cy="822960"/>
          </a:xfrm>
          <a:prstGeom prst="rect">
            <a:avLst/>
          </a:prstGeom>
          <a:noFill/>
        </p:spPr>
        <p:txBody>
          <a:bodyPr wrap="square" lIns="0" tIns="0" rIns="0" bIns="0">
            <a:spAutoFit/>
          </a:bodyPr>
          <a:lstStyle/>
          <a:p>
            <a:pPr>
              <a:lnSpc>
                <a:spcPct val="115000"/>
              </a:lnSpc>
            </a:pPr>
            <a:r>
              <a:rPr sz="1700" b="0" i="0">
                <a:solidFill>
                  <a:srgbClr val="5B6775"/>
                </a:solidFill>
                <a:latin typeface="Segoe UI"/>
              </a:rPr>
              <a:t>Installing Airflow on WSL2 next to PySpark, and triggering the one pipeline DAG</a:t>
            </a:r>
          </a:p>
        </p:txBody>
      </p:sp>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58368" y="2148840"/>
            <a:ext cx="82296" cy="219456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42416" y="2084831"/>
            <a:ext cx="9777679" cy="1828800"/>
          </a:xfrm>
          <a:prstGeom prst="rect">
            <a:avLst/>
          </a:prstGeom>
          <a:noFill/>
        </p:spPr>
        <p:txBody>
          <a:bodyPr wrap="square" lIns="0" tIns="0" rIns="0" bIns="0">
            <a:spAutoFit/>
          </a:bodyPr>
          <a:lstStyle/>
          <a:p>
            <a:pPr>
              <a:lnSpc>
                <a:spcPct val="112000"/>
              </a:lnSpc>
            </a:pPr>
            <a:r>
              <a:rPr sz="3000" b="1" i="0">
                <a:solidFill>
                  <a:srgbClr val="1F4E79"/>
                </a:solidFill>
                <a:latin typeface="Segoe UI Semibold"/>
              </a:rPr>
              <a:t>Airflow and PySpark live in two separate virtual environments. Always.</a:t>
            </a:r>
          </a:p>
        </p:txBody>
      </p:sp>
      <p:sp>
        <p:nvSpPr>
          <p:cNvPr id="5" name="TextBox 4"/>
          <p:cNvSpPr txBox="1"/>
          <p:nvPr/>
        </p:nvSpPr>
        <p:spPr>
          <a:xfrm>
            <a:off x="1042416" y="4041648"/>
            <a:ext cx="9411919" cy="1005840"/>
          </a:xfrm>
          <a:prstGeom prst="rect">
            <a:avLst/>
          </a:prstGeom>
          <a:noFill/>
        </p:spPr>
        <p:txBody>
          <a:bodyPr wrap="square" lIns="0" tIns="0" rIns="0" bIns="0">
            <a:spAutoFit/>
          </a:bodyPr>
          <a:lstStyle/>
          <a:p>
            <a:pPr>
              <a:lnSpc>
                <a:spcPct val="120000"/>
              </a:lnSpc>
            </a:pPr>
            <a:r>
              <a:rPr sz="1700" b="0" i="0">
                <a:solidFill>
                  <a:srgbClr val="5B6775"/>
                </a:solidFill>
                <a:latin typeface="Segoe UI"/>
              </a:rPr>
              <a:t>Airflow ships a large, precisely pinned dependency tree of its own. Installing it into the same venv as PySpark means pip must satisfy both sets of pins at once, and it regularly cannot, usually weeks later with a confusing error.</a:t>
            </a:r>
          </a:p>
        </p:txBody>
      </p:sp>
      <p:sp>
        <p:nvSpPr>
          <p:cNvPr id="6" name="Rectangle 5"/>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18  ·  Airflow scheduling lab</a:t>
            </a:r>
          </a:p>
        </p:txBody>
      </p:sp>
      <p:sp>
        <p:nvSpPr>
          <p:cNvPr id="8" name="TextBox 7"/>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186</a:t>
            </a:r>
          </a:p>
        </p:txBody>
      </p:sp>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Two venvs, two jobs</a:t>
            </a:r>
          </a:p>
        </p:txBody>
      </p:sp>
      <p:sp>
        <p:nvSpPr>
          <p:cNvPr id="4" name="Rectangle 3"/>
          <p:cNvSpPr/>
          <p:nvPr/>
        </p:nvSpPr>
        <p:spPr>
          <a:xfrm>
            <a:off x="658368" y="1481328"/>
            <a:ext cx="5245455" cy="420624"/>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1581912"/>
            <a:ext cx="4971135" cy="274320"/>
          </a:xfrm>
          <a:prstGeom prst="rect">
            <a:avLst/>
          </a:prstGeom>
          <a:noFill/>
        </p:spPr>
        <p:txBody>
          <a:bodyPr wrap="square" lIns="0" tIns="0" rIns="0" bIns="0">
            <a:spAutoFit/>
          </a:bodyPr>
          <a:lstStyle/>
          <a:p>
            <a:r>
              <a:rPr sz="1450" b="1" i="0">
                <a:solidFill>
                  <a:srgbClr val="1F4E79"/>
                </a:solidFill>
                <a:latin typeface="Segoe UI Semibold"/>
              </a:rPr>
              <a:t>PySpark venv, already built</a:t>
            </a:r>
          </a:p>
        </p:txBody>
      </p:sp>
      <p:sp>
        <p:nvSpPr>
          <p:cNvPr id="6" name="TextBox 5"/>
          <p:cNvSpPr txBox="1"/>
          <p:nvPr/>
        </p:nvSpPr>
        <p:spPr>
          <a:xfrm>
            <a:off x="704088" y="2103120"/>
            <a:ext cx="5154015" cy="3794760"/>
          </a:xfrm>
          <a:prstGeom prst="rect">
            <a:avLst/>
          </a:prstGeom>
          <a:noFill/>
        </p:spPr>
        <p:txBody>
          <a:bodyPr wrap="square" lIns="0" tIns="0" rIns="0" bIns="0">
            <a:spAutoFit/>
          </a:bodyPr>
          <a:lstStyle/>
          <a:p>
            <a:pPr marL="274320" indent="-274320">
              <a:lnSpc>
                <a:spcPct val="118000"/>
              </a:lnSpc>
              <a:spcAft>
                <a:spcPts val="900"/>
              </a:spcAft>
            </a:pPr>
            <a:r>
              <a:rPr sz="1600" b="1" i="0">
                <a:solidFill>
                  <a:srgbClr val="2E74B5"/>
                </a:solidFill>
                <a:latin typeface="Segoe UI"/>
              </a:rPr>
              <a:t>▪   </a:t>
            </a:r>
            <a:r>
              <a:rPr sz="1600" b="0" i="0">
                <a:solidFill>
                  <a:srgbClr val="242C38"/>
                </a:solidFill>
                <a:latin typeface="Segoe UI"/>
              </a:rPr>
              <a:t>Has pyspark and this course's own packages</a:t>
            </a:r>
          </a:p>
          <a:p>
            <a:pPr marL="274320" indent="-274320">
              <a:lnSpc>
                <a:spcPct val="118000"/>
              </a:lnSpc>
              <a:spcAft>
                <a:spcPts val="900"/>
              </a:spcAft>
            </a:pPr>
            <a:r>
              <a:rPr sz="1600" b="1" i="0">
                <a:solidFill>
                  <a:srgbClr val="2E74B5"/>
                </a:solidFill>
                <a:latin typeface="Segoe UI"/>
              </a:rPr>
              <a:t>▪   </a:t>
            </a:r>
            <a:r>
              <a:rPr sz="1600" b="0" i="0">
                <a:solidFill>
                  <a:srgbClr val="242C38"/>
                </a:solidFill>
                <a:latin typeface="Segoe UI"/>
              </a:rPr>
              <a:t>Never has Airflow or any of its dependencies</a:t>
            </a:r>
          </a:p>
          <a:p>
            <a:pPr marL="274320" indent="-274320">
              <a:lnSpc>
                <a:spcPct val="118000"/>
              </a:lnSpc>
              <a:spcAft>
                <a:spcPts val="900"/>
              </a:spcAft>
            </a:pPr>
            <a:r>
              <a:rPr sz="1600" b="1" i="0">
                <a:solidFill>
                  <a:srgbClr val="2E74B5"/>
                </a:solidFill>
                <a:latin typeface="Segoe UI"/>
              </a:rPr>
              <a:t>▪   </a:t>
            </a:r>
            <a:r>
              <a:rPr sz="1600" b="0" i="0">
                <a:solidFill>
                  <a:srgbClr val="242C38"/>
                </a:solidFill>
                <a:latin typeface="Segoe UI"/>
              </a:rPr>
              <a:t>Only ever runs labs/17_lab_pipeline.py directly</a:t>
            </a:r>
          </a:p>
        </p:txBody>
      </p:sp>
      <p:sp>
        <p:nvSpPr>
          <p:cNvPr id="7" name="Rectangle 6"/>
          <p:cNvSpPr/>
          <p:nvPr/>
        </p:nvSpPr>
        <p:spPr>
          <a:xfrm>
            <a:off x="6287871" y="1481328"/>
            <a:ext cx="5245455" cy="420624"/>
          </a:xfrm>
          <a:prstGeom prst="rect">
            <a:avLst/>
          </a:prstGeom>
          <a:solidFill>
            <a:srgbClr val="FFFFFF"/>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52463" y="1581912"/>
            <a:ext cx="4971135" cy="274320"/>
          </a:xfrm>
          <a:prstGeom prst="rect">
            <a:avLst/>
          </a:prstGeom>
          <a:noFill/>
        </p:spPr>
        <p:txBody>
          <a:bodyPr wrap="square" lIns="0" tIns="0" rIns="0" bIns="0">
            <a:spAutoFit/>
          </a:bodyPr>
          <a:lstStyle/>
          <a:p>
            <a:r>
              <a:rPr sz="1450" b="1" i="0">
                <a:solidFill>
                  <a:srgbClr val="5B6775"/>
                </a:solidFill>
                <a:latin typeface="Segoe UI Semibold"/>
              </a:rPr>
              <a:t>Airflow venv, this module</a:t>
            </a:r>
          </a:p>
        </p:txBody>
      </p:sp>
      <p:sp>
        <p:nvSpPr>
          <p:cNvPr id="9" name="TextBox 8"/>
          <p:cNvSpPr txBox="1"/>
          <p:nvPr/>
        </p:nvSpPr>
        <p:spPr>
          <a:xfrm>
            <a:off x="6333591" y="2103120"/>
            <a:ext cx="5154015" cy="3794760"/>
          </a:xfrm>
          <a:prstGeom prst="rect">
            <a:avLst/>
          </a:prstGeom>
          <a:noFill/>
        </p:spPr>
        <p:txBody>
          <a:bodyPr wrap="square" lIns="0" tIns="0" rIns="0" bIns="0">
            <a:spAutoFit/>
          </a:bodyPr>
          <a:lstStyle/>
          <a:p>
            <a:pPr marL="274320" indent="-274320">
              <a:lnSpc>
                <a:spcPct val="118000"/>
              </a:lnSpc>
              <a:spcAft>
                <a:spcPts val="900"/>
              </a:spcAft>
            </a:pPr>
            <a:r>
              <a:rPr sz="1600" b="1" i="0">
                <a:solidFill>
                  <a:srgbClr val="2E74B5"/>
                </a:solidFill>
                <a:latin typeface="Segoe UI"/>
              </a:rPr>
              <a:t>▪   </a:t>
            </a:r>
            <a:r>
              <a:rPr sz="1600" b="0" i="0">
                <a:solidFill>
                  <a:srgbClr val="242C38"/>
                </a:solidFill>
                <a:latin typeface="Segoe UI"/>
              </a:rPr>
              <a:t>Has apache-airflow, nothing else</a:t>
            </a:r>
          </a:p>
          <a:p>
            <a:pPr marL="274320" indent="-274320">
              <a:lnSpc>
                <a:spcPct val="118000"/>
              </a:lnSpc>
              <a:spcAft>
                <a:spcPts val="900"/>
              </a:spcAft>
            </a:pPr>
            <a:r>
              <a:rPr sz="1600" b="1" i="0">
                <a:solidFill>
                  <a:srgbClr val="2E74B5"/>
                </a:solidFill>
                <a:latin typeface="Segoe UI"/>
              </a:rPr>
              <a:t>▪   </a:t>
            </a:r>
            <a:r>
              <a:rPr sz="1600" b="0" i="0">
                <a:solidFill>
                  <a:srgbClr val="242C38"/>
                </a:solidFill>
                <a:latin typeface="Segoe UI"/>
              </a:rPr>
              <a:t>Never imports pyspark itself</a:t>
            </a:r>
          </a:p>
          <a:p>
            <a:pPr marL="274320" indent="-274320">
              <a:lnSpc>
                <a:spcPct val="118000"/>
              </a:lnSpc>
              <a:spcAft>
                <a:spcPts val="900"/>
              </a:spcAft>
            </a:pPr>
            <a:r>
              <a:rPr sz="1600" b="1" i="0">
                <a:solidFill>
                  <a:srgbClr val="2E74B5"/>
                </a:solidFill>
                <a:latin typeface="Segoe UI"/>
              </a:rPr>
              <a:t>▪   </a:t>
            </a:r>
            <a:r>
              <a:rPr sz="1600" b="0" i="0">
                <a:solidFill>
                  <a:srgbClr val="242C38"/>
                </a:solidFill>
                <a:latin typeface="Segoe UI"/>
              </a:rPr>
              <a:t>Only ever shells out to the other venv's python</a:t>
            </a:r>
          </a:p>
        </p:txBody>
      </p:sp>
      <p:sp>
        <p:nvSpPr>
          <p:cNvPr id="10" name="Rectangle 9"/>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18  ·  Airflow scheduling lab</a:t>
            </a:r>
          </a:p>
        </p:txBody>
      </p:sp>
      <p:sp>
        <p:nvSpPr>
          <p:cNvPr id="12" name="TextBox 11"/>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187</a:t>
            </a:r>
          </a:p>
        </p:txBody>
      </p:sp>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Install Airflow with a pinned constraints file</a:t>
            </a:r>
          </a:p>
        </p:txBody>
      </p:sp>
      <p:sp>
        <p:nvSpPr>
          <p:cNvPr id="4" name="Rectangle 3"/>
          <p:cNvSpPr/>
          <p:nvPr/>
        </p:nvSpPr>
        <p:spPr>
          <a:xfrm>
            <a:off x="658368" y="1481328"/>
            <a:ext cx="10874959" cy="2157984"/>
          </a:xfrm>
          <a:prstGeom prst="rect">
            <a:avLst/>
          </a:prstGeom>
          <a:solidFill>
            <a:srgbClr val="F5F7F9"/>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81328"/>
            <a:ext cx="43180" cy="2157984"/>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77824" y="1645920"/>
            <a:ext cx="10509199" cy="1883664"/>
          </a:xfrm>
          <a:prstGeom prst="rect">
            <a:avLst/>
          </a:prstGeom>
          <a:noFill/>
        </p:spPr>
        <p:txBody>
          <a:bodyPr wrap="square" lIns="0" tIns="0" rIns="0" bIns="0">
            <a:spAutoFit/>
          </a:bodyPr>
          <a:lstStyle/>
          <a:p>
            <a:pPr>
              <a:lnSpc>
                <a:spcPct val="116000"/>
              </a:lnSpc>
              <a:spcAft>
                <a:spcPts val="0"/>
              </a:spcAft>
            </a:pPr>
            <a:r>
              <a:rPr sz="1500" b="0" i="0">
                <a:solidFill>
                  <a:srgbClr val="242C38"/>
                </a:solidFill>
                <a:latin typeface="Consolas"/>
              </a:rPr>
              <a:t>python3 -m venv airflow-venv</a:t>
            </a:r>
          </a:p>
          <a:p>
            <a:pPr>
              <a:lnSpc>
                <a:spcPct val="116000"/>
              </a:lnSpc>
              <a:spcAft>
                <a:spcPts val="0"/>
              </a:spcAft>
            </a:pPr>
            <a:r>
              <a:rPr sz="1500" b="0" i="0">
                <a:solidFill>
                  <a:srgbClr val="242C38"/>
                </a:solidFill>
                <a:latin typeface="Consolas"/>
              </a:rPr>
              <a:t>source airflow-venv/bin/activate</a:t>
            </a:r>
          </a:p>
          <a:p>
            <a:pPr>
              <a:lnSpc>
                <a:spcPct val="116000"/>
              </a:lnSpc>
              <a:spcAft>
                <a:spcPts val="0"/>
              </a:spcAft>
            </a:pPr>
            <a:r>
              <a:rPr sz="1500" b="0" i="0">
                <a:solidFill>
                  <a:srgbClr val="242C38"/>
                </a:solidFill>
                <a:latin typeface="Consolas"/>
              </a:rPr>
              <a:t>python -m pip install --upgrade pip</a:t>
            </a:r>
          </a:p>
          <a:p>
            <a:pPr>
              <a:lnSpc>
                <a:spcPct val="116000"/>
              </a:lnSpc>
              <a:spcAft>
                <a:spcPts val="0"/>
              </a:spcAft>
            </a:pPr>
            <a:r>
              <a:rPr sz="1500" b="0" i="0">
                <a:solidFill>
                  <a:srgbClr val="242C38"/>
                </a:solidFill>
                <a:latin typeface="Consolas"/>
              </a:rPr>
              <a:t> </a:t>
            </a:r>
          </a:p>
          <a:p>
            <a:pPr>
              <a:lnSpc>
                <a:spcPct val="116000"/>
              </a:lnSpc>
              <a:spcAft>
                <a:spcPts val="0"/>
              </a:spcAft>
            </a:pPr>
            <a:r>
              <a:rPr sz="1500" b="0" i="0">
                <a:solidFill>
                  <a:srgbClr val="242C38"/>
                </a:solidFill>
                <a:latin typeface="Consolas"/>
              </a:rPr>
              <a:t>pip install </a:t>
            </a:r>
            <a:r>
              <a:rPr sz="1500" b="0" i="0">
                <a:solidFill>
                  <a:srgbClr val="A31515"/>
                </a:solidFill>
                <a:latin typeface="Consolas"/>
              </a:rPr>
              <a:t>"apache-airflow==2.10.5"</a:t>
            </a:r>
            <a:r>
              <a:rPr sz="1500" b="0" i="0">
                <a:solidFill>
                  <a:srgbClr val="242C38"/>
                </a:solidFill>
                <a:latin typeface="Consolas"/>
              </a:rPr>
              <a:t> \</a:t>
            </a:r>
          </a:p>
          <a:p>
            <a:pPr>
              <a:lnSpc>
                <a:spcPct val="116000"/>
              </a:lnSpc>
              <a:spcAft>
                <a:spcPts val="0"/>
              </a:spcAft>
            </a:pPr>
            <a:r>
              <a:rPr sz="1500" b="0" i="0">
                <a:solidFill>
                  <a:srgbClr val="242C38"/>
                </a:solidFill>
                <a:latin typeface="Consolas"/>
              </a:rPr>
              <a:t>  --constraint </a:t>
            </a:r>
            <a:r>
              <a:rPr sz="1500" b="0" i="0">
                <a:solidFill>
                  <a:srgbClr val="A31515"/>
                </a:solidFill>
                <a:latin typeface="Consolas"/>
              </a:rPr>
              <a:t>".../constraints-2.10.5/constraints-3.11.txt"</a:t>
            </a:r>
          </a:p>
        </p:txBody>
      </p:sp>
      <p:sp>
        <p:nvSpPr>
          <p:cNvPr id="7" name="TextBox 6"/>
          <p:cNvSpPr txBox="1"/>
          <p:nvPr/>
        </p:nvSpPr>
        <p:spPr>
          <a:xfrm>
            <a:off x="658368" y="3785616"/>
            <a:ext cx="10874959" cy="457200"/>
          </a:xfrm>
          <a:prstGeom prst="rect">
            <a:avLst/>
          </a:prstGeom>
          <a:noFill/>
        </p:spPr>
        <p:txBody>
          <a:bodyPr wrap="square" lIns="0" tIns="0" rIns="0" bIns="0">
            <a:spAutoFit/>
          </a:bodyPr>
          <a:lstStyle/>
          <a:p>
            <a:r>
              <a:rPr sz="1400" b="0" i="0">
                <a:solidFill>
                  <a:srgbClr val="5B6775"/>
                </a:solidFill>
                <a:latin typeface="Segoe UI"/>
              </a:rPr>
              <a:t>Installing without --constraint is how a webserver ends up unable to start.</a:t>
            </a:r>
          </a:p>
        </p:txBody>
      </p:sp>
      <p:sp>
        <p:nvSpPr>
          <p:cNvPr id="8" name="Rectangle 7"/>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18  ·  Airflow scheduling lab</a:t>
            </a:r>
          </a:p>
        </p:txBody>
      </p:sp>
      <p:sp>
        <p:nvSpPr>
          <p:cNvPr id="10" name="TextBox 9"/>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188</a:t>
            </a:r>
          </a:p>
        </p:txBody>
      </p:sp>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AIRFLOW_HOME, the database, a user</a:t>
            </a:r>
          </a:p>
        </p:txBody>
      </p:sp>
      <p:sp>
        <p:nvSpPr>
          <p:cNvPr id="4" name="Rectangle 3"/>
          <p:cNvSpPr/>
          <p:nvPr/>
        </p:nvSpPr>
        <p:spPr>
          <a:xfrm>
            <a:off x="658368" y="1481328"/>
            <a:ext cx="10874959" cy="2447544"/>
          </a:xfrm>
          <a:prstGeom prst="rect">
            <a:avLst/>
          </a:prstGeom>
          <a:solidFill>
            <a:srgbClr val="F5F7F9"/>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81328"/>
            <a:ext cx="43180" cy="2447544"/>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77824" y="1645920"/>
            <a:ext cx="10509199" cy="2173224"/>
          </a:xfrm>
          <a:prstGeom prst="rect">
            <a:avLst/>
          </a:prstGeom>
          <a:noFill/>
        </p:spPr>
        <p:txBody>
          <a:bodyPr wrap="square" lIns="0" tIns="0" rIns="0" bIns="0">
            <a:spAutoFit/>
          </a:bodyPr>
          <a:lstStyle/>
          <a:p>
            <a:pPr>
              <a:lnSpc>
                <a:spcPct val="116000"/>
              </a:lnSpc>
              <a:spcAft>
                <a:spcPts val="0"/>
              </a:spcAft>
            </a:pPr>
            <a:r>
              <a:rPr sz="1500" b="0" i="0">
                <a:solidFill>
                  <a:srgbClr val="242C38"/>
                </a:solidFill>
                <a:latin typeface="Consolas"/>
              </a:rPr>
              <a:t>export AIRFLOW_HOME=~/airflow</a:t>
            </a:r>
          </a:p>
          <a:p>
            <a:pPr>
              <a:lnSpc>
                <a:spcPct val="116000"/>
              </a:lnSpc>
              <a:spcAft>
                <a:spcPts val="0"/>
              </a:spcAft>
            </a:pPr>
            <a:r>
              <a:rPr sz="1500" b="0" i="0">
                <a:solidFill>
                  <a:srgbClr val="242C38"/>
                </a:solidFill>
                <a:latin typeface="Consolas"/>
              </a:rPr>
              <a:t>export AIRFLOW__CORE__DAGS_FOLDER=.../airflow/dags</a:t>
            </a:r>
          </a:p>
          <a:p>
            <a:pPr>
              <a:lnSpc>
                <a:spcPct val="116000"/>
              </a:lnSpc>
              <a:spcAft>
                <a:spcPts val="0"/>
              </a:spcAft>
            </a:pPr>
            <a:r>
              <a:rPr sz="1500" b="0" i="0">
                <a:solidFill>
                  <a:srgbClr val="242C38"/>
                </a:solidFill>
                <a:latin typeface="Consolas"/>
              </a:rPr>
              <a:t>export AIRFLOW__CORE__LOAD_EXAMPLES=false</a:t>
            </a:r>
          </a:p>
          <a:p>
            <a:pPr>
              <a:lnSpc>
                <a:spcPct val="116000"/>
              </a:lnSpc>
              <a:spcAft>
                <a:spcPts val="0"/>
              </a:spcAft>
            </a:pPr>
            <a:r>
              <a:rPr sz="1500" b="0" i="0">
                <a:solidFill>
                  <a:srgbClr val="242C38"/>
                </a:solidFill>
                <a:latin typeface="Consolas"/>
              </a:rPr>
              <a:t> </a:t>
            </a:r>
          </a:p>
          <a:p>
            <a:pPr>
              <a:lnSpc>
                <a:spcPct val="116000"/>
              </a:lnSpc>
              <a:spcAft>
                <a:spcPts val="0"/>
              </a:spcAft>
            </a:pPr>
            <a:r>
              <a:rPr sz="1500" b="0" i="0">
                <a:solidFill>
                  <a:srgbClr val="242C38"/>
                </a:solidFill>
                <a:latin typeface="Consolas"/>
              </a:rPr>
              <a:t>airflow db migrate</a:t>
            </a:r>
          </a:p>
          <a:p>
            <a:pPr>
              <a:lnSpc>
                <a:spcPct val="116000"/>
              </a:lnSpc>
              <a:spcAft>
                <a:spcPts val="0"/>
              </a:spcAft>
            </a:pPr>
            <a:r>
              <a:rPr sz="1500" b="0" i="0">
                <a:solidFill>
                  <a:srgbClr val="242C38"/>
                </a:solidFill>
                <a:latin typeface="Consolas"/>
              </a:rPr>
              <a:t>airflow users create --username admin --password admin \</a:t>
            </a:r>
          </a:p>
          <a:p>
            <a:pPr>
              <a:lnSpc>
                <a:spcPct val="116000"/>
              </a:lnSpc>
              <a:spcAft>
                <a:spcPts val="0"/>
              </a:spcAft>
            </a:pPr>
            <a:r>
              <a:rPr sz="1500" b="0" i="0">
                <a:solidFill>
                  <a:srgbClr val="242C38"/>
                </a:solidFill>
                <a:latin typeface="Consolas"/>
              </a:rPr>
              <a:t>  --firstname Bank --lastname Trainee --role Admin</a:t>
            </a:r>
          </a:p>
        </p:txBody>
      </p:sp>
      <p:sp>
        <p:nvSpPr>
          <p:cNvPr id="7" name="TextBox 6"/>
          <p:cNvSpPr txBox="1"/>
          <p:nvPr/>
        </p:nvSpPr>
        <p:spPr>
          <a:xfrm>
            <a:off x="658368" y="4075176"/>
            <a:ext cx="10874959" cy="457200"/>
          </a:xfrm>
          <a:prstGeom prst="rect">
            <a:avLst/>
          </a:prstGeom>
          <a:noFill/>
        </p:spPr>
        <p:txBody>
          <a:bodyPr wrap="square" lIns="0" tIns="0" rIns="0" bIns="0">
            <a:spAutoFit/>
          </a:bodyPr>
          <a:lstStyle/>
          <a:p>
            <a:r>
              <a:rPr sz="1400" b="0" i="0">
                <a:solidFill>
                  <a:srgbClr val="5B6775"/>
                </a:solidFill>
                <a:latin typeface="Segoe UI"/>
              </a:rPr>
              <a:t>Export these in .bashrc, or a fresh terminal cannot find a DAG that worked before.</a:t>
            </a:r>
          </a:p>
        </p:txBody>
      </p:sp>
      <p:sp>
        <p:nvSpPr>
          <p:cNvPr id="8" name="Rectangle 7"/>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18  ·  Airflow scheduling lab</a:t>
            </a:r>
          </a:p>
        </p:txBody>
      </p:sp>
      <p:sp>
        <p:nvSpPr>
          <p:cNvPr id="10" name="TextBox 9"/>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189</a:t>
            </a:r>
          </a:p>
        </p:txBody>
      </p:sp>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Start it, reach it from Windows</a:t>
            </a:r>
          </a:p>
        </p:txBody>
      </p:sp>
      <p:sp>
        <p:nvSpPr>
          <p:cNvPr id="4" name="Rectangle 3"/>
          <p:cNvSpPr/>
          <p:nvPr/>
        </p:nvSpPr>
        <p:spPr>
          <a:xfrm>
            <a:off x="658368" y="1481328"/>
            <a:ext cx="10874959" cy="1868424"/>
          </a:xfrm>
          <a:prstGeom prst="rect">
            <a:avLst/>
          </a:prstGeom>
          <a:solidFill>
            <a:srgbClr val="F5F7F9"/>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81328"/>
            <a:ext cx="43180" cy="1868424"/>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77824" y="1645920"/>
            <a:ext cx="10509199" cy="1594104"/>
          </a:xfrm>
          <a:prstGeom prst="rect">
            <a:avLst/>
          </a:prstGeom>
          <a:noFill/>
        </p:spPr>
        <p:txBody>
          <a:bodyPr wrap="square" lIns="0" tIns="0" rIns="0" bIns="0">
            <a:spAutoFit/>
          </a:bodyPr>
          <a:lstStyle/>
          <a:p>
            <a:pPr>
              <a:lnSpc>
                <a:spcPct val="116000"/>
              </a:lnSpc>
              <a:spcAft>
                <a:spcPts val="0"/>
              </a:spcAft>
            </a:pPr>
            <a:r>
              <a:rPr sz="1500" b="0" i="0">
                <a:solidFill>
                  <a:srgbClr val="242C38"/>
                </a:solidFill>
                <a:latin typeface="Consolas"/>
              </a:rPr>
              <a:t>airflow standalone</a:t>
            </a:r>
          </a:p>
          <a:p>
            <a:pPr>
              <a:lnSpc>
                <a:spcPct val="116000"/>
              </a:lnSpc>
              <a:spcAft>
                <a:spcPts val="0"/>
              </a:spcAft>
            </a:pPr>
            <a:r>
              <a:rPr sz="1500" b="0" i="1">
                <a:solidFill>
                  <a:srgbClr val="6F865C"/>
                </a:solidFill>
                <a:latin typeface="Consolas"/>
              </a:rPr>
              <a:t># scheduler, webserver, triggerer, all one process</a:t>
            </a:r>
          </a:p>
          <a:p>
            <a:pPr>
              <a:lnSpc>
                <a:spcPct val="116000"/>
              </a:lnSpc>
              <a:spcAft>
                <a:spcPts val="0"/>
              </a:spcAft>
            </a:pPr>
            <a:r>
              <a:rPr sz="1500" b="0" i="0">
                <a:solidFill>
                  <a:srgbClr val="242C38"/>
                </a:solidFill>
                <a:latin typeface="Consolas"/>
              </a:rPr>
              <a:t> </a:t>
            </a:r>
          </a:p>
          <a:p>
            <a:pPr>
              <a:lnSpc>
                <a:spcPct val="116000"/>
              </a:lnSpc>
              <a:spcAft>
                <a:spcPts val="0"/>
              </a:spcAft>
            </a:pPr>
            <a:r>
              <a:rPr sz="1500" b="0" i="1">
                <a:solidFill>
                  <a:srgbClr val="6F865C"/>
                </a:solidFill>
                <a:latin typeface="Consolas"/>
              </a:rPr>
              <a:t># open http://localhost:8080 in your Windows browser</a:t>
            </a:r>
          </a:p>
          <a:p>
            <a:pPr>
              <a:lnSpc>
                <a:spcPct val="116000"/>
              </a:lnSpc>
              <a:spcAft>
                <a:spcPts val="0"/>
              </a:spcAft>
            </a:pPr>
            <a:r>
              <a:rPr sz="1500" b="0" i="1">
                <a:solidFill>
                  <a:srgbClr val="6F865C"/>
                </a:solidFill>
                <a:latin typeface="Consolas"/>
              </a:rPr>
              <a:t># WSL2 forwards localhost automatically for most setups</a:t>
            </a:r>
          </a:p>
        </p:txBody>
      </p:sp>
      <p:sp>
        <p:nvSpPr>
          <p:cNvPr id="7" name="TextBox 6"/>
          <p:cNvSpPr txBox="1"/>
          <p:nvPr/>
        </p:nvSpPr>
        <p:spPr>
          <a:xfrm>
            <a:off x="658368" y="3496056"/>
            <a:ext cx="10874959" cy="457200"/>
          </a:xfrm>
          <a:prstGeom prst="rect">
            <a:avLst/>
          </a:prstGeom>
          <a:noFill/>
        </p:spPr>
        <p:txBody>
          <a:bodyPr wrap="square" lIns="0" tIns="0" rIns="0" bIns="0">
            <a:spAutoFit/>
          </a:bodyPr>
          <a:lstStyle/>
          <a:p>
            <a:r>
              <a:rPr sz="1400" b="0" i="0">
                <a:solidFill>
                  <a:srgbClr val="5B6775"/>
                </a:solidFill>
                <a:latin typeface="Segoe UI"/>
              </a:rPr>
              <a:t>Skip users create and standalone prints a generated admin password.</a:t>
            </a:r>
          </a:p>
        </p:txBody>
      </p:sp>
      <p:sp>
        <p:nvSpPr>
          <p:cNvPr id="8" name="Rectangle 7"/>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18  ·  Airflow scheduling lab</a:t>
            </a:r>
          </a:p>
        </p:txBody>
      </p:sp>
      <p:sp>
        <p:nvSpPr>
          <p:cNvPr id="10" name="TextBox 9"/>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190</a:t>
            </a:r>
          </a:p>
        </p:txBody>
      </p:sp>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Editing the three constants</a:t>
            </a:r>
          </a:p>
        </p:txBody>
      </p:sp>
      <p:graphicFrame>
        <p:nvGraphicFramePr>
          <p:cNvPr id="4" name="Table 3"/>
          <p:cNvGraphicFramePr>
            <a:graphicFrameLocks noGrp="1"/>
          </p:cNvGraphicFramePr>
          <p:nvPr/>
        </p:nvGraphicFramePr>
        <p:xfrm>
          <a:off x="658368" y="1481328"/>
          <a:ext cx="10874958" cy="1828800"/>
        </p:xfrm>
        <a:graphic>
          <a:graphicData uri="http://schemas.openxmlformats.org/drawingml/2006/table">
            <a:tbl>
              <a:tblPr firstRow="1" bandRow="1">
                <a:tableStyleId>{5C22544A-7EE6-4342-B048-85BDC9FD1C3A}</a:tableStyleId>
              </a:tblPr>
              <a:tblGrid>
                <a:gridCol w="3434197">
                  <a:extLst>
                    <a:ext uri="{9D8B030D-6E8A-4147-A177-3AD203B41FA5}">
                      <a16:colId xmlns:a16="http://schemas.microsoft.com/office/drawing/2014/main" val="20000"/>
                    </a:ext>
                  </a:extLst>
                </a:gridCol>
                <a:gridCol w="7440761">
                  <a:extLst>
                    <a:ext uri="{9D8B030D-6E8A-4147-A177-3AD203B41FA5}">
                      <a16:colId xmlns:a16="http://schemas.microsoft.com/office/drawing/2014/main" val="20001"/>
                    </a:ext>
                  </a:extLst>
                </a:gridCol>
              </a:tblGrid>
              <a:tr h="402336">
                <a:tc>
                  <a:txBody>
                    <a:bodyPr/>
                    <a:lstStyle/>
                    <a:p>
                      <a:r>
                        <a:rPr sz="1450" b="1" i="0">
                          <a:solidFill>
                            <a:srgbClr val="FFFFFF"/>
                          </a:solidFill>
                          <a:latin typeface="Segoe UI Semibold"/>
                        </a:rPr>
                        <a:t>Constant</a:t>
                      </a:r>
                    </a:p>
                  </a:txBody>
                  <a:tcPr anchor="ctr">
                    <a:solidFill>
                      <a:srgbClr val="1F4E79"/>
                    </a:solidFill>
                  </a:tcPr>
                </a:tc>
                <a:tc>
                  <a:txBody>
                    <a:bodyPr/>
                    <a:lstStyle/>
                    <a:p>
                      <a:r>
                        <a:rPr sz="1450" b="1" i="0">
                          <a:solidFill>
                            <a:srgbClr val="FFFFFF"/>
                          </a:solidFill>
                          <a:latin typeface="Segoe UI Semibold"/>
                        </a:rPr>
                        <a:t>Set it to</a:t>
                      </a:r>
                    </a:p>
                  </a:txBody>
                  <a:tcPr anchor="ctr">
                    <a:solidFill>
                      <a:srgbClr val="1F4E79"/>
                    </a:solidFill>
                  </a:tcPr>
                </a:tc>
                <a:extLst>
                  <a:ext uri="{0D108BD9-81ED-4DB2-BD59-A6C34878D82A}">
                    <a16:rowId xmlns:a16="http://schemas.microsoft.com/office/drawing/2014/main" val="10000"/>
                  </a:ext>
                </a:extLst>
              </a:tr>
              <a:tr h="475488">
                <a:tc>
                  <a:txBody>
                    <a:bodyPr/>
                    <a:lstStyle/>
                    <a:p>
                      <a:pPr>
                        <a:lnSpc>
                          <a:spcPct val="106000"/>
                        </a:lnSpc>
                      </a:pPr>
                      <a:r>
                        <a:rPr sz="1350" b="0" i="0">
                          <a:solidFill>
                            <a:srgbClr val="2E74B5"/>
                          </a:solidFill>
                          <a:latin typeface="Consolas"/>
                        </a:rPr>
                        <a:t>PROJECT</a:t>
                      </a:r>
                    </a:p>
                  </a:txBody>
                  <a:tcPr marT="36576" marB="36576" anchor="ctr">
                    <a:solidFill>
                      <a:srgbClr val="EEF3F8"/>
                    </a:solidFill>
                  </a:tcPr>
                </a:tc>
                <a:tc>
                  <a:txBody>
                    <a:bodyPr/>
                    <a:lstStyle/>
                    <a:p>
                      <a:pPr>
                        <a:lnSpc>
                          <a:spcPct val="106000"/>
                        </a:lnSpc>
                      </a:pPr>
                      <a:r>
                        <a:rPr sz="1400" b="0" i="0">
                          <a:solidFill>
                            <a:srgbClr val="242C38"/>
                          </a:solidFill>
                          <a:latin typeface="Segoe UI"/>
                        </a:rPr>
                        <a:t>path to spark-banking-training on your machine</a:t>
                      </a:r>
                    </a:p>
                  </a:txBody>
                  <a:tcPr marT="36576" marB="36576" anchor="ctr">
                    <a:solidFill>
                      <a:srgbClr val="EEF3F8"/>
                    </a:solidFill>
                  </a:tcPr>
                </a:tc>
                <a:extLst>
                  <a:ext uri="{0D108BD9-81ED-4DB2-BD59-A6C34878D82A}">
                    <a16:rowId xmlns:a16="http://schemas.microsoft.com/office/drawing/2014/main" val="10001"/>
                  </a:ext>
                </a:extLst>
              </a:tr>
              <a:tr h="475488">
                <a:tc>
                  <a:txBody>
                    <a:bodyPr/>
                    <a:lstStyle/>
                    <a:p>
                      <a:pPr>
                        <a:lnSpc>
                          <a:spcPct val="106000"/>
                        </a:lnSpc>
                      </a:pPr>
                      <a:r>
                        <a:rPr sz="1350" b="0" i="0">
                          <a:solidFill>
                            <a:srgbClr val="2E74B5"/>
                          </a:solidFill>
                          <a:latin typeface="Consolas"/>
                        </a:rPr>
                        <a:t>PYTHON</a:t>
                      </a:r>
                    </a:p>
                  </a:txBody>
                  <a:tcPr marT="36576" marB="36576" anchor="ctr">
                    <a:solidFill>
                      <a:srgbClr val="FFFFFF"/>
                    </a:solidFill>
                  </a:tcPr>
                </a:tc>
                <a:tc>
                  <a:txBody>
                    <a:bodyPr/>
                    <a:lstStyle/>
                    <a:p>
                      <a:pPr>
                        <a:lnSpc>
                          <a:spcPct val="106000"/>
                        </a:lnSpc>
                      </a:pPr>
                      <a:r>
                        <a:rPr sz="1400" b="0" i="0">
                          <a:solidFill>
                            <a:srgbClr val="242C38"/>
                          </a:solidFill>
                          <a:latin typeface="Segoe UI"/>
                        </a:rPr>
                        <a:t>path to the PySpark venv's python, not Airflow's</a:t>
                      </a:r>
                    </a:p>
                  </a:txBody>
                  <a:tcPr marT="36576" marB="36576" anchor="ctr">
                    <a:solidFill>
                      <a:srgbClr val="FFFFFF"/>
                    </a:solidFill>
                  </a:tcPr>
                </a:tc>
                <a:extLst>
                  <a:ext uri="{0D108BD9-81ED-4DB2-BD59-A6C34878D82A}">
                    <a16:rowId xmlns:a16="http://schemas.microsoft.com/office/drawing/2014/main" val="10002"/>
                  </a:ext>
                </a:extLst>
              </a:tr>
              <a:tr h="475488">
                <a:tc>
                  <a:txBody>
                    <a:bodyPr/>
                    <a:lstStyle/>
                    <a:p>
                      <a:pPr>
                        <a:lnSpc>
                          <a:spcPct val="106000"/>
                        </a:lnSpc>
                      </a:pPr>
                      <a:r>
                        <a:rPr sz="1350" b="0" i="0">
                          <a:solidFill>
                            <a:srgbClr val="2E74B5"/>
                          </a:solidFill>
                          <a:latin typeface="Consolas"/>
                        </a:rPr>
                        <a:t>RUN_DATE</a:t>
                      </a:r>
                    </a:p>
                  </a:txBody>
                  <a:tcPr marT="36576" marB="36576" anchor="ctr">
                    <a:solidFill>
                      <a:srgbClr val="EEF3F8"/>
                    </a:solidFill>
                  </a:tcPr>
                </a:tc>
                <a:tc>
                  <a:txBody>
                    <a:bodyPr/>
                    <a:lstStyle/>
                    <a:p>
                      <a:pPr>
                        <a:lnSpc>
                          <a:spcPct val="106000"/>
                        </a:lnSpc>
                      </a:pPr>
                      <a:r>
                        <a:rPr sz="1400" b="0" i="0">
                          <a:solidFill>
                            <a:srgbClr val="242C38"/>
                          </a:solidFill>
                          <a:latin typeface="Segoe UI"/>
                        </a:rPr>
                        <a:t>which available date to run with no trigger config</a:t>
                      </a:r>
                    </a:p>
                  </a:txBody>
                  <a:tcPr marT="36576" marB="36576" anchor="ctr">
                    <a:solidFill>
                      <a:srgbClr val="EEF3F8"/>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658368" y="5724144"/>
            <a:ext cx="10874959" cy="502920"/>
          </a:xfrm>
          <a:prstGeom prst="rect">
            <a:avLst/>
          </a:prstGeom>
          <a:noFill/>
        </p:spPr>
        <p:txBody>
          <a:bodyPr wrap="square" lIns="0" tIns="0" rIns="0" bIns="0">
            <a:spAutoFit/>
          </a:bodyPr>
          <a:lstStyle/>
          <a:p>
            <a:r>
              <a:rPr sz="1300" b="0" i="1">
                <a:solidFill>
                  <a:srgbClr val="5B6775"/>
                </a:solidFill>
                <a:latin typeface="Segoe UI"/>
              </a:rPr>
              <a:t>The only project-specific setup bank_pipeline.py needs.</a:t>
            </a:r>
          </a:p>
        </p:txBody>
      </p:sp>
      <p:sp>
        <p:nvSpPr>
          <p:cNvPr id="6" name="Rectangle 5"/>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18  ·  Airflow scheduling lab</a:t>
            </a:r>
          </a:p>
        </p:txBody>
      </p:sp>
      <p:sp>
        <p:nvSpPr>
          <p:cNvPr id="8" name="TextBox 7"/>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191</a:t>
            </a:r>
          </a:p>
        </p:txBody>
      </p:sp>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Trigger the DAG for a specific date</a:t>
            </a:r>
          </a:p>
        </p:txBody>
      </p:sp>
      <p:sp>
        <p:nvSpPr>
          <p:cNvPr id="4" name="Rectangle 3"/>
          <p:cNvSpPr/>
          <p:nvPr/>
        </p:nvSpPr>
        <p:spPr>
          <a:xfrm>
            <a:off x="658368" y="1481328"/>
            <a:ext cx="10874959" cy="2447544"/>
          </a:xfrm>
          <a:prstGeom prst="rect">
            <a:avLst/>
          </a:prstGeom>
          <a:solidFill>
            <a:srgbClr val="F5F7F9"/>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81328"/>
            <a:ext cx="43180" cy="2447544"/>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77824" y="1645920"/>
            <a:ext cx="10509199" cy="2173224"/>
          </a:xfrm>
          <a:prstGeom prst="rect">
            <a:avLst/>
          </a:prstGeom>
          <a:noFill/>
        </p:spPr>
        <p:txBody>
          <a:bodyPr wrap="square" lIns="0" tIns="0" rIns="0" bIns="0">
            <a:spAutoFit/>
          </a:bodyPr>
          <a:lstStyle/>
          <a:p>
            <a:pPr>
              <a:lnSpc>
                <a:spcPct val="116000"/>
              </a:lnSpc>
              <a:spcAft>
                <a:spcPts val="0"/>
              </a:spcAft>
            </a:pPr>
            <a:r>
              <a:rPr sz="1500" b="0" i="0">
                <a:solidFill>
                  <a:srgbClr val="242C38"/>
                </a:solidFill>
                <a:latin typeface="Consolas"/>
              </a:rPr>
              <a:t># unpause bank_pipeline, then click the play button</a:t>
            </a:r>
          </a:p>
          <a:p>
            <a:pPr>
              <a:lnSpc>
                <a:spcPct val="116000"/>
              </a:lnSpc>
              <a:spcAft>
                <a:spcPts val="0"/>
              </a:spcAft>
            </a:pPr>
            <a:r>
              <a:rPr sz="1500" b="0" i="0">
                <a:solidFill>
                  <a:srgbClr val="242C38"/>
                </a:solidFill>
                <a:latin typeface="Consolas"/>
              </a:rPr>
              <a:t># it runs for RUN_DATE unless you pass config</a:t>
            </a:r>
          </a:p>
          <a:p>
            <a:pPr>
              <a:lnSpc>
                <a:spcPct val="116000"/>
              </a:lnSpc>
              <a:spcAft>
                <a:spcPts val="0"/>
              </a:spcAft>
            </a:pPr>
            <a:r>
              <a:rPr sz="1500" b="0" i="0">
                <a:solidFill>
                  <a:srgbClr val="242C38"/>
                </a:solidFill>
                <a:latin typeface="Consolas"/>
              </a:rPr>
              <a:t> </a:t>
            </a:r>
          </a:p>
          <a:p>
            <a:pPr>
              <a:lnSpc>
                <a:spcPct val="116000"/>
              </a:lnSpc>
              <a:spcAft>
                <a:spcPts val="0"/>
              </a:spcAft>
            </a:pPr>
            <a:r>
              <a:rPr sz="1500" b="0" i="0">
                <a:solidFill>
                  <a:srgbClr val="242C38"/>
                </a:solidFill>
                <a:latin typeface="Consolas"/>
              </a:rPr>
              <a:t># Trigger DAG w/ config, paste:</a:t>
            </a:r>
          </a:p>
          <a:p>
            <a:pPr>
              <a:lnSpc>
                <a:spcPct val="116000"/>
              </a:lnSpc>
              <a:spcAft>
                <a:spcPts val="0"/>
              </a:spcAft>
            </a:pPr>
            <a:r>
              <a:rPr sz="1500" b="0" i="0">
                <a:solidFill>
                  <a:srgbClr val="242C38"/>
                </a:solidFill>
                <a:latin typeface="Consolas"/>
              </a:rPr>
              <a:t>{"run_date": "2026-09-02"}</a:t>
            </a:r>
          </a:p>
          <a:p>
            <a:pPr>
              <a:lnSpc>
                <a:spcPct val="116000"/>
              </a:lnSpc>
              <a:spcAft>
                <a:spcPts val="0"/>
              </a:spcAft>
            </a:pPr>
            <a:r>
              <a:rPr sz="1500" b="0" i="0">
                <a:solidFill>
                  <a:srgbClr val="242C38"/>
                </a:solidFill>
                <a:latin typeface="Consolas"/>
              </a:rPr>
              <a:t> </a:t>
            </a:r>
          </a:p>
          <a:p>
            <a:pPr>
              <a:lnSpc>
                <a:spcPct val="116000"/>
              </a:lnSpc>
              <a:spcAft>
                <a:spcPts val="0"/>
              </a:spcAft>
            </a:pPr>
            <a:r>
              <a:rPr sz="1500" b="0" i="0">
                <a:solidFill>
                  <a:srgbClr val="242C38"/>
                </a:solidFill>
                <a:latin typeface="Consolas"/>
              </a:rPr>
              <a:t># only 2026-09-01, 2026-09-02, 2026-09-03 have data</a:t>
            </a:r>
          </a:p>
        </p:txBody>
      </p:sp>
      <p:sp>
        <p:nvSpPr>
          <p:cNvPr id="7" name="TextBox 6"/>
          <p:cNvSpPr txBox="1"/>
          <p:nvPr/>
        </p:nvSpPr>
        <p:spPr>
          <a:xfrm>
            <a:off x="658368" y="4075176"/>
            <a:ext cx="10874959" cy="457200"/>
          </a:xfrm>
          <a:prstGeom prst="rect">
            <a:avLst/>
          </a:prstGeom>
          <a:noFill/>
        </p:spPr>
        <p:txBody>
          <a:bodyPr wrap="square" lIns="0" tIns="0" rIns="0" bIns="0">
            <a:spAutoFit/>
          </a:bodyPr>
          <a:lstStyle/>
          <a:p>
            <a:r>
              <a:rPr sz="1400" b="0" i="0">
                <a:solidFill>
                  <a:srgbClr val="5B6775"/>
                </a:solidFill>
                <a:latin typeface="Segoe UI"/>
              </a:rPr>
              <a:t>Watch the Grid view until ingest, curate and publish all turn green.</a:t>
            </a:r>
          </a:p>
        </p:txBody>
      </p:sp>
      <p:sp>
        <p:nvSpPr>
          <p:cNvPr id="8" name="Rectangle 7"/>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18  ·  Airflow scheduling lab</a:t>
            </a:r>
          </a:p>
        </p:txBody>
      </p:sp>
      <p:sp>
        <p:nvSpPr>
          <p:cNvPr id="10" name="TextBox 9"/>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192</a:t>
            </a:r>
          </a:p>
        </p:txBody>
      </p:sp>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237744"/>
          </a:xfrm>
          <a:prstGeom prst="rect">
            <a:avLst/>
          </a:prstGeom>
          <a:noFill/>
        </p:spPr>
        <p:txBody>
          <a:bodyPr wrap="square" lIns="0" tIns="0" rIns="0" bIns="0">
            <a:spAutoFit/>
          </a:bodyPr>
          <a:lstStyle/>
          <a:p>
            <a:r>
              <a:rPr sz="1000" b="1" i="0">
                <a:solidFill>
                  <a:srgbClr val="2E74B5"/>
                </a:solidFill>
                <a:latin typeface="Segoe UI Semibold"/>
              </a:rPr>
              <a:t>ON PURPOSE</a:t>
            </a:r>
          </a:p>
        </p:txBody>
      </p:sp>
      <p:sp>
        <p:nvSpPr>
          <p:cNvPr id="4" name="TextBox 3"/>
          <p:cNvSpPr txBox="1"/>
          <p:nvPr/>
        </p:nvSpPr>
        <p:spPr>
          <a:xfrm>
            <a:off x="658368" y="768096"/>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Forcing the DQ gate to fail</a:t>
            </a:r>
          </a:p>
        </p:txBody>
      </p:sp>
      <p:sp>
        <p:nvSpPr>
          <p:cNvPr id="5" name="TextBox 4"/>
          <p:cNvSpPr txBox="1"/>
          <p:nvPr/>
        </p:nvSpPr>
        <p:spPr>
          <a:xfrm>
            <a:off x="658368" y="1481328"/>
            <a:ext cx="10874959" cy="4526280"/>
          </a:xfrm>
          <a:prstGeom prst="rect">
            <a:avLst/>
          </a:prstGeom>
          <a:noFill/>
        </p:spPr>
        <p:txBody>
          <a:bodyPr wrap="square" lIns="0" tIns="0" rIns="0" bIns="0">
            <a:spAutoFit/>
          </a:bodyPr>
          <a:lstStyle/>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Edit cmd() for one run, append --dq-threshold 0</a:t>
            </a:r>
          </a:p>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Trigger the DAG again and watch the Grid view</a:t>
            </a:r>
          </a:p>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curate fails, prints DQ GATE FAILED</a:t>
            </a:r>
          </a:p>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publish shows SKIPPED, not FAILED, trigger rule is all_success</a:t>
            </a:r>
          </a:p>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Undo the edit afterward</a:t>
            </a:r>
          </a:p>
        </p:txBody>
      </p:sp>
      <p:sp>
        <p:nvSpPr>
          <p:cNvPr id="6" name="Rectangle 5"/>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18  ·  Airflow scheduling lab</a:t>
            </a:r>
          </a:p>
        </p:txBody>
      </p:sp>
      <p:sp>
        <p:nvSpPr>
          <p:cNvPr id="8" name="TextBox 7"/>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193</a:t>
            </a:r>
          </a:p>
        </p:txBody>
      </p:sp>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WSL2 troubleshooting: the real failures</a:t>
            </a:r>
          </a:p>
        </p:txBody>
      </p:sp>
      <p:graphicFrame>
        <p:nvGraphicFramePr>
          <p:cNvPr id="4" name="Table 3"/>
          <p:cNvGraphicFramePr>
            <a:graphicFrameLocks noGrp="1"/>
          </p:cNvGraphicFramePr>
          <p:nvPr/>
        </p:nvGraphicFramePr>
        <p:xfrm>
          <a:off x="658368" y="1481328"/>
          <a:ext cx="10874958" cy="2779776"/>
        </p:xfrm>
        <a:graphic>
          <a:graphicData uri="http://schemas.openxmlformats.org/drawingml/2006/table">
            <a:tbl>
              <a:tblPr firstRow="1" bandRow="1">
                <a:tableStyleId>{5C22544A-7EE6-4342-B048-85BDC9FD1C3A}</a:tableStyleId>
              </a:tblPr>
              <a:tblGrid>
                <a:gridCol w="3551007">
                  <a:extLst>
                    <a:ext uri="{9D8B030D-6E8A-4147-A177-3AD203B41FA5}">
                      <a16:colId xmlns:a16="http://schemas.microsoft.com/office/drawing/2014/main" val="20000"/>
                    </a:ext>
                  </a:extLst>
                </a:gridCol>
                <a:gridCol w="3551007">
                  <a:extLst>
                    <a:ext uri="{9D8B030D-6E8A-4147-A177-3AD203B41FA5}">
                      <a16:colId xmlns:a16="http://schemas.microsoft.com/office/drawing/2014/main" val="20001"/>
                    </a:ext>
                  </a:extLst>
                </a:gridCol>
                <a:gridCol w="3772944">
                  <a:extLst>
                    <a:ext uri="{9D8B030D-6E8A-4147-A177-3AD203B41FA5}">
                      <a16:colId xmlns:a16="http://schemas.microsoft.com/office/drawing/2014/main" val="20002"/>
                    </a:ext>
                  </a:extLst>
                </a:gridCol>
              </a:tblGrid>
              <a:tr h="402336">
                <a:tc>
                  <a:txBody>
                    <a:bodyPr/>
                    <a:lstStyle/>
                    <a:p>
                      <a:r>
                        <a:rPr sz="1450" b="1" i="0">
                          <a:solidFill>
                            <a:srgbClr val="FFFFFF"/>
                          </a:solidFill>
                          <a:latin typeface="Segoe UI Semibold"/>
                        </a:rPr>
                        <a:t>Symptom</a:t>
                      </a:r>
                    </a:p>
                  </a:txBody>
                  <a:tcPr anchor="ctr">
                    <a:solidFill>
                      <a:srgbClr val="1F4E79"/>
                    </a:solidFill>
                  </a:tcPr>
                </a:tc>
                <a:tc>
                  <a:txBody>
                    <a:bodyPr/>
                    <a:lstStyle/>
                    <a:p>
                      <a:r>
                        <a:rPr sz="1450" b="1" i="0">
                          <a:solidFill>
                            <a:srgbClr val="FFFFFF"/>
                          </a:solidFill>
                          <a:latin typeface="Segoe UI Semibold"/>
                        </a:rPr>
                        <a:t>Cause</a:t>
                      </a:r>
                    </a:p>
                  </a:txBody>
                  <a:tcPr anchor="ctr">
                    <a:solidFill>
                      <a:srgbClr val="1F4E79"/>
                    </a:solidFill>
                  </a:tcPr>
                </a:tc>
                <a:tc>
                  <a:txBody>
                    <a:bodyPr/>
                    <a:lstStyle/>
                    <a:p>
                      <a:r>
                        <a:rPr sz="1450" b="1" i="0">
                          <a:solidFill>
                            <a:srgbClr val="FFFFFF"/>
                          </a:solidFill>
                          <a:latin typeface="Segoe UI Semibold"/>
                        </a:rPr>
                        <a:t>Fix</a:t>
                      </a:r>
                    </a:p>
                  </a:txBody>
                  <a:tcPr anchor="ctr">
                    <a:solidFill>
                      <a:srgbClr val="1F4E79"/>
                    </a:solidFill>
                  </a:tcPr>
                </a:tc>
                <a:extLst>
                  <a:ext uri="{0D108BD9-81ED-4DB2-BD59-A6C34878D82A}">
                    <a16:rowId xmlns:a16="http://schemas.microsoft.com/office/drawing/2014/main" val="10000"/>
                  </a:ext>
                </a:extLst>
              </a:tr>
              <a:tr h="475488">
                <a:tc>
                  <a:txBody>
                    <a:bodyPr/>
                    <a:lstStyle/>
                    <a:p>
                      <a:pPr>
                        <a:lnSpc>
                          <a:spcPct val="106000"/>
                        </a:lnSpc>
                      </a:pPr>
                      <a:r>
                        <a:rPr sz="1350" b="0" i="0">
                          <a:solidFill>
                            <a:srgbClr val="2E74B5"/>
                          </a:solidFill>
                          <a:latin typeface="Consolas"/>
                        </a:rPr>
                        <a:t>Address already in use</a:t>
                      </a:r>
                      <a:r>
                        <a:rPr sz="1400" b="1" i="0">
                          <a:solidFill>
                            <a:srgbClr val="242C38"/>
                          </a:solidFill>
                          <a:latin typeface="Segoe UI"/>
                        </a:rPr>
                        <a:t>, port 8080</a:t>
                      </a:r>
                    </a:p>
                  </a:txBody>
                  <a:tcPr marT="36576" marB="36576" anchor="ctr">
                    <a:solidFill>
                      <a:srgbClr val="EEF3F8"/>
                    </a:solidFill>
                  </a:tcPr>
                </a:tc>
                <a:tc>
                  <a:txBody>
                    <a:bodyPr/>
                    <a:lstStyle/>
                    <a:p>
                      <a:pPr>
                        <a:lnSpc>
                          <a:spcPct val="106000"/>
                        </a:lnSpc>
                      </a:pPr>
                      <a:r>
                        <a:rPr sz="1400" b="0" i="0">
                          <a:solidFill>
                            <a:srgbClr val="242C38"/>
                          </a:solidFill>
                          <a:latin typeface="Segoe UI"/>
                        </a:rPr>
                        <a:t>old </a:t>
                      </a:r>
                      <a:r>
                        <a:rPr sz="1350" b="0" i="0">
                          <a:solidFill>
                            <a:srgbClr val="2E74B5"/>
                          </a:solidFill>
                          <a:latin typeface="Consolas"/>
                        </a:rPr>
                        <a:t>airflow standalone</a:t>
                      </a:r>
                      <a:r>
                        <a:rPr sz="1400" b="0" i="0">
                          <a:solidFill>
                            <a:srgbClr val="242C38"/>
                          </a:solidFill>
                          <a:latin typeface="Segoe UI"/>
                        </a:rPr>
                        <a:t> still running</a:t>
                      </a:r>
                    </a:p>
                  </a:txBody>
                  <a:tcPr marT="36576" marB="36576" anchor="ctr">
                    <a:solidFill>
                      <a:srgbClr val="EEF3F8"/>
                    </a:solidFill>
                  </a:tcPr>
                </a:tc>
                <a:tc>
                  <a:txBody>
                    <a:bodyPr/>
                    <a:lstStyle/>
                    <a:p>
                      <a:pPr>
                        <a:lnSpc>
                          <a:spcPct val="106000"/>
                        </a:lnSpc>
                      </a:pPr>
                      <a:r>
                        <a:rPr sz="1400" b="0" i="0">
                          <a:solidFill>
                            <a:srgbClr val="242C38"/>
                          </a:solidFill>
                          <a:latin typeface="Segoe UI"/>
                        </a:rPr>
                        <a:t>kill that PID, or use </a:t>
                      </a:r>
                      <a:r>
                        <a:rPr sz="1350" b="0" i="0">
                          <a:solidFill>
                            <a:srgbClr val="2E74B5"/>
                          </a:solidFill>
                          <a:latin typeface="Consolas"/>
                        </a:rPr>
                        <a:t>--port 8081</a:t>
                      </a:r>
                    </a:p>
                  </a:txBody>
                  <a:tcPr marT="36576" marB="36576" anchor="ctr">
                    <a:solidFill>
                      <a:srgbClr val="EEF3F8"/>
                    </a:solidFill>
                  </a:tcPr>
                </a:tc>
                <a:extLst>
                  <a:ext uri="{0D108BD9-81ED-4DB2-BD59-A6C34878D82A}">
                    <a16:rowId xmlns:a16="http://schemas.microsoft.com/office/drawing/2014/main" val="10001"/>
                  </a:ext>
                </a:extLst>
              </a:tr>
              <a:tr h="475488">
                <a:tc>
                  <a:txBody>
                    <a:bodyPr/>
                    <a:lstStyle/>
                    <a:p>
                      <a:pPr>
                        <a:lnSpc>
                          <a:spcPct val="106000"/>
                        </a:lnSpc>
                      </a:pPr>
                      <a:r>
                        <a:rPr sz="1400" b="1" i="0">
                          <a:solidFill>
                            <a:srgbClr val="242C38"/>
                          </a:solidFill>
                          <a:latin typeface="Segoe UI"/>
                        </a:rPr>
                        <a:t>exit code 127, </a:t>
                      </a:r>
                      <a:r>
                        <a:rPr sz="1350" b="0" i="0">
                          <a:solidFill>
                            <a:srgbClr val="2E74B5"/>
                          </a:solidFill>
                          <a:latin typeface="Consolas"/>
                        </a:rPr>
                        <a:t>python: No such file</a:t>
                      </a:r>
                    </a:p>
                  </a:txBody>
                  <a:tcPr marT="36576" marB="36576" anchor="ctr">
                    <a:solidFill>
                      <a:srgbClr val="FFFFFF"/>
                    </a:solidFill>
                  </a:tcPr>
                </a:tc>
                <a:tc>
                  <a:txBody>
                    <a:bodyPr/>
                    <a:lstStyle/>
                    <a:p>
                      <a:pPr>
                        <a:lnSpc>
                          <a:spcPct val="106000"/>
                        </a:lnSpc>
                      </a:pPr>
                      <a:r>
                        <a:rPr sz="1400" b="0" i="0">
                          <a:solidFill>
                            <a:srgbClr val="242C38"/>
                          </a:solidFill>
                          <a:latin typeface="Segoe UI"/>
                        </a:rPr>
                        <a:t>PYTHON points at a venv that does not exist</a:t>
                      </a:r>
                    </a:p>
                  </a:txBody>
                  <a:tcPr marT="36576" marB="36576" anchor="ctr">
                    <a:solidFill>
                      <a:srgbClr val="FFFFFF"/>
                    </a:solidFill>
                  </a:tcPr>
                </a:tc>
                <a:tc>
                  <a:txBody>
                    <a:bodyPr/>
                    <a:lstStyle/>
                    <a:p>
                      <a:pPr>
                        <a:lnSpc>
                          <a:spcPct val="106000"/>
                        </a:lnSpc>
                      </a:pPr>
                      <a:r>
                        <a:rPr sz="1400" b="0" i="0">
                          <a:solidFill>
                            <a:srgbClr val="242C38"/>
                          </a:solidFill>
                          <a:latin typeface="Segoe UI"/>
                        </a:rPr>
                        <a:t>check the path, venv may sit beside the project</a:t>
                      </a:r>
                    </a:p>
                  </a:txBody>
                  <a:tcPr marT="36576" marB="36576" anchor="ctr">
                    <a:solidFill>
                      <a:srgbClr val="FFFFFF"/>
                    </a:solidFill>
                  </a:tcPr>
                </a:tc>
                <a:extLst>
                  <a:ext uri="{0D108BD9-81ED-4DB2-BD59-A6C34878D82A}">
                    <a16:rowId xmlns:a16="http://schemas.microsoft.com/office/drawing/2014/main" val="10002"/>
                  </a:ext>
                </a:extLst>
              </a:tr>
              <a:tr h="475488">
                <a:tc>
                  <a:txBody>
                    <a:bodyPr/>
                    <a:lstStyle/>
                    <a:p>
                      <a:pPr>
                        <a:lnSpc>
                          <a:spcPct val="106000"/>
                        </a:lnSpc>
                      </a:pPr>
                      <a:r>
                        <a:rPr sz="1350" b="0" i="0">
                          <a:solidFill>
                            <a:srgbClr val="2E74B5"/>
                          </a:solidFill>
                          <a:latin typeface="Consolas"/>
                        </a:rPr>
                        <a:t>ERROR: no raw file for &lt;date&gt;</a:t>
                      </a:r>
                    </a:p>
                  </a:txBody>
                  <a:tcPr marT="36576" marB="36576" anchor="ctr">
                    <a:solidFill>
                      <a:srgbClr val="EEF3F8"/>
                    </a:solidFill>
                  </a:tcPr>
                </a:tc>
                <a:tc>
                  <a:txBody>
                    <a:bodyPr/>
                    <a:lstStyle/>
                    <a:p>
                      <a:pPr>
                        <a:lnSpc>
                          <a:spcPct val="106000"/>
                        </a:lnSpc>
                      </a:pPr>
                      <a:r>
                        <a:rPr sz="1400" b="0" i="0">
                          <a:solidFill>
                            <a:srgbClr val="242C38"/>
                          </a:solidFill>
                          <a:latin typeface="Segoe UI"/>
                        </a:rPr>
                        <a:t>asked for a date with no data</a:t>
                      </a:r>
                    </a:p>
                  </a:txBody>
                  <a:tcPr marT="36576" marB="36576" anchor="ctr">
                    <a:solidFill>
                      <a:srgbClr val="EEF3F8"/>
                    </a:solidFill>
                  </a:tcPr>
                </a:tc>
                <a:tc>
                  <a:txBody>
                    <a:bodyPr/>
                    <a:lstStyle/>
                    <a:p>
                      <a:pPr>
                        <a:lnSpc>
                          <a:spcPct val="106000"/>
                        </a:lnSpc>
                      </a:pPr>
                      <a:r>
                        <a:rPr sz="1400" b="0" i="0">
                          <a:solidFill>
                            <a:srgbClr val="242C38"/>
                          </a:solidFill>
                          <a:latin typeface="Segoe UI"/>
                        </a:rPr>
                        <a:t>only 2026-09-01, 02 and 03 exist</a:t>
                      </a:r>
                    </a:p>
                  </a:txBody>
                  <a:tcPr marT="36576" marB="36576" anchor="ctr">
                    <a:solidFill>
                      <a:srgbClr val="EEF3F8"/>
                    </a:solidFill>
                  </a:tcPr>
                </a:tc>
                <a:extLst>
                  <a:ext uri="{0D108BD9-81ED-4DB2-BD59-A6C34878D82A}">
                    <a16:rowId xmlns:a16="http://schemas.microsoft.com/office/drawing/2014/main" val="10003"/>
                  </a:ext>
                </a:extLst>
              </a:tr>
              <a:tr h="475488">
                <a:tc>
                  <a:txBody>
                    <a:bodyPr/>
                    <a:lstStyle/>
                    <a:p>
                      <a:pPr>
                        <a:lnSpc>
                          <a:spcPct val="106000"/>
                        </a:lnSpc>
                      </a:pPr>
                      <a:r>
                        <a:rPr sz="1400" b="1" i="0">
                          <a:solidFill>
                            <a:srgbClr val="242C38"/>
                          </a:solidFill>
                          <a:latin typeface="Segoe UI"/>
                        </a:rPr>
                        <a:t>run succeeds in 0 seconds, no tasks</a:t>
                      </a:r>
                    </a:p>
                  </a:txBody>
                  <a:tcPr marT="36576" marB="36576" anchor="ctr">
                    <a:solidFill>
                      <a:srgbClr val="FFFFFF"/>
                    </a:solidFill>
                  </a:tcPr>
                </a:tc>
                <a:tc>
                  <a:txBody>
                    <a:bodyPr/>
                    <a:lstStyle/>
                    <a:p>
                      <a:pPr>
                        <a:lnSpc>
                          <a:spcPct val="106000"/>
                        </a:lnSpc>
                      </a:pPr>
                      <a:r>
                        <a:rPr sz="1400" b="0" i="0">
                          <a:solidFill>
                            <a:srgbClr val="242C38"/>
                          </a:solidFill>
                          <a:latin typeface="Segoe UI"/>
                        </a:rPr>
                        <a:t>a DAG run and a task instance differ</a:t>
                      </a:r>
                    </a:p>
                  </a:txBody>
                  <a:tcPr marT="36576" marB="36576" anchor="ctr">
                    <a:solidFill>
                      <a:srgbClr val="FFFFFF"/>
                    </a:solidFill>
                  </a:tcPr>
                </a:tc>
                <a:tc>
                  <a:txBody>
                    <a:bodyPr/>
                    <a:lstStyle/>
                    <a:p>
                      <a:pPr>
                        <a:lnSpc>
                          <a:spcPct val="106000"/>
                        </a:lnSpc>
                      </a:pPr>
                      <a:r>
                        <a:rPr sz="1400" b="0" i="0">
                          <a:solidFill>
                            <a:srgbClr val="242C38"/>
                          </a:solidFill>
                          <a:latin typeface="Segoe UI"/>
                        </a:rPr>
                        <a:t>check the task squares, not the run colour</a:t>
                      </a:r>
                    </a:p>
                  </a:txBody>
                  <a:tcPr marT="36576" marB="36576" anchor="ctr">
                    <a:solidFill>
                      <a:srgbClr val="FFFFFF"/>
                    </a:solidFill>
                  </a:tcPr>
                </a:tc>
                <a:extLst>
                  <a:ext uri="{0D108BD9-81ED-4DB2-BD59-A6C34878D82A}">
                    <a16:rowId xmlns:a16="http://schemas.microsoft.com/office/drawing/2014/main" val="10004"/>
                  </a:ext>
                </a:extLst>
              </a:tr>
              <a:tr h="475488">
                <a:tc>
                  <a:txBody>
                    <a:bodyPr/>
                    <a:lstStyle/>
                    <a:p>
                      <a:pPr>
                        <a:lnSpc>
                          <a:spcPct val="106000"/>
                        </a:lnSpc>
                      </a:pPr>
                      <a:r>
                        <a:rPr sz="1350" b="0" i="0">
                          <a:solidFill>
                            <a:srgbClr val="2E74B5"/>
                          </a:solidFill>
                          <a:latin typeface="Consolas"/>
                        </a:rPr>
                        <a:t>ModuleNotFoundError: pyspark</a:t>
                      </a:r>
                      <a:r>
                        <a:rPr sz="1400" b="1" i="0">
                          <a:solidFill>
                            <a:srgbClr val="242C38"/>
                          </a:solidFill>
                          <a:latin typeface="Segoe UI"/>
                        </a:rPr>
                        <a:t> in a log</a:t>
                      </a:r>
                    </a:p>
                  </a:txBody>
                  <a:tcPr marT="36576" marB="36576" anchor="ctr">
                    <a:solidFill>
                      <a:srgbClr val="EEF3F8"/>
                    </a:solidFill>
                  </a:tcPr>
                </a:tc>
                <a:tc>
                  <a:txBody>
                    <a:bodyPr/>
                    <a:lstStyle/>
                    <a:p>
                      <a:pPr>
                        <a:lnSpc>
                          <a:spcPct val="106000"/>
                        </a:lnSpc>
                      </a:pPr>
                      <a:r>
                        <a:rPr sz="1400" b="0" i="0">
                          <a:solidFill>
                            <a:srgbClr val="242C38"/>
                          </a:solidFill>
                          <a:latin typeface="Segoe UI"/>
                        </a:rPr>
                        <a:t>task ran with Airflow's own python</a:t>
                      </a:r>
                    </a:p>
                  </a:txBody>
                  <a:tcPr marT="36576" marB="36576" anchor="ctr">
                    <a:solidFill>
                      <a:srgbClr val="EEF3F8"/>
                    </a:solidFill>
                  </a:tcPr>
                </a:tc>
                <a:tc>
                  <a:txBody>
                    <a:bodyPr/>
                    <a:lstStyle/>
                    <a:p>
                      <a:pPr>
                        <a:lnSpc>
                          <a:spcPct val="106000"/>
                        </a:lnSpc>
                      </a:pPr>
                      <a:r>
                        <a:rPr sz="1400" b="0" i="0">
                          <a:solidFill>
                            <a:srgbClr val="242C38"/>
                          </a:solidFill>
                          <a:latin typeface="Segoe UI"/>
                        </a:rPr>
                        <a:t>PYTHON must point at the PySpark venv</a:t>
                      </a:r>
                    </a:p>
                  </a:txBody>
                  <a:tcPr marT="36576" marB="36576" anchor="ctr">
                    <a:solidFill>
                      <a:srgbClr val="EEF3F8"/>
                    </a:solidFill>
                  </a:tcPr>
                </a:tc>
                <a:extLst>
                  <a:ext uri="{0D108BD9-81ED-4DB2-BD59-A6C34878D82A}">
                    <a16:rowId xmlns:a16="http://schemas.microsoft.com/office/drawing/2014/main" val="10005"/>
                  </a:ext>
                </a:extLst>
              </a:tr>
            </a:tbl>
          </a:graphicData>
        </a:graphic>
      </p:graphicFrame>
      <p:sp>
        <p:nvSpPr>
          <p:cNvPr id="5" name="TextBox 4"/>
          <p:cNvSpPr txBox="1"/>
          <p:nvPr/>
        </p:nvSpPr>
        <p:spPr>
          <a:xfrm>
            <a:off x="658368" y="5724144"/>
            <a:ext cx="10874959" cy="502920"/>
          </a:xfrm>
          <a:prstGeom prst="rect">
            <a:avLst/>
          </a:prstGeom>
          <a:noFill/>
        </p:spPr>
        <p:txBody>
          <a:bodyPr wrap="square" lIns="0" tIns="0" rIns="0" bIns="0">
            <a:spAutoFit/>
          </a:bodyPr>
          <a:lstStyle/>
          <a:p>
            <a:r>
              <a:rPr sz="1300" b="0" i="1">
                <a:solidFill>
                  <a:srgbClr val="5B6775"/>
                </a:solidFill>
                <a:latin typeface="Segoe UI"/>
              </a:rPr>
              <a:t>The DAG file itself was compile-checked and desk-checked, never run live in this sandbox.</a:t>
            </a:r>
          </a:p>
        </p:txBody>
      </p:sp>
      <p:sp>
        <p:nvSpPr>
          <p:cNvPr id="6" name="Rectangle 5"/>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18  ·  Airflow scheduling lab</a:t>
            </a:r>
          </a:p>
        </p:txBody>
      </p:sp>
      <p:sp>
        <p:nvSpPr>
          <p:cNvPr id="8" name="TextBox 7"/>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194</a:t>
            </a:r>
          </a:p>
        </p:txBody>
      </p:sp>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Module 18 in one screen</a:t>
            </a:r>
          </a:p>
        </p:txBody>
      </p:sp>
      <p:sp>
        <p:nvSpPr>
          <p:cNvPr id="4" name="TextBox 3"/>
          <p:cNvSpPr txBox="1"/>
          <p:nvPr/>
        </p:nvSpPr>
        <p:spPr>
          <a:xfrm>
            <a:off x="658368" y="1481328"/>
            <a:ext cx="10874959" cy="4526280"/>
          </a:xfrm>
          <a:prstGeom prst="rect">
            <a:avLst/>
          </a:prstGeom>
          <a:noFill/>
        </p:spPr>
        <p:txBody>
          <a:bodyPr wrap="square" lIns="0" tIns="0" rIns="0" bIns="0">
            <a:spAutoFit/>
          </a:bodyPr>
          <a:lstStyle/>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Airflow and PySpark live in two separate venvs, always.</a:t>
            </a:r>
          </a:p>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Editing PROJECT, PYTHON, RUN_DATE is the only setup needed.</a:t>
            </a:r>
          </a:p>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airflow standalone runs everything in one process, on one laptop.</a:t>
            </a:r>
          </a:p>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A failed curate skips publish, default trigger rule, not a crash.</a:t>
            </a:r>
          </a:p>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Only 2026-09-01, 02 and 03 have data. Trigger w/ config for others.</a:t>
            </a:r>
          </a:p>
        </p:txBody>
      </p:sp>
      <p:sp>
        <p:nvSpPr>
          <p:cNvPr id="5" name="Rectangle 4"/>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18  ·  Airflow scheduling lab</a:t>
            </a:r>
          </a:p>
        </p:txBody>
      </p:sp>
      <p:sp>
        <p:nvSpPr>
          <p:cNvPr id="7" name="TextBox 6"/>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195</a:t>
            </a:r>
          </a:p>
        </p:txBody>
      </p:sp>
    </p:spTree>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5840" y="1737360"/>
            <a:ext cx="10058400" cy="457200"/>
          </a:xfrm>
          <a:prstGeom prst="rect">
            <a:avLst/>
          </a:prstGeom>
          <a:noFill/>
        </p:spPr>
        <p:txBody>
          <a:bodyPr wrap="square" lIns="0" tIns="0" rIns="0" bIns="0">
            <a:spAutoFit/>
          </a:bodyPr>
          <a:lstStyle/>
          <a:p>
            <a:r>
              <a:rPr sz="1500" b="1" i="0">
                <a:solidFill>
                  <a:srgbClr val="E88A2B"/>
                </a:solidFill>
                <a:latin typeface="Segoe UI Semibold"/>
              </a:rPr>
              <a:t>DAY 4</a:t>
            </a:r>
          </a:p>
        </p:txBody>
      </p:sp>
      <p:sp>
        <p:nvSpPr>
          <p:cNvPr id="5" name="TextBox 4"/>
          <p:cNvSpPr txBox="1"/>
          <p:nvPr/>
        </p:nvSpPr>
        <p:spPr>
          <a:xfrm>
            <a:off x="1005840" y="2194560"/>
            <a:ext cx="10058400" cy="914400"/>
          </a:xfrm>
          <a:prstGeom prst="rect">
            <a:avLst/>
          </a:prstGeom>
          <a:noFill/>
        </p:spPr>
        <p:txBody>
          <a:bodyPr wrap="square" lIns="0" tIns="0" rIns="0" bIns="0">
            <a:spAutoFit/>
          </a:bodyPr>
          <a:lstStyle/>
          <a:p>
            <a:r>
              <a:rPr sz="4000" b="1" i="0">
                <a:solidFill>
                  <a:srgbClr val="1F4E79"/>
                </a:solidFill>
                <a:latin typeface="Segoe UI Semibold"/>
              </a:rPr>
              <a:t>Reference</a:t>
            </a:r>
          </a:p>
        </p:txBody>
      </p:sp>
      <p:sp>
        <p:nvSpPr>
          <p:cNvPr id="6" name="TextBox 5"/>
          <p:cNvSpPr txBox="1"/>
          <p:nvPr/>
        </p:nvSpPr>
        <p:spPr>
          <a:xfrm>
            <a:off x="1005840" y="3429000"/>
            <a:ext cx="9692640" cy="2194560"/>
          </a:xfrm>
          <a:prstGeom prst="rect">
            <a:avLst/>
          </a:prstGeom>
          <a:noFill/>
        </p:spPr>
        <p:txBody>
          <a:bodyPr wrap="square" lIns="0" tIns="0" rIns="0" bIns="0">
            <a:spAutoFit/>
          </a:bodyPr>
          <a:lstStyle/>
          <a:p>
            <a:pPr>
              <a:spcAft>
                <a:spcPts val="1000"/>
              </a:spcAft>
            </a:pPr>
            <a:r>
              <a:rPr sz="1700" b="1" i="0">
                <a:solidFill>
                  <a:srgbClr val="E88A2B"/>
                </a:solidFill>
                <a:latin typeface="Segoe UI Semibold"/>
              </a:rPr>
              <a:t>19   </a:t>
            </a:r>
            <a:r>
              <a:rPr sz="1700" b="0" i="0">
                <a:solidFill>
                  <a:srgbClr val="242C38"/>
                </a:solidFill>
                <a:latin typeface="Segoe UI"/>
              </a:rPr>
              <a:t>Deep dive appendix</a:t>
            </a:r>
            <a:r>
              <a:rPr sz="1400" b="0" i="1">
                <a:solidFill>
                  <a:srgbClr val="9AA5B1"/>
                </a:solidFill>
                <a:latin typeface="Segoe UI"/>
              </a:rPr>
              <a:t>   Trainer reference: the internals a Hadoop-background room </a:t>
            </a:r>
          </a:p>
        </p:txBody>
      </p:sp>
    </p:spTree>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8872" cy="6858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51560" y="2057400"/>
            <a:ext cx="9692640" cy="457200"/>
          </a:xfrm>
          <a:prstGeom prst="rect">
            <a:avLst/>
          </a:prstGeom>
          <a:noFill/>
        </p:spPr>
        <p:txBody>
          <a:bodyPr wrap="square" lIns="0" tIns="0" rIns="0" bIns="0">
            <a:spAutoFit/>
          </a:bodyPr>
          <a:lstStyle/>
          <a:p>
            <a:r>
              <a:rPr sz="1300" b="1" i="0">
                <a:solidFill>
                  <a:srgbClr val="2E74B5"/>
                </a:solidFill>
                <a:latin typeface="Segoe UI Semibold"/>
              </a:rPr>
              <a:t>MODULE 19</a:t>
            </a:r>
          </a:p>
        </p:txBody>
      </p:sp>
      <p:sp>
        <p:nvSpPr>
          <p:cNvPr id="5" name="TextBox 4"/>
          <p:cNvSpPr txBox="1"/>
          <p:nvPr/>
        </p:nvSpPr>
        <p:spPr>
          <a:xfrm>
            <a:off x="1051560" y="2578608"/>
            <a:ext cx="9692640" cy="1371600"/>
          </a:xfrm>
          <a:prstGeom prst="rect">
            <a:avLst/>
          </a:prstGeom>
          <a:noFill/>
        </p:spPr>
        <p:txBody>
          <a:bodyPr wrap="square" lIns="0" tIns="0" rIns="0" bIns="0">
            <a:spAutoFit/>
          </a:bodyPr>
          <a:lstStyle/>
          <a:p>
            <a:pPr>
              <a:lnSpc>
                <a:spcPct val="95000"/>
              </a:lnSpc>
            </a:pPr>
            <a:r>
              <a:rPr sz="4200" b="1" i="0">
                <a:solidFill>
                  <a:srgbClr val="1F4E79"/>
                </a:solidFill>
                <a:latin typeface="Segoe UI Semibold"/>
              </a:rPr>
              <a:t>Deep dive appendix</a:t>
            </a:r>
          </a:p>
        </p:txBody>
      </p:sp>
      <p:sp>
        <p:nvSpPr>
          <p:cNvPr id="6" name="TextBox 5"/>
          <p:cNvSpPr txBox="1"/>
          <p:nvPr/>
        </p:nvSpPr>
        <p:spPr>
          <a:xfrm>
            <a:off x="1051560" y="3950208"/>
            <a:ext cx="8778240" cy="822960"/>
          </a:xfrm>
          <a:prstGeom prst="rect">
            <a:avLst/>
          </a:prstGeom>
          <a:noFill/>
        </p:spPr>
        <p:txBody>
          <a:bodyPr wrap="square" lIns="0" tIns="0" rIns="0" bIns="0">
            <a:spAutoFit/>
          </a:bodyPr>
          <a:lstStyle/>
          <a:p>
            <a:pPr>
              <a:lnSpc>
                <a:spcPct val="115000"/>
              </a:lnSpc>
            </a:pPr>
            <a:r>
              <a:rPr sz="1700" b="0" i="0">
                <a:solidFill>
                  <a:srgbClr val="5B6775"/>
                </a:solidFill>
                <a:latin typeface="Segoe UI"/>
              </a:rPr>
              <a:t>Trainer reference: the internals a Hadoop-background room will challenge you on</a:t>
            </a:r>
          </a:p>
        </p:txBody>
      </p:sp>
    </p:spTree>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58368" y="2148840"/>
            <a:ext cx="82296" cy="219456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42416" y="2084831"/>
            <a:ext cx="9777679" cy="1828800"/>
          </a:xfrm>
          <a:prstGeom prst="rect">
            <a:avLst/>
          </a:prstGeom>
          <a:noFill/>
        </p:spPr>
        <p:txBody>
          <a:bodyPr wrap="square" lIns="0" tIns="0" rIns="0" bIns="0">
            <a:spAutoFit/>
          </a:bodyPr>
          <a:lstStyle/>
          <a:p>
            <a:pPr>
              <a:lnSpc>
                <a:spcPct val="112000"/>
              </a:lnSpc>
            </a:pPr>
            <a:r>
              <a:rPr sz="3000" b="1" i="0">
                <a:solidFill>
                  <a:srgbClr val="1F4E79"/>
                </a:solidFill>
                <a:latin typeface="Segoe UI Semibold"/>
              </a:rPr>
              <a:t>This is reference reading, not a walkthrough for the room.</a:t>
            </a:r>
          </a:p>
        </p:txBody>
      </p:sp>
      <p:sp>
        <p:nvSpPr>
          <p:cNvPr id="5" name="TextBox 4"/>
          <p:cNvSpPr txBox="1"/>
          <p:nvPr/>
        </p:nvSpPr>
        <p:spPr>
          <a:xfrm>
            <a:off x="1042416" y="4041648"/>
            <a:ext cx="9411919" cy="1005840"/>
          </a:xfrm>
          <a:prstGeom prst="rect">
            <a:avLst/>
          </a:prstGeom>
          <a:noFill/>
        </p:spPr>
        <p:txBody>
          <a:bodyPr wrap="square" lIns="0" tIns="0" rIns="0" bIns="0">
            <a:spAutoFit/>
          </a:bodyPr>
          <a:lstStyle/>
          <a:p>
            <a:pPr>
              <a:lnSpc>
                <a:spcPct val="120000"/>
              </a:lnSpc>
            </a:pPr>
            <a:r>
              <a:rPr sz="1700" b="0" i="0">
                <a:solidFill>
                  <a:srgbClr val="5B6775"/>
                </a:solidFill>
                <a:latin typeface="Segoe UI"/>
              </a:rPr>
              <a:t>A banking IT audience asks precise, mechanical questions: what bytes are on the wire when a UDF runs, what log line means a container was killed for memory. Read this once before teaching, keep it open during the session.</a:t>
            </a:r>
          </a:p>
        </p:txBody>
      </p:sp>
      <p:sp>
        <p:nvSpPr>
          <p:cNvPr id="6" name="Rectangle 5"/>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19  ·  Deep dive appendix</a:t>
            </a:r>
          </a:p>
        </p:txBody>
      </p:sp>
      <p:sp>
        <p:nvSpPr>
          <p:cNvPr id="8" name="TextBox 7"/>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196</a:t>
            </a:r>
          </a:p>
        </p:txBody>
      </p:sp>
    </p:spTree>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Catalyst, four phases before anything runs</a:t>
            </a:r>
          </a:p>
        </p:txBody>
      </p:sp>
      <p:graphicFrame>
        <p:nvGraphicFramePr>
          <p:cNvPr id="4" name="Table 3"/>
          <p:cNvGraphicFramePr>
            <a:graphicFrameLocks noGrp="1"/>
          </p:cNvGraphicFramePr>
          <p:nvPr/>
        </p:nvGraphicFramePr>
        <p:xfrm>
          <a:off x="658368" y="1481328"/>
          <a:ext cx="10874958" cy="2779776"/>
        </p:xfrm>
        <a:graphic>
          <a:graphicData uri="http://schemas.openxmlformats.org/drawingml/2006/table">
            <a:tbl>
              <a:tblPr firstRow="1" bandRow="1">
                <a:tableStyleId>{5C22544A-7EE6-4342-B048-85BDC9FD1C3A}</a:tableStyleId>
              </a:tblPr>
              <a:tblGrid>
                <a:gridCol w="4349983">
                  <a:extLst>
                    <a:ext uri="{9D8B030D-6E8A-4147-A177-3AD203B41FA5}">
                      <a16:colId xmlns:a16="http://schemas.microsoft.com/office/drawing/2014/main" val="20000"/>
                    </a:ext>
                  </a:extLst>
                </a:gridCol>
                <a:gridCol w="6524975">
                  <a:extLst>
                    <a:ext uri="{9D8B030D-6E8A-4147-A177-3AD203B41FA5}">
                      <a16:colId xmlns:a16="http://schemas.microsoft.com/office/drawing/2014/main" val="20001"/>
                    </a:ext>
                  </a:extLst>
                </a:gridCol>
              </a:tblGrid>
              <a:tr h="402336">
                <a:tc>
                  <a:txBody>
                    <a:bodyPr/>
                    <a:lstStyle/>
                    <a:p>
                      <a:r>
                        <a:rPr sz="1450" b="1" i="0">
                          <a:solidFill>
                            <a:srgbClr val="FFFFFF"/>
                          </a:solidFill>
                          <a:latin typeface="Segoe UI Semibold"/>
                        </a:rPr>
                        <a:t>Phase</a:t>
                      </a:r>
                    </a:p>
                  </a:txBody>
                  <a:tcPr anchor="ctr">
                    <a:solidFill>
                      <a:srgbClr val="1F4E79"/>
                    </a:solidFill>
                  </a:tcPr>
                </a:tc>
                <a:tc>
                  <a:txBody>
                    <a:bodyPr/>
                    <a:lstStyle/>
                    <a:p>
                      <a:r>
                        <a:rPr sz="1450" b="1" i="0">
                          <a:solidFill>
                            <a:srgbClr val="FFFFFF"/>
                          </a:solidFill>
                          <a:latin typeface="Segoe UI Semibold"/>
                        </a:rPr>
                        <a:t>What happens</a:t>
                      </a:r>
                    </a:p>
                  </a:txBody>
                  <a:tcPr anchor="ctr">
                    <a:solidFill>
                      <a:srgbClr val="1F4E79"/>
                    </a:solidFill>
                  </a:tcPr>
                </a:tc>
                <a:extLst>
                  <a:ext uri="{0D108BD9-81ED-4DB2-BD59-A6C34878D82A}">
                    <a16:rowId xmlns:a16="http://schemas.microsoft.com/office/drawing/2014/main" val="10000"/>
                  </a:ext>
                </a:extLst>
              </a:tr>
              <a:tr h="475488">
                <a:tc>
                  <a:txBody>
                    <a:bodyPr/>
                    <a:lstStyle/>
                    <a:p>
                      <a:pPr>
                        <a:lnSpc>
                          <a:spcPct val="106000"/>
                        </a:lnSpc>
                      </a:pPr>
                      <a:r>
                        <a:rPr sz="1400" b="1" i="0">
                          <a:solidFill>
                            <a:srgbClr val="242C38"/>
                          </a:solidFill>
                          <a:latin typeface="Segoe UI"/>
                        </a:rPr>
                        <a:t>Parse</a:t>
                      </a:r>
                    </a:p>
                  </a:txBody>
                  <a:tcPr marT="36576" marB="36576" anchor="ctr">
                    <a:solidFill>
                      <a:srgbClr val="EEF3F8"/>
                    </a:solidFill>
                  </a:tcPr>
                </a:tc>
                <a:tc>
                  <a:txBody>
                    <a:bodyPr/>
                    <a:lstStyle/>
                    <a:p>
                      <a:pPr>
                        <a:lnSpc>
                          <a:spcPct val="106000"/>
                        </a:lnSpc>
                      </a:pPr>
                      <a:r>
                        <a:rPr sz="1400" b="0" i="0">
                          <a:solidFill>
                            <a:srgbClr val="242C38"/>
                          </a:solidFill>
                          <a:latin typeface="Segoe UI"/>
                        </a:rPr>
                        <a:t>SQL or DataFrame calls become an unresolved tree</a:t>
                      </a:r>
                    </a:p>
                  </a:txBody>
                  <a:tcPr marT="36576" marB="36576" anchor="ctr">
                    <a:solidFill>
                      <a:srgbClr val="EEF3F8"/>
                    </a:solidFill>
                  </a:tcPr>
                </a:tc>
                <a:extLst>
                  <a:ext uri="{0D108BD9-81ED-4DB2-BD59-A6C34878D82A}">
                    <a16:rowId xmlns:a16="http://schemas.microsoft.com/office/drawing/2014/main" val="10001"/>
                  </a:ext>
                </a:extLst>
              </a:tr>
              <a:tr h="475488">
                <a:tc>
                  <a:txBody>
                    <a:bodyPr/>
                    <a:lstStyle/>
                    <a:p>
                      <a:pPr>
                        <a:lnSpc>
                          <a:spcPct val="106000"/>
                        </a:lnSpc>
                      </a:pPr>
                      <a:r>
                        <a:rPr sz="1400" b="1" i="0">
                          <a:solidFill>
                            <a:srgbClr val="242C38"/>
                          </a:solidFill>
                          <a:latin typeface="Segoe UI"/>
                        </a:rPr>
                        <a:t>Analysis</a:t>
                      </a:r>
                    </a:p>
                  </a:txBody>
                  <a:tcPr marT="36576" marB="36576" anchor="ctr">
                    <a:solidFill>
                      <a:srgbClr val="FFFFFF"/>
                    </a:solidFill>
                  </a:tcPr>
                </a:tc>
                <a:tc>
                  <a:txBody>
                    <a:bodyPr/>
                    <a:lstStyle/>
                    <a:p>
                      <a:pPr>
                        <a:lnSpc>
                          <a:spcPct val="106000"/>
                        </a:lnSpc>
                      </a:pPr>
                      <a:r>
                        <a:rPr sz="1400" b="0" i="0">
                          <a:solidFill>
                            <a:srgbClr val="242C38"/>
                          </a:solidFill>
                          <a:latin typeface="Segoe UI"/>
                        </a:rPr>
                        <a:t>columns resolved against the catalog, a typo fails HERE</a:t>
                      </a:r>
                    </a:p>
                  </a:txBody>
                  <a:tcPr marT="36576" marB="36576" anchor="ctr">
                    <a:solidFill>
                      <a:srgbClr val="FFFFFF"/>
                    </a:solidFill>
                  </a:tcPr>
                </a:tc>
                <a:extLst>
                  <a:ext uri="{0D108BD9-81ED-4DB2-BD59-A6C34878D82A}">
                    <a16:rowId xmlns:a16="http://schemas.microsoft.com/office/drawing/2014/main" val="10002"/>
                  </a:ext>
                </a:extLst>
              </a:tr>
              <a:tr h="475488">
                <a:tc>
                  <a:txBody>
                    <a:bodyPr/>
                    <a:lstStyle/>
                    <a:p>
                      <a:pPr>
                        <a:lnSpc>
                          <a:spcPct val="106000"/>
                        </a:lnSpc>
                      </a:pPr>
                      <a:r>
                        <a:rPr sz="1400" b="1" i="0">
                          <a:solidFill>
                            <a:srgbClr val="242C38"/>
                          </a:solidFill>
                          <a:latin typeface="Segoe UI"/>
                        </a:rPr>
                        <a:t>Logical optimisation</a:t>
                      </a:r>
                    </a:p>
                  </a:txBody>
                  <a:tcPr marT="36576" marB="36576" anchor="ctr">
                    <a:solidFill>
                      <a:srgbClr val="EEF3F8"/>
                    </a:solidFill>
                  </a:tcPr>
                </a:tc>
                <a:tc>
                  <a:txBody>
                    <a:bodyPr/>
                    <a:lstStyle/>
                    <a:p>
                      <a:pPr>
                        <a:lnSpc>
                          <a:spcPct val="106000"/>
                        </a:lnSpc>
                      </a:pPr>
                      <a:r>
                        <a:rPr sz="1400" b="0" i="0">
                          <a:solidFill>
                            <a:srgbClr val="242C38"/>
                          </a:solidFill>
                          <a:latin typeface="Segoe UI"/>
                        </a:rPr>
                        <a:t>rule-based rewrites run in named batches</a:t>
                      </a:r>
                    </a:p>
                  </a:txBody>
                  <a:tcPr marT="36576" marB="36576" anchor="ctr">
                    <a:solidFill>
                      <a:srgbClr val="EEF3F8"/>
                    </a:solidFill>
                  </a:tcPr>
                </a:tc>
                <a:extLst>
                  <a:ext uri="{0D108BD9-81ED-4DB2-BD59-A6C34878D82A}">
                    <a16:rowId xmlns:a16="http://schemas.microsoft.com/office/drawing/2014/main" val="10003"/>
                  </a:ext>
                </a:extLst>
              </a:tr>
              <a:tr h="475488">
                <a:tc>
                  <a:txBody>
                    <a:bodyPr/>
                    <a:lstStyle/>
                    <a:p>
                      <a:pPr>
                        <a:lnSpc>
                          <a:spcPct val="106000"/>
                        </a:lnSpc>
                      </a:pPr>
                      <a:r>
                        <a:rPr sz="1400" b="1" i="0">
                          <a:solidFill>
                            <a:srgbClr val="242C38"/>
                          </a:solidFill>
                          <a:latin typeface="Segoe UI"/>
                        </a:rPr>
                        <a:t>Physical planning</a:t>
                      </a:r>
                    </a:p>
                  </a:txBody>
                  <a:tcPr marT="36576" marB="36576" anchor="ctr">
                    <a:solidFill>
                      <a:srgbClr val="FFFFFF"/>
                    </a:solidFill>
                  </a:tcPr>
                </a:tc>
                <a:tc>
                  <a:txBody>
                    <a:bodyPr/>
                    <a:lstStyle/>
                    <a:p>
                      <a:pPr>
                        <a:lnSpc>
                          <a:spcPct val="106000"/>
                        </a:lnSpc>
                      </a:pPr>
                      <a:r>
                        <a:rPr sz="1400" b="0" i="0">
                          <a:solidFill>
                            <a:srgbClr val="242C38"/>
                          </a:solidFill>
                          <a:latin typeface="Segoe UI"/>
                        </a:rPr>
                        <a:t>a cost model picks one physical operator per node</a:t>
                      </a:r>
                    </a:p>
                  </a:txBody>
                  <a:tcPr marT="36576" marB="36576" anchor="ctr">
                    <a:solidFill>
                      <a:srgbClr val="FFFFFF"/>
                    </a:solidFill>
                  </a:tcPr>
                </a:tc>
                <a:extLst>
                  <a:ext uri="{0D108BD9-81ED-4DB2-BD59-A6C34878D82A}">
                    <a16:rowId xmlns:a16="http://schemas.microsoft.com/office/drawing/2014/main" val="10004"/>
                  </a:ext>
                </a:extLst>
              </a:tr>
              <a:tr h="475488">
                <a:tc>
                  <a:txBody>
                    <a:bodyPr/>
                    <a:lstStyle/>
                    <a:p>
                      <a:pPr>
                        <a:lnSpc>
                          <a:spcPct val="106000"/>
                        </a:lnSpc>
                      </a:pPr>
                      <a:r>
                        <a:rPr sz="1400" b="1" i="0">
                          <a:solidFill>
                            <a:srgbClr val="242C38"/>
                          </a:solidFill>
                          <a:latin typeface="Segoe UI"/>
                        </a:rPr>
                        <a:t>Code generation</a:t>
                      </a:r>
                    </a:p>
                  </a:txBody>
                  <a:tcPr marT="36576" marB="36576" anchor="ctr">
                    <a:solidFill>
                      <a:srgbClr val="EEF3F8"/>
                    </a:solidFill>
                  </a:tcPr>
                </a:tc>
                <a:tc>
                  <a:txBody>
                    <a:bodyPr/>
                    <a:lstStyle/>
                    <a:p>
                      <a:pPr>
                        <a:lnSpc>
                          <a:spcPct val="106000"/>
                        </a:lnSpc>
                      </a:pPr>
                      <a:r>
                        <a:rPr sz="1400" b="0" i="0">
                          <a:solidFill>
                            <a:srgbClr val="242C38"/>
                          </a:solidFill>
                          <a:latin typeface="Segoe UI"/>
                        </a:rPr>
                        <a:t>Tungsten fuses operators into one compiled class</a:t>
                      </a:r>
                    </a:p>
                  </a:txBody>
                  <a:tcPr marT="36576" marB="36576" anchor="ctr">
                    <a:solidFill>
                      <a:srgbClr val="EEF3F8"/>
                    </a:solidFill>
                  </a:tcPr>
                </a:tc>
                <a:extLst>
                  <a:ext uri="{0D108BD9-81ED-4DB2-BD59-A6C34878D82A}">
                    <a16:rowId xmlns:a16="http://schemas.microsoft.com/office/drawing/2014/main" val="10005"/>
                  </a:ext>
                </a:extLst>
              </a:tr>
            </a:tbl>
          </a:graphicData>
        </a:graphic>
      </p:graphicFrame>
      <p:sp>
        <p:nvSpPr>
          <p:cNvPr id="5" name="Rectangle 4"/>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19  ·  Deep dive appendix</a:t>
            </a:r>
          </a:p>
        </p:txBody>
      </p:sp>
      <p:sp>
        <p:nvSpPr>
          <p:cNvPr id="7" name="TextBox 6"/>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197</a:t>
            </a:r>
          </a:p>
        </p:txBody>
      </p:sp>
    </p:spTree>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Rules worth knowing by name</a:t>
            </a:r>
          </a:p>
        </p:txBody>
      </p:sp>
      <p:graphicFrame>
        <p:nvGraphicFramePr>
          <p:cNvPr id="4" name="Table 3"/>
          <p:cNvGraphicFramePr>
            <a:graphicFrameLocks noGrp="1"/>
          </p:cNvGraphicFramePr>
          <p:nvPr/>
        </p:nvGraphicFramePr>
        <p:xfrm>
          <a:off x="658368" y="1481328"/>
          <a:ext cx="10874958" cy="2779776"/>
        </p:xfrm>
        <a:graphic>
          <a:graphicData uri="http://schemas.openxmlformats.org/drawingml/2006/table">
            <a:tbl>
              <a:tblPr firstRow="1" bandRow="1">
                <a:tableStyleId>{5C22544A-7EE6-4342-B048-85BDC9FD1C3A}</a:tableStyleId>
              </a:tblPr>
              <a:tblGrid>
                <a:gridCol w="4078109">
                  <a:extLst>
                    <a:ext uri="{9D8B030D-6E8A-4147-A177-3AD203B41FA5}">
                      <a16:colId xmlns:a16="http://schemas.microsoft.com/office/drawing/2014/main" val="20000"/>
                    </a:ext>
                  </a:extLst>
                </a:gridCol>
                <a:gridCol w="6796849">
                  <a:extLst>
                    <a:ext uri="{9D8B030D-6E8A-4147-A177-3AD203B41FA5}">
                      <a16:colId xmlns:a16="http://schemas.microsoft.com/office/drawing/2014/main" val="20001"/>
                    </a:ext>
                  </a:extLst>
                </a:gridCol>
              </a:tblGrid>
              <a:tr h="402336">
                <a:tc>
                  <a:txBody>
                    <a:bodyPr/>
                    <a:lstStyle/>
                    <a:p>
                      <a:r>
                        <a:rPr sz="1450" b="1" i="0">
                          <a:solidFill>
                            <a:srgbClr val="FFFFFF"/>
                          </a:solidFill>
                          <a:latin typeface="Segoe UI Semibold"/>
                        </a:rPr>
                        <a:t>Rule</a:t>
                      </a:r>
                    </a:p>
                  </a:txBody>
                  <a:tcPr anchor="ctr">
                    <a:solidFill>
                      <a:srgbClr val="1F4E79"/>
                    </a:solidFill>
                  </a:tcPr>
                </a:tc>
                <a:tc>
                  <a:txBody>
                    <a:bodyPr/>
                    <a:lstStyle/>
                    <a:p>
                      <a:r>
                        <a:rPr sz="1450" b="1" i="0">
                          <a:solidFill>
                            <a:srgbClr val="FFFFFF"/>
                          </a:solidFill>
                          <a:latin typeface="Segoe UI Semibold"/>
                        </a:rPr>
                        <a:t>What it does</a:t>
                      </a:r>
                    </a:p>
                  </a:txBody>
                  <a:tcPr anchor="ctr">
                    <a:solidFill>
                      <a:srgbClr val="1F4E79"/>
                    </a:solidFill>
                  </a:tcPr>
                </a:tc>
                <a:extLst>
                  <a:ext uri="{0D108BD9-81ED-4DB2-BD59-A6C34878D82A}">
                    <a16:rowId xmlns:a16="http://schemas.microsoft.com/office/drawing/2014/main" val="10000"/>
                  </a:ext>
                </a:extLst>
              </a:tr>
              <a:tr h="475488">
                <a:tc>
                  <a:txBody>
                    <a:bodyPr/>
                    <a:lstStyle/>
                    <a:p>
                      <a:pPr>
                        <a:lnSpc>
                          <a:spcPct val="106000"/>
                        </a:lnSpc>
                      </a:pPr>
                      <a:r>
                        <a:rPr sz="1350" b="0" i="0">
                          <a:solidFill>
                            <a:srgbClr val="2E74B5"/>
                          </a:solidFill>
                          <a:latin typeface="Consolas"/>
                        </a:rPr>
                        <a:t>ResolveReferences</a:t>
                      </a:r>
                    </a:p>
                  </a:txBody>
                  <a:tcPr marT="36576" marB="36576" anchor="ctr">
                    <a:solidFill>
                      <a:srgbClr val="EEF3F8"/>
                    </a:solidFill>
                  </a:tcPr>
                </a:tc>
                <a:tc>
                  <a:txBody>
                    <a:bodyPr/>
                    <a:lstStyle/>
                    <a:p>
                      <a:pPr>
                        <a:lnSpc>
                          <a:spcPct val="106000"/>
                        </a:lnSpc>
                      </a:pPr>
                      <a:r>
                        <a:rPr sz="1400" b="0" i="0">
                          <a:solidFill>
                            <a:srgbClr val="242C38"/>
                          </a:solidFill>
                          <a:latin typeface="Segoe UI"/>
                        </a:rPr>
                        <a:t>matches every column, fails as AnalysisException</a:t>
                      </a:r>
                    </a:p>
                  </a:txBody>
                  <a:tcPr marT="36576" marB="36576" anchor="ctr">
                    <a:solidFill>
                      <a:srgbClr val="EEF3F8"/>
                    </a:solidFill>
                  </a:tcPr>
                </a:tc>
                <a:extLst>
                  <a:ext uri="{0D108BD9-81ED-4DB2-BD59-A6C34878D82A}">
                    <a16:rowId xmlns:a16="http://schemas.microsoft.com/office/drawing/2014/main" val="10001"/>
                  </a:ext>
                </a:extLst>
              </a:tr>
              <a:tr h="475488">
                <a:tc>
                  <a:txBody>
                    <a:bodyPr/>
                    <a:lstStyle/>
                    <a:p>
                      <a:pPr>
                        <a:lnSpc>
                          <a:spcPct val="106000"/>
                        </a:lnSpc>
                      </a:pPr>
                      <a:r>
                        <a:rPr sz="1350" b="0" i="0">
                          <a:solidFill>
                            <a:srgbClr val="2E74B5"/>
                          </a:solidFill>
                          <a:latin typeface="Consolas"/>
                        </a:rPr>
                        <a:t>ColumnPruning</a:t>
                      </a:r>
                    </a:p>
                  </a:txBody>
                  <a:tcPr marT="36576" marB="36576" anchor="ctr">
                    <a:solidFill>
                      <a:srgbClr val="FFFFFF"/>
                    </a:solidFill>
                  </a:tcPr>
                </a:tc>
                <a:tc>
                  <a:txBody>
                    <a:bodyPr/>
                    <a:lstStyle/>
                    <a:p>
                      <a:pPr>
                        <a:lnSpc>
                          <a:spcPct val="106000"/>
                        </a:lnSpc>
                      </a:pPr>
                      <a:r>
                        <a:rPr sz="1400" b="0" i="0">
                          <a:solidFill>
                            <a:srgbClr val="242C38"/>
                          </a:solidFill>
                          <a:latin typeface="Segoe UI"/>
                        </a:rPr>
                        <a:t>removes any column not needed higher up the tree</a:t>
                      </a:r>
                    </a:p>
                  </a:txBody>
                  <a:tcPr marT="36576" marB="36576" anchor="ctr">
                    <a:solidFill>
                      <a:srgbClr val="FFFFFF"/>
                    </a:solidFill>
                  </a:tcPr>
                </a:tc>
                <a:extLst>
                  <a:ext uri="{0D108BD9-81ED-4DB2-BD59-A6C34878D82A}">
                    <a16:rowId xmlns:a16="http://schemas.microsoft.com/office/drawing/2014/main" val="10002"/>
                  </a:ext>
                </a:extLst>
              </a:tr>
              <a:tr h="475488">
                <a:tc>
                  <a:txBody>
                    <a:bodyPr/>
                    <a:lstStyle/>
                    <a:p>
                      <a:pPr>
                        <a:lnSpc>
                          <a:spcPct val="106000"/>
                        </a:lnSpc>
                      </a:pPr>
                      <a:r>
                        <a:rPr sz="1350" b="0" i="0">
                          <a:solidFill>
                            <a:srgbClr val="2E74B5"/>
                          </a:solidFill>
                          <a:latin typeface="Consolas"/>
                        </a:rPr>
                        <a:t>PushDownPredicate</a:t>
                      </a:r>
                    </a:p>
                  </a:txBody>
                  <a:tcPr marT="36576" marB="36576" anchor="ctr">
                    <a:solidFill>
                      <a:srgbClr val="EEF3F8"/>
                    </a:solidFill>
                  </a:tcPr>
                </a:tc>
                <a:tc>
                  <a:txBody>
                    <a:bodyPr/>
                    <a:lstStyle/>
                    <a:p>
                      <a:pPr>
                        <a:lnSpc>
                          <a:spcPct val="106000"/>
                        </a:lnSpc>
                      </a:pPr>
                      <a:r>
                        <a:rPr sz="1400" b="0" i="0">
                          <a:solidFill>
                            <a:srgbClr val="242C38"/>
                          </a:solidFill>
                          <a:latin typeface="Segoe UI"/>
                        </a:rPr>
                        <a:t>moves a filter as close to the source as it can</a:t>
                      </a:r>
                    </a:p>
                  </a:txBody>
                  <a:tcPr marT="36576" marB="36576" anchor="ctr">
                    <a:solidFill>
                      <a:srgbClr val="EEF3F8"/>
                    </a:solidFill>
                  </a:tcPr>
                </a:tc>
                <a:extLst>
                  <a:ext uri="{0D108BD9-81ED-4DB2-BD59-A6C34878D82A}">
                    <a16:rowId xmlns:a16="http://schemas.microsoft.com/office/drawing/2014/main" val="10003"/>
                  </a:ext>
                </a:extLst>
              </a:tr>
              <a:tr h="475488">
                <a:tc>
                  <a:txBody>
                    <a:bodyPr/>
                    <a:lstStyle/>
                    <a:p>
                      <a:pPr>
                        <a:lnSpc>
                          <a:spcPct val="106000"/>
                        </a:lnSpc>
                      </a:pPr>
                      <a:r>
                        <a:rPr sz="1350" b="0" i="0">
                          <a:solidFill>
                            <a:srgbClr val="2E74B5"/>
                          </a:solidFill>
                          <a:latin typeface="Consolas"/>
                        </a:rPr>
                        <a:t>ConstantFolding</a:t>
                      </a:r>
                    </a:p>
                  </a:txBody>
                  <a:tcPr marT="36576" marB="36576" anchor="ctr">
                    <a:solidFill>
                      <a:srgbClr val="FFFFFF"/>
                    </a:solidFill>
                  </a:tcPr>
                </a:tc>
                <a:tc>
                  <a:txBody>
                    <a:bodyPr/>
                    <a:lstStyle/>
                    <a:p>
                      <a:pPr>
                        <a:lnSpc>
                          <a:spcPct val="106000"/>
                        </a:lnSpc>
                      </a:pPr>
                      <a:r>
                        <a:rPr sz="1400" b="0" i="0">
                          <a:solidFill>
                            <a:srgbClr val="242C38"/>
                          </a:solidFill>
                          <a:latin typeface="Segoe UI"/>
                        </a:rPr>
                        <a:t>evaluates a literal-only expression once, at plan time</a:t>
                      </a:r>
                    </a:p>
                  </a:txBody>
                  <a:tcPr marT="36576" marB="36576" anchor="ctr">
                    <a:solidFill>
                      <a:srgbClr val="FFFFFF"/>
                    </a:solidFill>
                  </a:tcPr>
                </a:tc>
                <a:extLst>
                  <a:ext uri="{0D108BD9-81ED-4DB2-BD59-A6C34878D82A}">
                    <a16:rowId xmlns:a16="http://schemas.microsoft.com/office/drawing/2014/main" val="10004"/>
                  </a:ext>
                </a:extLst>
              </a:tr>
              <a:tr h="475488">
                <a:tc>
                  <a:txBody>
                    <a:bodyPr/>
                    <a:lstStyle/>
                    <a:p>
                      <a:pPr>
                        <a:lnSpc>
                          <a:spcPct val="106000"/>
                        </a:lnSpc>
                      </a:pPr>
                      <a:r>
                        <a:rPr sz="1350" b="0" i="0">
                          <a:solidFill>
                            <a:srgbClr val="2E74B5"/>
                          </a:solidFill>
                          <a:latin typeface="Consolas"/>
                        </a:rPr>
                        <a:t>ReorderJoin</a:t>
                      </a:r>
                    </a:p>
                  </a:txBody>
                  <a:tcPr marT="36576" marB="36576" anchor="ctr">
                    <a:solidFill>
                      <a:srgbClr val="EEF3F8"/>
                    </a:solidFill>
                  </a:tcPr>
                </a:tc>
                <a:tc>
                  <a:txBody>
                    <a:bodyPr/>
                    <a:lstStyle/>
                    <a:p>
                      <a:pPr>
                        <a:lnSpc>
                          <a:spcPct val="106000"/>
                        </a:lnSpc>
                      </a:pPr>
                      <a:r>
                        <a:rPr sz="1400" b="0" i="0">
                          <a:solidFill>
                            <a:srgbClr val="242C38"/>
                          </a:solidFill>
                          <a:latin typeface="Segoe UI"/>
                        </a:rPr>
                        <a:t>reorders a chain of inner joins, smaller ones first</a:t>
                      </a:r>
                    </a:p>
                  </a:txBody>
                  <a:tcPr marT="36576" marB="36576" anchor="ctr">
                    <a:solidFill>
                      <a:srgbClr val="EEF3F8"/>
                    </a:solidFill>
                  </a:tcPr>
                </a:tc>
                <a:extLst>
                  <a:ext uri="{0D108BD9-81ED-4DB2-BD59-A6C34878D82A}">
                    <a16:rowId xmlns:a16="http://schemas.microsoft.com/office/drawing/2014/main" val="10005"/>
                  </a:ext>
                </a:extLst>
              </a:tr>
            </a:tbl>
          </a:graphicData>
        </a:graphic>
      </p:graphicFrame>
      <p:sp>
        <p:nvSpPr>
          <p:cNvPr id="5" name="Rectangle 4"/>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19  ·  Deep dive appendix</a:t>
            </a:r>
          </a:p>
        </p:txBody>
      </p:sp>
      <p:sp>
        <p:nvSpPr>
          <p:cNvPr id="7" name="TextBox 6"/>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198</a:t>
            </a:r>
          </a:p>
        </p:txBody>
      </p:sp>
    </p:spTree>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What breaks the codegen chain</a:t>
            </a:r>
          </a:p>
        </p:txBody>
      </p:sp>
      <p:graphicFrame>
        <p:nvGraphicFramePr>
          <p:cNvPr id="4" name="Table 3"/>
          <p:cNvGraphicFramePr>
            <a:graphicFrameLocks noGrp="1"/>
          </p:cNvGraphicFramePr>
          <p:nvPr/>
        </p:nvGraphicFramePr>
        <p:xfrm>
          <a:off x="658368" y="1481328"/>
          <a:ext cx="10874958" cy="1828800"/>
        </p:xfrm>
        <a:graphic>
          <a:graphicData uri="http://schemas.openxmlformats.org/drawingml/2006/table">
            <a:tbl>
              <a:tblPr firstRow="1" bandRow="1">
                <a:tableStyleId>{5C22544A-7EE6-4342-B048-85BDC9FD1C3A}</a:tableStyleId>
              </a:tblPr>
              <a:tblGrid>
                <a:gridCol w="4349983">
                  <a:extLst>
                    <a:ext uri="{9D8B030D-6E8A-4147-A177-3AD203B41FA5}">
                      <a16:colId xmlns:a16="http://schemas.microsoft.com/office/drawing/2014/main" val="20000"/>
                    </a:ext>
                  </a:extLst>
                </a:gridCol>
                <a:gridCol w="6524975">
                  <a:extLst>
                    <a:ext uri="{9D8B030D-6E8A-4147-A177-3AD203B41FA5}">
                      <a16:colId xmlns:a16="http://schemas.microsoft.com/office/drawing/2014/main" val="20001"/>
                    </a:ext>
                  </a:extLst>
                </a:gridCol>
              </a:tblGrid>
              <a:tr h="402336">
                <a:tc>
                  <a:txBody>
                    <a:bodyPr/>
                    <a:lstStyle/>
                    <a:p>
                      <a:r>
                        <a:rPr sz="1450" b="1" i="0">
                          <a:solidFill>
                            <a:srgbClr val="FFFFFF"/>
                          </a:solidFill>
                          <a:latin typeface="Segoe UI Semibold"/>
                        </a:rPr>
                        <a:t>Operator or situation</a:t>
                      </a:r>
                    </a:p>
                  </a:txBody>
                  <a:tcPr anchor="ctr">
                    <a:solidFill>
                      <a:srgbClr val="1F4E79"/>
                    </a:solidFill>
                  </a:tcPr>
                </a:tc>
                <a:tc>
                  <a:txBody>
                    <a:bodyPr/>
                    <a:lstStyle/>
                    <a:p>
                      <a:r>
                        <a:rPr sz="1450" b="1" i="0">
                          <a:solidFill>
                            <a:srgbClr val="FFFFFF"/>
                          </a:solidFill>
                          <a:latin typeface="Segoe UI Semibold"/>
                        </a:rPr>
                        <a:t>Why</a:t>
                      </a:r>
                    </a:p>
                  </a:txBody>
                  <a:tcPr anchor="ctr">
                    <a:solidFill>
                      <a:srgbClr val="1F4E79"/>
                    </a:solidFill>
                  </a:tcPr>
                </a:tc>
                <a:extLst>
                  <a:ext uri="{0D108BD9-81ED-4DB2-BD59-A6C34878D82A}">
                    <a16:rowId xmlns:a16="http://schemas.microsoft.com/office/drawing/2014/main" val="10000"/>
                  </a:ext>
                </a:extLst>
              </a:tr>
              <a:tr h="475488">
                <a:tc>
                  <a:txBody>
                    <a:bodyPr/>
                    <a:lstStyle/>
                    <a:p>
                      <a:pPr>
                        <a:lnSpc>
                          <a:spcPct val="106000"/>
                        </a:lnSpc>
                      </a:pPr>
                      <a:r>
                        <a:rPr sz="1400" b="1" i="0">
                          <a:solidFill>
                            <a:srgbClr val="242C38"/>
                          </a:solidFill>
                          <a:latin typeface="Segoe UI"/>
                        </a:rPr>
                        <a:t>A Python or pandas UDF</a:t>
                      </a:r>
                    </a:p>
                  </a:txBody>
                  <a:tcPr marT="36576" marB="36576" anchor="ctr">
                    <a:solidFill>
                      <a:srgbClr val="EEF3F8"/>
                    </a:solidFill>
                  </a:tcPr>
                </a:tc>
                <a:tc>
                  <a:txBody>
                    <a:bodyPr/>
                    <a:lstStyle/>
                    <a:p>
                      <a:pPr>
                        <a:lnSpc>
                          <a:spcPct val="106000"/>
                        </a:lnSpc>
                      </a:pPr>
                      <a:r>
                        <a:rPr sz="1400" b="0" i="0">
                          <a:solidFill>
                            <a:srgbClr val="242C38"/>
                          </a:solidFill>
                          <a:latin typeface="Segoe UI"/>
                        </a:rPr>
                        <a:t>rows leave UnsafeRow, cross to Python and back</a:t>
                      </a:r>
                    </a:p>
                  </a:txBody>
                  <a:tcPr marT="36576" marB="36576" anchor="ctr">
                    <a:solidFill>
                      <a:srgbClr val="EEF3F8"/>
                    </a:solidFill>
                  </a:tcPr>
                </a:tc>
                <a:extLst>
                  <a:ext uri="{0D108BD9-81ED-4DB2-BD59-A6C34878D82A}">
                    <a16:rowId xmlns:a16="http://schemas.microsoft.com/office/drawing/2014/main" val="10001"/>
                  </a:ext>
                </a:extLst>
              </a:tr>
              <a:tr h="475488">
                <a:tc>
                  <a:txBody>
                    <a:bodyPr/>
                    <a:lstStyle/>
                    <a:p>
                      <a:pPr>
                        <a:lnSpc>
                          <a:spcPct val="106000"/>
                        </a:lnSpc>
                      </a:pPr>
                      <a:r>
                        <a:rPr sz="1400" b="1" i="0">
                          <a:solidFill>
                            <a:srgbClr val="242C38"/>
                          </a:solidFill>
                          <a:latin typeface="Segoe UI"/>
                        </a:rPr>
                        <a:t>Any shuffle (Exchange)</a:t>
                      </a:r>
                    </a:p>
                  </a:txBody>
                  <a:tcPr marT="36576" marB="36576" anchor="ctr">
                    <a:solidFill>
                      <a:srgbClr val="FFFFFF"/>
                    </a:solidFill>
                  </a:tcPr>
                </a:tc>
                <a:tc>
                  <a:txBody>
                    <a:bodyPr/>
                    <a:lstStyle/>
                    <a:p>
                      <a:pPr>
                        <a:lnSpc>
                          <a:spcPct val="106000"/>
                        </a:lnSpc>
                      </a:pPr>
                      <a:r>
                        <a:rPr sz="1400" b="0" i="0">
                          <a:solidFill>
                            <a:srgbClr val="242C38"/>
                          </a:solidFill>
                          <a:latin typeface="Segoe UI"/>
                        </a:rPr>
                        <a:t>always ends one codegen region, starts a fresh one</a:t>
                      </a:r>
                    </a:p>
                  </a:txBody>
                  <a:tcPr marT="36576" marB="36576" anchor="ctr">
                    <a:solidFill>
                      <a:srgbClr val="FFFFFF"/>
                    </a:solidFill>
                  </a:tcPr>
                </a:tc>
                <a:extLst>
                  <a:ext uri="{0D108BD9-81ED-4DB2-BD59-A6C34878D82A}">
                    <a16:rowId xmlns:a16="http://schemas.microsoft.com/office/drawing/2014/main" val="10002"/>
                  </a:ext>
                </a:extLst>
              </a:tr>
              <a:tr h="475488">
                <a:tc>
                  <a:txBody>
                    <a:bodyPr/>
                    <a:lstStyle/>
                    <a:p>
                      <a:pPr>
                        <a:lnSpc>
                          <a:spcPct val="106000"/>
                        </a:lnSpc>
                      </a:pPr>
                      <a:r>
                        <a:rPr sz="1350" b="0" i="0">
                          <a:solidFill>
                            <a:srgbClr val="2E74B5"/>
                          </a:solidFill>
                          <a:latin typeface="Consolas"/>
                        </a:rPr>
                        <a:t>.rdd</a:t>
                      </a:r>
                      <a:r>
                        <a:rPr sz="1400" b="1" i="0">
                          <a:solidFill>
                            <a:srgbClr val="242C38"/>
                          </a:solidFill>
                          <a:latin typeface="Segoe UI"/>
                        </a:rPr>
                        <a:t> or </a:t>
                      </a:r>
                      <a:r>
                        <a:rPr sz="1350" b="0" i="0">
                          <a:solidFill>
                            <a:srgbClr val="2E74B5"/>
                          </a:solidFill>
                          <a:latin typeface="Consolas"/>
                        </a:rPr>
                        <a:t>mapPartitions</a:t>
                      </a:r>
                    </a:p>
                  </a:txBody>
                  <a:tcPr marT="36576" marB="36576" anchor="ctr">
                    <a:solidFill>
                      <a:srgbClr val="EEF3F8"/>
                    </a:solidFill>
                  </a:tcPr>
                </a:tc>
                <a:tc>
                  <a:txBody>
                    <a:bodyPr/>
                    <a:lstStyle/>
                    <a:p>
                      <a:pPr>
                        <a:lnSpc>
                          <a:spcPct val="106000"/>
                        </a:lnSpc>
                      </a:pPr>
                      <a:r>
                        <a:rPr sz="1400" b="0" i="0">
                          <a:solidFill>
                            <a:srgbClr val="242C38"/>
                          </a:solidFill>
                          <a:latin typeface="Segoe UI"/>
                        </a:rPr>
                        <a:t>drops out of Catalyst's operator tree entirely</a:t>
                      </a:r>
                    </a:p>
                  </a:txBody>
                  <a:tcPr marT="36576" marB="36576" anchor="ctr">
                    <a:solidFill>
                      <a:srgbClr val="EEF3F8"/>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658368" y="5724144"/>
            <a:ext cx="10874959" cy="502920"/>
          </a:xfrm>
          <a:prstGeom prst="rect">
            <a:avLst/>
          </a:prstGeom>
          <a:noFill/>
        </p:spPr>
        <p:txBody>
          <a:bodyPr wrap="square" lIns="0" tIns="0" rIns="0" bIns="0">
            <a:spAutoFit/>
          </a:bodyPr>
          <a:lstStyle/>
          <a:p>
            <a:r>
              <a:rPr sz="1300" b="0" i="1">
                <a:solidFill>
                  <a:srgbClr val="5B6775"/>
                </a:solidFill>
                <a:latin typeface="Segoe UI"/>
              </a:rPr>
              <a:t>A plain Scala/Java UDF stays inside generated code, it never leaves the JVM.</a:t>
            </a:r>
          </a:p>
        </p:txBody>
      </p:sp>
      <p:sp>
        <p:nvSpPr>
          <p:cNvPr id="6" name="Rectangle 5"/>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19  ·  Deep dive appendix</a:t>
            </a:r>
          </a:p>
        </p:txBody>
      </p:sp>
      <p:sp>
        <p:nvSpPr>
          <p:cNvPr id="8" name="TextBox 7"/>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199</a:t>
            </a:r>
          </a:p>
        </p:txBody>
      </p:sp>
    </p:spTree>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The shuffle, physically</a:t>
            </a:r>
          </a:p>
        </p:txBody>
      </p:sp>
      <p:graphicFrame>
        <p:nvGraphicFramePr>
          <p:cNvPr id="4" name="Table 3"/>
          <p:cNvGraphicFramePr>
            <a:graphicFrameLocks noGrp="1"/>
          </p:cNvGraphicFramePr>
          <p:nvPr/>
        </p:nvGraphicFramePr>
        <p:xfrm>
          <a:off x="658368" y="1481328"/>
          <a:ext cx="10874958" cy="2304288"/>
        </p:xfrm>
        <a:graphic>
          <a:graphicData uri="http://schemas.openxmlformats.org/drawingml/2006/table">
            <a:tbl>
              <a:tblPr firstRow="1" bandRow="1">
                <a:tableStyleId>{5C22544A-7EE6-4342-B048-85BDC9FD1C3A}</a:tableStyleId>
              </a:tblPr>
              <a:tblGrid>
                <a:gridCol w="4349983">
                  <a:extLst>
                    <a:ext uri="{9D8B030D-6E8A-4147-A177-3AD203B41FA5}">
                      <a16:colId xmlns:a16="http://schemas.microsoft.com/office/drawing/2014/main" val="20000"/>
                    </a:ext>
                  </a:extLst>
                </a:gridCol>
                <a:gridCol w="6524975">
                  <a:extLst>
                    <a:ext uri="{9D8B030D-6E8A-4147-A177-3AD203B41FA5}">
                      <a16:colId xmlns:a16="http://schemas.microsoft.com/office/drawing/2014/main" val="20001"/>
                    </a:ext>
                  </a:extLst>
                </a:gridCol>
              </a:tblGrid>
              <a:tr h="402336">
                <a:tc>
                  <a:txBody>
                    <a:bodyPr/>
                    <a:lstStyle/>
                    <a:p>
                      <a:r>
                        <a:rPr sz="1450" b="1" i="0">
                          <a:solidFill>
                            <a:srgbClr val="FFFFFF"/>
                          </a:solidFill>
                          <a:latin typeface="Segoe UI Semibold"/>
                        </a:rPr>
                        <a:t>Concept</a:t>
                      </a:r>
                    </a:p>
                  </a:txBody>
                  <a:tcPr anchor="ctr">
                    <a:solidFill>
                      <a:srgbClr val="1F4E79"/>
                    </a:solidFill>
                  </a:tcPr>
                </a:tc>
                <a:tc>
                  <a:txBody>
                    <a:bodyPr/>
                    <a:lstStyle/>
                    <a:p>
                      <a:r>
                        <a:rPr sz="1450" b="1" i="0">
                          <a:solidFill>
                            <a:srgbClr val="FFFFFF"/>
                          </a:solidFill>
                          <a:latin typeface="Segoe UI Semibold"/>
                        </a:rPr>
                        <a:t>What it is</a:t>
                      </a:r>
                    </a:p>
                  </a:txBody>
                  <a:tcPr anchor="ctr">
                    <a:solidFill>
                      <a:srgbClr val="1F4E79"/>
                    </a:solidFill>
                  </a:tcPr>
                </a:tc>
                <a:extLst>
                  <a:ext uri="{0D108BD9-81ED-4DB2-BD59-A6C34878D82A}">
                    <a16:rowId xmlns:a16="http://schemas.microsoft.com/office/drawing/2014/main" val="10000"/>
                  </a:ext>
                </a:extLst>
              </a:tr>
              <a:tr h="475488">
                <a:tc>
                  <a:txBody>
                    <a:bodyPr/>
                    <a:lstStyle/>
                    <a:p>
                      <a:pPr>
                        <a:lnSpc>
                          <a:spcPct val="106000"/>
                        </a:lnSpc>
                      </a:pPr>
                      <a:r>
                        <a:rPr sz="1350" b="0" i="0">
                          <a:solidFill>
                            <a:srgbClr val="2E74B5"/>
                          </a:solidFill>
                          <a:latin typeface="Consolas"/>
                        </a:rPr>
                        <a:t>UnsafeShuffleWriter</a:t>
                      </a:r>
                    </a:p>
                  </a:txBody>
                  <a:tcPr marT="36576" marB="36576" anchor="ctr">
                    <a:solidFill>
                      <a:srgbClr val="EEF3F8"/>
                    </a:solidFill>
                  </a:tcPr>
                </a:tc>
                <a:tc>
                  <a:txBody>
                    <a:bodyPr/>
                    <a:lstStyle/>
                    <a:p>
                      <a:pPr>
                        <a:lnSpc>
                          <a:spcPct val="106000"/>
                        </a:lnSpc>
                      </a:pPr>
                      <a:r>
                        <a:rPr sz="1400" b="0" i="0">
                          <a:solidFill>
                            <a:srgbClr val="242C38"/>
                          </a:solidFill>
                          <a:latin typeface="Segoe UI"/>
                        </a:rPr>
                        <a:t>sorts a pointer array by partition id, no deserialize</a:t>
                      </a:r>
                    </a:p>
                  </a:txBody>
                  <a:tcPr marT="36576" marB="36576" anchor="ctr">
                    <a:solidFill>
                      <a:srgbClr val="EEF3F8"/>
                    </a:solidFill>
                  </a:tcPr>
                </a:tc>
                <a:extLst>
                  <a:ext uri="{0D108BD9-81ED-4DB2-BD59-A6C34878D82A}">
                    <a16:rowId xmlns:a16="http://schemas.microsoft.com/office/drawing/2014/main" val="10001"/>
                  </a:ext>
                </a:extLst>
              </a:tr>
              <a:tr h="475488">
                <a:tc>
                  <a:txBody>
                    <a:bodyPr/>
                    <a:lstStyle/>
                    <a:p>
                      <a:pPr>
                        <a:lnSpc>
                          <a:spcPct val="106000"/>
                        </a:lnSpc>
                      </a:pPr>
                      <a:r>
                        <a:rPr sz="1400" b="1" i="0">
                          <a:solidFill>
                            <a:srgbClr val="242C38"/>
                          </a:solidFill>
                          <a:latin typeface="Segoe UI"/>
                        </a:rPr>
                        <a:t>Two files per map task</a:t>
                      </a:r>
                    </a:p>
                  </a:txBody>
                  <a:tcPr marT="36576" marB="36576" anchor="ctr">
                    <a:solidFill>
                      <a:srgbClr val="FFFFFF"/>
                    </a:solidFill>
                  </a:tcPr>
                </a:tc>
                <a:tc>
                  <a:txBody>
                    <a:bodyPr/>
                    <a:lstStyle/>
                    <a:p>
                      <a:pPr>
                        <a:lnSpc>
                          <a:spcPct val="106000"/>
                        </a:lnSpc>
                      </a:pPr>
                      <a:r>
                        <a:rPr sz="1400" b="0" i="0">
                          <a:solidFill>
                            <a:srgbClr val="242C38"/>
                          </a:solidFill>
                          <a:latin typeface="Segoe UI"/>
                        </a:rPr>
                        <a:t>one </a:t>
                      </a:r>
                      <a:r>
                        <a:rPr sz="1350" b="0" i="0">
                          <a:solidFill>
                            <a:srgbClr val="2E74B5"/>
                          </a:solidFill>
                          <a:latin typeface="Consolas"/>
                        </a:rPr>
                        <a:t>.data</a:t>
                      </a:r>
                      <a:r>
                        <a:rPr sz="1400" b="0" i="0">
                          <a:solidFill>
                            <a:srgbClr val="242C38"/>
                          </a:solidFill>
                          <a:latin typeface="Segoe UI"/>
                        </a:rPr>
                        <a:t>, one </a:t>
                      </a:r>
                      <a:r>
                        <a:rPr sz="1350" b="0" i="0">
                          <a:solidFill>
                            <a:srgbClr val="2E74B5"/>
                          </a:solidFill>
                          <a:latin typeface="Consolas"/>
                        </a:rPr>
                        <a:t>.index</a:t>
                      </a:r>
                      <a:r>
                        <a:rPr sz="1400" b="0" i="0">
                          <a:solidFill>
                            <a:srgbClr val="242C38"/>
                          </a:solidFill>
                          <a:latin typeface="Segoe UI"/>
                        </a:rPr>
                        <a:t> of byte offsets, since 1.4</a:t>
                      </a:r>
                    </a:p>
                  </a:txBody>
                  <a:tcPr marT="36576" marB="36576" anchor="ctr">
                    <a:solidFill>
                      <a:srgbClr val="FFFFFF"/>
                    </a:solidFill>
                  </a:tcPr>
                </a:tc>
                <a:extLst>
                  <a:ext uri="{0D108BD9-81ED-4DB2-BD59-A6C34878D82A}">
                    <a16:rowId xmlns:a16="http://schemas.microsoft.com/office/drawing/2014/main" val="10002"/>
                  </a:ext>
                </a:extLst>
              </a:tr>
              <a:tr h="475488">
                <a:tc>
                  <a:txBody>
                    <a:bodyPr/>
                    <a:lstStyle/>
                    <a:p>
                      <a:pPr>
                        <a:lnSpc>
                          <a:spcPct val="106000"/>
                        </a:lnSpc>
                      </a:pPr>
                      <a:r>
                        <a:rPr sz="1350" b="0" i="0">
                          <a:solidFill>
                            <a:srgbClr val="2E74B5"/>
                          </a:solidFill>
                          <a:latin typeface="Consolas"/>
                        </a:rPr>
                        <a:t>MapOutputTracker</a:t>
                      </a:r>
                    </a:p>
                  </a:txBody>
                  <a:tcPr marT="36576" marB="36576" anchor="ctr">
                    <a:solidFill>
                      <a:srgbClr val="EEF3F8"/>
                    </a:solidFill>
                  </a:tcPr>
                </a:tc>
                <a:tc>
                  <a:txBody>
                    <a:bodyPr/>
                    <a:lstStyle/>
                    <a:p>
                      <a:pPr>
                        <a:lnSpc>
                          <a:spcPct val="106000"/>
                        </a:lnSpc>
                      </a:pPr>
                      <a:r>
                        <a:rPr sz="1400" b="0" i="0">
                          <a:solidFill>
                            <a:srgbClr val="242C38"/>
                          </a:solidFill>
                          <a:latin typeface="Segoe UI"/>
                        </a:rPr>
                        <a:t>the driver's record of which task made which output</a:t>
                      </a:r>
                    </a:p>
                  </a:txBody>
                  <a:tcPr marT="36576" marB="36576" anchor="ctr">
                    <a:solidFill>
                      <a:srgbClr val="EEF3F8"/>
                    </a:solidFill>
                  </a:tcPr>
                </a:tc>
                <a:extLst>
                  <a:ext uri="{0D108BD9-81ED-4DB2-BD59-A6C34878D82A}">
                    <a16:rowId xmlns:a16="http://schemas.microsoft.com/office/drawing/2014/main" val="10003"/>
                  </a:ext>
                </a:extLst>
              </a:tr>
              <a:tr h="475488">
                <a:tc>
                  <a:txBody>
                    <a:bodyPr/>
                    <a:lstStyle/>
                    <a:p>
                      <a:pPr>
                        <a:lnSpc>
                          <a:spcPct val="106000"/>
                        </a:lnSpc>
                      </a:pPr>
                      <a:r>
                        <a:rPr sz="1350" b="0" i="0">
                          <a:solidFill>
                            <a:srgbClr val="2E74B5"/>
                          </a:solidFill>
                          <a:latin typeface="Consolas"/>
                        </a:rPr>
                        <a:t>FetchFailedException</a:t>
                      </a:r>
                    </a:p>
                  </a:txBody>
                  <a:tcPr marT="36576" marB="36576" anchor="ctr">
                    <a:solidFill>
                      <a:srgbClr val="FFFFFF"/>
                    </a:solidFill>
                  </a:tcPr>
                </a:tc>
                <a:tc>
                  <a:txBody>
                    <a:bodyPr/>
                    <a:lstStyle/>
                    <a:p>
                      <a:pPr>
                        <a:lnSpc>
                          <a:spcPct val="106000"/>
                        </a:lnSpc>
                      </a:pPr>
                      <a:r>
                        <a:rPr sz="1400" b="0" i="0">
                          <a:solidFill>
                            <a:srgbClr val="242C38"/>
                          </a:solidFill>
                          <a:latin typeface="Segoe UI"/>
                        </a:rPr>
                        <a:t>triggers a stage retry, only the lost map tasks redo</a:t>
                      </a:r>
                    </a:p>
                  </a:txBody>
                  <a:tcPr marT="36576" marB="36576" anchor="ctr">
                    <a:solidFill>
                      <a:srgbClr val="FFFFFF"/>
                    </a:solidFill>
                  </a:tcPr>
                </a:tc>
                <a:extLst>
                  <a:ext uri="{0D108BD9-81ED-4DB2-BD59-A6C34878D82A}">
                    <a16:rowId xmlns:a16="http://schemas.microsoft.com/office/drawing/2014/main" val="10004"/>
                  </a:ext>
                </a:extLst>
              </a:tr>
            </a:tbl>
          </a:graphicData>
        </a:graphic>
      </p:graphicFrame>
      <p:sp>
        <p:nvSpPr>
          <p:cNvPr id="5" name="Rectangle 4"/>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19  ·  Deep dive appendix</a:t>
            </a:r>
          </a:p>
        </p:txBody>
      </p:sp>
      <p:sp>
        <p:nvSpPr>
          <p:cNvPr id="7" name="TextBox 6"/>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200</a:t>
            </a:r>
          </a:p>
        </p:txBody>
      </p:sp>
    </p:spTree>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Four distinct OOM signatures</a:t>
            </a:r>
          </a:p>
        </p:txBody>
      </p:sp>
      <p:graphicFrame>
        <p:nvGraphicFramePr>
          <p:cNvPr id="4" name="Table 3"/>
          <p:cNvGraphicFramePr>
            <a:graphicFrameLocks noGrp="1"/>
          </p:cNvGraphicFramePr>
          <p:nvPr/>
        </p:nvGraphicFramePr>
        <p:xfrm>
          <a:off x="658368" y="1481328"/>
          <a:ext cx="10874958" cy="2304288"/>
        </p:xfrm>
        <a:graphic>
          <a:graphicData uri="http://schemas.openxmlformats.org/drawingml/2006/table">
            <a:tbl>
              <a:tblPr firstRow="1" bandRow="1">
                <a:tableStyleId>{5C22544A-7EE6-4342-B048-85BDC9FD1C3A}</a:tableStyleId>
              </a:tblPr>
              <a:tblGrid>
                <a:gridCol w="2776585">
                  <a:extLst>
                    <a:ext uri="{9D8B030D-6E8A-4147-A177-3AD203B41FA5}">
                      <a16:colId xmlns:a16="http://schemas.microsoft.com/office/drawing/2014/main" val="20000"/>
                    </a:ext>
                  </a:extLst>
                </a:gridCol>
                <a:gridCol w="3702113">
                  <a:extLst>
                    <a:ext uri="{9D8B030D-6E8A-4147-A177-3AD203B41FA5}">
                      <a16:colId xmlns:a16="http://schemas.microsoft.com/office/drawing/2014/main" val="20001"/>
                    </a:ext>
                  </a:extLst>
                </a:gridCol>
                <a:gridCol w="4396260">
                  <a:extLst>
                    <a:ext uri="{9D8B030D-6E8A-4147-A177-3AD203B41FA5}">
                      <a16:colId xmlns:a16="http://schemas.microsoft.com/office/drawing/2014/main" val="20002"/>
                    </a:ext>
                  </a:extLst>
                </a:gridCol>
              </a:tblGrid>
              <a:tr h="402336">
                <a:tc>
                  <a:txBody>
                    <a:bodyPr/>
                    <a:lstStyle/>
                    <a:p>
                      <a:r>
                        <a:rPr sz="1450" b="1" i="0">
                          <a:solidFill>
                            <a:srgbClr val="FFFFFF"/>
                          </a:solidFill>
                          <a:latin typeface="Segoe UI Semibold"/>
                        </a:rPr>
                        <a:t>OOM type</a:t>
                      </a:r>
                    </a:p>
                  </a:txBody>
                  <a:tcPr anchor="ctr">
                    <a:solidFill>
                      <a:srgbClr val="1F4E79"/>
                    </a:solidFill>
                  </a:tcPr>
                </a:tc>
                <a:tc>
                  <a:txBody>
                    <a:bodyPr/>
                    <a:lstStyle/>
                    <a:p>
                      <a:r>
                        <a:rPr sz="1450" b="1" i="0">
                          <a:solidFill>
                            <a:srgbClr val="FFFFFF"/>
                          </a:solidFill>
                          <a:latin typeface="Segoe UI Semibold"/>
                        </a:rPr>
                        <a:t>The log line</a:t>
                      </a:r>
                    </a:p>
                  </a:txBody>
                  <a:tcPr anchor="ctr">
                    <a:solidFill>
                      <a:srgbClr val="1F4E79"/>
                    </a:solidFill>
                  </a:tcPr>
                </a:tc>
                <a:tc>
                  <a:txBody>
                    <a:bodyPr/>
                    <a:lstStyle/>
                    <a:p>
                      <a:r>
                        <a:rPr sz="1450" b="1" i="0">
                          <a:solidFill>
                            <a:srgbClr val="FFFFFF"/>
                          </a:solidFill>
                          <a:latin typeface="Segoe UI Semibold"/>
                        </a:rPr>
                        <a:t>Real fix</a:t>
                      </a:r>
                    </a:p>
                  </a:txBody>
                  <a:tcPr anchor="ctr">
                    <a:solidFill>
                      <a:srgbClr val="1F4E79"/>
                    </a:solidFill>
                  </a:tcPr>
                </a:tc>
                <a:extLst>
                  <a:ext uri="{0D108BD9-81ED-4DB2-BD59-A6C34878D82A}">
                    <a16:rowId xmlns:a16="http://schemas.microsoft.com/office/drawing/2014/main" val="10000"/>
                  </a:ext>
                </a:extLst>
              </a:tr>
              <a:tr h="475488">
                <a:tc>
                  <a:txBody>
                    <a:bodyPr/>
                    <a:lstStyle/>
                    <a:p>
                      <a:pPr>
                        <a:lnSpc>
                          <a:spcPct val="106000"/>
                        </a:lnSpc>
                      </a:pPr>
                      <a:r>
                        <a:rPr sz="1400" b="1" i="0">
                          <a:solidFill>
                            <a:srgbClr val="242C38"/>
                          </a:solidFill>
                          <a:latin typeface="Segoe UI"/>
                        </a:rPr>
                        <a:t>Driver OOM</a:t>
                      </a:r>
                    </a:p>
                  </a:txBody>
                  <a:tcPr marT="36576" marB="36576" anchor="ctr">
                    <a:solidFill>
                      <a:srgbClr val="EEF3F8"/>
                    </a:solidFill>
                  </a:tcPr>
                </a:tc>
                <a:tc>
                  <a:txBody>
                    <a:bodyPr/>
                    <a:lstStyle/>
                    <a:p>
                      <a:pPr>
                        <a:lnSpc>
                          <a:spcPct val="106000"/>
                        </a:lnSpc>
                      </a:pPr>
                      <a:r>
                        <a:rPr sz="1400" b="0" i="0">
                          <a:solidFill>
                            <a:srgbClr val="242C38"/>
                          </a:solidFill>
                          <a:latin typeface="Segoe UI"/>
                        </a:rPr>
                        <a:t>heap space, after .collect()</a:t>
                      </a:r>
                    </a:p>
                  </a:txBody>
                  <a:tcPr marT="36576" marB="36576" anchor="ctr">
                    <a:solidFill>
                      <a:srgbClr val="EEF3F8"/>
                    </a:solidFill>
                  </a:tcPr>
                </a:tc>
                <a:tc>
                  <a:txBody>
                    <a:bodyPr/>
                    <a:lstStyle/>
                    <a:p>
                      <a:pPr>
                        <a:lnSpc>
                          <a:spcPct val="106000"/>
                        </a:lnSpc>
                      </a:pPr>
                      <a:r>
                        <a:rPr sz="1400" b="0" i="0">
                          <a:solidFill>
                            <a:srgbClr val="242C38"/>
                          </a:solidFill>
                          <a:latin typeface="Segoe UI"/>
                        </a:rPr>
                        <a:t>write output, never collect() a big df</a:t>
                      </a:r>
                    </a:p>
                  </a:txBody>
                  <a:tcPr marT="36576" marB="36576" anchor="ctr">
                    <a:solidFill>
                      <a:srgbClr val="EEF3F8"/>
                    </a:solidFill>
                  </a:tcPr>
                </a:tc>
                <a:extLst>
                  <a:ext uri="{0D108BD9-81ED-4DB2-BD59-A6C34878D82A}">
                    <a16:rowId xmlns:a16="http://schemas.microsoft.com/office/drawing/2014/main" val="10001"/>
                  </a:ext>
                </a:extLst>
              </a:tr>
              <a:tr h="475488">
                <a:tc>
                  <a:txBody>
                    <a:bodyPr/>
                    <a:lstStyle/>
                    <a:p>
                      <a:pPr>
                        <a:lnSpc>
                          <a:spcPct val="106000"/>
                        </a:lnSpc>
                      </a:pPr>
                      <a:r>
                        <a:rPr sz="1400" b="1" i="0">
                          <a:solidFill>
                            <a:srgbClr val="242C38"/>
                          </a:solidFill>
                          <a:latin typeface="Segoe UI"/>
                        </a:rPr>
                        <a:t>Executor OOM</a:t>
                      </a:r>
                    </a:p>
                  </a:txBody>
                  <a:tcPr marT="36576" marB="36576" anchor="ctr">
                    <a:solidFill>
                      <a:srgbClr val="FFFFFF"/>
                    </a:solidFill>
                  </a:tcPr>
                </a:tc>
                <a:tc>
                  <a:txBody>
                    <a:bodyPr/>
                    <a:lstStyle/>
                    <a:p>
                      <a:pPr>
                        <a:lnSpc>
                          <a:spcPct val="106000"/>
                        </a:lnSpc>
                      </a:pPr>
                      <a:r>
                        <a:rPr sz="1400" b="0" i="0">
                          <a:solidFill>
                            <a:srgbClr val="242C38"/>
                          </a:solidFill>
                          <a:latin typeface="Segoe UI"/>
                        </a:rPr>
                        <a:t>heap space, one executor's log</a:t>
                      </a:r>
                    </a:p>
                  </a:txBody>
                  <a:tcPr marT="36576" marB="36576" anchor="ctr">
                    <a:solidFill>
                      <a:srgbClr val="FFFFFF"/>
                    </a:solidFill>
                  </a:tcPr>
                </a:tc>
                <a:tc>
                  <a:txBody>
                    <a:bodyPr/>
                    <a:lstStyle/>
                    <a:p>
                      <a:pPr>
                        <a:lnSpc>
                          <a:spcPct val="106000"/>
                        </a:lnSpc>
                      </a:pPr>
                      <a:r>
                        <a:rPr sz="1400" b="0" i="0">
                          <a:solidFill>
                            <a:srgbClr val="242C38"/>
                          </a:solidFill>
                          <a:latin typeface="Segoe UI"/>
                        </a:rPr>
                        <a:t>fix skew first, only then raise memory</a:t>
                      </a:r>
                    </a:p>
                  </a:txBody>
                  <a:tcPr marT="36576" marB="36576" anchor="ctr">
                    <a:solidFill>
                      <a:srgbClr val="FFFFFF"/>
                    </a:solidFill>
                  </a:tcPr>
                </a:tc>
                <a:extLst>
                  <a:ext uri="{0D108BD9-81ED-4DB2-BD59-A6C34878D82A}">
                    <a16:rowId xmlns:a16="http://schemas.microsoft.com/office/drawing/2014/main" val="10002"/>
                  </a:ext>
                </a:extLst>
              </a:tr>
              <a:tr h="475488">
                <a:tc>
                  <a:txBody>
                    <a:bodyPr/>
                    <a:lstStyle/>
                    <a:p>
                      <a:pPr>
                        <a:lnSpc>
                          <a:spcPct val="106000"/>
                        </a:lnSpc>
                      </a:pPr>
                      <a:r>
                        <a:rPr sz="1400" b="1" i="0">
                          <a:solidFill>
                            <a:srgbClr val="242C38"/>
                          </a:solidFill>
                          <a:latin typeface="Segoe UI"/>
                        </a:rPr>
                        <a:t>Overhead OOM</a:t>
                      </a:r>
                    </a:p>
                  </a:txBody>
                  <a:tcPr marT="36576" marB="36576" anchor="ctr">
                    <a:solidFill>
                      <a:srgbClr val="EEF3F8"/>
                    </a:solidFill>
                  </a:tcPr>
                </a:tc>
                <a:tc>
                  <a:txBody>
                    <a:bodyPr/>
                    <a:lstStyle/>
                    <a:p>
                      <a:pPr>
                        <a:lnSpc>
                          <a:spcPct val="106000"/>
                        </a:lnSpc>
                      </a:pPr>
                      <a:r>
                        <a:rPr sz="1400" b="0" i="0">
                          <a:solidFill>
                            <a:srgbClr val="242C38"/>
                          </a:solidFill>
                          <a:latin typeface="Segoe UI"/>
                        </a:rPr>
                        <a:t>container killed, no JVM trace</a:t>
                      </a:r>
                    </a:p>
                  </a:txBody>
                  <a:tcPr marT="36576" marB="36576" anchor="ctr">
                    <a:solidFill>
                      <a:srgbClr val="EEF3F8"/>
                    </a:solidFill>
                  </a:tcPr>
                </a:tc>
                <a:tc>
                  <a:txBody>
                    <a:bodyPr/>
                    <a:lstStyle/>
                    <a:p>
                      <a:pPr>
                        <a:lnSpc>
                          <a:spcPct val="106000"/>
                        </a:lnSpc>
                      </a:pPr>
                      <a:r>
                        <a:rPr sz="1400" b="0" i="0">
                          <a:solidFill>
                            <a:srgbClr val="242C38"/>
                          </a:solidFill>
                          <a:latin typeface="Segoe UI"/>
                        </a:rPr>
                        <a:t>raise memoryOverhead, not memory</a:t>
                      </a:r>
                    </a:p>
                  </a:txBody>
                  <a:tcPr marT="36576" marB="36576" anchor="ctr">
                    <a:solidFill>
                      <a:srgbClr val="EEF3F8"/>
                    </a:solidFill>
                  </a:tcPr>
                </a:tc>
                <a:extLst>
                  <a:ext uri="{0D108BD9-81ED-4DB2-BD59-A6C34878D82A}">
                    <a16:rowId xmlns:a16="http://schemas.microsoft.com/office/drawing/2014/main" val="10003"/>
                  </a:ext>
                </a:extLst>
              </a:tr>
              <a:tr h="475488">
                <a:tc>
                  <a:txBody>
                    <a:bodyPr/>
                    <a:lstStyle/>
                    <a:p>
                      <a:pPr>
                        <a:lnSpc>
                          <a:spcPct val="106000"/>
                        </a:lnSpc>
                      </a:pPr>
                      <a:r>
                        <a:rPr sz="1400" b="1" i="0">
                          <a:solidFill>
                            <a:srgbClr val="242C38"/>
                          </a:solidFill>
                          <a:latin typeface="Segoe UI"/>
                        </a:rPr>
                        <a:t>Python worker OOM</a:t>
                      </a:r>
                    </a:p>
                  </a:txBody>
                  <a:tcPr marT="36576" marB="36576" anchor="ctr">
                    <a:solidFill>
                      <a:srgbClr val="FFFFFF"/>
                    </a:solidFill>
                  </a:tcPr>
                </a:tc>
                <a:tc>
                  <a:txBody>
                    <a:bodyPr/>
                    <a:lstStyle/>
                    <a:p>
                      <a:pPr>
                        <a:lnSpc>
                          <a:spcPct val="106000"/>
                        </a:lnSpc>
                      </a:pPr>
                      <a:r>
                        <a:rPr sz="1400" b="0" i="0">
                          <a:solidFill>
                            <a:srgbClr val="242C38"/>
                          </a:solidFill>
                          <a:latin typeface="Segoe UI"/>
                        </a:rPr>
                        <a:t>worker exited unexpectedly</a:t>
                      </a:r>
                    </a:p>
                  </a:txBody>
                  <a:tcPr marT="36576" marB="36576" anchor="ctr">
                    <a:solidFill>
                      <a:srgbClr val="FFFFFF"/>
                    </a:solidFill>
                  </a:tcPr>
                </a:tc>
                <a:tc>
                  <a:txBody>
                    <a:bodyPr/>
                    <a:lstStyle/>
                    <a:p>
                      <a:pPr>
                        <a:lnSpc>
                          <a:spcPct val="106000"/>
                        </a:lnSpc>
                      </a:pPr>
                      <a:r>
                        <a:rPr sz="1400" b="0" i="0">
                          <a:solidFill>
                            <a:srgbClr val="242C38"/>
                          </a:solidFill>
                          <a:latin typeface="Segoe UI"/>
                        </a:rPr>
                        <a:t>set spark.executor.pyspark.memory</a:t>
                      </a:r>
                    </a:p>
                  </a:txBody>
                  <a:tcPr marT="36576" marB="36576" anchor="ctr">
                    <a:solidFill>
                      <a:srgbClr val="FFFFFF"/>
                    </a:solidFill>
                  </a:tcPr>
                </a:tc>
                <a:extLst>
                  <a:ext uri="{0D108BD9-81ED-4DB2-BD59-A6C34878D82A}">
                    <a16:rowId xmlns:a16="http://schemas.microsoft.com/office/drawing/2014/main" val="10004"/>
                  </a:ext>
                </a:extLst>
              </a:tr>
            </a:tbl>
          </a:graphicData>
        </a:graphic>
      </p:graphicFrame>
      <p:sp>
        <p:nvSpPr>
          <p:cNvPr id="5" name="TextBox 4"/>
          <p:cNvSpPr txBox="1"/>
          <p:nvPr/>
        </p:nvSpPr>
        <p:spPr>
          <a:xfrm>
            <a:off x="658368" y="5724144"/>
            <a:ext cx="10874959" cy="502920"/>
          </a:xfrm>
          <a:prstGeom prst="rect">
            <a:avLst/>
          </a:prstGeom>
          <a:noFill/>
        </p:spPr>
        <p:txBody>
          <a:bodyPr wrap="square" lIns="0" tIns="0" rIns="0" bIns="0">
            <a:spAutoFit/>
          </a:bodyPr>
          <a:lstStyle/>
          <a:p>
            <a:r>
              <a:rPr sz="1300" b="0" i="1">
                <a:solidFill>
                  <a:srgbClr val="5B6775"/>
                </a:solidFill>
                <a:latin typeface="Segoe UI"/>
              </a:rPr>
              <a:t>Overhead OOM is misdiagnosed most: no Spark stack trace, look in the cluster manager's log.</a:t>
            </a:r>
          </a:p>
        </p:txBody>
      </p:sp>
      <p:sp>
        <p:nvSpPr>
          <p:cNvPr id="6" name="Rectangle 5"/>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19  ·  Deep dive appendix</a:t>
            </a:r>
          </a:p>
        </p:txBody>
      </p:sp>
      <p:sp>
        <p:nvSpPr>
          <p:cNvPr id="8" name="TextBox 7"/>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201</a:t>
            </a:r>
          </a:p>
        </p:txBody>
      </p:sp>
    </p:spTree>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How a Python UDF actually executes</a:t>
            </a:r>
          </a:p>
        </p:txBody>
      </p:sp>
      <p:sp>
        <p:nvSpPr>
          <p:cNvPr id="4" name="Rectangle 3"/>
          <p:cNvSpPr/>
          <p:nvPr/>
        </p:nvSpPr>
        <p:spPr>
          <a:xfrm>
            <a:off x="658368" y="1801368"/>
            <a:ext cx="1984796" cy="2834640"/>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801368"/>
            <a:ext cx="1984796" cy="40640"/>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2020824"/>
            <a:ext cx="1655612" cy="310896"/>
          </a:xfrm>
          <a:prstGeom prst="rect">
            <a:avLst/>
          </a:prstGeom>
          <a:noFill/>
        </p:spPr>
        <p:txBody>
          <a:bodyPr wrap="square" lIns="0" tIns="0" rIns="0" bIns="0">
            <a:spAutoFit/>
          </a:bodyPr>
          <a:lstStyle/>
          <a:p>
            <a:r>
              <a:rPr sz="2000" b="1" i="0">
                <a:solidFill>
                  <a:srgbClr val="2E74B5"/>
                </a:solidFill>
                <a:latin typeface="Segoe UI Semibold"/>
              </a:rPr>
              <a:t>1</a:t>
            </a:r>
          </a:p>
        </p:txBody>
      </p:sp>
      <p:sp>
        <p:nvSpPr>
          <p:cNvPr id="7" name="TextBox 6"/>
          <p:cNvSpPr txBox="1"/>
          <p:nvPr/>
        </p:nvSpPr>
        <p:spPr>
          <a:xfrm>
            <a:off x="822960" y="2404872"/>
            <a:ext cx="1655612" cy="566928"/>
          </a:xfrm>
          <a:prstGeom prst="rect">
            <a:avLst/>
          </a:prstGeom>
          <a:noFill/>
        </p:spPr>
        <p:txBody>
          <a:bodyPr wrap="square" lIns="0" tIns="0" rIns="0" bIns="0">
            <a:spAutoFit/>
          </a:bodyPr>
          <a:lstStyle/>
          <a:p>
            <a:pPr>
              <a:lnSpc>
                <a:spcPct val="105000"/>
              </a:lnSpc>
            </a:pPr>
            <a:r>
              <a:rPr sz="1550" b="1" i="0">
                <a:solidFill>
                  <a:srgbClr val="1F4E79"/>
                </a:solidFill>
                <a:latin typeface="Segoe UI Semibold"/>
              </a:rPr>
              <a:t>Spawn</a:t>
            </a:r>
          </a:p>
        </p:txBody>
      </p:sp>
      <p:sp>
        <p:nvSpPr>
          <p:cNvPr id="8" name="TextBox 7"/>
          <p:cNvSpPr txBox="1"/>
          <p:nvPr/>
        </p:nvSpPr>
        <p:spPr>
          <a:xfrm>
            <a:off x="822960" y="3044952"/>
            <a:ext cx="1655612" cy="1417320"/>
          </a:xfrm>
          <a:prstGeom prst="rect">
            <a:avLst/>
          </a:prstGeom>
          <a:noFill/>
        </p:spPr>
        <p:txBody>
          <a:bodyPr wrap="square" lIns="0" tIns="0" rIns="0" bIns="0">
            <a:spAutoFit/>
          </a:bodyPr>
          <a:lstStyle/>
          <a:p>
            <a:pPr>
              <a:lnSpc>
                <a:spcPct val="116000"/>
              </a:lnSpc>
            </a:pPr>
            <a:r>
              <a:rPr sz="1300" b="0" i="0">
                <a:solidFill>
                  <a:srgbClr val="5B6775"/>
                </a:solidFill>
                <a:latin typeface="Segoe UI"/>
              </a:rPr>
              <a:t>the executor spawns a separate Python worker OS process</a:t>
            </a:r>
          </a:p>
        </p:txBody>
      </p:sp>
      <p:sp>
        <p:nvSpPr>
          <p:cNvPr id="9" name="Rectangle 8"/>
          <p:cNvSpPr/>
          <p:nvPr/>
        </p:nvSpPr>
        <p:spPr>
          <a:xfrm>
            <a:off x="2880908" y="1801368"/>
            <a:ext cx="1984796" cy="2834640"/>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880908" y="1801368"/>
            <a:ext cx="1984796" cy="40640"/>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045500" y="2020824"/>
            <a:ext cx="1655612" cy="310896"/>
          </a:xfrm>
          <a:prstGeom prst="rect">
            <a:avLst/>
          </a:prstGeom>
          <a:noFill/>
        </p:spPr>
        <p:txBody>
          <a:bodyPr wrap="square" lIns="0" tIns="0" rIns="0" bIns="0">
            <a:spAutoFit/>
          </a:bodyPr>
          <a:lstStyle/>
          <a:p>
            <a:r>
              <a:rPr sz="2000" b="1" i="0">
                <a:solidFill>
                  <a:srgbClr val="2E74B5"/>
                </a:solidFill>
                <a:latin typeface="Segoe UI Semibold"/>
              </a:rPr>
              <a:t>2</a:t>
            </a:r>
          </a:p>
        </p:txBody>
      </p:sp>
      <p:sp>
        <p:nvSpPr>
          <p:cNvPr id="12" name="TextBox 11"/>
          <p:cNvSpPr txBox="1"/>
          <p:nvPr/>
        </p:nvSpPr>
        <p:spPr>
          <a:xfrm>
            <a:off x="3045500" y="2404872"/>
            <a:ext cx="1655612" cy="566928"/>
          </a:xfrm>
          <a:prstGeom prst="rect">
            <a:avLst/>
          </a:prstGeom>
          <a:noFill/>
        </p:spPr>
        <p:txBody>
          <a:bodyPr wrap="square" lIns="0" tIns="0" rIns="0" bIns="0">
            <a:spAutoFit/>
          </a:bodyPr>
          <a:lstStyle/>
          <a:p>
            <a:pPr>
              <a:lnSpc>
                <a:spcPct val="105000"/>
              </a:lnSpc>
            </a:pPr>
            <a:r>
              <a:rPr sz="1550" b="1" i="0">
                <a:solidFill>
                  <a:srgbClr val="1F4E79"/>
                </a:solidFill>
                <a:latin typeface="Segoe UI Semibold"/>
              </a:rPr>
              <a:t>Ship</a:t>
            </a:r>
          </a:p>
        </p:txBody>
      </p:sp>
      <p:sp>
        <p:nvSpPr>
          <p:cNvPr id="13" name="TextBox 12"/>
          <p:cNvSpPr txBox="1"/>
          <p:nvPr/>
        </p:nvSpPr>
        <p:spPr>
          <a:xfrm>
            <a:off x="3045500" y="3044952"/>
            <a:ext cx="1655612" cy="1417320"/>
          </a:xfrm>
          <a:prstGeom prst="rect">
            <a:avLst/>
          </a:prstGeom>
          <a:noFill/>
        </p:spPr>
        <p:txBody>
          <a:bodyPr wrap="square" lIns="0" tIns="0" rIns="0" bIns="0">
            <a:spAutoFit/>
          </a:bodyPr>
          <a:lstStyle/>
          <a:p>
            <a:pPr>
              <a:lnSpc>
                <a:spcPct val="116000"/>
              </a:lnSpc>
            </a:pPr>
            <a:r>
              <a:rPr sz="1300" b="0" i="0">
                <a:solidFill>
                  <a:srgbClr val="5B6775"/>
                </a:solidFill>
                <a:latin typeface="Segoe UI"/>
              </a:rPr>
              <a:t>the pickled function travels to that worker</a:t>
            </a:r>
          </a:p>
        </p:txBody>
      </p:sp>
      <p:sp>
        <p:nvSpPr>
          <p:cNvPr id="14" name="Rectangle 13"/>
          <p:cNvSpPr/>
          <p:nvPr/>
        </p:nvSpPr>
        <p:spPr>
          <a:xfrm>
            <a:off x="5103449" y="1801368"/>
            <a:ext cx="1984796" cy="2834640"/>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103449" y="1801368"/>
            <a:ext cx="1984796" cy="40640"/>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268041" y="2020824"/>
            <a:ext cx="1655612" cy="310896"/>
          </a:xfrm>
          <a:prstGeom prst="rect">
            <a:avLst/>
          </a:prstGeom>
          <a:noFill/>
        </p:spPr>
        <p:txBody>
          <a:bodyPr wrap="square" lIns="0" tIns="0" rIns="0" bIns="0">
            <a:spAutoFit/>
          </a:bodyPr>
          <a:lstStyle/>
          <a:p>
            <a:r>
              <a:rPr sz="2000" b="1" i="0">
                <a:solidFill>
                  <a:srgbClr val="2E74B5"/>
                </a:solidFill>
                <a:latin typeface="Segoe UI Semibold"/>
              </a:rPr>
              <a:t>3</a:t>
            </a:r>
          </a:p>
        </p:txBody>
      </p:sp>
      <p:sp>
        <p:nvSpPr>
          <p:cNvPr id="17" name="TextBox 16"/>
          <p:cNvSpPr txBox="1"/>
          <p:nvPr/>
        </p:nvSpPr>
        <p:spPr>
          <a:xfrm>
            <a:off x="5268041" y="2404872"/>
            <a:ext cx="1655612" cy="566928"/>
          </a:xfrm>
          <a:prstGeom prst="rect">
            <a:avLst/>
          </a:prstGeom>
          <a:noFill/>
        </p:spPr>
        <p:txBody>
          <a:bodyPr wrap="square" lIns="0" tIns="0" rIns="0" bIns="0">
            <a:spAutoFit/>
          </a:bodyPr>
          <a:lstStyle/>
          <a:p>
            <a:pPr>
              <a:lnSpc>
                <a:spcPct val="105000"/>
              </a:lnSpc>
            </a:pPr>
            <a:r>
              <a:rPr sz="1550" b="1" i="0">
                <a:solidFill>
                  <a:srgbClr val="1F4E79"/>
                </a:solidFill>
                <a:latin typeface="Segoe UI Semibold"/>
              </a:rPr>
              <a:t>Pickle</a:t>
            </a:r>
          </a:p>
        </p:txBody>
      </p:sp>
      <p:sp>
        <p:nvSpPr>
          <p:cNvPr id="18" name="TextBox 17"/>
          <p:cNvSpPr txBox="1"/>
          <p:nvPr/>
        </p:nvSpPr>
        <p:spPr>
          <a:xfrm>
            <a:off x="5268041" y="3044952"/>
            <a:ext cx="1655612" cy="1417320"/>
          </a:xfrm>
          <a:prstGeom prst="rect">
            <a:avLst/>
          </a:prstGeom>
          <a:noFill/>
        </p:spPr>
        <p:txBody>
          <a:bodyPr wrap="square" lIns="0" tIns="0" rIns="0" bIns="0">
            <a:spAutoFit/>
          </a:bodyPr>
          <a:lstStyle/>
          <a:p>
            <a:pPr>
              <a:lnSpc>
                <a:spcPct val="116000"/>
              </a:lnSpc>
            </a:pPr>
            <a:r>
              <a:rPr sz="1300" b="0" i="0">
                <a:solidFill>
                  <a:srgbClr val="5B6775"/>
                </a:solidFill>
                <a:latin typeface="Segoe UI"/>
              </a:rPr>
              <a:t>row data is pickled and written across a local socket</a:t>
            </a:r>
          </a:p>
        </p:txBody>
      </p:sp>
      <p:sp>
        <p:nvSpPr>
          <p:cNvPr id="19" name="Rectangle 18"/>
          <p:cNvSpPr/>
          <p:nvPr/>
        </p:nvSpPr>
        <p:spPr>
          <a:xfrm>
            <a:off x="7325989" y="1801368"/>
            <a:ext cx="1984796" cy="2834640"/>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7325989" y="1801368"/>
            <a:ext cx="1984796" cy="40640"/>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490581" y="2020824"/>
            <a:ext cx="1655612" cy="310896"/>
          </a:xfrm>
          <a:prstGeom prst="rect">
            <a:avLst/>
          </a:prstGeom>
          <a:noFill/>
        </p:spPr>
        <p:txBody>
          <a:bodyPr wrap="square" lIns="0" tIns="0" rIns="0" bIns="0">
            <a:spAutoFit/>
          </a:bodyPr>
          <a:lstStyle/>
          <a:p>
            <a:r>
              <a:rPr sz="2000" b="1" i="0">
                <a:solidFill>
                  <a:srgbClr val="2E74B5"/>
                </a:solidFill>
                <a:latin typeface="Segoe UI Semibold"/>
              </a:rPr>
              <a:t>4</a:t>
            </a:r>
          </a:p>
        </p:txBody>
      </p:sp>
      <p:sp>
        <p:nvSpPr>
          <p:cNvPr id="22" name="TextBox 21"/>
          <p:cNvSpPr txBox="1"/>
          <p:nvPr/>
        </p:nvSpPr>
        <p:spPr>
          <a:xfrm>
            <a:off x="7490581" y="2404872"/>
            <a:ext cx="1655612" cy="566928"/>
          </a:xfrm>
          <a:prstGeom prst="rect">
            <a:avLst/>
          </a:prstGeom>
          <a:noFill/>
        </p:spPr>
        <p:txBody>
          <a:bodyPr wrap="square" lIns="0" tIns="0" rIns="0" bIns="0">
            <a:spAutoFit/>
          </a:bodyPr>
          <a:lstStyle/>
          <a:p>
            <a:pPr>
              <a:lnSpc>
                <a:spcPct val="105000"/>
              </a:lnSpc>
            </a:pPr>
            <a:r>
              <a:rPr sz="1550" b="1" i="0">
                <a:solidFill>
                  <a:srgbClr val="1F4E79"/>
                </a:solidFill>
                <a:latin typeface="Segoe UI Semibold"/>
              </a:rPr>
              <a:t>Run</a:t>
            </a:r>
          </a:p>
        </p:txBody>
      </p:sp>
      <p:sp>
        <p:nvSpPr>
          <p:cNvPr id="23" name="TextBox 22"/>
          <p:cNvSpPr txBox="1"/>
          <p:nvPr/>
        </p:nvSpPr>
        <p:spPr>
          <a:xfrm>
            <a:off x="7490581" y="3044952"/>
            <a:ext cx="1655612" cy="1417320"/>
          </a:xfrm>
          <a:prstGeom prst="rect">
            <a:avLst/>
          </a:prstGeom>
          <a:noFill/>
        </p:spPr>
        <p:txBody>
          <a:bodyPr wrap="square" lIns="0" tIns="0" rIns="0" bIns="0">
            <a:spAutoFit/>
          </a:bodyPr>
          <a:lstStyle/>
          <a:p>
            <a:pPr>
              <a:lnSpc>
                <a:spcPct val="116000"/>
              </a:lnSpc>
            </a:pPr>
            <a:r>
              <a:rPr sz="1300" b="0" i="0">
                <a:solidFill>
                  <a:srgbClr val="5B6775"/>
                </a:solidFill>
                <a:latin typeface="Segoe UI"/>
              </a:rPr>
              <a:t>the worker runs the function, pickles the result back</a:t>
            </a:r>
          </a:p>
        </p:txBody>
      </p:sp>
      <p:sp>
        <p:nvSpPr>
          <p:cNvPr id="24" name="Rectangle 23"/>
          <p:cNvSpPr/>
          <p:nvPr/>
        </p:nvSpPr>
        <p:spPr>
          <a:xfrm>
            <a:off x="9548530" y="1801368"/>
            <a:ext cx="1984796" cy="2834640"/>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9548530" y="1801368"/>
            <a:ext cx="1984796" cy="40640"/>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713122" y="2020824"/>
            <a:ext cx="1655612" cy="310896"/>
          </a:xfrm>
          <a:prstGeom prst="rect">
            <a:avLst/>
          </a:prstGeom>
          <a:noFill/>
        </p:spPr>
        <p:txBody>
          <a:bodyPr wrap="square" lIns="0" tIns="0" rIns="0" bIns="0">
            <a:spAutoFit/>
          </a:bodyPr>
          <a:lstStyle/>
          <a:p>
            <a:r>
              <a:rPr sz="2000" b="1" i="0">
                <a:solidFill>
                  <a:srgbClr val="2E74B5"/>
                </a:solidFill>
                <a:latin typeface="Segoe UI Semibold"/>
              </a:rPr>
              <a:t>5</a:t>
            </a:r>
          </a:p>
        </p:txBody>
      </p:sp>
      <p:sp>
        <p:nvSpPr>
          <p:cNvPr id="27" name="TextBox 26"/>
          <p:cNvSpPr txBox="1"/>
          <p:nvPr/>
        </p:nvSpPr>
        <p:spPr>
          <a:xfrm>
            <a:off x="9713122" y="2404872"/>
            <a:ext cx="1655612" cy="566928"/>
          </a:xfrm>
          <a:prstGeom prst="rect">
            <a:avLst/>
          </a:prstGeom>
          <a:noFill/>
        </p:spPr>
        <p:txBody>
          <a:bodyPr wrap="square" lIns="0" tIns="0" rIns="0" bIns="0">
            <a:spAutoFit/>
          </a:bodyPr>
          <a:lstStyle/>
          <a:p>
            <a:pPr>
              <a:lnSpc>
                <a:spcPct val="105000"/>
              </a:lnSpc>
            </a:pPr>
            <a:r>
              <a:rPr sz="1550" b="1" i="0">
                <a:solidFill>
                  <a:srgbClr val="1F4E79"/>
                </a:solidFill>
                <a:latin typeface="Segoe UI Semibold"/>
              </a:rPr>
              <a:t>Unpickle</a:t>
            </a:r>
          </a:p>
        </p:txBody>
      </p:sp>
      <p:sp>
        <p:nvSpPr>
          <p:cNvPr id="28" name="TextBox 27"/>
          <p:cNvSpPr txBox="1"/>
          <p:nvPr/>
        </p:nvSpPr>
        <p:spPr>
          <a:xfrm>
            <a:off x="9713122" y="3044952"/>
            <a:ext cx="1655612" cy="1417320"/>
          </a:xfrm>
          <a:prstGeom prst="rect">
            <a:avLst/>
          </a:prstGeom>
          <a:noFill/>
        </p:spPr>
        <p:txBody>
          <a:bodyPr wrap="square" lIns="0" tIns="0" rIns="0" bIns="0">
            <a:spAutoFit/>
          </a:bodyPr>
          <a:lstStyle/>
          <a:p>
            <a:pPr>
              <a:lnSpc>
                <a:spcPct val="116000"/>
              </a:lnSpc>
            </a:pPr>
            <a:r>
              <a:rPr sz="1300" b="0" i="0">
                <a:solidFill>
                  <a:srgbClr val="5B6775"/>
                </a:solidFill>
                <a:latin typeface="Segoe UI"/>
              </a:rPr>
              <a:t>the executor unpickles and repacks results as UnsafeRows</a:t>
            </a:r>
          </a:p>
        </p:txBody>
      </p:sp>
      <p:sp>
        <p:nvSpPr>
          <p:cNvPr id="29" name="TextBox 28"/>
          <p:cNvSpPr txBox="1"/>
          <p:nvPr/>
        </p:nvSpPr>
        <p:spPr>
          <a:xfrm>
            <a:off x="658368" y="4910328"/>
            <a:ext cx="10874959" cy="457200"/>
          </a:xfrm>
          <a:prstGeom prst="rect">
            <a:avLst/>
          </a:prstGeom>
          <a:noFill/>
        </p:spPr>
        <p:txBody>
          <a:bodyPr wrap="square" lIns="0" tIns="0" rIns="0" bIns="0">
            <a:spAutoFit/>
          </a:bodyPr>
          <a:lstStyle/>
          <a:p>
            <a:r>
              <a:rPr sz="1350" b="0" i="1">
                <a:solidFill>
                  <a:srgbClr val="5B6775"/>
                </a:solidFill>
                <a:latin typeface="Segoe UI"/>
              </a:rPr>
              <a:t>Every row pays this pickle, socket, unpickle round trip twice.</a:t>
            </a:r>
          </a:p>
        </p:txBody>
      </p:sp>
      <p:sp>
        <p:nvSpPr>
          <p:cNvPr id="30" name="Rectangle 29"/>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19  ·  Deep dive appendix</a:t>
            </a:r>
          </a:p>
        </p:txBody>
      </p:sp>
      <p:sp>
        <p:nvSpPr>
          <p:cNvPr id="32" name="TextBox 31"/>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202</a:t>
            </a:r>
          </a:p>
        </p:txBody>
      </p:sp>
    </p:spTree>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Py4J calls versus a Python UDF</a:t>
            </a:r>
          </a:p>
        </p:txBody>
      </p:sp>
      <p:sp>
        <p:nvSpPr>
          <p:cNvPr id="4" name="Rectangle 3"/>
          <p:cNvSpPr/>
          <p:nvPr/>
        </p:nvSpPr>
        <p:spPr>
          <a:xfrm>
            <a:off x="658368" y="1481328"/>
            <a:ext cx="5245455" cy="420624"/>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1581912"/>
            <a:ext cx="4971135" cy="274320"/>
          </a:xfrm>
          <a:prstGeom prst="rect">
            <a:avLst/>
          </a:prstGeom>
          <a:noFill/>
        </p:spPr>
        <p:txBody>
          <a:bodyPr wrap="square" lIns="0" tIns="0" rIns="0" bIns="0">
            <a:spAutoFit/>
          </a:bodyPr>
          <a:lstStyle/>
          <a:p>
            <a:r>
              <a:rPr sz="1450" b="1" i="0">
                <a:solidFill>
                  <a:srgbClr val="1F4E79"/>
                </a:solidFill>
                <a:latin typeface="Segoe UI Semibold"/>
              </a:rPr>
              <a:t>Ordinary DataFrame or SQL code</a:t>
            </a:r>
          </a:p>
        </p:txBody>
      </p:sp>
      <p:sp>
        <p:nvSpPr>
          <p:cNvPr id="6" name="TextBox 5"/>
          <p:cNvSpPr txBox="1"/>
          <p:nvPr/>
        </p:nvSpPr>
        <p:spPr>
          <a:xfrm>
            <a:off x="704088" y="2103120"/>
            <a:ext cx="5154015" cy="3794760"/>
          </a:xfrm>
          <a:prstGeom prst="rect">
            <a:avLst/>
          </a:prstGeom>
          <a:noFill/>
        </p:spPr>
        <p:txBody>
          <a:bodyPr wrap="square" lIns="0" tIns="0" rIns="0" bIns="0">
            <a:spAutoFit/>
          </a:bodyPr>
          <a:lstStyle/>
          <a:p>
            <a:pPr marL="274320" indent="-274320">
              <a:lnSpc>
                <a:spcPct val="118000"/>
              </a:lnSpc>
              <a:spcAft>
                <a:spcPts val="900"/>
              </a:spcAft>
            </a:pPr>
            <a:r>
              <a:rPr sz="1600" b="1" i="0">
                <a:solidFill>
                  <a:srgbClr val="2E74B5"/>
                </a:solidFill>
                <a:latin typeface="Segoe UI"/>
              </a:rPr>
              <a:t>▪   </a:t>
            </a:r>
            <a:r>
              <a:rPr sz="1600" b="0" i="0">
                <a:solidFill>
                  <a:srgbClr val="242C38"/>
                </a:solidFill>
                <a:latin typeface="Segoe UI"/>
              </a:rPr>
              <a:t>A driver-side Py4J socket, plan-building calls only</a:t>
            </a:r>
          </a:p>
          <a:p>
            <a:pPr marL="274320" indent="-274320">
              <a:lnSpc>
                <a:spcPct val="118000"/>
              </a:lnSpc>
              <a:spcAft>
                <a:spcPts val="900"/>
              </a:spcAft>
            </a:pPr>
            <a:r>
              <a:rPr sz="1600" b="1" i="0">
                <a:solidFill>
                  <a:srgbClr val="2E74B5"/>
                </a:solidFill>
                <a:latin typeface="Segoe UI"/>
              </a:rPr>
              <a:t>▪   </a:t>
            </a:r>
            <a:r>
              <a:rPr sz="1600" b="0" i="0">
                <a:solidFill>
                  <a:srgbClr val="242C38"/>
                </a:solidFill>
                <a:latin typeface="Segoe UI"/>
              </a:rPr>
              <a:t>Row-by-row work never crosses into Python</a:t>
            </a:r>
          </a:p>
          <a:p>
            <a:pPr marL="274320" indent="-274320">
              <a:lnSpc>
                <a:spcPct val="118000"/>
              </a:lnSpc>
              <a:spcAft>
                <a:spcPts val="900"/>
              </a:spcAft>
            </a:pPr>
            <a:r>
              <a:rPr sz="1600" b="1" i="0">
                <a:solidFill>
                  <a:srgbClr val="2E74B5"/>
                </a:solidFill>
                <a:latin typeface="Segoe UI"/>
              </a:rPr>
              <a:t>▪   </a:t>
            </a:r>
            <a:r>
              <a:rPr sz="1600" b="0" i="0">
                <a:solidFill>
                  <a:srgbClr val="242C38"/>
                </a:solidFill>
                <a:latin typeface="Segoe UI"/>
              </a:rPr>
              <a:t>Runs at native JVM speed throughout</a:t>
            </a:r>
          </a:p>
        </p:txBody>
      </p:sp>
      <p:sp>
        <p:nvSpPr>
          <p:cNvPr id="7" name="Rectangle 6"/>
          <p:cNvSpPr/>
          <p:nvPr/>
        </p:nvSpPr>
        <p:spPr>
          <a:xfrm>
            <a:off x="6287871" y="1481328"/>
            <a:ext cx="5245455" cy="420624"/>
          </a:xfrm>
          <a:prstGeom prst="rect">
            <a:avLst/>
          </a:prstGeom>
          <a:solidFill>
            <a:srgbClr val="FFFFFF"/>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52463" y="1581912"/>
            <a:ext cx="4971135" cy="274320"/>
          </a:xfrm>
          <a:prstGeom prst="rect">
            <a:avLst/>
          </a:prstGeom>
          <a:noFill/>
        </p:spPr>
        <p:txBody>
          <a:bodyPr wrap="square" lIns="0" tIns="0" rIns="0" bIns="0">
            <a:spAutoFit/>
          </a:bodyPr>
          <a:lstStyle/>
          <a:p>
            <a:r>
              <a:rPr sz="1450" b="1" i="0">
                <a:solidFill>
                  <a:srgbClr val="5B6775"/>
                </a:solidFill>
                <a:latin typeface="Segoe UI Semibold"/>
              </a:rPr>
              <a:t>A row-at-a-time UDF</a:t>
            </a:r>
          </a:p>
        </p:txBody>
      </p:sp>
      <p:sp>
        <p:nvSpPr>
          <p:cNvPr id="9" name="TextBox 8"/>
          <p:cNvSpPr txBox="1"/>
          <p:nvPr/>
        </p:nvSpPr>
        <p:spPr>
          <a:xfrm>
            <a:off x="6333591" y="2103120"/>
            <a:ext cx="5154015" cy="3794760"/>
          </a:xfrm>
          <a:prstGeom prst="rect">
            <a:avLst/>
          </a:prstGeom>
          <a:noFill/>
        </p:spPr>
        <p:txBody>
          <a:bodyPr wrap="square" lIns="0" tIns="0" rIns="0" bIns="0">
            <a:spAutoFit/>
          </a:bodyPr>
          <a:lstStyle/>
          <a:p>
            <a:pPr marL="274320" indent="-274320">
              <a:lnSpc>
                <a:spcPct val="118000"/>
              </a:lnSpc>
              <a:spcAft>
                <a:spcPts val="900"/>
              </a:spcAft>
            </a:pPr>
            <a:r>
              <a:rPr sz="1600" b="1" i="0">
                <a:solidFill>
                  <a:srgbClr val="2E74B5"/>
                </a:solidFill>
                <a:latin typeface="Segoe UI"/>
              </a:rPr>
              <a:t>▪   </a:t>
            </a:r>
            <a:r>
              <a:rPr sz="1600" b="0" i="0">
                <a:solidFill>
                  <a:srgbClr val="242C38"/>
                </a:solidFill>
                <a:latin typeface="Segoe UI"/>
              </a:rPr>
              <a:t>Cannot use the driver's Py4J socket at all</a:t>
            </a:r>
          </a:p>
          <a:p>
            <a:pPr marL="274320" indent="-274320">
              <a:lnSpc>
                <a:spcPct val="118000"/>
              </a:lnSpc>
              <a:spcAft>
                <a:spcPts val="900"/>
              </a:spcAft>
            </a:pPr>
            <a:r>
              <a:rPr sz="1600" b="1" i="0">
                <a:solidFill>
                  <a:srgbClr val="2E74B5"/>
                </a:solidFill>
                <a:latin typeface="Segoe UI"/>
              </a:rPr>
              <a:t>▪   </a:t>
            </a:r>
            <a:r>
              <a:rPr sz="1600" b="0" i="0">
                <a:solidFill>
                  <a:srgbClr val="242C38"/>
                </a:solidFill>
                <a:latin typeface="Segoe UI"/>
              </a:rPr>
              <a:t>A separate Python worker process per executor</a:t>
            </a:r>
          </a:p>
          <a:p>
            <a:pPr marL="274320" indent="-274320">
              <a:lnSpc>
                <a:spcPct val="118000"/>
              </a:lnSpc>
              <a:spcAft>
                <a:spcPts val="900"/>
              </a:spcAft>
            </a:pPr>
            <a:r>
              <a:rPr sz="1600" b="1" i="0">
                <a:solidFill>
                  <a:srgbClr val="2E74B5"/>
                </a:solidFill>
                <a:latin typeface="Segoe UI"/>
              </a:rPr>
              <a:t>▪   </a:t>
            </a:r>
            <a:r>
              <a:rPr sz="1600" b="0" i="0">
                <a:solidFill>
                  <a:srgbClr val="242C38"/>
                </a:solidFill>
                <a:latin typeface="Segoe UI"/>
              </a:rPr>
              <a:t>Every row pickled, socketed, and pickled back</a:t>
            </a:r>
          </a:p>
        </p:txBody>
      </p:sp>
      <p:sp>
        <p:nvSpPr>
          <p:cNvPr id="10" name="Rectangle 9"/>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19  ·  Deep dive appendix</a:t>
            </a:r>
          </a:p>
        </p:txBody>
      </p:sp>
      <p:sp>
        <p:nvSpPr>
          <p:cNvPr id="12" name="TextBox 11"/>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203</a:t>
            </a:r>
          </a:p>
        </p:txBody>
      </p:sp>
    </p:spTree>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Client mode versus cluster mode</a:t>
            </a:r>
          </a:p>
        </p:txBody>
      </p:sp>
      <p:graphicFrame>
        <p:nvGraphicFramePr>
          <p:cNvPr id="4" name="Table 3"/>
          <p:cNvGraphicFramePr>
            <a:graphicFrameLocks noGrp="1"/>
          </p:cNvGraphicFramePr>
          <p:nvPr/>
        </p:nvGraphicFramePr>
        <p:xfrm>
          <a:off x="658368" y="1481328"/>
          <a:ext cx="10874957" cy="1828800"/>
        </p:xfrm>
        <a:graphic>
          <a:graphicData uri="http://schemas.openxmlformats.org/drawingml/2006/table">
            <a:tbl>
              <a:tblPr firstRow="1" bandRow="1">
                <a:tableStyleId>{5C22544A-7EE6-4342-B048-85BDC9FD1C3A}</a:tableStyleId>
              </a:tblPr>
              <a:tblGrid>
                <a:gridCol w="2658323">
                  <a:extLst>
                    <a:ext uri="{9D8B030D-6E8A-4147-A177-3AD203B41FA5}">
                      <a16:colId xmlns:a16="http://schemas.microsoft.com/office/drawing/2014/main" val="20000"/>
                    </a:ext>
                  </a:extLst>
                </a:gridCol>
                <a:gridCol w="4108317">
                  <a:extLst>
                    <a:ext uri="{9D8B030D-6E8A-4147-A177-3AD203B41FA5}">
                      <a16:colId xmlns:a16="http://schemas.microsoft.com/office/drawing/2014/main" val="20001"/>
                    </a:ext>
                  </a:extLst>
                </a:gridCol>
                <a:gridCol w="4108317">
                  <a:extLst>
                    <a:ext uri="{9D8B030D-6E8A-4147-A177-3AD203B41FA5}">
                      <a16:colId xmlns:a16="http://schemas.microsoft.com/office/drawing/2014/main" val="20002"/>
                    </a:ext>
                  </a:extLst>
                </a:gridCol>
              </a:tblGrid>
              <a:tr h="402336">
                <a:tc>
                  <a:txBody>
                    <a:bodyPr/>
                    <a:lstStyle/>
                    <a:p>
                      <a:endParaRPr/>
                    </a:p>
                  </a:txBody>
                  <a:tcPr anchor="ctr">
                    <a:solidFill>
                      <a:srgbClr val="1F4E79"/>
                    </a:solidFill>
                  </a:tcPr>
                </a:tc>
                <a:tc>
                  <a:txBody>
                    <a:bodyPr/>
                    <a:lstStyle/>
                    <a:p>
                      <a:r>
                        <a:rPr sz="1450" b="1" i="0">
                          <a:solidFill>
                            <a:srgbClr val="FFFFFF"/>
                          </a:solidFill>
                          <a:latin typeface="Segoe UI Semibold"/>
                        </a:rPr>
                        <a:t>Client mode</a:t>
                      </a:r>
                    </a:p>
                  </a:txBody>
                  <a:tcPr anchor="ctr">
                    <a:solidFill>
                      <a:srgbClr val="1F4E79"/>
                    </a:solidFill>
                  </a:tcPr>
                </a:tc>
                <a:tc>
                  <a:txBody>
                    <a:bodyPr/>
                    <a:lstStyle/>
                    <a:p>
                      <a:r>
                        <a:rPr sz="1450" b="1" i="0">
                          <a:solidFill>
                            <a:srgbClr val="FFFFFF"/>
                          </a:solidFill>
                          <a:latin typeface="Segoe UI Semibold"/>
                        </a:rPr>
                        <a:t>Cluster mode</a:t>
                      </a:r>
                    </a:p>
                  </a:txBody>
                  <a:tcPr anchor="ctr">
                    <a:solidFill>
                      <a:srgbClr val="1F4E79"/>
                    </a:solidFill>
                  </a:tcPr>
                </a:tc>
                <a:extLst>
                  <a:ext uri="{0D108BD9-81ED-4DB2-BD59-A6C34878D82A}">
                    <a16:rowId xmlns:a16="http://schemas.microsoft.com/office/drawing/2014/main" val="10000"/>
                  </a:ext>
                </a:extLst>
              </a:tr>
              <a:tr h="475488">
                <a:tc>
                  <a:txBody>
                    <a:bodyPr/>
                    <a:lstStyle/>
                    <a:p>
                      <a:pPr>
                        <a:lnSpc>
                          <a:spcPct val="106000"/>
                        </a:lnSpc>
                      </a:pPr>
                      <a:r>
                        <a:rPr sz="1400" b="1" i="0">
                          <a:solidFill>
                            <a:srgbClr val="242C38"/>
                          </a:solidFill>
                          <a:latin typeface="Segoe UI"/>
                        </a:rPr>
                        <a:t>Driver runs</a:t>
                      </a:r>
                    </a:p>
                  </a:txBody>
                  <a:tcPr marT="36576" marB="36576" anchor="ctr">
                    <a:solidFill>
                      <a:srgbClr val="EEF3F8"/>
                    </a:solidFill>
                  </a:tcPr>
                </a:tc>
                <a:tc>
                  <a:txBody>
                    <a:bodyPr/>
                    <a:lstStyle/>
                    <a:p>
                      <a:pPr>
                        <a:lnSpc>
                          <a:spcPct val="106000"/>
                        </a:lnSpc>
                      </a:pPr>
                      <a:r>
                        <a:rPr sz="1400" b="0" i="0">
                          <a:solidFill>
                            <a:srgbClr val="242C38"/>
                          </a:solidFill>
                          <a:latin typeface="Segoe UI"/>
                        </a:rPr>
                        <a:t>on the machine that ran spark-submit</a:t>
                      </a:r>
                    </a:p>
                  </a:txBody>
                  <a:tcPr marT="36576" marB="36576" anchor="ctr">
                    <a:solidFill>
                      <a:srgbClr val="EEF3F8"/>
                    </a:solidFill>
                  </a:tcPr>
                </a:tc>
                <a:tc>
                  <a:txBody>
                    <a:bodyPr/>
                    <a:lstStyle/>
                    <a:p>
                      <a:pPr>
                        <a:lnSpc>
                          <a:spcPct val="106000"/>
                        </a:lnSpc>
                      </a:pPr>
                      <a:r>
                        <a:rPr sz="1400" b="0" i="0">
                          <a:solidFill>
                            <a:srgbClr val="242C38"/>
                          </a:solidFill>
                          <a:latin typeface="Segoe UI"/>
                        </a:rPr>
                        <a:t>on the cluster itself</a:t>
                      </a:r>
                    </a:p>
                  </a:txBody>
                  <a:tcPr marT="36576" marB="36576" anchor="ctr">
                    <a:solidFill>
                      <a:srgbClr val="EEF3F8"/>
                    </a:solidFill>
                  </a:tcPr>
                </a:tc>
                <a:extLst>
                  <a:ext uri="{0D108BD9-81ED-4DB2-BD59-A6C34878D82A}">
                    <a16:rowId xmlns:a16="http://schemas.microsoft.com/office/drawing/2014/main" val="10001"/>
                  </a:ext>
                </a:extLst>
              </a:tr>
              <a:tr h="475488">
                <a:tc>
                  <a:txBody>
                    <a:bodyPr/>
                    <a:lstStyle/>
                    <a:p>
                      <a:pPr>
                        <a:lnSpc>
                          <a:spcPct val="106000"/>
                        </a:lnSpc>
                      </a:pPr>
                      <a:r>
                        <a:rPr sz="1400" b="1" i="0">
                          <a:solidFill>
                            <a:srgbClr val="242C38"/>
                          </a:solidFill>
                          <a:latin typeface="Segoe UI"/>
                        </a:rPr>
                        <a:t>Submitter loses network</a:t>
                      </a:r>
                    </a:p>
                  </a:txBody>
                  <a:tcPr marT="36576" marB="36576" anchor="ctr">
                    <a:solidFill>
                      <a:srgbClr val="FFFFFF"/>
                    </a:solidFill>
                  </a:tcPr>
                </a:tc>
                <a:tc>
                  <a:txBody>
                    <a:bodyPr/>
                    <a:lstStyle/>
                    <a:p>
                      <a:pPr>
                        <a:lnSpc>
                          <a:spcPct val="106000"/>
                        </a:lnSpc>
                      </a:pPr>
                      <a:r>
                        <a:rPr sz="1400" b="0" i="0">
                          <a:solidFill>
                            <a:srgbClr val="242C38"/>
                          </a:solidFill>
                          <a:latin typeface="Segoe UI"/>
                        </a:rPr>
                        <a:t>the whole job dies with it</a:t>
                      </a:r>
                    </a:p>
                  </a:txBody>
                  <a:tcPr marT="36576" marB="36576" anchor="ctr">
                    <a:solidFill>
                      <a:srgbClr val="FFFFFF"/>
                    </a:solidFill>
                  </a:tcPr>
                </a:tc>
                <a:tc>
                  <a:txBody>
                    <a:bodyPr/>
                    <a:lstStyle/>
                    <a:p>
                      <a:pPr>
                        <a:lnSpc>
                          <a:spcPct val="106000"/>
                        </a:lnSpc>
                      </a:pPr>
                      <a:r>
                        <a:rPr sz="1400" b="0" i="0">
                          <a:solidFill>
                            <a:srgbClr val="242C38"/>
                          </a:solidFill>
                          <a:latin typeface="Segoe UI"/>
                        </a:rPr>
                        <a:t>unaffected, driver was never there</a:t>
                      </a:r>
                    </a:p>
                  </a:txBody>
                  <a:tcPr marT="36576" marB="36576" anchor="ctr">
                    <a:solidFill>
                      <a:srgbClr val="FFFFFF"/>
                    </a:solidFill>
                  </a:tcPr>
                </a:tc>
                <a:extLst>
                  <a:ext uri="{0D108BD9-81ED-4DB2-BD59-A6C34878D82A}">
                    <a16:rowId xmlns:a16="http://schemas.microsoft.com/office/drawing/2014/main" val="10002"/>
                  </a:ext>
                </a:extLst>
              </a:tr>
              <a:tr h="475488">
                <a:tc>
                  <a:txBody>
                    <a:bodyPr/>
                    <a:lstStyle/>
                    <a:p>
                      <a:pPr>
                        <a:lnSpc>
                          <a:spcPct val="106000"/>
                        </a:lnSpc>
                      </a:pPr>
                      <a:r>
                        <a:rPr sz="1400" b="1" i="0">
                          <a:solidFill>
                            <a:srgbClr val="242C38"/>
                          </a:solidFill>
                          <a:latin typeface="Segoe UI"/>
                        </a:rPr>
                        <a:t>Right for</a:t>
                      </a:r>
                    </a:p>
                  </a:txBody>
                  <a:tcPr marT="36576" marB="36576" anchor="ctr">
                    <a:solidFill>
                      <a:srgbClr val="EEF3F8"/>
                    </a:solidFill>
                  </a:tcPr>
                </a:tc>
                <a:tc>
                  <a:txBody>
                    <a:bodyPr/>
                    <a:lstStyle/>
                    <a:p>
                      <a:pPr>
                        <a:lnSpc>
                          <a:spcPct val="106000"/>
                        </a:lnSpc>
                      </a:pPr>
                      <a:r>
                        <a:rPr sz="1400" b="0" i="0">
                          <a:solidFill>
                            <a:srgbClr val="242C38"/>
                          </a:solidFill>
                          <a:latin typeface="Segoe UI"/>
                        </a:rPr>
                        <a:t>interactive work, watching a query live</a:t>
                      </a:r>
                    </a:p>
                  </a:txBody>
                  <a:tcPr marT="36576" marB="36576" anchor="ctr">
                    <a:solidFill>
                      <a:srgbClr val="EEF3F8"/>
                    </a:solidFill>
                  </a:tcPr>
                </a:tc>
                <a:tc>
                  <a:txBody>
                    <a:bodyPr/>
                    <a:lstStyle/>
                    <a:p>
                      <a:pPr>
                        <a:lnSpc>
                          <a:spcPct val="106000"/>
                        </a:lnSpc>
                      </a:pPr>
                      <a:r>
                        <a:rPr sz="1400" b="0" i="0">
                          <a:solidFill>
                            <a:srgbClr val="242C38"/>
                          </a:solidFill>
                          <a:latin typeface="Segoe UI"/>
                        </a:rPr>
                        <a:t>any unattended, scheduled job</a:t>
                      </a:r>
                    </a:p>
                  </a:txBody>
                  <a:tcPr marT="36576" marB="36576" anchor="ctr">
                    <a:solidFill>
                      <a:srgbClr val="EEF3F8"/>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658368" y="5724144"/>
            <a:ext cx="10874959" cy="502920"/>
          </a:xfrm>
          <a:prstGeom prst="rect">
            <a:avLst/>
          </a:prstGeom>
          <a:noFill/>
        </p:spPr>
        <p:txBody>
          <a:bodyPr wrap="square" lIns="0" tIns="0" rIns="0" bIns="0">
            <a:spAutoFit/>
          </a:bodyPr>
          <a:lstStyle/>
          <a:p>
            <a:r>
              <a:rPr sz="1300" b="0" i="1">
                <a:solidFill>
                  <a:srgbClr val="5B6775"/>
                </a:solidFill>
                <a:latin typeface="Segoe UI"/>
              </a:rPr>
              <a:t>An edge node rebooted for patching mid-run is exactly the failure cluster mode removes.</a:t>
            </a:r>
          </a:p>
        </p:txBody>
      </p:sp>
      <p:sp>
        <p:nvSpPr>
          <p:cNvPr id="6" name="Rectangle 5"/>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19  ·  Deep dive appendix</a:t>
            </a:r>
          </a:p>
        </p:txBody>
      </p:sp>
      <p:sp>
        <p:nvSpPr>
          <p:cNvPr id="8" name="TextBox 7"/>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204</a:t>
            </a:r>
          </a:p>
        </p:txBody>
      </p:sp>
    </p:spTree>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Determinism traps that break a rerun</a:t>
            </a:r>
          </a:p>
        </p:txBody>
      </p:sp>
      <p:graphicFrame>
        <p:nvGraphicFramePr>
          <p:cNvPr id="4" name="Table 3"/>
          <p:cNvGraphicFramePr>
            <a:graphicFrameLocks noGrp="1"/>
          </p:cNvGraphicFramePr>
          <p:nvPr/>
        </p:nvGraphicFramePr>
        <p:xfrm>
          <a:off x="658368" y="1481328"/>
          <a:ext cx="10874958" cy="2304288"/>
        </p:xfrm>
        <a:graphic>
          <a:graphicData uri="http://schemas.openxmlformats.org/drawingml/2006/table">
            <a:tbl>
              <a:tblPr firstRow="1" bandRow="1">
                <a:tableStyleId>{5C22544A-7EE6-4342-B048-85BDC9FD1C3A}</a:tableStyleId>
              </a:tblPr>
              <a:tblGrid>
                <a:gridCol w="5437479">
                  <a:extLst>
                    <a:ext uri="{9D8B030D-6E8A-4147-A177-3AD203B41FA5}">
                      <a16:colId xmlns:a16="http://schemas.microsoft.com/office/drawing/2014/main" val="20000"/>
                    </a:ext>
                  </a:extLst>
                </a:gridCol>
                <a:gridCol w="5437479">
                  <a:extLst>
                    <a:ext uri="{9D8B030D-6E8A-4147-A177-3AD203B41FA5}">
                      <a16:colId xmlns:a16="http://schemas.microsoft.com/office/drawing/2014/main" val="20001"/>
                    </a:ext>
                  </a:extLst>
                </a:gridCol>
              </a:tblGrid>
              <a:tr h="402336">
                <a:tc>
                  <a:txBody>
                    <a:bodyPr/>
                    <a:lstStyle/>
                    <a:p>
                      <a:r>
                        <a:rPr sz="1450" b="1" i="0">
                          <a:solidFill>
                            <a:srgbClr val="FFFFFF"/>
                          </a:solidFill>
                          <a:latin typeface="Segoe UI Semibold"/>
                        </a:rPr>
                        <a:t>Function or pattern</a:t>
                      </a:r>
                    </a:p>
                  </a:txBody>
                  <a:tcPr anchor="ctr">
                    <a:solidFill>
                      <a:srgbClr val="1F4E79"/>
                    </a:solidFill>
                  </a:tcPr>
                </a:tc>
                <a:tc>
                  <a:txBody>
                    <a:bodyPr/>
                    <a:lstStyle/>
                    <a:p>
                      <a:r>
                        <a:rPr sz="1450" b="1" i="0">
                          <a:solidFill>
                            <a:srgbClr val="FFFFFF"/>
                          </a:solidFill>
                          <a:latin typeface="Segoe UI Semibold"/>
                        </a:rPr>
                        <a:t>The fix</a:t>
                      </a:r>
                    </a:p>
                  </a:txBody>
                  <a:tcPr anchor="ctr">
                    <a:solidFill>
                      <a:srgbClr val="1F4E79"/>
                    </a:solidFill>
                  </a:tcPr>
                </a:tc>
                <a:extLst>
                  <a:ext uri="{0D108BD9-81ED-4DB2-BD59-A6C34878D82A}">
                    <a16:rowId xmlns:a16="http://schemas.microsoft.com/office/drawing/2014/main" val="10000"/>
                  </a:ext>
                </a:extLst>
              </a:tr>
              <a:tr h="475488">
                <a:tc>
                  <a:txBody>
                    <a:bodyPr/>
                    <a:lstStyle/>
                    <a:p>
                      <a:pPr>
                        <a:lnSpc>
                          <a:spcPct val="106000"/>
                        </a:lnSpc>
                      </a:pPr>
                      <a:r>
                        <a:rPr sz="1350" b="0" i="0">
                          <a:solidFill>
                            <a:srgbClr val="2E74B5"/>
                          </a:solidFill>
                          <a:latin typeface="Consolas"/>
                        </a:rPr>
                        <a:t>monotonically_increasing_id()</a:t>
                      </a:r>
                    </a:p>
                  </a:txBody>
                  <a:tcPr marT="36576" marB="36576" anchor="ctr">
                    <a:solidFill>
                      <a:srgbClr val="EEF3F8"/>
                    </a:solidFill>
                  </a:tcPr>
                </a:tc>
                <a:tc>
                  <a:txBody>
                    <a:bodyPr/>
                    <a:lstStyle/>
                    <a:p>
                      <a:pPr>
                        <a:lnSpc>
                          <a:spcPct val="106000"/>
                        </a:lnSpc>
                      </a:pPr>
                      <a:r>
                        <a:rPr sz="1400" b="0" i="0">
                          <a:solidFill>
                            <a:srgbClr val="242C38"/>
                          </a:solidFill>
                          <a:latin typeface="Segoe UI"/>
                        </a:rPr>
                        <a:t>never a durable key, persist a real one instead</a:t>
                      </a:r>
                    </a:p>
                  </a:txBody>
                  <a:tcPr marT="36576" marB="36576" anchor="ctr">
                    <a:solidFill>
                      <a:srgbClr val="EEF3F8"/>
                    </a:solidFill>
                  </a:tcPr>
                </a:tc>
                <a:extLst>
                  <a:ext uri="{0D108BD9-81ED-4DB2-BD59-A6C34878D82A}">
                    <a16:rowId xmlns:a16="http://schemas.microsoft.com/office/drawing/2014/main" val="10001"/>
                  </a:ext>
                </a:extLst>
              </a:tr>
              <a:tr h="475488">
                <a:tc>
                  <a:txBody>
                    <a:bodyPr/>
                    <a:lstStyle/>
                    <a:p>
                      <a:pPr>
                        <a:lnSpc>
                          <a:spcPct val="106000"/>
                        </a:lnSpc>
                      </a:pPr>
                      <a:r>
                        <a:rPr sz="1350" b="0" i="0">
                          <a:solidFill>
                            <a:srgbClr val="2E74B5"/>
                          </a:solidFill>
                          <a:latin typeface="Consolas"/>
                        </a:rPr>
                        <a:t>rand()</a:t>
                      </a:r>
                      <a:r>
                        <a:rPr sz="1400" b="1" i="0">
                          <a:solidFill>
                            <a:srgbClr val="242C38"/>
                          </a:solidFill>
                          <a:latin typeface="Segoe UI"/>
                        </a:rPr>
                        <a:t> with no seed</a:t>
                      </a:r>
                    </a:p>
                  </a:txBody>
                  <a:tcPr marT="36576" marB="36576" anchor="ctr">
                    <a:solidFill>
                      <a:srgbClr val="FFFFFF"/>
                    </a:solidFill>
                  </a:tcPr>
                </a:tc>
                <a:tc>
                  <a:txBody>
                    <a:bodyPr/>
                    <a:lstStyle/>
                    <a:p>
                      <a:pPr>
                        <a:lnSpc>
                          <a:spcPct val="106000"/>
                        </a:lnSpc>
                      </a:pPr>
                      <a:r>
                        <a:rPr sz="1400" b="0" i="0">
                          <a:solidFill>
                            <a:srgbClr val="242C38"/>
                          </a:solidFill>
                          <a:latin typeface="Segoe UI"/>
                        </a:rPr>
                        <a:t>always pass a fixed seed</a:t>
                      </a:r>
                    </a:p>
                  </a:txBody>
                  <a:tcPr marT="36576" marB="36576" anchor="ctr">
                    <a:solidFill>
                      <a:srgbClr val="FFFFFF"/>
                    </a:solidFill>
                  </a:tcPr>
                </a:tc>
                <a:extLst>
                  <a:ext uri="{0D108BD9-81ED-4DB2-BD59-A6C34878D82A}">
                    <a16:rowId xmlns:a16="http://schemas.microsoft.com/office/drawing/2014/main" val="10002"/>
                  </a:ext>
                </a:extLst>
              </a:tr>
              <a:tr h="475488">
                <a:tc>
                  <a:txBody>
                    <a:bodyPr/>
                    <a:lstStyle/>
                    <a:p>
                      <a:pPr>
                        <a:lnSpc>
                          <a:spcPct val="106000"/>
                        </a:lnSpc>
                      </a:pPr>
                      <a:r>
                        <a:rPr sz="1350" b="0" i="0">
                          <a:solidFill>
                            <a:srgbClr val="2E74B5"/>
                          </a:solidFill>
                          <a:latin typeface="Consolas"/>
                        </a:rPr>
                        <a:t>collect_list()</a:t>
                      </a:r>
                      <a:r>
                        <a:rPr sz="1400" b="1" i="0">
                          <a:solidFill>
                            <a:srgbClr val="242C38"/>
                          </a:solidFill>
                          <a:latin typeface="Segoe UI"/>
                        </a:rPr>
                        <a:t> unordered</a:t>
                      </a:r>
                    </a:p>
                  </a:txBody>
                  <a:tcPr marT="36576" marB="36576" anchor="ctr">
                    <a:solidFill>
                      <a:srgbClr val="EEF3F8"/>
                    </a:solidFill>
                  </a:tcPr>
                </a:tc>
                <a:tc>
                  <a:txBody>
                    <a:bodyPr/>
                    <a:lstStyle/>
                    <a:p>
                      <a:pPr>
                        <a:lnSpc>
                          <a:spcPct val="106000"/>
                        </a:lnSpc>
                      </a:pPr>
                      <a:r>
                        <a:rPr sz="1400" b="0" i="0">
                          <a:solidFill>
                            <a:srgbClr val="242C38"/>
                          </a:solidFill>
                          <a:latin typeface="Segoe UI"/>
                        </a:rPr>
                        <a:t>orderBy() before the aggregate</a:t>
                      </a:r>
                    </a:p>
                  </a:txBody>
                  <a:tcPr marT="36576" marB="36576" anchor="ctr">
                    <a:solidFill>
                      <a:srgbClr val="EEF3F8"/>
                    </a:solidFill>
                  </a:tcPr>
                </a:tc>
                <a:extLst>
                  <a:ext uri="{0D108BD9-81ED-4DB2-BD59-A6C34878D82A}">
                    <a16:rowId xmlns:a16="http://schemas.microsoft.com/office/drawing/2014/main" val="10003"/>
                  </a:ext>
                </a:extLst>
              </a:tr>
              <a:tr h="475488">
                <a:tc>
                  <a:txBody>
                    <a:bodyPr/>
                    <a:lstStyle/>
                    <a:p>
                      <a:pPr>
                        <a:lnSpc>
                          <a:spcPct val="106000"/>
                        </a:lnSpc>
                      </a:pPr>
                      <a:r>
                        <a:rPr sz="1350" b="0" i="0">
                          <a:solidFill>
                            <a:srgbClr val="2E74B5"/>
                          </a:solidFill>
                          <a:latin typeface="Consolas"/>
                        </a:rPr>
                        <a:t>first()</a:t>
                      </a:r>
                      <a:r>
                        <a:rPr sz="1400" b="1" i="0">
                          <a:solidFill>
                            <a:srgbClr val="242C38"/>
                          </a:solidFill>
                          <a:latin typeface="Segoe UI"/>
                        </a:rPr>
                        <a:t> with no ORDER BY</a:t>
                      </a:r>
                    </a:p>
                  </a:txBody>
                  <a:tcPr marT="36576" marB="36576" anchor="ctr">
                    <a:solidFill>
                      <a:srgbClr val="FFFFFF"/>
                    </a:solidFill>
                  </a:tcPr>
                </a:tc>
                <a:tc>
                  <a:txBody>
                    <a:bodyPr/>
                    <a:lstStyle/>
                    <a:p>
                      <a:pPr>
                        <a:lnSpc>
                          <a:spcPct val="106000"/>
                        </a:lnSpc>
                      </a:pPr>
                      <a:r>
                        <a:rPr sz="1400" b="0" i="0">
                          <a:solidFill>
                            <a:srgbClr val="242C38"/>
                          </a:solidFill>
                          <a:latin typeface="Segoe UI"/>
                        </a:rPr>
                        <a:t>only trust it inside a window with explicit order</a:t>
                      </a:r>
                    </a:p>
                  </a:txBody>
                  <a:tcPr marT="36576" marB="36576" anchor="ctr">
                    <a:solidFill>
                      <a:srgbClr val="FFFFFF"/>
                    </a:solidFill>
                  </a:tcPr>
                </a:tc>
                <a:extLst>
                  <a:ext uri="{0D108BD9-81ED-4DB2-BD59-A6C34878D82A}">
                    <a16:rowId xmlns:a16="http://schemas.microsoft.com/office/drawing/2014/main" val="10004"/>
                  </a:ext>
                </a:extLst>
              </a:tr>
            </a:tbl>
          </a:graphicData>
        </a:graphic>
      </p:graphicFrame>
      <p:sp>
        <p:nvSpPr>
          <p:cNvPr id="5" name="Rectangle 4"/>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19  ·  Deep dive appendix</a:t>
            </a:r>
          </a:p>
        </p:txBody>
      </p:sp>
      <p:sp>
        <p:nvSpPr>
          <p:cNvPr id="7" name="TextBox 6"/>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205</a:t>
            </a:r>
          </a:p>
        </p:txBody>
      </p:sp>
    </p:spTree>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AQE's three re-optimisations</a:t>
            </a:r>
          </a:p>
        </p:txBody>
      </p:sp>
      <p:graphicFrame>
        <p:nvGraphicFramePr>
          <p:cNvPr id="4" name="Table 3"/>
          <p:cNvGraphicFramePr>
            <a:graphicFrameLocks noGrp="1"/>
          </p:cNvGraphicFramePr>
          <p:nvPr/>
        </p:nvGraphicFramePr>
        <p:xfrm>
          <a:off x="658368" y="1481328"/>
          <a:ext cx="10874958" cy="1828800"/>
        </p:xfrm>
        <a:graphic>
          <a:graphicData uri="http://schemas.openxmlformats.org/drawingml/2006/table">
            <a:tbl>
              <a:tblPr firstRow="1" bandRow="1">
                <a:tableStyleId>{5C22544A-7EE6-4342-B048-85BDC9FD1C3A}</a:tableStyleId>
              </a:tblPr>
              <a:tblGrid>
                <a:gridCol w="4078109">
                  <a:extLst>
                    <a:ext uri="{9D8B030D-6E8A-4147-A177-3AD203B41FA5}">
                      <a16:colId xmlns:a16="http://schemas.microsoft.com/office/drawing/2014/main" val="20000"/>
                    </a:ext>
                  </a:extLst>
                </a:gridCol>
                <a:gridCol w="6796849">
                  <a:extLst>
                    <a:ext uri="{9D8B030D-6E8A-4147-A177-3AD203B41FA5}">
                      <a16:colId xmlns:a16="http://schemas.microsoft.com/office/drawing/2014/main" val="20001"/>
                    </a:ext>
                  </a:extLst>
                </a:gridCol>
              </a:tblGrid>
              <a:tr h="402336">
                <a:tc>
                  <a:txBody>
                    <a:bodyPr/>
                    <a:lstStyle/>
                    <a:p>
                      <a:r>
                        <a:rPr sz="1450" b="1" i="0">
                          <a:solidFill>
                            <a:srgbClr val="FFFFFF"/>
                          </a:solidFill>
                          <a:latin typeface="Segoe UI Semibold"/>
                        </a:rPr>
                        <a:t>Optimisation</a:t>
                      </a:r>
                    </a:p>
                  </a:txBody>
                  <a:tcPr anchor="ctr">
                    <a:solidFill>
                      <a:srgbClr val="1F4E79"/>
                    </a:solidFill>
                  </a:tcPr>
                </a:tc>
                <a:tc>
                  <a:txBody>
                    <a:bodyPr/>
                    <a:lstStyle/>
                    <a:p>
                      <a:r>
                        <a:rPr sz="1450" b="1" i="0">
                          <a:solidFill>
                            <a:srgbClr val="FFFFFF"/>
                          </a:solidFill>
                          <a:latin typeface="Segoe UI Semibold"/>
                        </a:rPr>
                        <a:t>What it does</a:t>
                      </a:r>
                    </a:p>
                  </a:txBody>
                  <a:tcPr anchor="ctr">
                    <a:solidFill>
                      <a:srgbClr val="1F4E79"/>
                    </a:solidFill>
                  </a:tcPr>
                </a:tc>
                <a:extLst>
                  <a:ext uri="{0D108BD9-81ED-4DB2-BD59-A6C34878D82A}">
                    <a16:rowId xmlns:a16="http://schemas.microsoft.com/office/drawing/2014/main" val="10000"/>
                  </a:ext>
                </a:extLst>
              </a:tr>
              <a:tr h="475488">
                <a:tc>
                  <a:txBody>
                    <a:bodyPr/>
                    <a:lstStyle/>
                    <a:p>
                      <a:pPr>
                        <a:lnSpc>
                          <a:spcPct val="106000"/>
                        </a:lnSpc>
                      </a:pPr>
                      <a:r>
                        <a:rPr sz="1400" b="1" i="0">
                          <a:solidFill>
                            <a:srgbClr val="242C38"/>
                          </a:solidFill>
                          <a:latin typeface="Segoe UI"/>
                        </a:rPr>
                        <a:t>Coalescing partitions</a:t>
                      </a:r>
                    </a:p>
                  </a:txBody>
                  <a:tcPr marT="36576" marB="36576" anchor="ctr">
                    <a:solidFill>
                      <a:srgbClr val="EEF3F8"/>
                    </a:solidFill>
                  </a:tcPr>
                </a:tc>
                <a:tc>
                  <a:txBody>
                    <a:bodyPr/>
                    <a:lstStyle/>
                    <a:p>
                      <a:pPr>
                        <a:lnSpc>
                          <a:spcPct val="106000"/>
                        </a:lnSpc>
                      </a:pPr>
                      <a:r>
                        <a:rPr sz="1400" b="0" i="0">
                          <a:solidFill>
                            <a:srgbClr val="242C38"/>
                          </a:solidFill>
                          <a:latin typeface="Segoe UI"/>
                        </a:rPr>
                        <a:t>merges many small post-shuffle partitions into few</a:t>
                      </a:r>
                    </a:p>
                  </a:txBody>
                  <a:tcPr marT="36576" marB="36576" anchor="ctr">
                    <a:solidFill>
                      <a:srgbClr val="EEF3F8"/>
                    </a:solidFill>
                  </a:tcPr>
                </a:tc>
                <a:extLst>
                  <a:ext uri="{0D108BD9-81ED-4DB2-BD59-A6C34878D82A}">
                    <a16:rowId xmlns:a16="http://schemas.microsoft.com/office/drawing/2014/main" val="10001"/>
                  </a:ext>
                </a:extLst>
              </a:tr>
              <a:tr h="475488">
                <a:tc>
                  <a:txBody>
                    <a:bodyPr/>
                    <a:lstStyle/>
                    <a:p>
                      <a:pPr>
                        <a:lnSpc>
                          <a:spcPct val="106000"/>
                        </a:lnSpc>
                      </a:pPr>
                      <a:r>
                        <a:rPr sz="1400" b="1" i="0">
                          <a:solidFill>
                            <a:srgbClr val="242C38"/>
                          </a:solidFill>
                          <a:latin typeface="Segoe UI"/>
                        </a:rPr>
                        <a:t>Broadcast conversion</a:t>
                      </a:r>
                    </a:p>
                  </a:txBody>
                  <a:tcPr marT="36576" marB="36576" anchor="ctr">
                    <a:solidFill>
                      <a:srgbClr val="FFFFFF"/>
                    </a:solidFill>
                  </a:tcPr>
                </a:tc>
                <a:tc>
                  <a:txBody>
                    <a:bodyPr/>
                    <a:lstStyle/>
                    <a:p>
                      <a:pPr>
                        <a:lnSpc>
                          <a:spcPct val="106000"/>
                        </a:lnSpc>
                      </a:pPr>
                      <a:r>
                        <a:rPr sz="1400" b="0" i="0">
                          <a:solidFill>
                            <a:srgbClr val="242C38"/>
                          </a:solidFill>
                          <a:latin typeface="Segoe UI"/>
                        </a:rPr>
                        <a:t>swaps to a broadcast join once real size is small</a:t>
                      </a:r>
                    </a:p>
                  </a:txBody>
                  <a:tcPr marT="36576" marB="36576" anchor="ctr">
                    <a:solidFill>
                      <a:srgbClr val="FFFFFF"/>
                    </a:solidFill>
                  </a:tcPr>
                </a:tc>
                <a:extLst>
                  <a:ext uri="{0D108BD9-81ED-4DB2-BD59-A6C34878D82A}">
                    <a16:rowId xmlns:a16="http://schemas.microsoft.com/office/drawing/2014/main" val="10002"/>
                  </a:ext>
                </a:extLst>
              </a:tr>
              <a:tr h="475488">
                <a:tc>
                  <a:txBody>
                    <a:bodyPr/>
                    <a:lstStyle/>
                    <a:p>
                      <a:pPr>
                        <a:lnSpc>
                          <a:spcPct val="106000"/>
                        </a:lnSpc>
                      </a:pPr>
                      <a:r>
                        <a:rPr sz="1400" b="1" i="0">
                          <a:solidFill>
                            <a:srgbClr val="242C38"/>
                          </a:solidFill>
                          <a:latin typeface="Segoe UI"/>
                        </a:rPr>
                        <a:t>Skew join handling</a:t>
                      </a:r>
                    </a:p>
                  </a:txBody>
                  <a:tcPr marT="36576" marB="36576" anchor="ctr">
                    <a:solidFill>
                      <a:srgbClr val="EEF3F8"/>
                    </a:solidFill>
                  </a:tcPr>
                </a:tc>
                <a:tc>
                  <a:txBody>
                    <a:bodyPr/>
                    <a:lstStyle/>
                    <a:p>
                      <a:pPr>
                        <a:lnSpc>
                          <a:spcPct val="106000"/>
                        </a:lnSpc>
                      </a:pPr>
                      <a:r>
                        <a:rPr sz="1400" b="0" i="0">
                          <a:solidFill>
                            <a:srgbClr val="242C38"/>
                          </a:solidFill>
                          <a:latin typeface="Segoe UI"/>
                        </a:rPr>
                        <a:t>splits an oversized partition before the join reads it</a:t>
                      </a:r>
                    </a:p>
                  </a:txBody>
                  <a:tcPr marT="36576" marB="36576" anchor="ctr">
                    <a:solidFill>
                      <a:srgbClr val="EEF3F8"/>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658368" y="5724144"/>
            <a:ext cx="10874959" cy="502920"/>
          </a:xfrm>
          <a:prstGeom prst="rect">
            <a:avLst/>
          </a:prstGeom>
          <a:noFill/>
        </p:spPr>
        <p:txBody>
          <a:bodyPr wrap="square" lIns="0" tIns="0" rIns="0" bIns="0">
            <a:spAutoFit/>
          </a:bodyPr>
          <a:lstStyle/>
          <a:p>
            <a:r>
              <a:rPr sz="1300" b="0" i="1">
                <a:solidFill>
                  <a:srgbClr val="5B6775"/>
                </a:solidFill>
                <a:latin typeface="Segoe UI"/>
              </a:rPr>
              <a:t>AQE reacts only after a shuffle finishes. It cannot fix the cost of the very first one.</a:t>
            </a:r>
          </a:p>
        </p:txBody>
      </p:sp>
      <p:sp>
        <p:nvSpPr>
          <p:cNvPr id="6" name="Rectangle 5"/>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19  ·  Deep dive appendix</a:t>
            </a:r>
          </a:p>
        </p:txBody>
      </p:sp>
      <p:sp>
        <p:nvSpPr>
          <p:cNvPr id="8" name="TextBox 7"/>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206</a:t>
            </a:r>
          </a:p>
        </p:txBody>
      </p:sp>
    </p:spTree>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Four hard questions, and the confident answer</a:t>
            </a:r>
          </a:p>
        </p:txBody>
      </p:sp>
      <p:graphicFrame>
        <p:nvGraphicFramePr>
          <p:cNvPr id="4" name="Table 3"/>
          <p:cNvGraphicFramePr>
            <a:graphicFrameLocks noGrp="1"/>
          </p:cNvGraphicFramePr>
          <p:nvPr/>
        </p:nvGraphicFramePr>
        <p:xfrm>
          <a:off x="658368" y="1481328"/>
          <a:ext cx="10874958" cy="2304288"/>
        </p:xfrm>
        <a:graphic>
          <a:graphicData uri="http://schemas.openxmlformats.org/drawingml/2006/table">
            <a:tbl>
              <a:tblPr firstRow="1" bandRow="1">
                <a:tableStyleId>{5C22544A-7EE6-4342-B048-85BDC9FD1C3A}</a:tableStyleId>
              </a:tblPr>
              <a:tblGrid>
                <a:gridCol w="5709353">
                  <a:extLst>
                    <a:ext uri="{9D8B030D-6E8A-4147-A177-3AD203B41FA5}">
                      <a16:colId xmlns:a16="http://schemas.microsoft.com/office/drawing/2014/main" val="20000"/>
                    </a:ext>
                  </a:extLst>
                </a:gridCol>
                <a:gridCol w="5165605">
                  <a:extLst>
                    <a:ext uri="{9D8B030D-6E8A-4147-A177-3AD203B41FA5}">
                      <a16:colId xmlns:a16="http://schemas.microsoft.com/office/drawing/2014/main" val="20001"/>
                    </a:ext>
                  </a:extLst>
                </a:gridCol>
              </a:tblGrid>
              <a:tr h="402336">
                <a:tc>
                  <a:txBody>
                    <a:bodyPr/>
                    <a:lstStyle/>
                    <a:p>
                      <a:r>
                        <a:rPr sz="1450" b="1" i="0">
                          <a:solidFill>
                            <a:srgbClr val="FFFFFF"/>
                          </a:solidFill>
                          <a:latin typeface="Segoe UI Semibold"/>
                        </a:rPr>
                        <a:t>Question</a:t>
                      </a:r>
                    </a:p>
                  </a:txBody>
                  <a:tcPr anchor="ctr">
                    <a:solidFill>
                      <a:srgbClr val="1F4E79"/>
                    </a:solidFill>
                  </a:tcPr>
                </a:tc>
                <a:tc>
                  <a:txBody>
                    <a:bodyPr/>
                    <a:lstStyle/>
                    <a:p>
                      <a:r>
                        <a:rPr sz="1450" b="1" i="0">
                          <a:solidFill>
                            <a:srgbClr val="FFFFFF"/>
                          </a:solidFill>
                          <a:latin typeface="Segoe UI Semibold"/>
                        </a:rPr>
                        <a:t>Answer</a:t>
                      </a:r>
                    </a:p>
                  </a:txBody>
                  <a:tcPr anchor="ctr">
                    <a:solidFill>
                      <a:srgbClr val="1F4E79"/>
                    </a:solidFill>
                  </a:tcPr>
                </a:tc>
                <a:extLst>
                  <a:ext uri="{0D108BD9-81ED-4DB2-BD59-A6C34878D82A}">
                    <a16:rowId xmlns:a16="http://schemas.microsoft.com/office/drawing/2014/main" val="10000"/>
                  </a:ext>
                </a:extLst>
              </a:tr>
              <a:tr h="475488">
                <a:tc>
                  <a:txBody>
                    <a:bodyPr/>
                    <a:lstStyle/>
                    <a:p>
                      <a:pPr>
                        <a:lnSpc>
                          <a:spcPct val="106000"/>
                        </a:lnSpc>
                      </a:pPr>
                      <a:r>
                        <a:rPr sz="1400" b="1" i="0">
                          <a:solidFill>
                            <a:srgbClr val="242C38"/>
                          </a:solidFill>
                          <a:latin typeface="Segoe UI"/>
                        </a:rPr>
                        <a:t>Why does a typo fail before any data is read?</a:t>
                      </a:r>
                    </a:p>
                  </a:txBody>
                  <a:tcPr marT="36576" marB="36576" anchor="ctr">
                    <a:solidFill>
                      <a:srgbClr val="EEF3F8"/>
                    </a:solidFill>
                  </a:tcPr>
                </a:tc>
                <a:tc>
                  <a:txBody>
                    <a:bodyPr/>
                    <a:lstStyle/>
                    <a:p>
                      <a:pPr>
                        <a:lnSpc>
                          <a:spcPct val="106000"/>
                        </a:lnSpc>
                      </a:pPr>
                      <a:r>
                        <a:rPr sz="1400" b="0" i="0">
                          <a:solidFill>
                            <a:srgbClr val="242C38"/>
                          </a:solidFill>
                          <a:latin typeface="Segoe UI"/>
                        </a:rPr>
                        <a:t>Analysis phase, ResolveReferences, before optimisation runs</a:t>
                      </a:r>
                    </a:p>
                  </a:txBody>
                  <a:tcPr marT="36576" marB="36576" anchor="ctr">
                    <a:solidFill>
                      <a:srgbClr val="EEF3F8"/>
                    </a:solidFill>
                  </a:tcPr>
                </a:tc>
                <a:extLst>
                  <a:ext uri="{0D108BD9-81ED-4DB2-BD59-A6C34878D82A}">
                    <a16:rowId xmlns:a16="http://schemas.microsoft.com/office/drawing/2014/main" val="10001"/>
                  </a:ext>
                </a:extLst>
              </a:tr>
              <a:tr h="475488">
                <a:tc>
                  <a:txBody>
                    <a:bodyPr/>
                    <a:lstStyle/>
                    <a:p>
                      <a:pPr>
                        <a:lnSpc>
                          <a:spcPct val="106000"/>
                        </a:lnSpc>
                      </a:pPr>
                      <a:r>
                        <a:rPr sz="1400" b="1" i="0">
                          <a:solidFill>
                            <a:srgbClr val="242C38"/>
                          </a:solidFill>
                          <a:latin typeface="Segoe UI"/>
                        </a:rPr>
                        <a:t>Why no stack trace anywhere in the Spark logs?</a:t>
                      </a:r>
                    </a:p>
                  </a:txBody>
                  <a:tcPr marT="36576" marB="36576" anchor="ctr">
                    <a:solidFill>
                      <a:srgbClr val="FFFFFF"/>
                    </a:solidFill>
                  </a:tcPr>
                </a:tc>
                <a:tc>
                  <a:txBody>
                    <a:bodyPr/>
                    <a:lstStyle/>
                    <a:p>
                      <a:pPr>
                        <a:lnSpc>
                          <a:spcPct val="106000"/>
                        </a:lnSpc>
                      </a:pPr>
                      <a:r>
                        <a:rPr sz="1400" b="0" i="0">
                          <a:solidFill>
                            <a:srgbClr val="242C38"/>
                          </a:solidFill>
                          <a:latin typeface="Segoe UI"/>
                        </a:rPr>
                        <a:t>an overhead OOM, check the cluster manager's own logs</a:t>
                      </a:r>
                    </a:p>
                  </a:txBody>
                  <a:tcPr marT="36576" marB="36576" anchor="ctr">
                    <a:solidFill>
                      <a:srgbClr val="FFFFFF"/>
                    </a:solidFill>
                  </a:tcPr>
                </a:tc>
                <a:extLst>
                  <a:ext uri="{0D108BD9-81ED-4DB2-BD59-A6C34878D82A}">
                    <a16:rowId xmlns:a16="http://schemas.microsoft.com/office/drawing/2014/main" val="10002"/>
                  </a:ext>
                </a:extLst>
              </a:tr>
              <a:tr h="475488">
                <a:tc>
                  <a:txBody>
                    <a:bodyPr/>
                    <a:lstStyle/>
                    <a:p>
                      <a:pPr>
                        <a:lnSpc>
                          <a:spcPct val="106000"/>
                        </a:lnSpc>
                      </a:pPr>
                      <a:r>
                        <a:rPr sz="1400" b="1" i="0">
                          <a:solidFill>
                            <a:srgbClr val="242C38"/>
                          </a:solidFill>
                          <a:latin typeface="Segoe UI"/>
                        </a:rPr>
                        <a:t>Why did a PySpark job need far more memory?</a:t>
                      </a:r>
                    </a:p>
                  </a:txBody>
                  <a:tcPr marT="36576" marB="36576" anchor="ctr">
                    <a:solidFill>
                      <a:srgbClr val="EEF3F8"/>
                    </a:solidFill>
                  </a:tcPr>
                </a:tc>
                <a:tc>
                  <a:txBody>
                    <a:bodyPr/>
                    <a:lstStyle/>
                    <a:p>
                      <a:pPr>
                        <a:lnSpc>
                          <a:spcPct val="106000"/>
                        </a:lnSpc>
                      </a:pPr>
                      <a:r>
                        <a:rPr sz="1400" b="0" i="0">
                          <a:solidFill>
                            <a:srgbClr val="242C38"/>
                          </a:solidFill>
                          <a:latin typeface="Segoe UI"/>
                        </a:rPr>
                        <a:t>each UDF spawns a process, its memory comes from overhead</a:t>
                      </a:r>
                    </a:p>
                  </a:txBody>
                  <a:tcPr marT="36576" marB="36576" anchor="ctr">
                    <a:solidFill>
                      <a:srgbClr val="EEF3F8"/>
                    </a:solidFill>
                  </a:tcPr>
                </a:tc>
                <a:extLst>
                  <a:ext uri="{0D108BD9-81ED-4DB2-BD59-A6C34878D82A}">
                    <a16:rowId xmlns:a16="http://schemas.microsoft.com/office/drawing/2014/main" val="10003"/>
                  </a:ext>
                </a:extLst>
              </a:tr>
              <a:tr h="475488">
                <a:tc>
                  <a:txBody>
                    <a:bodyPr/>
                    <a:lstStyle/>
                    <a:p>
                      <a:pPr>
                        <a:lnSpc>
                          <a:spcPct val="106000"/>
                        </a:lnSpc>
                      </a:pPr>
                      <a:r>
                        <a:rPr sz="1400" b="1" i="0">
                          <a:solidFill>
                            <a:srgbClr val="242C38"/>
                          </a:solidFill>
                          <a:latin typeface="Segoe UI"/>
                        </a:rPr>
                        <a:t>Why didn't AQE fix a join skewed from the start?</a:t>
                      </a:r>
                    </a:p>
                  </a:txBody>
                  <a:tcPr marT="36576" marB="36576" anchor="ctr">
                    <a:solidFill>
                      <a:srgbClr val="FFFFFF"/>
                    </a:solidFill>
                  </a:tcPr>
                </a:tc>
                <a:tc>
                  <a:txBody>
                    <a:bodyPr/>
                    <a:lstStyle/>
                    <a:p>
                      <a:pPr>
                        <a:lnSpc>
                          <a:spcPct val="106000"/>
                        </a:lnSpc>
                      </a:pPr>
                      <a:r>
                        <a:rPr sz="1400" b="0" i="0">
                          <a:solidFill>
                            <a:srgbClr val="242C38"/>
                          </a:solidFill>
                          <a:latin typeface="Segoe UI"/>
                        </a:rPr>
                        <a:t>AQE reacts after a shuffle finishes, not before the first one</a:t>
                      </a:r>
                    </a:p>
                  </a:txBody>
                  <a:tcPr marT="36576" marB="36576" anchor="ctr">
                    <a:solidFill>
                      <a:srgbClr val="FFFFFF"/>
                    </a:solidFill>
                  </a:tcPr>
                </a:tc>
                <a:extLst>
                  <a:ext uri="{0D108BD9-81ED-4DB2-BD59-A6C34878D82A}">
                    <a16:rowId xmlns:a16="http://schemas.microsoft.com/office/drawing/2014/main" val="10004"/>
                  </a:ext>
                </a:extLst>
              </a:tr>
            </a:tbl>
          </a:graphicData>
        </a:graphic>
      </p:graphicFrame>
      <p:sp>
        <p:nvSpPr>
          <p:cNvPr id="5" name="Rectangle 4"/>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19  ·  Deep dive appendix</a:t>
            </a:r>
          </a:p>
        </p:txBody>
      </p:sp>
      <p:sp>
        <p:nvSpPr>
          <p:cNvPr id="7" name="TextBox 6"/>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207</a:t>
            </a:r>
          </a:p>
        </p:txBody>
      </p:sp>
    </p:spTree>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58368" y="320040"/>
            <a:ext cx="566928" cy="33020"/>
          </a:xfrm>
          <a:prstGeom prst="rect">
            <a:avLst/>
          </a:prstGeom>
          <a:solidFill>
            <a:srgbClr val="E8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75488"/>
            <a:ext cx="10874959" cy="868680"/>
          </a:xfrm>
          <a:prstGeom prst="rect">
            <a:avLst/>
          </a:prstGeom>
          <a:noFill/>
        </p:spPr>
        <p:txBody>
          <a:bodyPr wrap="square" lIns="0" tIns="0" rIns="0" bIns="0">
            <a:spAutoFit/>
          </a:bodyPr>
          <a:lstStyle/>
          <a:p>
            <a:pPr>
              <a:lnSpc>
                <a:spcPct val="95000"/>
              </a:lnSpc>
            </a:pPr>
            <a:r>
              <a:rPr sz="2700" b="1" i="0">
                <a:solidFill>
                  <a:srgbClr val="1F4E79"/>
                </a:solidFill>
                <a:latin typeface="Segoe UI Semibold"/>
              </a:rPr>
              <a:t>Module 19 in one screen</a:t>
            </a:r>
          </a:p>
        </p:txBody>
      </p:sp>
      <p:sp>
        <p:nvSpPr>
          <p:cNvPr id="4" name="TextBox 3"/>
          <p:cNvSpPr txBox="1"/>
          <p:nvPr/>
        </p:nvSpPr>
        <p:spPr>
          <a:xfrm>
            <a:off x="658368" y="1481328"/>
            <a:ext cx="10874959" cy="4526280"/>
          </a:xfrm>
          <a:prstGeom prst="rect">
            <a:avLst/>
          </a:prstGeom>
          <a:noFill/>
        </p:spPr>
        <p:txBody>
          <a:bodyPr wrap="square" lIns="0" tIns="0" rIns="0" bIns="0">
            <a:spAutoFit/>
          </a:bodyPr>
          <a:lstStyle/>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Catalyst has four phases, a column typo fails in Analysis, before codegen ever runs.</a:t>
            </a:r>
          </a:p>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Codegen fuses operators into one loop, a shuffle or a Python UDF always breaks it.</a:t>
            </a:r>
          </a:p>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Four distinct OOM signatures exist, confusing them wastes a real incident's time.</a:t>
            </a:r>
          </a:p>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AQE re-optimises after a shuffle finishes, a safety net for later joins, not the first.</a:t>
            </a:r>
          </a:p>
          <a:p>
            <a:pPr marL="274320" indent="-274320">
              <a:lnSpc>
                <a:spcPct val="118000"/>
              </a:lnSpc>
              <a:spcAft>
                <a:spcPts val="900"/>
              </a:spcAft>
            </a:pPr>
            <a:r>
              <a:rPr sz="1800" b="1" i="0">
                <a:solidFill>
                  <a:srgbClr val="2E74B5"/>
                </a:solidFill>
                <a:latin typeface="Segoe UI"/>
              </a:rPr>
              <a:t>▪   </a:t>
            </a:r>
            <a:r>
              <a:rPr sz="1800" b="0" i="0">
                <a:solidFill>
                  <a:srgbClr val="242C38"/>
                </a:solidFill>
                <a:latin typeface="Segoe UI"/>
              </a:rPr>
              <a:t>A retried task guarantees a correct computation, never a once-only side effect.</a:t>
            </a:r>
          </a:p>
        </p:txBody>
      </p:sp>
      <p:sp>
        <p:nvSpPr>
          <p:cNvPr id="5" name="Rectangle 4"/>
          <p:cNvSpPr/>
          <p:nvPr/>
        </p:nvSpPr>
        <p:spPr>
          <a:xfrm>
            <a:off x="658368" y="6345936"/>
            <a:ext cx="10874959" cy="11430"/>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6419088"/>
            <a:ext cx="8156219" cy="256032"/>
          </a:xfrm>
          <a:prstGeom prst="rect">
            <a:avLst/>
          </a:prstGeom>
          <a:noFill/>
        </p:spPr>
        <p:txBody>
          <a:bodyPr wrap="square" lIns="0" tIns="0" rIns="0" bIns="0">
            <a:spAutoFit/>
          </a:bodyPr>
          <a:lstStyle/>
          <a:p>
            <a:r>
              <a:rPr sz="950" b="0" i="0">
                <a:solidFill>
                  <a:srgbClr val="9AA5B1"/>
                </a:solidFill>
                <a:latin typeface="Segoe UI"/>
              </a:rPr>
              <a:t>Module 19  ·  Deep dive appendix</a:t>
            </a:r>
          </a:p>
        </p:txBody>
      </p:sp>
      <p:sp>
        <p:nvSpPr>
          <p:cNvPr id="7" name="TextBox 6"/>
          <p:cNvSpPr txBox="1"/>
          <p:nvPr/>
        </p:nvSpPr>
        <p:spPr>
          <a:xfrm>
            <a:off x="8814587" y="6419088"/>
            <a:ext cx="2718739" cy="256032"/>
          </a:xfrm>
          <a:prstGeom prst="rect">
            <a:avLst/>
          </a:prstGeom>
          <a:noFill/>
        </p:spPr>
        <p:txBody>
          <a:bodyPr wrap="square" lIns="0" tIns="0" rIns="0" bIns="0">
            <a:spAutoFit/>
          </a:bodyPr>
          <a:lstStyle/>
          <a:p>
            <a:pPr algn="r"/>
            <a:r>
              <a:rPr sz="950" b="0" i="0">
                <a:solidFill>
                  <a:srgbClr val="9AA5B1"/>
                </a:solidFill>
                <a:latin typeface="Segoe UI"/>
              </a:rPr>
              <a:t>208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Metadata/LabelInfo.xml><?xml version="1.0" encoding="utf-8"?>
<clbl:labelList xmlns:clbl="http://schemas.microsoft.com/office/2020/mipLabelMetadata">
  <clbl:label id="{50a58a55-8d55-4c7b-aa85-1ae890a4cc64}" enabled="1" method="Standard" siteId="{e85feadf-11e7-47bb-a160-43b98dcc96f1}" contentBits="0" removed="0"/>
</clbl:labelList>
</file>

<file path=docProps/app.xml><?xml version="1.0" encoding="utf-8"?>
<Properties xmlns="http://schemas.openxmlformats.org/officeDocument/2006/extended-properties" xmlns:vt="http://schemas.openxmlformats.org/officeDocument/2006/docPropsVTypes">
  <TotalTime>1124</TotalTime>
  <Words>17670</Words>
  <Application>Microsoft Office PowerPoint</Application>
  <PresentationFormat>Widescreen</PresentationFormat>
  <Paragraphs>2520</Paragraphs>
  <Slides>233</Slides>
  <Notes>0</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233</vt:i4>
      </vt:variant>
    </vt:vector>
  </HeadingPairs>
  <TitlesOfParts>
    <vt:vector size="239" baseType="lpstr">
      <vt:lpstr>Arial</vt:lpstr>
      <vt:lpstr>Calibri</vt:lpstr>
      <vt:lpstr>Consolas</vt:lpstr>
      <vt:lpstr>Segoe UI</vt:lpstr>
      <vt:lpstr>Segoe UI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Harun Raseed B</cp:lastModifiedBy>
  <cp:revision>3</cp:revision>
  <dcterms:created xsi:type="dcterms:W3CDTF">2013-01-27T09:14:16Z</dcterms:created>
  <dcterms:modified xsi:type="dcterms:W3CDTF">2026-09-18T08:54:47Z</dcterms:modified>
  <cp:category/>
</cp:coreProperties>
</file>